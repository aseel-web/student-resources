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handoutMasterIdLst>
    <p:handoutMasterId r:id="rId68"/>
  </p:handoutMasterIdLst>
  <p:sldIdLst>
    <p:sldId id="318" r:id="rId2"/>
    <p:sldId id="328" r:id="rId3"/>
    <p:sldId id="354" r:id="rId4"/>
    <p:sldId id="355" r:id="rId5"/>
    <p:sldId id="372" r:id="rId6"/>
    <p:sldId id="373" r:id="rId7"/>
    <p:sldId id="374" r:id="rId8"/>
    <p:sldId id="329" r:id="rId9"/>
    <p:sldId id="330" r:id="rId10"/>
    <p:sldId id="375" r:id="rId11"/>
    <p:sldId id="356" r:id="rId12"/>
    <p:sldId id="357" r:id="rId13"/>
    <p:sldId id="358" r:id="rId14"/>
    <p:sldId id="359" r:id="rId15"/>
    <p:sldId id="360" r:id="rId16"/>
    <p:sldId id="362" r:id="rId17"/>
    <p:sldId id="376" r:id="rId18"/>
    <p:sldId id="408" r:id="rId19"/>
    <p:sldId id="331" r:id="rId20"/>
    <p:sldId id="363" r:id="rId21"/>
    <p:sldId id="364" r:id="rId22"/>
    <p:sldId id="365" r:id="rId23"/>
    <p:sldId id="332" r:id="rId24"/>
    <p:sldId id="333" r:id="rId25"/>
    <p:sldId id="334" r:id="rId26"/>
    <p:sldId id="335" r:id="rId27"/>
    <p:sldId id="336" r:id="rId28"/>
    <p:sldId id="337" r:id="rId29"/>
    <p:sldId id="366" r:id="rId30"/>
    <p:sldId id="367" r:id="rId31"/>
    <p:sldId id="368" r:id="rId32"/>
    <p:sldId id="369" r:id="rId33"/>
    <p:sldId id="370" r:id="rId34"/>
    <p:sldId id="371" r:id="rId35"/>
    <p:sldId id="377" r:id="rId36"/>
    <p:sldId id="378" r:id="rId37"/>
    <p:sldId id="379" r:id="rId38"/>
    <p:sldId id="380" r:id="rId39"/>
    <p:sldId id="381" r:id="rId40"/>
    <p:sldId id="382" r:id="rId41"/>
    <p:sldId id="383" r:id="rId42"/>
    <p:sldId id="384" r:id="rId43"/>
    <p:sldId id="385" r:id="rId44"/>
    <p:sldId id="386" r:id="rId45"/>
    <p:sldId id="387" r:id="rId46"/>
    <p:sldId id="388" r:id="rId47"/>
    <p:sldId id="389" r:id="rId48"/>
    <p:sldId id="390" r:id="rId49"/>
    <p:sldId id="391" r:id="rId50"/>
    <p:sldId id="392" r:id="rId51"/>
    <p:sldId id="393" r:id="rId52"/>
    <p:sldId id="394" r:id="rId53"/>
    <p:sldId id="395" r:id="rId54"/>
    <p:sldId id="396" r:id="rId55"/>
    <p:sldId id="397" r:id="rId56"/>
    <p:sldId id="398" r:id="rId57"/>
    <p:sldId id="399" r:id="rId58"/>
    <p:sldId id="400" r:id="rId59"/>
    <p:sldId id="401" r:id="rId60"/>
    <p:sldId id="402" r:id="rId61"/>
    <p:sldId id="403" r:id="rId62"/>
    <p:sldId id="404" r:id="rId63"/>
    <p:sldId id="405" r:id="rId64"/>
    <p:sldId id="407" r:id="rId65"/>
    <p:sldId id="406" r:id="rId66"/>
  </p:sldIdLst>
  <p:sldSz cx="9144000" cy="6858000" type="screen4x3"/>
  <p:notesSz cx="6858000" cy="9144000"/>
  <p:custDataLst>
    <p:tags r:id="rId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432" userDrawn="1">
          <p15:clr>
            <a:srgbClr val="A4A3A4"/>
          </p15:clr>
        </p15:guide>
        <p15:guide id="4" orient="horz" pos="864" userDrawn="1">
          <p15:clr>
            <a:srgbClr val="A4A3A4"/>
          </p15:clr>
        </p15:guide>
        <p15:guide id="5" orient="horz" pos="4017" userDrawn="1">
          <p15:clr>
            <a:srgbClr val="A4A3A4"/>
          </p15:clr>
        </p15:guide>
        <p15:guide id="6" pos="288" userDrawn="1">
          <p15:clr>
            <a:srgbClr val="A4A3A4"/>
          </p15:clr>
        </p15:guide>
        <p15:guide id="7"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showGuides="1">
      <p:cViewPr varScale="1">
        <p:scale>
          <a:sx n="116" d="100"/>
          <a:sy n="116" d="100"/>
        </p:scale>
        <p:origin x="1596" y="102"/>
      </p:cViewPr>
      <p:guideLst>
        <p:guide orient="horz" pos="2160"/>
        <p:guide pos="2880"/>
        <p:guide orient="horz" pos="432"/>
        <p:guide orient="horz" pos="864"/>
        <p:guide orient="horz" pos="4017"/>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11/3/2025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3662799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11/3/2025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88292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a:t>
            </a:fld>
            <a:endParaRPr lang="en-US" dirty="0"/>
          </a:p>
        </p:txBody>
      </p:sp>
    </p:spTree>
    <p:extLst>
      <p:ext uri="{BB962C8B-B14F-4D97-AF65-F5344CB8AC3E}">
        <p14:creationId xmlns:p14="http://schemas.microsoft.com/office/powerpoint/2010/main" val="2201642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a:t>
            </a:fld>
            <a:endParaRPr lang="en-US" dirty="0"/>
          </a:p>
        </p:txBody>
      </p:sp>
    </p:spTree>
    <p:extLst>
      <p:ext uri="{BB962C8B-B14F-4D97-AF65-F5344CB8AC3E}">
        <p14:creationId xmlns:p14="http://schemas.microsoft.com/office/powerpoint/2010/main" val="70873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a:t>
            </a:fld>
            <a:endParaRPr lang="en-US" dirty="0"/>
          </a:p>
        </p:txBody>
      </p:sp>
    </p:spTree>
    <p:extLst>
      <p:ext uri="{BB962C8B-B14F-4D97-AF65-F5344CB8AC3E}">
        <p14:creationId xmlns:p14="http://schemas.microsoft.com/office/powerpoint/2010/main" val="2281466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a:t>
            </a:fld>
            <a:endParaRPr lang="en-US" dirty="0"/>
          </a:p>
        </p:txBody>
      </p:sp>
    </p:spTree>
    <p:extLst>
      <p:ext uri="{BB962C8B-B14F-4D97-AF65-F5344CB8AC3E}">
        <p14:creationId xmlns:p14="http://schemas.microsoft.com/office/powerpoint/2010/main" val="1577348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a:t>
            </a:fld>
            <a:endParaRPr lang="en-US" dirty="0"/>
          </a:p>
        </p:txBody>
      </p:sp>
    </p:spTree>
    <p:extLst>
      <p:ext uri="{BB962C8B-B14F-4D97-AF65-F5344CB8AC3E}">
        <p14:creationId xmlns:p14="http://schemas.microsoft.com/office/powerpoint/2010/main" val="3688640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7</a:t>
            </a:fld>
            <a:endParaRPr lang="en-US" dirty="0"/>
          </a:p>
        </p:txBody>
      </p:sp>
    </p:spTree>
    <p:extLst>
      <p:ext uri="{BB962C8B-B14F-4D97-AF65-F5344CB8AC3E}">
        <p14:creationId xmlns:p14="http://schemas.microsoft.com/office/powerpoint/2010/main" val="3160848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8</a:t>
            </a:fld>
            <a:endParaRPr lang="en-US" dirty="0"/>
          </a:p>
        </p:txBody>
      </p:sp>
    </p:spTree>
    <p:extLst>
      <p:ext uri="{BB962C8B-B14F-4D97-AF65-F5344CB8AC3E}">
        <p14:creationId xmlns:p14="http://schemas.microsoft.com/office/powerpoint/2010/main" val="3082308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9</a:t>
            </a:fld>
            <a:endParaRPr lang="en-US" dirty="0"/>
          </a:p>
        </p:txBody>
      </p:sp>
    </p:spTree>
    <p:extLst>
      <p:ext uri="{BB962C8B-B14F-4D97-AF65-F5344CB8AC3E}">
        <p14:creationId xmlns:p14="http://schemas.microsoft.com/office/powerpoint/2010/main" val="665682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10</a:t>
            </a:fld>
            <a:endParaRPr lang="en-US" dirty="0"/>
          </a:p>
        </p:txBody>
      </p:sp>
    </p:spTree>
    <p:extLst>
      <p:ext uri="{BB962C8B-B14F-4D97-AF65-F5344CB8AC3E}">
        <p14:creationId xmlns:p14="http://schemas.microsoft.com/office/powerpoint/2010/main" val="4040782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11</a:t>
            </a:fld>
            <a:endParaRPr lang="en-US" dirty="0"/>
          </a:p>
        </p:txBody>
      </p:sp>
    </p:spTree>
    <p:extLst>
      <p:ext uri="{BB962C8B-B14F-4D97-AF65-F5344CB8AC3E}">
        <p14:creationId xmlns:p14="http://schemas.microsoft.com/office/powerpoint/2010/main" val="181330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12</a:t>
            </a:fld>
            <a:endParaRPr lang="en-US" dirty="0"/>
          </a:p>
        </p:txBody>
      </p:sp>
    </p:spTree>
    <p:extLst>
      <p:ext uri="{BB962C8B-B14F-4D97-AF65-F5344CB8AC3E}">
        <p14:creationId xmlns:p14="http://schemas.microsoft.com/office/powerpoint/2010/main" val="1323825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13</a:t>
            </a:fld>
            <a:endParaRPr lang="en-US" dirty="0"/>
          </a:p>
        </p:txBody>
      </p:sp>
    </p:spTree>
    <p:extLst>
      <p:ext uri="{BB962C8B-B14F-4D97-AF65-F5344CB8AC3E}">
        <p14:creationId xmlns:p14="http://schemas.microsoft.com/office/powerpoint/2010/main" val="182242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14</a:t>
            </a:fld>
            <a:endParaRPr lang="en-US" dirty="0"/>
          </a:p>
        </p:txBody>
      </p:sp>
    </p:spTree>
    <p:extLst>
      <p:ext uri="{BB962C8B-B14F-4D97-AF65-F5344CB8AC3E}">
        <p14:creationId xmlns:p14="http://schemas.microsoft.com/office/powerpoint/2010/main" val="1846326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15</a:t>
            </a:fld>
            <a:endParaRPr lang="en-US" dirty="0"/>
          </a:p>
        </p:txBody>
      </p:sp>
    </p:spTree>
    <p:extLst>
      <p:ext uri="{BB962C8B-B14F-4D97-AF65-F5344CB8AC3E}">
        <p14:creationId xmlns:p14="http://schemas.microsoft.com/office/powerpoint/2010/main" val="302149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16</a:t>
            </a:fld>
            <a:endParaRPr lang="en-US" dirty="0"/>
          </a:p>
        </p:txBody>
      </p:sp>
    </p:spTree>
    <p:extLst>
      <p:ext uri="{BB962C8B-B14F-4D97-AF65-F5344CB8AC3E}">
        <p14:creationId xmlns:p14="http://schemas.microsoft.com/office/powerpoint/2010/main" val="2634796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17</a:t>
            </a:fld>
            <a:endParaRPr lang="en-US" dirty="0"/>
          </a:p>
        </p:txBody>
      </p:sp>
    </p:spTree>
    <p:extLst>
      <p:ext uri="{BB962C8B-B14F-4D97-AF65-F5344CB8AC3E}">
        <p14:creationId xmlns:p14="http://schemas.microsoft.com/office/powerpoint/2010/main" val="122368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18</a:t>
            </a:fld>
            <a:endParaRPr lang="en-US" dirty="0"/>
          </a:p>
        </p:txBody>
      </p:sp>
    </p:spTree>
    <p:extLst>
      <p:ext uri="{BB962C8B-B14F-4D97-AF65-F5344CB8AC3E}">
        <p14:creationId xmlns:p14="http://schemas.microsoft.com/office/powerpoint/2010/main" val="11517829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19</a:t>
            </a:fld>
            <a:endParaRPr lang="en-US" dirty="0"/>
          </a:p>
        </p:txBody>
      </p:sp>
    </p:spTree>
    <p:extLst>
      <p:ext uri="{BB962C8B-B14F-4D97-AF65-F5344CB8AC3E}">
        <p14:creationId xmlns:p14="http://schemas.microsoft.com/office/powerpoint/2010/main" val="246703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20</a:t>
            </a:fld>
            <a:endParaRPr lang="en-US" dirty="0"/>
          </a:p>
        </p:txBody>
      </p:sp>
    </p:spTree>
    <p:extLst>
      <p:ext uri="{BB962C8B-B14F-4D97-AF65-F5344CB8AC3E}">
        <p14:creationId xmlns:p14="http://schemas.microsoft.com/office/powerpoint/2010/main" val="4248437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21</a:t>
            </a:fld>
            <a:endParaRPr lang="en-US" dirty="0"/>
          </a:p>
        </p:txBody>
      </p:sp>
    </p:spTree>
    <p:extLst>
      <p:ext uri="{BB962C8B-B14F-4D97-AF65-F5344CB8AC3E}">
        <p14:creationId xmlns:p14="http://schemas.microsoft.com/office/powerpoint/2010/main" val="744807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22</a:t>
            </a:fld>
            <a:endParaRPr lang="en-US" dirty="0"/>
          </a:p>
        </p:txBody>
      </p:sp>
    </p:spTree>
    <p:extLst>
      <p:ext uri="{BB962C8B-B14F-4D97-AF65-F5344CB8AC3E}">
        <p14:creationId xmlns:p14="http://schemas.microsoft.com/office/powerpoint/2010/main" val="2892479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23</a:t>
            </a:fld>
            <a:endParaRPr lang="en-US" dirty="0"/>
          </a:p>
        </p:txBody>
      </p:sp>
    </p:spTree>
    <p:extLst>
      <p:ext uri="{BB962C8B-B14F-4D97-AF65-F5344CB8AC3E}">
        <p14:creationId xmlns:p14="http://schemas.microsoft.com/office/powerpoint/2010/main" val="75527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24</a:t>
            </a:fld>
            <a:endParaRPr lang="en-US" dirty="0"/>
          </a:p>
        </p:txBody>
      </p:sp>
    </p:spTree>
    <p:extLst>
      <p:ext uri="{BB962C8B-B14F-4D97-AF65-F5344CB8AC3E}">
        <p14:creationId xmlns:p14="http://schemas.microsoft.com/office/powerpoint/2010/main" val="3631048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25</a:t>
            </a:fld>
            <a:endParaRPr lang="en-US" dirty="0"/>
          </a:p>
        </p:txBody>
      </p:sp>
    </p:spTree>
    <p:extLst>
      <p:ext uri="{BB962C8B-B14F-4D97-AF65-F5344CB8AC3E}">
        <p14:creationId xmlns:p14="http://schemas.microsoft.com/office/powerpoint/2010/main" val="3028841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26</a:t>
            </a:fld>
            <a:endParaRPr lang="en-US" dirty="0"/>
          </a:p>
        </p:txBody>
      </p:sp>
    </p:spTree>
    <p:extLst>
      <p:ext uri="{BB962C8B-B14F-4D97-AF65-F5344CB8AC3E}">
        <p14:creationId xmlns:p14="http://schemas.microsoft.com/office/powerpoint/2010/main" val="4176687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27</a:t>
            </a:fld>
            <a:endParaRPr lang="en-US" dirty="0"/>
          </a:p>
        </p:txBody>
      </p:sp>
    </p:spTree>
    <p:extLst>
      <p:ext uri="{BB962C8B-B14F-4D97-AF65-F5344CB8AC3E}">
        <p14:creationId xmlns:p14="http://schemas.microsoft.com/office/powerpoint/2010/main" val="745989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28</a:t>
            </a:fld>
            <a:endParaRPr lang="en-US" dirty="0"/>
          </a:p>
        </p:txBody>
      </p:sp>
    </p:spTree>
    <p:extLst>
      <p:ext uri="{BB962C8B-B14F-4D97-AF65-F5344CB8AC3E}">
        <p14:creationId xmlns:p14="http://schemas.microsoft.com/office/powerpoint/2010/main" val="1903627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29</a:t>
            </a:fld>
            <a:endParaRPr lang="en-US" dirty="0"/>
          </a:p>
        </p:txBody>
      </p:sp>
    </p:spTree>
    <p:extLst>
      <p:ext uri="{BB962C8B-B14F-4D97-AF65-F5344CB8AC3E}">
        <p14:creationId xmlns:p14="http://schemas.microsoft.com/office/powerpoint/2010/main" val="13886124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30</a:t>
            </a:fld>
            <a:endParaRPr lang="en-US" dirty="0"/>
          </a:p>
        </p:txBody>
      </p:sp>
    </p:spTree>
    <p:extLst>
      <p:ext uri="{BB962C8B-B14F-4D97-AF65-F5344CB8AC3E}">
        <p14:creationId xmlns:p14="http://schemas.microsoft.com/office/powerpoint/2010/main" val="5972285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31</a:t>
            </a:fld>
            <a:endParaRPr lang="en-US" dirty="0"/>
          </a:p>
        </p:txBody>
      </p:sp>
    </p:spTree>
    <p:extLst>
      <p:ext uri="{BB962C8B-B14F-4D97-AF65-F5344CB8AC3E}">
        <p14:creationId xmlns:p14="http://schemas.microsoft.com/office/powerpoint/2010/main" val="29001152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32</a:t>
            </a:fld>
            <a:endParaRPr lang="en-US" dirty="0"/>
          </a:p>
        </p:txBody>
      </p:sp>
    </p:spTree>
    <p:extLst>
      <p:ext uri="{BB962C8B-B14F-4D97-AF65-F5344CB8AC3E}">
        <p14:creationId xmlns:p14="http://schemas.microsoft.com/office/powerpoint/2010/main" val="2516832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33</a:t>
            </a:fld>
            <a:endParaRPr lang="en-US" dirty="0"/>
          </a:p>
        </p:txBody>
      </p:sp>
    </p:spTree>
    <p:extLst>
      <p:ext uri="{BB962C8B-B14F-4D97-AF65-F5344CB8AC3E}">
        <p14:creationId xmlns:p14="http://schemas.microsoft.com/office/powerpoint/2010/main" val="1382103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34</a:t>
            </a:fld>
            <a:endParaRPr lang="en-US" dirty="0"/>
          </a:p>
        </p:txBody>
      </p:sp>
    </p:spTree>
    <p:extLst>
      <p:ext uri="{BB962C8B-B14F-4D97-AF65-F5344CB8AC3E}">
        <p14:creationId xmlns:p14="http://schemas.microsoft.com/office/powerpoint/2010/main" val="42881659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35</a:t>
            </a:fld>
            <a:endParaRPr lang="en-US" dirty="0"/>
          </a:p>
        </p:txBody>
      </p:sp>
    </p:spTree>
    <p:extLst>
      <p:ext uri="{BB962C8B-B14F-4D97-AF65-F5344CB8AC3E}">
        <p14:creationId xmlns:p14="http://schemas.microsoft.com/office/powerpoint/2010/main" val="31240025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36</a:t>
            </a:fld>
            <a:endParaRPr lang="en-US" dirty="0"/>
          </a:p>
        </p:txBody>
      </p:sp>
    </p:spTree>
    <p:extLst>
      <p:ext uri="{BB962C8B-B14F-4D97-AF65-F5344CB8AC3E}">
        <p14:creationId xmlns:p14="http://schemas.microsoft.com/office/powerpoint/2010/main" val="1419755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37</a:t>
            </a:fld>
            <a:endParaRPr lang="en-US" dirty="0"/>
          </a:p>
        </p:txBody>
      </p:sp>
    </p:spTree>
    <p:extLst>
      <p:ext uri="{BB962C8B-B14F-4D97-AF65-F5344CB8AC3E}">
        <p14:creationId xmlns:p14="http://schemas.microsoft.com/office/powerpoint/2010/main" val="32449803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38</a:t>
            </a:fld>
            <a:endParaRPr lang="en-US" dirty="0"/>
          </a:p>
        </p:txBody>
      </p:sp>
    </p:spTree>
    <p:extLst>
      <p:ext uri="{BB962C8B-B14F-4D97-AF65-F5344CB8AC3E}">
        <p14:creationId xmlns:p14="http://schemas.microsoft.com/office/powerpoint/2010/main" val="16105736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39</a:t>
            </a:fld>
            <a:endParaRPr lang="en-US" dirty="0"/>
          </a:p>
        </p:txBody>
      </p:sp>
    </p:spTree>
    <p:extLst>
      <p:ext uri="{BB962C8B-B14F-4D97-AF65-F5344CB8AC3E}">
        <p14:creationId xmlns:p14="http://schemas.microsoft.com/office/powerpoint/2010/main" val="2635764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40</a:t>
            </a:fld>
            <a:endParaRPr lang="en-US" dirty="0"/>
          </a:p>
        </p:txBody>
      </p:sp>
    </p:spTree>
    <p:extLst>
      <p:ext uri="{BB962C8B-B14F-4D97-AF65-F5344CB8AC3E}">
        <p14:creationId xmlns:p14="http://schemas.microsoft.com/office/powerpoint/2010/main" val="2112347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41</a:t>
            </a:fld>
            <a:endParaRPr lang="en-US" dirty="0"/>
          </a:p>
        </p:txBody>
      </p:sp>
    </p:spTree>
    <p:extLst>
      <p:ext uri="{BB962C8B-B14F-4D97-AF65-F5344CB8AC3E}">
        <p14:creationId xmlns:p14="http://schemas.microsoft.com/office/powerpoint/2010/main" val="2559473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42</a:t>
            </a:fld>
            <a:endParaRPr lang="en-US" dirty="0"/>
          </a:p>
        </p:txBody>
      </p:sp>
    </p:spTree>
    <p:extLst>
      <p:ext uri="{BB962C8B-B14F-4D97-AF65-F5344CB8AC3E}">
        <p14:creationId xmlns:p14="http://schemas.microsoft.com/office/powerpoint/2010/main" val="28719492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43</a:t>
            </a:fld>
            <a:endParaRPr lang="en-US" dirty="0"/>
          </a:p>
        </p:txBody>
      </p:sp>
    </p:spTree>
    <p:extLst>
      <p:ext uri="{BB962C8B-B14F-4D97-AF65-F5344CB8AC3E}">
        <p14:creationId xmlns:p14="http://schemas.microsoft.com/office/powerpoint/2010/main" val="21366468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44</a:t>
            </a:fld>
            <a:endParaRPr lang="en-US" dirty="0"/>
          </a:p>
        </p:txBody>
      </p:sp>
    </p:spTree>
    <p:extLst>
      <p:ext uri="{BB962C8B-B14F-4D97-AF65-F5344CB8AC3E}">
        <p14:creationId xmlns:p14="http://schemas.microsoft.com/office/powerpoint/2010/main" val="3000770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45</a:t>
            </a:fld>
            <a:endParaRPr lang="en-US" dirty="0"/>
          </a:p>
        </p:txBody>
      </p:sp>
    </p:spTree>
    <p:extLst>
      <p:ext uri="{BB962C8B-B14F-4D97-AF65-F5344CB8AC3E}">
        <p14:creationId xmlns:p14="http://schemas.microsoft.com/office/powerpoint/2010/main" val="41673509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46</a:t>
            </a:fld>
            <a:endParaRPr lang="en-US" dirty="0"/>
          </a:p>
        </p:txBody>
      </p:sp>
    </p:spTree>
    <p:extLst>
      <p:ext uri="{BB962C8B-B14F-4D97-AF65-F5344CB8AC3E}">
        <p14:creationId xmlns:p14="http://schemas.microsoft.com/office/powerpoint/2010/main" val="3866890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47</a:t>
            </a:fld>
            <a:endParaRPr lang="en-US" dirty="0"/>
          </a:p>
        </p:txBody>
      </p:sp>
    </p:spTree>
    <p:extLst>
      <p:ext uri="{BB962C8B-B14F-4D97-AF65-F5344CB8AC3E}">
        <p14:creationId xmlns:p14="http://schemas.microsoft.com/office/powerpoint/2010/main" val="5138657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48</a:t>
            </a:fld>
            <a:endParaRPr lang="en-US" dirty="0"/>
          </a:p>
        </p:txBody>
      </p:sp>
    </p:spTree>
    <p:extLst>
      <p:ext uri="{BB962C8B-B14F-4D97-AF65-F5344CB8AC3E}">
        <p14:creationId xmlns:p14="http://schemas.microsoft.com/office/powerpoint/2010/main" val="22942849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49</a:t>
            </a:fld>
            <a:endParaRPr lang="en-US" dirty="0"/>
          </a:p>
        </p:txBody>
      </p:sp>
    </p:spTree>
    <p:extLst>
      <p:ext uri="{BB962C8B-B14F-4D97-AF65-F5344CB8AC3E}">
        <p14:creationId xmlns:p14="http://schemas.microsoft.com/office/powerpoint/2010/main" val="20913683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50</a:t>
            </a:fld>
            <a:endParaRPr lang="en-US" dirty="0"/>
          </a:p>
        </p:txBody>
      </p:sp>
    </p:spTree>
    <p:extLst>
      <p:ext uri="{BB962C8B-B14F-4D97-AF65-F5344CB8AC3E}">
        <p14:creationId xmlns:p14="http://schemas.microsoft.com/office/powerpoint/2010/main" val="28265831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51</a:t>
            </a:fld>
            <a:endParaRPr lang="en-US" dirty="0"/>
          </a:p>
        </p:txBody>
      </p:sp>
    </p:spTree>
    <p:extLst>
      <p:ext uri="{BB962C8B-B14F-4D97-AF65-F5344CB8AC3E}">
        <p14:creationId xmlns:p14="http://schemas.microsoft.com/office/powerpoint/2010/main" val="30805869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52</a:t>
            </a:fld>
            <a:endParaRPr lang="en-US" dirty="0"/>
          </a:p>
        </p:txBody>
      </p:sp>
    </p:spTree>
    <p:extLst>
      <p:ext uri="{BB962C8B-B14F-4D97-AF65-F5344CB8AC3E}">
        <p14:creationId xmlns:p14="http://schemas.microsoft.com/office/powerpoint/2010/main" val="8570694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53</a:t>
            </a:fld>
            <a:endParaRPr lang="en-US" dirty="0"/>
          </a:p>
        </p:txBody>
      </p:sp>
    </p:spTree>
    <p:extLst>
      <p:ext uri="{BB962C8B-B14F-4D97-AF65-F5344CB8AC3E}">
        <p14:creationId xmlns:p14="http://schemas.microsoft.com/office/powerpoint/2010/main" val="24087872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54</a:t>
            </a:fld>
            <a:endParaRPr lang="en-US" dirty="0"/>
          </a:p>
        </p:txBody>
      </p:sp>
    </p:spTree>
    <p:extLst>
      <p:ext uri="{BB962C8B-B14F-4D97-AF65-F5344CB8AC3E}">
        <p14:creationId xmlns:p14="http://schemas.microsoft.com/office/powerpoint/2010/main" val="37359453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55</a:t>
            </a:fld>
            <a:endParaRPr lang="en-US" dirty="0"/>
          </a:p>
        </p:txBody>
      </p:sp>
    </p:spTree>
    <p:extLst>
      <p:ext uri="{BB962C8B-B14F-4D97-AF65-F5344CB8AC3E}">
        <p14:creationId xmlns:p14="http://schemas.microsoft.com/office/powerpoint/2010/main" val="6056597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56</a:t>
            </a:fld>
            <a:endParaRPr lang="en-US" dirty="0"/>
          </a:p>
        </p:txBody>
      </p:sp>
    </p:spTree>
    <p:extLst>
      <p:ext uri="{BB962C8B-B14F-4D97-AF65-F5344CB8AC3E}">
        <p14:creationId xmlns:p14="http://schemas.microsoft.com/office/powerpoint/2010/main" val="518132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57</a:t>
            </a:fld>
            <a:endParaRPr lang="en-US" dirty="0"/>
          </a:p>
        </p:txBody>
      </p:sp>
    </p:spTree>
    <p:extLst>
      <p:ext uri="{BB962C8B-B14F-4D97-AF65-F5344CB8AC3E}">
        <p14:creationId xmlns:p14="http://schemas.microsoft.com/office/powerpoint/2010/main" val="18679382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58</a:t>
            </a:fld>
            <a:endParaRPr lang="en-US" dirty="0"/>
          </a:p>
        </p:txBody>
      </p:sp>
    </p:spTree>
    <p:extLst>
      <p:ext uri="{BB962C8B-B14F-4D97-AF65-F5344CB8AC3E}">
        <p14:creationId xmlns:p14="http://schemas.microsoft.com/office/powerpoint/2010/main" val="29520481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59</a:t>
            </a:fld>
            <a:endParaRPr lang="en-US" dirty="0"/>
          </a:p>
        </p:txBody>
      </p:sp>
    </p:spTree>
    <p:extLst>
      <p:ext uri="{BB962C8B-B14F-4D97-AF65-F5344CB8AC3E}">
        <p14:creationId xmlns:p14="http://schemas.microsoft.com/office/powerpoint/2010/main" val="13471066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60</a:t>
            </a:fld>
            <a:endParaRPr lang="en-US" dirty="0"/>
          </a:p>
        </p:txBody>
      </p:sp>
    </p:spTree>
    <p:extLst>
      <p:ext uri="{BB962C8B-B14F-4D97-AF65-F5344CB8AC3E}">
        <p14:creationId xmlns:p14="http://schemas.microsoft.com/office/powerpoint/2010/main" val="28041857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61</a:t>
            </a:fld>
            <a:endParaRPr lang="en-US" dirty="0"/>
          </a:p>
        </p:txBody>
      </p:sp>
    </p:spTree>
    <p:extLst>
      <p:ext uri="{BB962C8B-B14F-4D97-AF65-F5344CB8AC3E}">
        <p14:creationId xmlns:p14="http://schemas.microsoft.com/office/powerpoint/2010/main" val="23448760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62</a:t>
            </a:fld>
            <a:endParaRPr lang="en-US" dirty="0"/>
          </a:p>
        </p:txBody>
      </p:sp>
    </p:spTree>
    <p:extLst>
      <p:ext uri="{BB962C8B-B14F-4D97-AF65-F5344CB8AC3E}">
        <p14:creationId xmlns:p14="http://schemas.microsoft.com/office/powerpoint/2010/main" val="443424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63</a:t>
            </a:fld>
            <a:endParaRPr lang="en-US" dirty="0"/>
          </a:p>
        </p:txBody>
      </p:sp>
    </p:spTree>
    <p:extLst>
      <p:ext uri="{BB962C8B-B14F-4D97-AF65-F5344CB8AC3E}">
        <p14:creationId xmlns:p14="http://schemas.microsoft.com/office/powerpoint/2010/main" val="1833297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t>65</a:t>
            </a:fld>
            <a:endParaRPr lang="en-US" dirty="0"/>
          </a:p>
        </p:txBody>
      </p:sp>
    </p:spTree>
    <p:extLst>
      <p:ext uri="{BB962C8B-B14F-4D97-AF65-F5344CB8AC3E}">
        <p14:creationId xmlns:p14="http://schemas.microsoft.com/office/powerpoint/2010/main" val="3367211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t>11/3/2025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defRPr/>
            </a:pPr>
            <a:r>
              <a:rPr lang="en-US" altLang="en-US" sz="700" b="1" dirty="0">
                <a:ea typeface="Verdana" panose="020B0604030504040204" pitchFamily="34" charset="0"/>
                <a:cs typeface="Verdana" panose="020B0604030504040204" pitchFamily="34" charset="0"/>
              </a:rPr>
              <a:t>Copyright © 2018, 2013, 2007 by Pearson Education, Inc.,</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2000">
                <a:solidFill>
                  <a:srgbClr val="007FA3"/>
                </a:solidFill>
                <a:latin typeface="Arial (Body)"/>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t>11/3/2025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defRPr/>
            </a:pPr>
            <a:r>
              <a:rPr lang="en-US" altLang="en-US" sz="700" b="1" dirty="0">
                <a:ea typeface="Verdana" panose="020B0604030504040204" pitchFamily="34" charset="0"/>
                <a:cs typeface="Verdana" panose="020B0604030504040204" pitchFamily="34" charset="0"/>
              </a:rPr>
              <a:t>Copyright © 2018, 2013, 2007 by Pearson Education, Inc.,</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t>11/3/2025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t>‹#›</a:t>
            </a:fld>
            <a:endParaRPr lang="en-US" dirty="0"/>
          </a:p>
        </p:txBody>
      </p:sp>
      <p:pic>
        <p:nvPicPr>
          <p:cNvPr id="7" name="Picture 6" descr="Pearson Logo"/>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defRPr/>
            </a:pPr>
            <a:r>
              <a:rPr lang="en-US" altLang="en-US" sz="700" b="1" dirty="0">
                <a:ea typeface="Verdana" panose="020B0604030504040204" pitchFamily="34" charset="0"/>
                <a:cs typeface="Verdana" panose="020B0604030504040204" pitchFamily="34" charset="0"/>
              </a:rPr>
              <a:t>Copyright © 2018, 2013, 2007 by Pearson Education, Inc.,</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400" b="1" kern="1200">
          <a:solidFill>
            <a:srgbClr val="007FA3"/>
          </a:solidFill>
          <a:latin typeface="Arial (headings)"/>
          <a:ea typeface="+mj-ea"/>
          <a:cs typeface="Times New Roman" panose="02020603050405020304" pitchFamily="18" charset="0"/>
        </a:defRPr>
      </a:lvl1pPr>
    </p:titleStyle>
    <p:bodyStyle>
      <a:lvl1pPr marL="255905" indent="-255905"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 VHDL, and SystemVerilog</a:t>
            </a:r>
          </a:p>
          <a:p>
            <a:r>
              <a:rPr lang="en-US" sz="2400" dirty="0">
                <a:latin typeface="+mj-lt"/>
              </a:rPr>
              <a:t>6</a:t>
            </a:r>
            <a:r>
              <a:rPr lang="en-US" sz="2400" baseline="30000" dirty="0">
                <a:latin typeface="+mj-lt"/>
              </a:rPr>
              <a:t>th</a:t>
            </a:r>
            <a:r>
              <a:rPr lang="en-US" sz="2400" dirty="0">
                <a:latin typeface="+mj-lt"/>
              </a:rPr>
              <a:t> </a:t>
            </a:r>
            <a:r>
              <a:rPr lang="en-US" sz="1800" dirty="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a:t>Chapter 04</a:t>
            </a:r>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a:t>Combinational Logic</a:t>
            </a:r>
            <a:endParaRPr lang="en-US" sz="2200"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4.1 </a:t>
            </a:r>
            <a:r>
              <a:rPr lang="en-US" sz="2000" b="1" dirty="0">
                <a:latin typeface="+mn-lt"/>
              </a:rPr>
              <a:t/>
            </a:r>
            <a:br>
              <a:rPr lang="en-US" sz="2000" b="1" dirty="0">
                <a:latin typeface="+mn-lt"/>
              </a:rPr>
            </a:br>
            <a:r>
              <a:rPr lang="en-US" sz="2000" dirty="0"/>
              <a:t>Block diagram of combinational circuit</a:t>
            </a:r>
            <a:r>
              <a:rPr lang="en-US" sz="2000" dirty="0">
                <a:latin typeface="+mn-lt"/>
              </a:rPr>
              <a:t>.</a:t>
            </a:r>
          </a:p>
        </p:txBody>
      </p:sp>
      <p:pic>
        <p:nvPicPr>
          <p:cNvPr id="2" name="Picture 2" descr="The combinational circuit receives n inputs and produces m outputs."/>
          <p:cNvPicPr>
            <a:picLocks noChangeAspect="1" noChangeArrowheads="1"/>
          </p:cNvPicPr>
          <p:nvPr/>
        </p:nvPicPr>
        <p:blipFill>
          <a:blip r:embed="rId3"/>
          <a:srcRect/>
          <a:stretch>
            <a:fillRect/>
          </a:stretch>
        </p:blipFill>
        <p:spPr bwMode="auto">
          <a:xfrm>
            <a:off x="800155" y="2504281"/>
            <a:ext cx="7543690" cy="1849438"/>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4.2 </a:t>
            </a:r>
            <a:r>
              <a:rPr lang="en-US" sz="2000" b="1" dirty="0">
                <a:latin typeface="+mn-lt"/>
              </a:rPr>
              <a:t/>
            </a:r>
            <a:br>
              <a:rPr lang="en-US" sz="2000" b="1" dirty="0">
                <a:latin typeface="+mn-lt"/>
              </a:rPr>
            </a:br>
            <a:r>
              <a:rPr lang="en-US" sz="2000" dirty="0"/>
              <a:t>Logic diagram for analysis example.</a:t>
            </a:r>
            <a:endParaRPr lang="en-US" sz="2000" baseline="-25000" dirty="0">
              <a:latin typeface="+mn-lt"/>
            </a:endParaRPr>
          </a:p>
        </p:txBody>
      </p:sp>
      <p:pic>
        <p:nvPicPr>
          <p:cNvPr id="2050" name="Picture 2" descr="Inputs Ay, B, and C enter or gate G sub 1, and, and gates G sub 2, G sub 3, G sub 4, and G sub 5. The outputs of G sub 3, G sub 4, and G sub 5 proceed to or gate G sub 6, producing F sub 2. F sub 2 then passes through inverter G sub 7, producing F sub 2 prime, which enters and gate G sub 8. G sub 8 also receives T sub 1 from G sub 1. In turn, G sub 8 sends T sub 3 to or gate G sub 9. At the same time, G sub 2 send T sub 2 to G sub 9, which produces output F sub 1."/>
          <p:cNvPicPr>
            <a:picLocks noChangeAspect="1" noChangeArrowheads="1"/>
          </p:cNvPicPr>
          <p:nvPr/>
        </p:nvPicPr>
        <p:blipFill>
          <a:blip r:embed="rId3" cstate="print"/>
          <a:srcRect/>
          <a:stretch>
            <a:fillRect/>
          </a:stretch>
        </p:blipFill>
        <p:spPr bwMode="auto">
          <a:xfrm>
            <a:off x="1838598" y="1811222"/>
            <a:ext cx="5466804" cy="382757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Table 4.1 </a:t>
            </a:r>
            <a:br>
              <a:rPr lang="en-US" sz="2000" dirty="0"/>
            </a:br>
            <a:r>
              <a:rPr lang="en-US" sz="2000" dirty="0"/>
              <a:t>Truth Table for the Logic Diagram of Fig. 4.2.</a:t>
            </a:r>
            <a:endParaRPr lang="en-US" sz="2000" dirty="0">
              <a:latin typeface="+mn-lt"/>
            </a:endParaRPr>
          </a:p>
        </p:txBody>
      </p:sp>
      <p:pic>
        <p:nvPicPr>
          <p:cNvPr id="3076" name="Picture 4" descr="Z:\NewMedia\Ebook-Novella\Wiley\jira\Mano_Ciletti6e\Work\Images\Ch04\t01.jpg"/>
          <p:cNvPicPr>
            <a:picLocks noChangeAspect="1" noChangeArrowheads="1"/>
          </p:cNvPicPr>
          <p:nvPr/>
        </p:nvPicPr>
        <p:blipFill>
          <a:blip r:embed="rId3"/>
          <a:srcRect/>
          <a:stretch>
            <a:fillRect/>
          </a:stretch>
        </p:blipFill>
        <p:spPr bwMode="auto">
          <a:xfrm>
            <a:off x="1447800" y="1403152"/>
            <a:ext cx="6248400" cy="405169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Figure PE4.1</a:t>
            </a:r>
            <a:br>
              <a:rPr lang="en-US" sz="2000" dirty="0"/>
            </a:br>
            <a:endParaRPr lang="en-US" sz="2000" dirty="0">
              <a:latin typeface="+mn-lt"/>
            </a:endParaRPr>
          </a:p>
        </p:txBody>
      </p:sp>
      <p:pic>
        <p:nvPicPr>
          <p:cNvPr id="13314" name="Picture 2" descr="Inputs Ay, B, and C enter gates in different combinations, as follows. Ay, B, and C enter or gate G sub 1, and and gate G sub 2. Ay and B enter and gate G sub 3. Ay and C enter or gate G sub 4, and B and C enter and gate G sub 5. The signals from G sub 3, G sub 4, and G sub 5 enter or gate G sub 6, which produces F sub 2. F sub 2 then passes through inverter g sub 7, producing input F sub 2 prime for and gate G sub 8. G sub 8 also receives T sub 2 from G sub 2, and it sends output T sub 3 to or gate G sub 9. G sub 1 also sends T sub 1 to G sub 9, which produces F sub 1."/>
          <p:cNvPicPr>
            <a:picLocks noChangeAspect="1" noChangeArrowheads="1"/>
          </p:cNvPicPr>
          <p:nvPr/>
        </p:nvPicPr>
        <p:blipFill>
          <a:blip r:embed="rId3"/>
          <a:srcRect/>
          <a:stretch>
            <a:fillRect/>
          </a:stretch>
        </p:blipFill>
        <p:spPr bwMode="auto">
          <a:xfrm>
            <a:off x="1371600" y="1188243"/>
            <a:ext cx="6400800" cy="448151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Table 4.2</a:t>
            </a:r>
            <a:br>
              <a:rPr lang="en-US" sz="2000" dirty="0"/>
            </a:br>
            <a:r>
              <a:rPr lang="en-US" sz="2000" dirty="0"/>
              <a:t>Truth Table for Code Conversion Example.</a:t>
            </a:r>
            <a:endParaRPr lang="en-US" sz="2000" dirty="0">
              <a:latin typeface="+mn-lt"/>
            </a:endParaRPr>
          </a:p>
        </p:txBody>
      </p:sp>
      <p:pic>
        <p:nvPicPr>
          <p:cNvPr id="1026" name="Picture 2" descr="Z:\NewMedia\Ebook-Novella\Wiley\jira\Mano_Ciletti6e\Work\Images\Ch04\t02.jpg"/>
          <p:cNvPicPr>
            <a:picLocks noChangeAspect="1" noChangeArrowheads="1"/>
          </p:cNvPicPr>
          <p:nvPr/>
        </p:nvPicPr>
        <p:blipFill>
          <a:blip r:embed="rId3"/>
          <a:srcRect/>
          <a:stretch>
            <a:fillRect/>
          </a:stretch>
        </p:blipFill>
        <p:spPr bwMode="auto">
          <a:xfrm>
            <a:off x="1580165" y="1447800"/>
            <a:ext cx="5983670" cy="39624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dirty="0"/>
              <a:t>Figure 4.3</a:t>
            </a:r>
            <a:br>
              <a:rPr lang="en-US" sz="2000" dirty="0"/>
            </a:br>
            <a:r>
              <a:rPr lang="en-US" sz="2000" dirty="0"/>
              <a:t>Maps for BCD-to-excess-3 code converter.</a:t>
            </a:r>
            <a:endParaRPr lang="en-US" sz="2000" dirty="0">
              <a:latin typeface="+mn-lt"/>
            </a:endParaRPr>
          </a:p>
        </p:txBody>
      </p:sp>
      <p:pic>
        <p:nvPicPr>
          <p:cNvPr id="3075" name="Picture 3" descr="First K map: z = D prime. Entries marked 1: m sub 0, m sub 2, m sub 4, m sub 6, m sub 8. Entries marked upper X: m sub 12, m sub 13, m sub 15, m sub 14, m sub 11, m sub 10. m sub 0, m sub 4, m sub 12, and m sub 8 are shaded, and m sub 2, m sub 6, m sub 14, and m sub 10 are shaded. Second K amp: y = C D +C D prime. This map is the same as the first map, but the entries in columns 1 and 3 are shaded. Third K map: x = B prime C + B prime D + B C prime D prime. Entries marked 1: m sub 1, m sub 3, m sub 2, m sub 4, m sub 12, m sub 9, m sub 11, m sub 10. Entries marked upper X: m sub 12, m sub 13, m sub 15, m sub 14, m sub 11, m sub 10. The following pairs of entries are lightly shaded: m sub 2 and m sub 3, m sub 4 and m sub 12, m sub 9 and m sub 11. The following pairs of entries are darkly shaded: m sub 3 and m sub 2, m sub 11 and m sub 10. Fourth K map: w = Ay + B C + B D. Entries marked 1:m sub 5, m sub 7, m sub 6, m sub 8, m sub 9. Entries marked upper X: m sub 12, m sub 13, m sub 15, m sub 14, m sub 11, m sub 10. The following entries are lightly shaded: m sub 7, m sub 6, m sub 15, and m sub 14. The following entries are medium shaded: m sub 5, m sub 7, m sub 3, and m sub 15. The following entries are darkly shaded: m sub 12, m sub 13, m sub 15, m sub 14, m sub 8, m sub 9, m sub 11, m sub 10."/>
          <p:cNvPicPr>
            <a:picLocks noChangeAspect="1" noChangeArrowheads="1"/>
          </p:cNvPicPr>
          <p:nvPr/>
        </p:nvPicPr>
        <p:blipFill>
          <a:blip r:embed="rId3"/>
          <a:srcRect/>
          <a:stretch>
            <a:fillRect/>
          </a:stretch>
        </p:blipFill>
        <p:spPr bwMode="auto">
          <a:xfrm>
            <a:off x="2209800" y="1371600"/>
            <a:ext cx="4629666" cy="47244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756"/>
            <a:ext cx="8391728" cy="944880"/>
          </a:xfrm>
        </p:spPr>
        <p:txBody>
          <a:bodyPr/>
          <a:lstStyle/>
          <a:p>
            <a:r>
              <a:rPr lang="en-US" sz="2000" b="1" dirty="0">
                <a:latin typeface="+mj-lt"/>
              </a:rPr>
              <a:t>Figure 4</a:t>
            </a:r>
            <a:r>
              <a:rPr lang="en-US" sz="2000" dirty="0">
                <a:latin typeface="+mj-lt"/>
              </a:rPr>
              <a:t>.4</a:t>
            </a:r>
            <a:r>
              <a:rPr lang="en-US" sz="2000" b="1" dirty="0">
                <a:latin typeface="+mj-lt"/>
              </a:rPr>
              <a:t/>
            </a:r>
            <a:br>
              <a:rPr lang="en-US" sz="2000" b="1" dirty="0">
                <a:latin typeface="+mj-lt"/>
              </a:rPr>
            </a:br>
            <a:r>
              <a:rPr lang="en-US" sz="2000" dirty="0"/>
              <a:t>Logic diagram for BCD-to-excess-3 code converter.</a:t>
            </a:r>
            <a:r>
              <a:rPr lang="en-US" sz="2000" dirty="0">
                <a:latin typeface="+mn-lt"/>
              </a:rPr>
              <a:t/>
            </a:r>
            <a:br>
              <a:rPr lang="en-US" sz="2000" dirty="0">
                <a:latin typeface="+mn-lt"/>
              </a:rPr>
            </a:br>
            <a:endParaRPr lang="en-US" sz="2000" dirty="0">
              <a:latin typeface="+mn-lt"/>
            </a:endParaRPr>
          </a:p>
        </p:txBody>
      </p:sp>
      <p:pic>
        <p:nvPicPr>
          <p:cNvPr id="4100" name="Picture 4" descr="The structure includes gates arranged in 4 levels. For each level, the following lists provide the inputs and outputs for each gate. Level 1. First inverter: input D, output D prime to z. And gate: input D and C, output C D. Or gate: input C and D, output C + D. Second inverter: input B. Level 2. Inverter: input C + D, output C + D, prime. Level 3. Or gate: inputs C D and C + D, prime, output y. First and gate: inputs C + D, prime and B. Second and gate: inputs C + D and B prime. Third and gate: inputs C + D and B. Level 4. First or gate: inputs from first and second and gates, output x. Second or gate: inputs Ay and signal from third and gate, output w."/>
          <p:cNvPicPr>
            <a:picLocks noChangeAspect="1" noChangeArrowheads="1"/>
          </p:cNvPicPr>
          <p:nvPr/>
        </p:nvPicPr>
        <p:blipFill>
          <a:blip r:embed="rId3"/>
          <a:srcRect/>
          <a:stretch>
            <a:fillRect/>
          </a:stretch>
        </p:blipFill>
        <p:spPr bwMode="auto">
          <a:xfrm>
            <a:off x="1676400" y="1600200"/>
            <a:ext cx="5778576" cy="4261518"/>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4.3</a:t>
            </a:r>
            <a:br>
              <a:rPr lang="en-US" sz="2000" dirty="0"/>
            </a:br>
            <a:r>
              <a:rPr lang="en-US" sz="2000" dirty="0"/>
              <a:t>Half Adder.</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2050" name="Picture 2" descr="Z:\NewMedia\Ebook-Novella\Wiley\jira\Mano_Ciletti6e\Work\Images\Ch04\t03.jpg"/>
          <p:cNvPicPr>
            <a:picLocks noChangeAspect="1" noChangeArrowheads="1"/>
          </p:cNvPicPr>
          <p:nvPr/>
        </p:nvPicPr>
        <p:blipFill>
          <a:blip r:embed="rId3" cstate="print"/>
          <a:srcRect/>
          <a:stretch>
            <a:fillRect/>
          </a:stretch>
        </p:blipFill>
        <p:spPr bwMode="auto">
          <a:xfrm>
            <a:off x="1794705" y="1600200"/>
            <a:ext cx="5554590" cy="36576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4.5</a:t>
            </a:r>
            <a:br>
              <a:rPr lang="en-US" sz="2000" dirty="0"/>
            </a:br>
            <a:r>
              <a:rPr lang="en-US" sz="2000" dirty="0"/>
              <a:t>Implementation of half adder.</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5122" name="Picture 2" descr="Part ay: S = x y prime + x prime y. C = x y. First logic diagram: Inputs x and y prime and inputs x prime and y enters separate and gates leading to a common or gate that produces output S. Second logic diagram: Inputs x and y enter a common and gate, producing c. Part b: S = x exclusive or y. C = x y. Inputs x and y enter an x or gate that produces S, and they enter an and gate that produces C."/>
          <p:cNvPicPr>
            <a:picLocks noChangeAspect="1" noChangeArrowheads="1"/>
          </p:cNvPicPr>
          <p:nvPr/>
        </p:nvPicPr>
        <p:blipFill>
          <a:blip r:embed="rId3"/>
          <a:srcRect/>
          <a:stretch>
            <a:fillRect/>
          </a:stretch>
        </p:blipFill>
        <p:spPr bwMode="auto">
          <a:xfrm>
            <a:off x="1016000" y="2238375"/>
            <a:ext cx="7112000" cy="238125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4.4</a:t>
            </a:r>
            <a:r>
              <a:rPr lang="en-US" sz="2000" b="1" dirty="0">
                <a:latin typeface="+mn-lt"/>
              </a:rPr>
              <a:t/>
            </a:r>
            <a:br>
              <a:rPr lang="en-US" sz="2000" b="1" dirty="0">
                <a:latin typeface="+mn-lt"/>
              </a:rPr>
            </a:br>
            <a:r>
              <a:rPr lang="en-US" sz="2000" dirty="0"/>
              <a:t>Full Adder. </a:t>
            </a:r>
            <a:r>
              <a:rPr lang="en-US" sz="2000" dirty="0">
                <a:latin typeface="+mn-lt"/>
              </a:rPr>
              <a:t/>
            </a:r>
            <a:br>
              <a:rPr lang="en-US" sz="2000" dirty="0">
                <a:latin typeface="+mn-lt"/>
              </a:rPr>
            </a:br>
            <a:endParaRPr lang="en-US" sz="2000" dirty="0">
              <a:latin typeface="+mn-lt"/>
            </a:endParaRPr>
          </a:p>
        </p:txBody>
      </p:sp>
      <p:pic>
        <p:nvPicPr>
          <p:cNvPr id="1026" name="Picture 2" descr="Z:\NewMedia\Ebook-Novella\Wiley\jira\Mano_Ciletti6e\Work\Images\Ch04\ciletti_6e_table_04_04.jpg"/>
          <p:cNvPicPr>
            <a:picLocks noChangeAspect="1" noChangeArrowheads="1"/>
          </p:cNvPicPr>
          <p:nvPr/>
        </p:nvPicPr>
        <p:blipFill>
          <a:blip r:embed="rId3" cstate="print"/>
          <a:srcRect/>
          <a:stretch>
            <a:fillRect/>
          </a:stretch>
        </p:blipFill>
        <p:spPr bwMode="auto">
          <a:xfrm>
            <a:off x="2513806" y="1587988"/>
            <a:ext cx="4116388" cy="368202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4.6</a:t>
            </a:r>
            <a:r>
              <a:rPr lang="en-US" sz="2000" b="1" dirty="0">
                <a:latin typeface="+mn-lt"/>
              </a:rPr>
              <a:t/>
            </a:r>
            <a:br>
              <a:rPr lang="en-US" sz="2000" b="1" dirty="0">
                <a:latin typeface="+mn-lt"/>
              </a:rPr>
            </a:br>
            <a:r>
              <a:rPr lang="en-US" sz="2000" dirty="0"/>
              <a:t>K-Maps for full adder.</a:t>
            </a:r>
            <a:endParaRPr lang="en-US" sz="2000" dirty="0">
              <a:latin typeface="+mn-lt"/>
            </a:endParaRPr>
          </a:p>
        </p:txBody>
      </p:sp>
      <p:pic>
        <p:nvPicPr>
          <p:cNvPr id="2050" name="Picture 2" descr="Part ay: S = x prime y prime z + x prime y z prime + x y prime z prime + x y z. Entries marked 1: m sub 1, m sub 2, m sub 4, m sub 7. Part b: C = x y + x z + y z. Entries marked 1: m sub 3, m sub 5, m sub 7, m sub 6. Entries lightly shaded: m sub 7 and m sub 6. Entries medium shaded: m sub 5 and m sub 7. Entries darkly shaded: m sub 3 and m sub 7."/>
          <p:cNvPicPr>
            <a:picLocks noChangeAspect="1" noChangeArrowheads="1"/>
          </p:cNvPicPr>
          <p:nvPr/>
        </p:nvPicPr>
        <p:blipFill>
          <a:blip r:embed="rId3"/>
          <a:srcRect/>
          <a:stretch>
            <a:fillRect/>
          </a:stretch>
        </p:blipFill>
        <p:spPr bwMode="auto">
          <a:xfrm>
            <a:off x="381671" y="1828006"/>
            <a:ext cx="8380658" cy="3201988"/>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4.7</a:t>
            </a:r>
            <a:r>
              <a:rPr lang="en-US" sz="2000" b="1" dirty="0">
                <a:latin typeface="+mn-lt"/>
              </a:rPr>
              <a:t/>
            </a:r>
            <a:br>
              <a:rPr lang="en-US" sz="2000" b="1" dirty="0">
                <a:latin typeface="+mn-lt"/>
              </a:rPr>
            </a:br>
            <a:r>
              <a:rPr lang="en-US" sz="2000" dirty="0"/>
              <a:t>Implementation of full adder in sum-of-products form.</a:t>
            </a:r>
            <a:endParaRPr lang="en-US" sz="2000" baseline="-25000" dirty="0">
              <a:latin typeface="+mn-lt"/>
            </a:endParaRPr>
          </a:p>
        </p:txBody>
      </p:sp>
      <p:pic>
        <p:nvPicPr>
          <p:cNvPr id="3074" name="Picture 2" descr="First logic diagram. The following sets of inputs enter separate and gates: x prime, y prime, and z; x prime, y, and z prime; x, y prime, and z prime; x, y, and z. The outputs from the and gates then enter an or gate, producing S. Second diagram: The following sets of inputs enter separate and gates: x and y, x and z, y and z. The and gate outputs then enter an or gate, producing C."/>
          <p:cNvPicPr>
            <a:picLocks noChangeAspect="1" noChangeArrowheads="1"/>
          </p:cNvPicPr>
          <p:nvPr/>
        </p:nvPicPr>
        <p:blipFill>
          <a:blip r:embed="rId3"/>
          <a:srcRect/>
          <a:stretch>
            <a:fillRect/>
          </a:stretch>
        </p:blipFill>
        <p:spPr bwMode="auto">
          <a:xfrm>
            <a:off x="1110827" y="1980406"/>
            <a:ext cx="6922346" cy="2897188"/>
          </a:xfrm>
          <a:prstGeom prst="rect">
            <a:avLst/>
          </a:prstGeom>
          <a:noFill/>
        </p:spPr>
      </p:pic>
      <p:sp>
        <p:nvSpPr>
          <p:cNvPr id="4" name="文本框 3"/>
          <p:cNvSpPr txBox="1"/>
          <p:nvPr/>
        </p:nvSpPr>
        <p:spPr>
          <a:xfrm>
            <a:off x="5486400" y="4800600"/>
            <a:ext cx="3261995" cy="1316990"/>
          </a:xfrm>
          <a:prstGeom prst="rect">
            <a:avLst/>
          </a:prstGeom>
        </p:spPr>
        <p:txBody>
          <a:bodyPr wrap="square">
            <a:noAutofit/>
            <a:extLst>
              <a:ext uri="{4A0BC546-FE56-4ADE-93B0-CB8AF2F6F144}">
                <wpsdc:textFrameExt xmlns="" xmlns:wpsdc="http://www.wps.cn/officeDocument/2022/drawingmlCustomData" type="text"/>
              </a:ext>
            </a:extLst>
          </a:bodyPr>
          <a:lstStyle/>
          <a:p>
            <a:pPr algn="l"/>
            <a:r>
              <a:rPr lang="en-US" altLang="zh-CN" sz="1800" dirty="0">
                <a:latin typeface="Arial" panose="020B0604020202020204" pitchFamily="34" charset="0"/>
                <a:ea typeface="微软雅黑" panose="020B0503020204020204" charset="-122"/>
              </a:rPr>
              <a:t>C=</a:t>
            </a:r>
            <a:r>
              <a:rPr lang="en-US" altLang="zh-CN" sz="1800" dirty="0" err="1">
                <a:latin typeface="Arial" panose="020B0604020202020204" pitchFamily="34" charset="0"/>
                <a:ea typeface="微软雅黑" panose="020B0503020204020204" charset="-122"/>
              </a:rPr>
              <a:t>xy+yz+xz</a:t>
            </a:r>
            <a:r>
              <a:rPr lang="en-US" altLang="zh-CN" sz="1800" dirty="0">
                <a:latin typeface="Arial" panose="020B0604020202020204" pitchFamily="34" charset="0"/>
                <a:ea typeface="微软雅黑" panose="020B0503020204020204" charset="-122"/>
              </a:rPr>
              <a:t>=</a:t>
            </a:r>
            <a:r>
              <a:rPr lang="en-US" altLang="zh-CN" sz="1800" dirty="0" err="1">
                <a:latin typeface="Arial" panose="020B0604020202020204" pitchFamily="34" charset="0"/>
                <a:ea typeface="微软雅黑" panose="020B0503020204020204" charset="-122"/>
              </a:rPr>
              <a:t>xy+xyz+x’yz+xz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smtClean="0">
                <a:latin typeface="Arial" panose="020B0604020202020204" pitchFamily="34" charset="0"/>
                <a:ea typeface="微软雅黑" panose="020B0503020204020204" charset="-122"/>
              </a:rPr>
              <a:t>xy+xyz+x</a:t>
            </a:r>
            <a:r>
              <a:rPr lang="en-US" altLang="zh-CN" dirty="0" err="1" smtClean="0">
                <a:latin typeface="Arial" panose="020B0604020202020204" pitchFamily="34" charset="0"/>
                <a:ea typeface="微软雅黑" panose="020B0503020204020204" charset="-122"/>
              </a:rPr>
              <a:t>’</a:t>
            </a:r>
            <a:r>
              <a:rPr lang="en-US" altLang="zh-CN" sz="1800" dirty="0" err="1" smtClean="0">
                <a:latin typeface="Arial" panose="020B0604020202020204" pitchFamily="34" charset="0"/>
                <a:ea typeface="微软雅黑" panose="020B0503020204020204" charset="-122"/>
              </a:rPr>
              <a:t>yz+xy’z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xy+xyz</a:t>
            </a:r>
            <a:r>
              <a:rPr lang="en-US" altLang="zh-CN" sz="1800" dirty="0">
                <a:latin typeface="Arial" panose="020B0604020202020204" pitchFamily="34" charset="0"/>
                <a:ea typeface="微软雅黑" panose="020B0503020204020204" charset="-122"/>
              </a:rPr>
              <a:t>+(x XOR y)z</a:t>
            </a: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a:t>
            </a:r>
            <a:r>
              <a:rPr lang="en-US" altLang="zh-CN" sz="1800" dirty="0">
                <a:latin typeface="Arial" panose="020B0604020202020204" pitchFamily="34" charset="0"/>
                <a:ea typeface="微软雅黑" panose="020B0503020204020204" charset="-122"/>
              </a:rPr>
              <a:t> + (x XOR y)z</a:t>
            </a:r>
          </a:p>
          <a:p>
            <a:pPr algn="l"/>
            <a:endParaRPr lang="en-US" altLang="zh-CN" sz="1800" dirty="0">
              <a:latin typeface="Arial" panose="020B0604020202020204" pitchFamily="34" charset="0"/>
              <a:ea typeface="微软雅黑" panose="020B0503020204020204" charset="-122"/>
            </a:endParaRPr>
          </a:p>
        </p:txBody>
      </p:sp>
      <p:sp>
        <p:nvSpPr>
          <p:cNvPr id="5" name="文本框 4"/>
          <p:cNvSpPr txBox="1"/>
          <p:nvPr/>
        </p:nvSpPr>
        <p:spPr>
          <a:xfrm>
            <a:off x="1548714" y="4906426"/>
            <a:ext cx="3048000" cy="1631216"/>
          </a:xfrm>
          <a:prstGeom prst="rect">
            <a:avLst/>
          </a:prstGeom>
          <a:noFill/>
        </p:spPr>
        <p:txBody>
          <a:bodyPr wrap="square" rtlCol="0">
            <a:spAutoFit/>
          </a:bodyPr>
          <a:lstStyle/>
          <a:p>
            <a:r>
              <a:rPr lang="en-US" altLang="zh-CN" sz="2000" dirty="0" smtClean="0"/>
              <a:t>S=x’y’z+x’</a:t>
            </a:r>
            <a:r>
              <a:rPr lang="en-US" altLang="zh-CN" sz="2000" dirty="0" err="1" smtClean="0"/>
              <a:t>yz</a:t>
            </a:r>
            <a:r>
              <a:rPr lang="en-US" altLang="zh-CN" sz="2000" dirty="0" smtClean="0"/>
              <a:t>’+</a:t>
            </a:r>
            <a:r>
              <a:rPr lang="en-US" altLang="zh-CN" sz="2000" dirty="0" err="1" smtClean="0"/>
              <a:t>xy’z’+</a:t>
            </a:r>
            <a:r>
              <a:rPr lang="en-US" altLang="zh-CN" sz="2000" dirty="0" err="1" smtClean="0"/>
              <a:t>xyz</a:t>
            </a:r>
            <a:endParaRPr lang="en-US" altLang="zh-CN" sz="2000" dirty="0" smtClean="0"/>
          </a:p>
          <a:p>
            <a:r>
              <a:rPr lang="en-US" altLang="zh-CN" sz="2000" dirty="0" smtClean="0"/>
              <a:t>   =(</a:t>
            </a:r>
            <a:r>
              <a:rPr lang="en-US" altLang="zh-CN" sz="2000" dirty="0" err="1" smtClean="0"/>
              <a:t>x’y’z+xyz</a:t>
            </a:r>
            <a:r>
              <a:rPr lang="en-US" altLang="zh-CN" sz="2000" dirty="0" smtClean="0"/>
              <a:t>)+x’</a:t>
            </a:r>
            <a:r>
              <a:rPr lang="en-US" altLang="zh-CN" sz="2000" dirty="0" err="1" smtClean="0"/>
              <a:t>yz</a:t>
            </a:r>
            <a:r>
              <a:rPr lang="en-US" altLang="zh-CN" sz="2000" dirty="0" smtClean="0"/>
              <a:t>’+</a:t>
            </a:r>
            <a:r>
              <a:rPr lang="en-US" altLang="zh-CN" sz="2000" dirty="0" err="1" smtClean="0"/>
              <a:t>xy’z</a:t>
            </a:r>
            <a:r>
              <a:rPr lang="en-US" altLang="zh-CN" sz="2000" dirty="0" smtClean="0"/>
              <a:t>’</a:t>
            </a:r>
          </a:p>
          <a:p>
            <a:r>
              <a:rPr lang="en-US" altLang="zh-CN" sz="2000" dirty="0"/>
              <a:t> </a:t>
            </a:r>
            <a:r>
              <a:rPr lang="en-US" altLang="zh-CN" sz="2000" dirty="0" smtClean="0"/>
              <a:t>  =(x’y’+</a:t>
            </a:r>
            <a:r>
              <a:rPr lang="en-US" altLang="zh-CN" sz="2000" dirty="0" err="1" smtClean="0"/>
              <a:t>xy</a:t>
            </a:r>
            <a:r>
              <a:rPr lang="en-US" altLang="zh-CN" sz="2000" dirty="0" smtClean="0"/>
              <a:t>)z+(</a:t>
            </a:r>
            <a:r>
              <a:rPr lang="en-US" altLang="zh-CN" sz="2000" dirty="0" err="1" smtClean="0"/>
              <a:t>x’y+xy</a:t>
            </a:r>
            <a:r>
              <a:rPr lang="en-US" altLang="zh-CN" sz="2000" dirty="0" smtClean="0"/>
              <a:t>’)z</a:t>
            </a:r>
          </a:p>
          <a:p>
            <a:r>
              <a:rPr lang="en-US" altLang="zh-CN" sz="2000" dirty="0" smtClean="0"/>
              <a:t>   =(x </a:t>
            </a:r>
            <a:r>
              <a:rPr lang="en-US" altLang="zh-CN" sz="2000" dirty="0" err="1" smtClean="0"/>
              <a:t>xor</a:t>
            </a:r>
            <a:r>
              <a:rPr lang="en-US" altLang="zh-CN" sz="2000" dirty="0" smtClean="0"/>
              <a:t> y)’z + (x </a:t>
            </a:r>
            <a:r>
              <a:rPr lang="en-US" altLang="zh-CN" sz="2000" dirty="0" err="1" smtClean="0"/>
              <a:t>xor</a:t>
            </a:r>
            <a:r>
              <a:rPr lang="en-US" altLang="zh-CN" sz="2000" dirty="0" smtClean="0"/>
              <a:t> y)z</a:t>
            </a:r>
          </a:p>
          <a:p>
            <a:r>
              <a:rPr lang="en-US" altLang="zh-CN" sz="2000" dirty="0"/>
              <a:t> </a:t>
            </a:r>
            <a:r>
              <a:rPr lang="en-US" altLang="zh-CN" sz="2000" dirty="0" smtClean="0"/>
              <a:t>  =x </a:t>
            </a:r>
            <a:r>
              <a:rPr lang="en-US" altLang="zh-CN" sz="2000" dirty="0" err="1" smtClean="0"/>
              <a:t>xor</a:t>
            </a:r>
            <a:r>
              <a:rPr lang="en-US" altLang="zh-CN" sz="2000" dirty="0" smtClean="0"/>
              <a:t> y </a:t>
            </a:r>
            <a:r>
              <a:rPr lang="en-US" altLang="zh-CN" sz="2000" dirty="0" err="1" smtClean="0"/>
              <a:t>xor</a:t>
            </a:r>
            <a:r>
              <a:rPr lang="en-US" altLang="zh-CN" sz="2000" dirty="0" smtClean="0"/>
              <a:t> z</a:t>
            </a:r>
            <a:endParaRPr lang="en-US" altLang="zh-CN" sz="2000"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4.8</a:t>
            </a:r>
            <a:r>
              <a:rPr lang="en-US" sz="2000" b="1" dirty="0">
                <a:latin typeface="+mn-lt"/>
              </a:rPr>
              <a:t/>
            </a:r>
            <a:br>
              <a:rPr lang="en-US" sz="2000" b="1" dirty="0">
                <a:latin typeface="+mn-lt"/>
              </a:rPr>
            </a:br>
            <a:r>
              <a:rPr lang="en-US" sz="2000" dirty="0"/>
              <a:t>Implementation of full adder with two half adders and an OR gate.</a:t>
            </a:r>
            <a:endParaRPr lang="en-US" sz="2000" baseline="-25000" dirty="0">
              <a:latin typeface="+mn-lt"/>
            </a:endParaRPr>
          </a:p>
        </p:txBody>
      </p:sp>
      <p:pic>
        <p:nvPicPr>
          <p:cNvPr id="4098" name="Picture 2" descr="The structure includes a series of two units, with each unit containing an and gate and an x or gate. Inputs x and y enter each gate in the first unit. The x or gate produces x exclusive or y, and the and gate produces x y. The signal for x exclusive or y and input z then enter each gate in the second unit. The x or gate in the second unit produces x exclusive or y, exclusive or z, leading to S. The and gate produces x exclusive or y, times z, which enters an or gate, along with input z. The or gate produces x exclusive or y, times z + x y, leading to C."/>
          <p:cNvPicPr>
            <a:picLocks noChangeAspect="1" noChangeArrowheads="1"/>
          </p:cNvPicPr>
          <p:nvPr/>
        </p:nvPicPr>
        <p:blipFill>
          <a:blip r:embed="rId3"/>
          <a:srcRect/>
          <a:stretch>
            <a:fillRect/>
          </a:stretch>
        </p:blipFill>
        <p:spPr bwMode="auto">
          <a:xfrm>
            <a:off x="512894" y="2143919"/>
            <a:ext cx="8118212" cy="2570162"/>
          </a:xfrm>
          <a:prstGeom prst="rect">
            <a:avLst/>
          </a:prstGeom>
          <a:noFill/>
        </p:spPr>
      </p:pic>
      <p:sp>
        <p:nvSpPr>
          <p:cNvPr id="2" name="文本框 1"/>
          <p:cNvSpPr txBox="1"/>
          <p:nvPr/>
        </p:nvSpPr>
        <p:spPr>
          <a:xfrm>
            <a:off x="5486400" y="4800600"/>
            <a:ext cx="3261995" cy="1316990"/>
          </a:xfrm>
          <a:prstGeom prst="rect">
            <a:avLst/>
          </a:prstGeom>
        </p:spPr>
        <p:txBody>
          <a:bodyPr wrap="square">
            <a:noAutofit/>
            <a:extLst>
              <a:ext uri="{4A0BC546-FE56-4ADE-93B0-CB8AF2F6F144}">
                <wpsdc:textFrameExt xmlns="" xmlns:wpsdc="http://www.wps.cn/officeDocument/2022/drawingmlCustomData" type="text"/>
              </a:ext>
            </a:extLst>
          </a:bodyPr>
          <a:lstStyle/>
          <a:p>
            <a:pPr algn="l"/>
            <a:r>
              <a:rPr lang="en-US" altLang="zh-CN" sz="1800" dirty="0">
                <a:latin typeface="Arial" panose="020B0604020202020204" pitchFamily="34" charset="0"/>
                <a:ea typeface="微软雅黑" panose="020B0503020204020204" charset="-122"/>
              </a:rPr>
              <a:t>C=</a:t>
            </a:r>
            <a:r>
              <a:rPr lang="en-US" altLang="zh-CN" sz="1800" dirty="0" err="1">
                <a:latin typeface="Arial" panose="020B0604020202020204" pitchFamily="34" charset="0"/>
                <a:ea typeface="微软雅黑" panose="020B0503020204020204" charset="-122"/>
              </a:rPr>
              <a:t>xy+yz+xz</a:t>
            </a:r>
            <a:r>
              <a:rPr lang="en-US" altLang="zh-CN" sz="1800" dirty="0">
                <a:latin typeface="Arial" panose="020B0604020202020204" pitchFamily="34" charset="0"/>
                <a:ea typeface="微软雅黑" panose="020B0503020204020204" charset="-122"/>
              </a:rPr>
              <a:t>=</a:t>
            </a:r>
            <a:r>
              <a:rPr lang="en-US" altLang="zh-CN" sz="1800" dirty="0" err="1">
                <a:latin typeface="Arial" panose="020B0604020202020204" pitchFamily="34" charset="0"/>
                <a:ea typeface="微软雅黑" panose="020B0503020204020204" charset="-122"/>
              </a:rPr>
              <a:t>xy+xyz+x’yz+xz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xy+x’yz+xyz+xy’z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xy+xyz</a:t>
            </a:r>
            <a:r>
              <a:rPr lang="en-US" altLang="zh-CN" sz="1800" dirty="0">
                <a:latin typeface="Arial" panose="020B0604020202020204" pitchFamily="34" charset="0"/>
                <a:ea typeface="微软雅黑" panose="020B0503020204020204" charset="-122"/>
              </a:rPr>
              <a:t>+(x XOR y)z</a:t>
            </a: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a:t>
            </a:r>
            <a:r>
              <a:rPr lang="en-US" altLang="zh-CN" sz="1800" dirty="0">
                <a:latin typeface="Arial" panose="020B0604020202020204" pitchFamily="34" charset="0"/>
                <a:ea typeface="微软雅黑" panose="020B0503020204020204" charset="-122"/>
              </a:rPr>
              <a:t> + (x XOR y)z</a:t>
            </a:r>
          </a:p>
          <a:p>
            <a:pPr algn="l"/>
            <a:endParaRPr lang="en-US" altLang="zh-CN" sz="1800" dirty="0">
              <a:latin typeface="Arial" panose="020B0604020202020204" pitchFamily="34" charset="0"/>
              <a:ea typeface="微软雅黑" panose="020B0503020204020204" charset="-122"/>
            </a:endParaRPr>
          </a:p>
        </p:txBody>
      </p:sp>
      <p:sp>
        <p:nvSpPr>
          <p:cNvPr id="6" name="文本框 5"/>
          <p:cNvSpPr txBox="1"/>
          <p:nvPr/>
        </p:nvSpPr>
        <p:spPr>
          <a:xfrm>
            <a:off x="914400" y="5029200"/>
            <a:ext cx="3048000" cy="1631216"/>
          </a:xfrm>
          <a:prstGeom prst="rect">
            <a:avLst/>
          </a:prstGeom>
          <a:noFill/>
        </p:spPr>
        <p:txBody>
          <a:bodyPr wrap="square" rtlCol="0">
            <a:spAutoFit/>
          </a:bodyPr>
          <a:lstStyle/>
          <a:p>
            <a:r>
              <a:rPr lang="en-US" altLang="zh-CN" sz="2000" dirty="0" smtClean="0"/>
              <a:t>S=x’y’z+x’</a:t>
            </a:r>
            <a:r>
              <a:rPr lang="en-US" altLang="zh-CN" sz="2000" dirty="0" err="1" smtClean="0"/>
              <a:t>yz</a:t>
            </a:r>
            <a:r>
              <a:rPr lang="en-US" altLang="zh-CN" sz="2000" dirty="0" smtClean="0"/>
              <a:t>’+</a:t>
            </a:r>
            <a:r>
              <a:rPr lang="en-US" altLang="zh-CN" sz="2000" dirty="0" err="1" smtClean="0"/>
              <a:t>xy’z’+</a:t>
            </a:r>
            <a:r>
              <a:rPr lang="en-US" altLang="zh-CN" sz="2000" dirty="0" err="1" smtClean="0"/>
              <a:t>xyz</a:t>
            </a:r>
            <a:endParaRPr lang="en-US" altLang="zh-CN" sz="2000" dirty="0" smtClean="0"/>
          </a:p>
          <a:p>
            <a:r>
              <a:rPr lang="en-US" altLang="zh-CN" sz="2000" dirty="0" smtClean="0"/>
              <a:t>   =(</a:t>
            </a:r>
            <a:r>
              <a:rPr lang="en-US" altLang="zh-CN" sz="2000" dirty="0" err="1" smtClean="0"/>
              <a:t>x’y’z+xyz</a:t>
            </a:r>
            <a:r>
              <a:rPr lang="en-US" altLang="zh-CN" sz="2000" dirty="0" smtClean="0"/>
              <a:t>)+x’</a:t>
            </a:r>
            <a:r>
              <a:rPr lang="en-US" altLang="zh-CN" sz="2000" dirty="0" err="1" smtClean="0"/>
              <a:t>yz</a:t>
            </a:r>
            <a:r>
              <a:rPr lang="en-US" altLang="zh-CN" sz="2000" dirty="0" smtClean="0"/>
              <a:t>’+</a:t>
            </a:r>
            <a:r>
              <a:rPr lang="en-US" altLang="zh-CN" sz="2000" dirty="0" err="1" smtClean="0"/>
              <a:t>xy’z</a:t>
            </a:r>
            <a:r>
              <a:rPr lang="en-US" altLang="zh-CN" sz="2000" dirty="0" smtClean="0"/>
              <a:t>’</a:t>
            </a:r>
          </a:p>
          <a:p>
            <a:r>
              <a:rPr lang="en-US" altLang="zh-CN" sz="2000" dirty="0"/>
              <a:t> </a:t>
            </a:r>
            <a:r>
              <a:rPr lang="en-US" altLang="zh-CN" sz="2000" dirty="0" smtClean="0"/>
              <a:t>  =(x’y’+</a:t>
            </a:r>
            <a:r>
              <a:rPr lang="en-US" altLang="zh-CN" sz="2000" dirty="0" err="1" smtClean="0"/>
              <a:t>xy</a:t>
            </a:r>
            <a:r>
              <a:rPr lang="en-US" altLang="zh-CN" sz="2000" dirty="0" smtClean="0"/>
              <a:t>)z+(</a:t>
            </a:r>
            <a:r>
              <a:rPr lang="en-US" altLang="zh-CN" sz="2000" dirty="0" err="1" smtClean="0"/>
              <a:t>x’y+xy</a:t>
            </a:r>
            <a:r>
              <a:rPr lang="en-US" altLang="zh-CN" sz="2000" dirty="0" smtClean="0"/>
              <a:t>’)z</a:t>
            </a:r>
          </a:p>
          <a:p>
            <a:r>
              <a:rPr lang="en-US" altLang="zh-CN" sz="2000" dirty="0" smtClean="0"/>
              <a:t>   =(x </a:t>
            </a:r>
            <a:r>
              <a:rPr lang="en-US" altLang="zh-CN" sz="2000" dirty="0" err="1" smtClean="0"/>
              <a:t>xor</a:t>
            </a:r>
            <a:r>
              <a:rPr lang="en-US" altLang="zh-CN" sz="2000" dirty="0" smtClean="0"/>
              <a:t> y)’z + (x </a:t>
            </a:r>
            <a:r>
              <a:rPr lang="en-US" altLang="zh-CN" sz="2000" dirty="0" err="1" smtClean="0"/>
              <a:t>xor</a:t>
            </a:r>
            <a:r>
              <a:rPr lang="en-US" altLang="zh-CN" sz="2000" dirty="0" smtClean="0"/>
              <a:t> y)z</a:t>
            </a:r>
          </a:p>
          <a:p>
            <a:r>
              <a:rPr lang="en-US" altLang="zh-CN" sz="2000" dirty="0"/>
              <a:t> </a:t>
            </a:r>
            <a:r>
              <a:rPr lang="en-US" altLang="zh-CN" sz="2000" dirty="0" smtClean="0"/>
              <a:t>  =x </a:t>
            </a:r>
            <a:r>
              <a:rPr lang="en-US" altLang="zh-CN" sz="2000" dirty="0" err="1" smtClean="0"/>
              <a:t>xor</a:t>
            </a:r>
            <a:r>
              <a:rPr lang="en-US" altLang="zh-CN" sz="2000" dirty="0" smtClean="0"/>
              <a:t> y </a:t>
            </a:r>
            <a:r>
              <a:rPr lang="en-US" altLang="zh-CN" sz="2000" dirty="0" err="1" smtClean="0"/>
              <a:t>xor</a:t>
            </a:r>
            <a:r>
              <a:rPr lang="en-US" altLang="zh-CN" sz="2000" dirty="0" smtClean="0"/>
              <a:t> z</a:t>
            </a:r>
            <a:endParaRPr lang="en-US" altLang="zh-CN" sz="20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4.9</a:t>
            </a:r>
            <a:r>
              <a:rPr lang="en-US" sz="2000" b="1" dirty="0">
                <a:latin typeface="+mn-lt"/>
              </a:rPr>
              <a:t/>
            </a:r>
            <a:br>
              <a:rPr lang="en-US" sz="2000" b="1" dirty="0">
                <a:latin typeface="+mn-lt"/>
              </a:rPr>
            </a:br>
            <a:r>
              <a:rPr lang="en-US" sz="2000" dirty="0"/>
              <a:t>Four-bit adder.</a:t>
            </a:r>
            <a:endParaRPr lang="en-US" sz="2000" baseline="-25000" dirty="0">
              <a:latin typeface="+mn-lt"/>
            </a:endParaRPr>
          </a:p>
        </p:txBody>
      </p:sp>
      <p:pic>
        <p:nvPicPr>
          <p:cNvPr id="5122" name="Picture 2" descr="A sub 0, B sub 0, and C sub 0 enter the first F Ay, leading to output S sub 0, and sending C sub 1 to the second F Ay, which also receives Ay sub 1 and B sub 1. The second F Ay produces output S sub 1 and sends C sub 2 to the third F Ay. The third F Ay also receives Ay sub 2 and B sub 2, before producing S sub 2 and sending C sub 3 to the fourth F Ay. The fourth F Ay receives Ay sub 3 and B sub 3, before producing S sub 3 and sending C sub 4 to the next unit."/>
          <p:cNvPicPr>
            <a:picLocks noChangeAspect="1" noChangeArrowheads="1"/>
          </p:cNvPicPr>
          <p:nvPr/>
        </p:nvPicPr>
        <p:blipFill>
          <a:blip r:embed="rId3" cstate="print"/>
          <a:srcRect/>
          <a:stretch>
            <a:fillRect/>
          </a:stretch>
        </p:blipFill>
        <p:spPr bwMode="auto">
          <a:xfrm>
            <a:off x="1283003" y="2353469"/>
            <a:ext cx="6577994" cy="2151062"/>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dirty="0">
                <a:latin typeface="+mn-lt"/>
              </a:rPr>
              <a:t>Binary Adder</a:t>
            </a:r>
            <a:r>
              <a:rPr lang="en-US" sz="2000" b="1" dirty="0">
                <a:latin typeface="+mn-lt"/>
              </a:rPr>
              <a:t/>
            </a:r>
            <a:br>
              <a:rPr lang="en-US" sz="2000" b="1" dirty="0">
                <a:latin typeface="+mn-lt"/>
              </a:rPr>
            </a:br>
            <a:endParaRPr lang="en-US" sz="2000" dirty="0">
              <a:latin typeface="+mn-lt"/>
            </a:endParaRPr>
          </a:p>
        </p:txBody>
      </p:sp>
      <p:pic>
        <p:nvPicPr>
          <p:cNvPr id="6147" name="Picture 3" descr="Z:\NewMedia\Ebook-Novella\Wiley\jira\Mano_Ciletti6e\Work\Images\Ch04\untp161.jpg"/>
          <p:cNvPicPr>
            <a:picLocks noChangeAspect="1" noChangeArrowheads="1"/>
          </p:cNvPicPr>
          <p:nvPr/>
        </p:nvPicPr>
        <p:blipFill>
          <a:blip r:embed="rId3" cstate="print"/>
          <a:srcRect/>
          <a:stretch>
            <a:fillRect/>
          </a:stretch>
        </p:blipFill>
        <p:spPr bwMode="auto">
          <a:xfrm>
            <a:off x="1299411" y="2133600"/>
            <a:ext cx="6545178" cy="25908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a:latin typeface="+mn-lt"/>
              </a:rPr>
              <a:t>Figure 4</a:t>
            </a:r>
            <a:r>
              <a:rPr lang="en-US" sz="2000" dirty="0">
                <a:latin typeface="+mn-lt"/>
              </a:rPr>
              <a:t>.10</a:t>
            </a:r>
            <a:r>
              <a:rPr lang="en-US" sz="2000" b="1" dirty="0">
                <a:latin typeface="+mn-lt"/>
              </a:rPr>
              <a:t/>
            </a:r>
            <a:br>
              <a:rPr lang="en-US" sz="2000" b="1" dirty="0">
                <a:latin typeface="+mn-lt"/>
              </a:rPr>
            </a:br>
            <a:r>
              <a:rPr lang="en-US" sz="2000" dirty="0"/>
              <a:t>Full adder with </a:t>
            </a:r>
            <a:r>
              <a:rPr lang="en-US" sz="2000" i="1" dirty="0"/>
              <a:t>P </a:t>
            </a:r>
            <a:r>
              <a:rPr lang="en-US" sz="2000" dirty="0"/>
              <a:t>and</a:t>
            </a:r>
            <a:r>
              <a:rPr lang="en-US" sz="2000" i="1" dirty="0"/>
              <a:t> G </a:t>
            </a:r>
            <a:r>
              <a:rPr lang="en-US" sz="2000" dirty="0"/>
              <a:t>shown.</a:t>
            </a:r>
            <a:endParaRPr lang="en-US" sz="2000" dirty="0">
              <a:latin typeface="+mn-lt"/>
            </a:endParaRPr>
          </a:p>
        </p:txBody>
      </p:sp>
      <p:pic>
        <p:nvPicPr>
          <p:cNvPr id="6146" name="Picture 2" descr="The structure has a series of two half adders. Inputs Ay sub i and B sub i enter the first half adder. The x or gate yields P sub i, and the and gate yields G sub i. P sub i and input C sub i enter the second half adder. The x or gate produces P sub i exclusive or C sub i, leading to S sub i. The and gate sends output to an or gate, where it combines with G sub i, leading to P sub i C sub i + G sub i, and eventually C sub i + 1."/>
          <p:cNvPicPr>
            <a:picLocks noChangeAspect="1" noChangeArrowheads="1"/>
          </p:cNvPicPr>
          <p:nvPr/>
        </p:nvPicPr>
        <p:blipFill>
          <a:blip r:embed="rId3"/>
          <a:srcRect/>
          <a:stretch>
            <a:fillRect/>
          </a:stretch>
        </p:blipFill>
        <p:spPr bwMode="auto">
          <a:xfrm>
            <a:off x="484303" y="2001044"/>
            <a:ext cx="8175394" cy="2855912"/>
          </a:xfrm>
          <a:prstGeom prst="rect">
            <a:avLst/>
          </a:prstGeom>
          <a:noFill/>
        </p:spPr>
      </p:pic>
      <p:sp>
        <p:nvSpPr>
          <p:cNvPr id="4" name="文本框 3"/>
          <p:cNvSpPr txBox="1"/>
          <p:nvPr/>
        </p:nvSpPr>
        <p:spPr>
          <a:xfrm>
            <a:off x="5105400" y="4724400"/>
            <a:ext cx="3261995" cy="1316990"/>
          </a:xfrm>
          <a:prstGeom prst="rect">
            <a:avLst/>
          </a:prstGeom>
        </p:spPr>
        <p:txBody>
          <a:bodyPr wrap="square">
            <a:noAutofit/>
            <a:extLst>
              <a:ext uri="{4A0BC546-FE56-4ADE-93B0-CB8AF2F6F144}">
                <wpsdc:textFrameExt xmlns="" xmlns:wpsdc="http://www.wps.cn/officeDocument/2022/drawingmlCustomData" type="text"/>
              </a:ext>
            </a:extLst>
          </a:bodyPr>
          <a:lstStyle/>
          <a:p>
            <a:pPr algn="l"/>
            <a:r>
              <a:rPr lang="en-US" altLang="zh-CN" sz="1800" dirty="0">
                <a:latin typeface="Arial" panose="020B0604020202020204" pitchFamily="34" charset="0"/>
                <a:ea typeface="微软雅黑" panose="020B0503020204020204" charset="-122"/>
              </a:rPr>
              <a:t>C=</a:t>
            </a:r>
            <a:r>
              <a:rPr lang="en-US" altLang="zh-CN" sz="1800" dirty="0" err="1">
                <a:latin typeface="Arial" panose="020B0604020202020204" pitchFamily="34" charset="0"/>
                <a:ea typeface="微软雅黑" panose="020B0503020204020204" charset="-122"/>
              </a:rPr>
              <a:t>xy+yz+xz</a:t>
            </a:r>
            <a:r>
              <a:rPr lang="en-US" altLang="zh-CN" sz="1800" dirty="0">
                <a:latin typeface="Arial" panose="020B0604020202020204" pitchFamily="34" charset="0"/>
                <a:ea typeface="微软雅黑" panose="020B0503020204020204" charset="-122"/>
              </a:rPr>
              <a:t>=</a:t>
            </a:r>
            <a:r>
              <a:rPr lang="en-US" altLang="zh-CN" sz="1800" dirty="0" err="1">
                <a:latin typeface="Arial" panose="020B0604020202020204" pitchFamily="34" charset="0"/>
                <a:ea typeface="微软雅黑" panose="020B0503020204020204" charset="-122"/>
              </a:rPr>
              <a:t>xy+xyz+x’yz+xz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xy+x’yz+xyz+xy’z</a:t>
            </a:r>
            <a:endParaRPr lang="en-US" altLang="zh-CN" sz="1800" dirty="0">
              <a:latin typeface="Arial" panose="020B0604020202020204" pitchFamily="34" charset="0"/>
              <a:ea typeface="微软雅黑" panose="020B0503020204020204" charset="-122"/>
            </a:endParaRP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xy+xyz</a:t>
            </a:r>
            <a:r>
              <a:rPr lang="en-US" altLang="zh-CN" sz="1800" dirty="0">
                <a:latin typeface="Arial" panose="020B0604020202020204" pitchFamily="34" charset="0"/>
                <a:ea typeface="微软雅黑" panose="020B0503020204020204" charset="-122"/>
              </a:rPr>
              <a:t>+(x XOR y)z</a:t>
            </a:r>
          </a:p>
          <a:p>
            <a:pPr algn="l"/>
            <a:r>
              <a:rPr lang="en-US" altLang="zh-CN" sz="1800" dirty="0">
                <a:latin typeface="Arial" panose="020B0604020202020204" pitchFamily="34" charset="0"/>
                <a:ea typeface="微软雅黑" panose="020B0503020204020204" charset="-122"/>
              </a:rPr>
              <a:t>   = </a:t>
            </a:r>
            <a:r>
              <a:rPr lang="en-US" altLang="zh-CN" sz="1800" dirty="0" err="1">
                <a:latin typeface="Arial" panose="020B0604020202020204" pitchFamily="34" charset="0"/>
                <a:ea typeface="微软雅黑" panose="020B0503020204020204" charset="-122"/>
              </a:rPr>
              <a:t>xy</a:t>
            </a:r>
            <a:r>
              <a:rPr lang="en-US" altLang="zh-CN" sz="1800" dirty="0">
                <a:latin typeface="Arial" panose="020B0604020202020204" pitchFamily="34" charset="0"/>
                <a:ea typeface="微软雅黑" panose="020B0503020204020204" charset="-122"/>
              </a:rPr>
              <a:t> + (x XOR y)z</a:t>
            </a:r>
          </a:p>
          <a:p>
            <a:pPr algn="l"/>
            <a:endParaRPr lang="en-US" altLang="zh-CN" sz="1800" dirty="0">
              <a:latin typeface="Arial" panose="020B0604020202020204" pitchFamily="34" charset="0"/>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707654"/>
          </a:xfrm>
        </p:spPr>
        <p:txBody>
          <a:bodyPr/>
          <a:lstStyle/>
          <a:p>
            <a:r>
              <a:rPr lang="en-US" sz="2000" dirty="0"/>
              <a:t>Figure 4.12</a:t>
            </a:r>
            <a:r>
              <a:rPr lang="en-US" sz="2000" b="1" dirty="0">
                <a:latin typeface="+mn-lt"/>
              </a:rPr>
              <a:t/>
            </a:r>
            <a:br>
              <a:rPr lang="en-US" sz="2000" b="1" dirty="0">
                <a:latin typeface="+mn-lt"/>
              </a:rPr>
            </a:br>
            <a:r>
              <a:rPr lang="en-US" sz="2000" dirty="0"/>
              <a:t>Four-bit adder with carry lookahead. </a:t>
            </a:r>
            <a:r>
              <a:rPr lang="en-US" sz="2000" dirty="0">
                <a:latin typeface="+mn-lt"/>
              </a:rPr>
              <a:t/>
            </a:r>
            <a:br>
              <a:rPr lang="en-US" sz="2000" dirty="0">
                <a:latin typeface="+mn-lt"/>
              </a:rPr>
            </a:br>
            <a:endParaRPr lang="en-US" sz="2000" dirty="0">
              <a:latin typeface="+mn-lt"/>
            </a:endParaRPr>
          </a:p>
        </p:txBody>
      </p:sp>
      <p:pic>
        <p:nvPicPr>
          <p:cNvPr id="2" name="图片 1"/>
          <p:cNvPicPr>
            <a:picLocks noChangeAspect="1"/>
          </p:cNvPicPr>
          <p:nvPr/>
        </p:nvPicPr>
        <p:blipFill>
          <a:blip r:embed="rId3"/>
          <a:stretch>
            <a:fillRect/>
          </a:stretch>
        </p:blipFill>
        <p:spPr>
          <a:xfrm>
            <a:off x="1219200" y="1143000"/>
            <a:ext cx="7068336" cy="5413093"/>
          </a:xfrm>
          <a:prstGeom prst="rect">
            <a:avLst/>
          </a:prstGeom>
        </p:spPr>
      </p:pic>
    </p:spTree>
    <p:extLst>
      <p:ext uri="{BB962C8B-B14F-4D97-AF65-F5344CB8AC3E}">
        <p14:creationId xmlns:p14="http://schemas.microsoft.com/office/powerpoint/2010/main" val="2619458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9649"/>
            <a:ext cx="8391728" cy="924699"/>
          </a:xfrm>
        </p:spPr>
        <p:txBody>
          <a:bodyPr/>
          <a:lstStyle/>
          <a:p>
            <a:r>
              <a:rPr lang="en-US" sz="2000" b="1" dirty="0">
                <a:latin typeface="+mn-lt"/>
              </a:rPr>
              <a:t>Figure 4</a:t>
            </a:r>
            <a:r>
              <a:rPr lang="en-US" sz="2000" dirty="0">
                <a:latin typeface="+mn-lt"/>
              </a:rPr>
              <a:t>.11</a:t>
            </a:r>
            <a:r>
              <a:rPr lang="en-US" sz="2000" b="1" dirty="0">
                <a:latin typeface="+mn-lt"/>
              </a:rPr>
              <a:t/>
            </a:r>
            <a:br>
              <a:rPr lang="en-US" sz="2000" b="1" dirty="0">
                <a:latin typeface="+mn-lt"/>
              </a:rPr>
            </a:br>
            <a:r>
              <a:rPr lang="en-US" sz="2000" dirty="0"/>
              <a:t>Logic diagram of carry lookahead generator.</a:t>
            </a:r>
            <a:endParaRPr lang="en-US" sz="2000" dirty="0">
              <a:latin typeface="+mn-lt"/>
            </a:endParaRPr>
          </a:p>
        </p:txBody>
      </p:sp>
      <p:pic>
        <p:nvPicPr>
          <p:cNvPr id="7170" name="Picture 2" descr="The structure has two levels. For each level, the following lists provides the inputs for each gate. Level 1. First and gate: P sub 0, P sub 1, P sub 2, C sub 0. Second and gate: P sub 1, P sub 2, G sub 0. Third and gate: P sub 2 and G sub 1. Fourth and gate: P sub 0, P sub 1, C sub 0. Fifth and gate: P sub 1 and G sub 0. Sixth and gate; P sub 0 and C sub 0. Level 2. First or gate: G sub 2 and signals from first to third level 1 and gates. The first or gate produces C sub 1. Second or gate: G sub 1 and signals from the fourth and fifth and gates. The second or gate produces C sub 2. third or gate: G sub 0 and the signal from the sixth and gate. The third or gate produces C sub 1."/>
          <p:cNvPicPr>
            <a:picLocks noChangeAspect="1" noChangeArrowheads="1"/>
          </p:cNvPicPr>
          <p:nvPr/>
        </p:nvPicPr>
        <p:blipFill>
          <a:blip r:embed="rId3"/>
          <a:srcRect/>
          <a:stretch>
            <a:fillRect/>
          </a:stretch>
        </p:blipFill>
        <p:spPr bwMode="auto">
          <a:xfrm>
            <a:off x="447472" y="1524000"/>
            <a:ext cx="4419600" cy="4346034"/>
          </a:xfrm>
          <a:prstGeom prst="rect">
            <a:avLst/>
          </a:prstGeom>
          <a:noFill/>
        </p:spPr>
      </p:pic>
      <p:pic>
        <p:nvPicPr>
          <p:cNvPr id="4" name="Picture 2" descr="The structure includes four adder units. for each unit, the following list provides the inputs, followed by the outputs from the x or and, and gates. First unit: inputs Ay sub 0 and B sub 0, outputs P sub 0 and G sub 0. Second unit: inputs Ay sub 1 and B sub 1, outputs P sub 1 and G sub 1. Third unit: inputs Ay sub 2 and B sub 2, outputs P sub 2 and G sub 2. Fourth unit: inputs Ay sub 3 and B sub 3, outputs P sub 3 and G sub 3. The outputs enter the carry lookahead generator, along with C sub 0, and the generator responds by creating values C sub 0 to C sub 4. The corresponding P and C values then become inputs for x or gates that produce outputs S sub 0 to S sub 3."/>
          <p:cNvPicPr>
            <a:picLocks noChangeAspect="1" noChangeArrowheads="1"/>
          </p:cNvPicPr>
          <p:nvPr/>
        </p:nvPicPr>
        <p:blipFill>
          <a:blip r:embed="rId4"/>
          <a:srcRect/>
          <a:stretch>
            <a:fillRect/>
          </a:stretch>
        </p:blipFill>
        <p:spPr bwMode="auto">
          <a:xfrm>
            <a:off x="5181600" y="1591236"/>
            <a:ext cx="3352800" cy="4211562"/>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707654"/>
          </a:xfrm>
        </p:spPr>
        <p:txBody>
          <a:bodyPr/>
          <a:lstStyle/>
          <a:p>
            <a:r>
              <a:rPr lang="en-US" sz="2000" dirty="0"/>
              <a:t>Figure 4.12</a:t>
            </a:r>
            <a:r>
              <a:rPr lang="en-US" sz="2000" b="1" dirty="0">
                <a:latin typeface="+mn-lt"/>
              </a:rPr>
              <a:t/>
            </a:r>
            <a:br>
              <a:rPr lang="en-US" sz="2000" b="1" dirty="0">
                <a:latin typeface="+mn-lt"/>
              </a:rPr>
            </a:br>
            <a:r>
              <a:rPr lang="en-US" sz="2000" dirty="0"/>
              <a:t>Four-bit adder with carry lookahead. </a:t>
            </a:r>
            <a:r>
              <a:rPr lang="en-US" sz="2000" dirty="0">
                <a:latin typeface="+mn-lt"/>
              </a:rPr>
              <a:t/>
            </a:r>
            <a:br>
              <a:rPr lang="en-US" sz="2000" dirty="0">
                <a:latin typeface="+mn-lt"/>
              </a:rPr>
            </a:br>
            <a:endParaRPr lang="en-US" sz="2000" dirty="0">
              <a:latin typeface="+mn-lt"/>
            </a:endParaRPr>
          </a:p>
        </p:txBody>
      </p:sp>
      <p:pic>
        <p:nvPicPr>
          <p:cNvPr id="1026" name="Picture 2" descr="The structure includes four adder units. for each unit, the following list provides the inputs, followed by the outputs from the x or and, and gates. First unit: inputs Ay sub 0 and B sub 0, outputs P sub 0 and G sub 0. Second unit: inputs Ay sub 1 and B sub 1, outputs P sub 1 and G sub 1. Third unit: inputs Ay sub 2 and B sub 2, outputs P sub 2 and G sub 2. Fourth unit: inputs Ay sub 3 and B sub 3, outputs P sub 3 and G sub 3. The outputs enter the carry lookahead generator, along with C sub 0, and the generator responds by creating values C sub 0 to C sub 4. The corresponding P and C values then become inputs for x or gates that produce outputs S sub 0 to S sub 3."/>
          <p:cNvPicPr>
            <a:picLocks noChangeAspect="1" noChangeArrowheads="1"/>
          </p:cNvPicPr>
          <p:nvPr/>
        </p:nvPicPr>
        <p:blipFill>
          <a:blip r:embed="rId3"/>
          <a:srcRect/>
          <a:stretch>
            <a:fillRect/>
          </a:stretch>
        </p:blipFill>
        <p:spPr bwMode="auto">
          <a:xfrm>
            <a:off x="2895600" y="1600200"/>
            <a:ext cx="3352800" cy="4211562"/>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4.13</a:t>
            </a:r>
            <a:r>
              <a:rPr lang="en-US" sz="2000" b="1" dirty="0">
                <a:latin typeface="+mn-lt"/>
              </a:rPr>
              <a:t/>
            </a:r>
            <a:br>
              <a:rPr lang="en-US" sz="2000" b="1" dirty="0">
                <a:latin typeface="+mn-lt"/>
              </a:rPr>
            </a:br>
            <a:r>
              <a:rPr lang="en-US" sz="2000" dirty="0"/>
              <a:t>Four-bit adder–subtractor (with overflow detection).</a:t>
            </a:r>
            <a:endParaRPr lang="en-US" sz="2000" baseline="-25000" dirty="0">
              <a:latin typeface="+mn-lt"/>
            </a:endParaRPr>
          </a:p>
        </p:txBody>
      </p:sp>
      <p:pic>
        <p:nvPicPr>
          <p:cNvPr id="2050" name="Picture 2" descr="The structure includes a series of 4 F Ay units. Each F Ay receives three types of input: C from M or the previous F Ay, Ay, and M exclusive or B. Each F Ay produces output S. The inputs and outputs are identified by subscript numbers indicating order in the direction of flow. At the end of the sequence, C sub 4 yields C, and C sub 3 x or C sub 4 yields V."/>
          <p:cNvPicPr>
            <a:picLocks noChangeAspect="1" noChangeArrowheads="1"/>
          </p:cNvPicPr>
          <p:nvPr/>
        </p:nvPicPr>
        <p:blipFill>
          <a:blip r:embed="rId3"/>
          <a:srcRect/>
          <a:stretch>
            <a:fillRect/>
          </a:stretch>
        </p:blipFill>
        <p:spPr bwMode="auto">
          <a:xfrm>
            <a:off x="1100380" y="1676400"/>
            <a:ext cx="6943240" cy="35052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15528" cy="631454"/>
          </a:xfrm>
        </p:spPr>
        <p:txBody>
          <a:bodyPr/>
          <a:lstStyle/>
          <a:p>
            <a:r>
              <a:rPr lang="en-US" sz="2000" b="1" dirty="0">
                <a:latin typeface="+mn-lt"/>
              </a:rPr>
              <a:t>Table 4</a:t>
            </a:r>
            <a:r>
              <a:rPr lang="en-US" sz="2000" dirty="0">
                <a:latin typeface="+mn-lt"/>
              </a:rPr>
              <a:t>.5</a:t>
            </a:r>
            <a:r>
              <a:rPr lang="en-US" sz="2000" b="1" dirty="0">
                <a:latin typeface="+mn-lt"/>
              </a:rPr>
              <a:t/>
            </a:r>
            <a:br>
              <a:rPr lang="en-US" sz="2000" b="1" dirty="0">
                <a:latin typeface="+mn-lt"/>
              </a:rPr>
            </a:br>
            <a:r>
              <a:rPr lang="en-US" sz="2000" i="1" dirty="0"/>
              <a:t> </a:t>
            </a:r>
            <a:r>
              <a:rPr lang="en-US" sz="2000" dirty="0"/>
              <a:t>Derivation of BCD Adder</a:t>
            </a:r>
            <a:r>
              <a:rPr lang="en-US" sz="2000" dirty="0">
                <a:latin typeface="+mn-lt"/>
              </a:rPr>
              <a:t>.</a:t>
            </a:r>
            <a:endParaRPr lang="en-US" sz="2000" baseline="-25000" dirty="0">
              <a:latin typeface="+mn-lt"/>
            </a:endParaRPr>
          </a:p>
        </p:txBody>
      </p:sp>
      <p:pic>
        <p:nvPicPr>
          <p:cNvPr id="3074" name="Picture 2" descr="Z:\NewMedia\Ebook-Novella\Wiley\jira\Mano_Ciletti6e\Work\Images\Ch04\t05.jpg"/>
          <p:cNvPicPr>
            <a:picLocks noChangeAspect="1" noChangeArrowheads="1"/>
          </p:cNvPicPr>
          <p:nvPr/>
        </p:nvPicPr>
        <p:blipFill>
          <a:blip r:embed="rId3"/>
          <a:srcRect/>
          <a:stretch>
            <a:fillRect/>
          </a:stretch>
        </p:blipFill>
        <p:spPr bwMode="auto">
          <a:xfrm>
            <a:off x="1752600" y="1524000"/>
            <a:ext cx="5652254" cy="4419600"/>
          </a:xfrm>
          <a:prstGeom prst="rect">
            <a:avLst/>
          </a:prstGeom>
          <a:noFill/>
        </p:spPr>
      </p:pic>
      <p:sp>
        <p:nvSpPr>
          <p:cNvPr id="2" name="文本框 1"/>
          <p:cNvSpPr txBox="1"/>
          <p:nvPr/>
        </p:nvSpPr>
        <p:spPr>
          <a:xfrm>
            <a:off x="990600" y="3962400"/>
            <a:ext cx="685800" cy="307777"/>
          </a:xfrm>
          <a:prstGeom prst="rect">
            <a:avLst/>
          </a:prstGeom>
          <a:noFill/>
        </p:spPr>
        <p:txBody>
          <a:bodyPr wrap="square" rtlCol="0">
            <a:spAutoFit/>
          </a:bodyPr>
          <a:lstStyle/>
          <a:p>
            <a:r>
              <a:rPr lang="en-US" altLang="zh-CN" sz="1400" dirty="0" smtClean="0"/>
              <a:t>+6</a:t>
            </a:r>
            <a:endParaRPr lang="zh-CN" altLang="en-US" sz="1400" dirty="0" err="1" smtClean="0"/>
          </a:p>
        </p:txBody>
      </p:sp>
      <p:sp>
        <p:nvSpPr>
          <p:cNvPr id="5" name="文本框 4"/>
          <p:cNvSpPr txBox="1"/>
          <p:nvPr/>
        </p:nvSpPr>
        <p:spPr>
          <a:xfrm>
            <a:off x="990600" y="4116288"/>
            <a:ext cx="685800" cy="307777"/>
          </a:xfrm>
          <a:prstGeom prst="rect">
            <a:avLst/>
          </a:prstGeom>
          <a:noFill/>
        </p:spPr>
        <p:txBody>
          <a:bodyPr wrap="square" rtlCol="0">
            <a:spAutoFit/>
          </a:bodyPr>
          <a:lstStyle/>
          <a:p>
            <a:r>
              <a:rPr lang="en-US" altLang="zh-CN" sz="1400" dirty="0" smtClean="0"/>
              <a:t>+6</a:t>
            </a:r>
            <a:endParaRPr lang="zh-CN" altLang="en-US" sz="1400" dirty="0" err="1" smtClean="0"/>
          </a:p>
        </p:txBody>
      </p:sp>
      <p:sp>
        <p:nvSpPr>
          <p:cNvPr id="6" name="文本框 5"/>
          <p:cNvSpPr txBox="1"/>
          <p:nvPr/>
        </p:nvSpPr>
        <p:spPr>
          <a:xfrm>
            <a:off x="990600" y="5635823"/>
            <a:ext cx="685800" cy="307777"/>
          </a:xfrm>
          <a:prstGeom prst="rect">
            <a:avLst/>
          </a:prstGeom>
          <a:noFill/>
        </p:spPr>
        <p:txBody>
          <a:bodyPr wrap="square" rtlCol="0">
            <a:spAutoFit/>
          </a:bodyPr>
          <a:lstStyle/>
          <a:p>
            <a:r>
              <a:rPr lang="en-US" altLang="zh-CN" sz="1400" dirty="0" smtClean="0"/>
              <a:t>+6</a:t>
            </a:r>
            <a:endParaRPr lang="zh-CN" altLang="en-US" sz="1400" dirty="0" err="1" smtClean="0"/>
          </a:p>
        </p:txBody>
      </p:sp>
      <p:sp>
        <p:nvSpPr>
          <p:cNvPr id="4" name="文本框 3"/>
          <p:cNvSpPr txBox="1"/>
          <p:nvPr/>
        </p:nvSpPr>
        <p:spPr>
          <a:xfrm>
            <a:off x="997808" y="4727297"/>
            <a:ext cx="492443" cy="605294"/>
          </a:xfrm>
          <a:prstGeom prst="rect">
            <a:avLst/>
          </a:prstGeom>
          <a:noFill/>
        </p:spPr>
        <p:txBody>
          <a:bodyPr vert="eaVert" wrap="none" rtlCol="0">
            <a:spAutoFit/>
          </a:bodyPr>
          <a:lstStyle/>
          <a:p>
            <a:r>
              <a:rPr lang="en-US" altLang="zh-CN" sz="2000" dirty="0" smtClean="0"/>
              <a:t>……</a:t>
            </a:r>
            <a:endParaRPr lang="zh-CN" altLang="en-US" sz="2000" dirty="0" err="1"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15528" cy="639209"/>
          </a:xfrm>
        </p:spPr>
        <p:txBody>
          <a:bodyPr/>
          <a:lstStyle/>
          <a:p>
            <a:r>
              <a:rPr lang="en-US" sz="2000" b="1" dirty="0">
                <a:latin typeface="+mn-lt"/>
              </a:rPr>
              <a:t>Figure 4</a:t>
            </a:r>
            <a:r>
              <a:rPr lang="en-US" sz="2000" dirty="0">
                <a:latin typeface="+mn-lt"/>
              </a:rPr>
              <a:t>.14</a:t>
            </a:r>
            <a:r>
              <a:rPr lang="en-US" sz="2000" b="1" dirty="0">
                <a:latin typeface="+mn-lt"/>
              </a:rPr>
              <a:t/>
            </a:r>
            <a:br>
              <a:rPr lang="en-US" sz="2000" b="1" dirty="0">
                <a:latin typeface="+mn-lt"/>
              </a:rPr>
            </a:br>
            <a:r>
              <a:rPr lang="en-US" sz="2000" dirty="0"/>
              <a:t>Block diagram of a BCD adder.</a:t>
            </a:r>
            <a:endParaRPr lang="en-US" sz="2000" dirty="0">
              <a:latin typeface="+mn-lt"/>
            </a:endParaRPr>
          </a:p>
        </p:txBody>
      </p:sp>
      <p:pic>
        <p:nvPicPr>
          <p:cNvPr id="4098" name="Picture 2" descr="The carry in, augend, and addend enter the 4-bit binary adder, producing carry out K, as well as outputs Z sub 1, Z sub 2, Z sub 4, and Z sub 8.  The four Z values proceed directly to a second 4-bit binary adder. However, the paired outputs Z sub 2 and Z sub 8, and Z sub 4 and Z sub 8 also enter separate and gates. The and gate outputs then combine with K at an or gate that sends output carry to the second 4-bit binary adder. Within the second 4-bit binary adder, the output carry, 0 values, and original Z values produce outputs S sub 1, S sub 2, S sub 4, and S sub 8."/>
          <p:cNvPicPr>
            <a:picLocks noChangeAspect="1" noChangeArrowheads="1"/>
          </p:cNvPicPr>
          <p:nvPr/>
        </p:nvPicPr>
        <p:blipFill>
          <a:blip r:embed="rId3"/>
          <a:srcRect/>
          <a:stretch>
            <a:fillRect/>
          </a:stretch>
        </p:blipFill>
        <p:spPr bwMode="auto">
          <a:xfrm>
            <a:off x="2209800" y="1371600"/>
            <a:ext cx="4724400" cy="4641006"/>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2486"/>
            <a:ext cx="8467928" cy="634314"/>
          </a:xfrm>
        </p:spPr>
        <p:txBody>
          <a:bodyPr/>
          <a:lstStyle/>
          <a:p>
            <a:r>
              <a:rPr lang="en-US" sz="2000" b="1" dirty="0">
                <a:latin typeface="+mn-lt"/>
              </a:rPr>
              <a:t>Figure 4.15</a:t>
            </a:r>
            <a:br>
              <a:rPr lang="en-US" sz="2000" b="1" dirty="0">
                <a:latin typeface="+mn-lt"/>
              </a:rPr>
            </a:br>
            <a:r>
              <a:rPr lang="en-US" sz="2000" dirty="0"/>
              <a:t>Two-bit by two-bit binary multiplier.</a:t>
            </a:r>
            <a:endParaRPr lang="en-US" sz="2000" dirty="0">
              <a:latin typeface="+mn-lt"/>
            </a:endParaRPr>
          </a:p>
        </p:txBody>
      </p:sp>
      <p:pic>
        <p:nvPicPr>
          <p:cNvPr id="5122" name="Picture 2" descr="Inputs Ay sub 0 and B sub 0, and Ay sub 0 and B sub 1 enter separate level 1 and gates. The first and gate produces P sub 0, and the second and gate sends Ay sub 0 B sub 1 to the first H Ay. Inputs Ay sub 1 B sub 0 and inputs Ay sub 1 and B sub 1 enter separate level 2 and gates. The first level 2 and gate sends Ay sub 1 B sub 0 to the first H Ay. The first H Ay then produces P sub 1 and sends a signal to the second H Ay, yielding P sub 2. At the same time, the second level 2 and gate sends Ay sub 1 B sub 1 to the second H Ay, yielding P sub 3."/>
          <p:cNvPicPr>
            <a:picLocks noChangeAspect="1" noChangeArrowheads="1"/>
          </p:cNvPicPr>
          <p:nvPr/>
        </p:nvPicPr>
        <p:blipFill>
          <a:blip r:embed="rId3"/>
          <a:srcRect/>
          <a:stretch>
            <a:fillRect/>
          </a:stretch>
        </p:blipFill>
        <p:spPr bwMode="auto">
          <a:xfrm>
            <a:off x="1447800" y="1676400"/>
            <a:ext cx="6248914" cy="41148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91728" cy="715409"/>
          </a:xfrm>
        </p:spPr>
        <p:txBody>
          <a:bodyPr/>
          <a:lstStyle/>
          <a:p>
            <a:r>
              <a:rPr lang="en-US" sz="2000" b="1" dirty="0">
                <a:latin typeface="+mn-lt"/>
              </a:rPr>
              <a:t>Figure 4</a:t>
            </a:r>
            <a:r>
              <a:rPr lang="en-US" sz="2000" dirty="0">
                <a:latin typeface="+mn-lt"/>
              </a:rPr>
              <a:t>.16</a:t>
            </a:r>
            <a:r>
              <a:rPr lang="en-US" sz="2000" b="1" dirty="0">
                <a:latin typeface="+mn-lt"/>
              </a:rPr>
              <a:t/>
            </a:r>
            <a:br>
              <a:rPr lang="en-US" sz="2000" b="1" dirty="0">
                <a:latin typeface="+mn-lt"/>
              </a:rPr>
            </a:br>
            <a:r>
              <a:rPr lang="en-US" sz="2000" dirty="0"/>
              <a:t>Four-bit by </a:t>
            </a:r>
            <a:r>
              <a:rPr lang="en-US" sz="2000" dirty="0">
                <a:solidFill>
                  <a:srgbClr val="FF0000"/>
                </a:solidFill>
              </a:rPr>
              <a:t>three-bit</a:t>
            </a:r>
            <a:r>
              <a:rPr lang="en-US" sz="2000" dirty="0"/>
              <a:t> binary multiplier</a:t>
            </a:r>
            <a:r>
              <a:rPr lang="en-US" sz="2000" dirty="0">
                <a:latin typeface="+mn-lt"/>
              </a:rPr>
              <a:t>.</a:t>
            </a:r>
          </a:p>
        </p:txBody>
      </p:sp>
      <p:pic>
        <p:nvPicPr>
          <p:cNvPr id="6146" name="Picture 2" descr="Input Ay sub 0 is paired with inputs B sub 0 to B sub 3 at four different and gates. The first and gate for Ay sub 0 and B sub 0 yields C sub 0. The remaining and gates produce the augend in the first 4-bit adder. Similarly, input ay sub 1 pairs with B sub 0 to B sub 3 at 4 separate and gates, producing the addend in the first 4-bit carrier. The first 4-bit carrier produces C sub 1 and sends the sum and output carry to the augend in the second 4-bit adder. In addition, after the first 4-bit adder, input Ay sub 2 is paired with B sub 0 to B sub 3 at 4 separate and gates to produce the addend in the second 4-bit adder. The second 4-bit adder produces C sub 2 and sends the sum and output carry to the next adder in the form of C sub 3 to C sub 6. "/>
          <p:cNvPicPr>
            <a:picLocks noChangeAspect="1" noChangeArrowheads="1"/>
          </p:cNvPicPr>
          <p:nvPr/>
        </p:nvPicPr>
        <p:blipFill>
          <a:blip r:embed="rId3"/>
          <a:srcRect/>
          <a:stretch>
            <a:fillRect/>
          </a:stretch>
        </p:blipFill>
        <p:spPr bwMode="auto">
          <a:xfrm>
            <a:off x="2590800" y="1524000"/>
            <a:ext cx="3962400" cy="4576124"/>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4159"/>
            <a:ext cx="8315528" cy="632642"/>
          </a:xfrm>
        </p:spPr>
        <p:txBody>
          <a:bodyPr/>
          <a:lstStyle/>
          <a:p>
            <a:r>
              <a:rPr lang="en-US" sz="2000" b="1" dirty="0">
                <a:latin typeface="+mn-lt"/>
              </a:rPr>
              <a:t>Figure 4</a:t>
            </a:r>
            <a:r>
              <a:rPr lang="en-US" sz="2000" dirty="0">
                <a:latin typeface="+mn-lt"/>
              </a:rPr>
              <a:t>.17</a:t>
            </a:r>
            <a:r>
              <a:rPr lang="en-US" sz="2000" b="1" dirty="0">
                <a:latin typeface="+mn-lt"/>
              </a:rPr>
              <a:t/>
            </a:r>
            <a:br>
              <a:rPr lang="en-US" sz="2000" b="1" dirty="0">
                <a:latin typeface="+mn-lt"/>
              </a:rPr>
            </a:br>
            <a:r>
              <a:rPr lang="en-US" sz="2000" dirty="0"/>
              <a:t>Four-bit magnitude comparator.</a:t>
            </a:r>
            <a:endParaRPr lang="en-US" sz="2000" dirty="0">
              <a:latin typeface="+mn-lt"/>
            </a:endParaRPr>
          </a:p>
        </p:txBody>
      </p:sp>
      <p:pic>
        <p:nvPicPr>
          <p:cNvPr id="7170" name="Picture 2" descr="The structure consists of four basic units identified by values with subscripts 0 to 3. Each unit has the following basic structure. Inputs Ay prime and B and inputs Ay and B prime enter separate and gates leading to nodes wired to a common n or gate. In addition, the nodes and x or gate are connected to separate down-stream and gates. All x or gates are connected to the first downstream and gate, which yields Ay = B. The nodes of the first unit connect to the second and third downstream and gates. The nodes of the second unit connect to the fourth and fifth downstream and gates. The nodes of the third unit connect to the sixth and seventh downstream and gates. The nodes of the fourth unit connect to separate or gates. The first or gate receives input from the second, fourth, and sixth downstream and gates, and it produces output Ay greater than B. The second or gate also receives input from the third, fifth, and seventh downstream and gates, producing output Ay less than B."/>
          <p:cNvPicPr>
            <a:picLocks noChangeAspect="1" noChangeArrowheads="1"/>
          </p:cNvPicPr>
          <p:nvPr/>
        </p:nvPicPr>
        <p:blipFill>
          <a:blip r:embed="rId3"/>
          <a:srcRect/>
          <a:stretch>
            <a:fillRect/>
          </a:stretch>
        </p:blipFill>
        <p:spPr bwMode="auto">
          <a:xfrm>
            <a:off x="2362200" y="1524000"/>
            <a:ext cx="4419600" cy="4551156"/>
          </a:xfrm>
          <a:prstGeom prst="rect">
            <a:avLst/>
          </a:prstGeom>
          <a:noFill/>
        </p:spPr>
      </p:pic>
      <p:sp>
        <p:nvSpPr>
          <p:cNvPr id="2" name="文本框 1"/>
          <p:cNvSpPr txBox="1"/>
          <p:nvPr/>
        </p:nvSpPr>
        <p:spPr>
          <a:xfrm>
            <a:off x="304800" y="1219200"/>
            <a:ext cx="1210588" cy="400110"/>
          </a:xfrm>
          <a:prstGeom prst="rect">
            <a:avLst/>
          </a:prstGeom>
          <a:noFill/>
        </p:spPr>
        <p:txBody>
          <a:bodyPr wrap="none" rtlCol="0">
            <a:spAutoFit/>
          </a:bodyPr>
          <a:lstStyle/>
          <a:p>
            <a:r>
              <a:rPr lang="zh-CN" altLang="en-US" sz="2000" dirty="0" smtClean="0"/>
              <a:t>幅值比较</a:t>
            </a:r>
          </a:p>
        </p:txBody>
      </p:sp>
      <p:sp>
        <p:nvSpPr>
          <p:cNvPr id="4" name="文本框 3"/>
          <p:cNvSpPr txBox="1"/>
          <p:nvPr/>
        </p:nvSpPr>
        <p:spPr>
          <a:xfrm>
            <a:off x="1905000" y="1066801"/>
            <a:ext cx="6705600" cy="400110"/>
          </a:xfrm>
          <a:prstGeom prst="rect">
            <a:avLst/>
          </a:prstGeom>
          <a:noFill/>
        </p:spPr>
        <p:txBody>
          <a:bodyPr wrap="square" rtlCol="0">
            <a:spAutoFit/>
          </a:bodyPr>
          <a:lstStyle/>
          <a:p>
            <a:r>
              <a:rPr lang="en-US" altLang="zh-CN" sz="2000" dirty="0" smtClean="0">
                <a:solidFill>
                  <a:srgbClr val="FF0000"/>
                </a:solidFill>
              </a:rPr>
              <a:t>If the first n bits are equal, then compare the n-1 bit </a:t>
            </a:r>
            <a:r>
              <a:rPr lang="en-US" altLang="zh-CN" sz="2000" dirty="0" smtClean="0">
                <a:solidFill>
                  <a:srgbClr val="FF0000"/>
                </a:solidFill>
              </a:rPr>
              <a:t>…</a:t>
            </a:r>
            <a:endParaRPr lang="zh-CN" altLang="en-US" sz="2000" dirty="0" err="1" smtClean="0">
              <a:solidFill>
                <a:srgbClr val="FF0000"/>
              </a:solidFill>
            </a:endParaRPr>
          </a:p>
        </p:txBody>
      </p:sp>
      <p:sp>
        <p:nvSpPr>
          <p:cNvPr id="5" name="文本框 4"/>
          <p:cNvSpPr txBox="1"/>
          <p:nvPr/>
        </p:nvSpPr>
        <p:spPr>
          <a:xfrm>
            <a:off x="762000" y="2590800"/>
            <a:ext cx="1593444" cy="338554"/>
          </a:xfrm>
          <a:prstGeom prst="rect">
            <a:avLst/>
          </a:prstGeom>
          <a:noFill/>
        </p:spPr>
        <p:txBody>
          <a:bodyPr wrap="square" rtlCol="0">
            <a:spAutoFit/>
          </a:bodyPr>
          <a:lstStyle/>
          <a:p>
            <a:r>
              <a:rPr lang="en-US" altLang="zh-CN" sz="1600" dirty="0" smtClean="0"/>
              <a:t>A=0, B=1:  A&lt;B</a:t>
            </a:r>
            <a:endParaRPr lang="zh-CN" altLang="en-US" sz="1600" dirty="0" err="1" smtClean="0"/>
          </a:p>
        </p:txBody>
      </p:sp>
      <p:sp>
        <p:nvSpPr>
          <p:cNvPr id="7" name="文本框 6"/>
          <p:cNvSpPr txBox="1"/>
          <p:nvPr/>
        </p:nvSpPr>
        <p:spPr>
          <a:xfrm>
            <a:off x="762000" y="2929354"/>
            <a:ext cx="1585914" cy="338554"/>
          </a:xfrm>
          <a:prstGeom prst="rect">
            <a:avLst/>
          </a:prstGeom>
          <a:noFill/>
        </p:spPr>
        <p:txBody>
          <a:bodyPr wrap="square" rtlCol="0">
            <a:spAutoFit/>
          </a:bodyPr>
          <a:lstStyle/>
          <a:p>
            <a:r>
              <a:rPr lang="en-US" altLang="zh-CN" sz="1600" dirty="0" smtClean="0"/>
              <a:t>A=1, B=0:  A&gt;B</a:t>
            </a:r>
            <a:endParaRPr lang="zh-CN" altLang="en-US" sz="1600" dirty="0" err="1" smtClean="0"/>
          </a:p>
        </p:txBody>
      </p:sp>
      <p:sp>
        <p:nvSpPr>
          <p:cNvPr id="8" name="文本框 7"/>
          <p:cNvSpPr txBox="1"/>
          <p:nvPr/>
        </p:nvSpPr>
        <p:spPr>
          <a:xfrm>
            <a:off x="4605236" y="1619310"/>
            <a:ext cx="652564" cy="338554"/>
          </a:xfrm>
          <a:prstGeom prst="rect">
            <a:avLst/>
          </a:prstGeom>
          <a:noFill/>
        </p:spPr>
        <p:txBody>
          <a:bodyPr wrap="square" rtlCol="0">
            <a:spAutoFit/>
          </a:bodyPr>
          <a:lstStyle/>
          <a:p>
            <a:r>
              <a:rPr lang="en-US" altLang="zh-CN" sz="1600" dirty="0" smtClean="0"/>
              <a:t>A=B</a:t>
            </a:r>
            <a:endParaRPr lang="zh-CN" altLang="en-US" sz="1600" dirty="0" err="1" smtClean="0"/>
          </a:p>
        </p:txBody>
      </p:sp>
      <p:sp>
        <p:nvSpPr>
          <p:cNvPr id="9" name="文本框 8"/>
          <p:cNvSpPr txBox="1"/>
          <p:nvPr/>
        </p:nvSpPr>
        <p:spPr>
          <a:xfrm>
            <a:off x="768756" y="3660811"/>
            <a:ext cx="1593444" cy="338554"/>
          </a:xfrm>
          <a:prstGeom prst="rect">
            <a:avLst/>
          </a:prstGeom>
          <a:noFill/>
        </p:spPr>
        <p:txBody>
          <a:bodyPr wrap="square" rtlCol="0">
            <a:spAutoFit/>
          </a:bodyPr>
          <a:lstStyle/>
          <a:p>
            <a:r>
              <a:rPr lang="en-US" altLang="zh-CN" sz="1600" dirty="0" smtClean="0"/>
              <a:t>A=0, B=1:  A&lt;B</a:t>
            </a:r>
            <a:endParaRPr lang="zh-CN" altLang="en-US" sz="1600" dirty="0" err="1" smtClean="0"/>
          </a:p>
        </p:txBody>
      </p:sp>
      <p:sp>
        <p:nvSpPr>
          <p:cNvPr id="10" name="文本框 9"/>
          <p:cNvSpPr txBox="1"/>
          <p:nvPr/>
        </p:nvSpPr>
        <p:spPr>
          <a:xfrm>
            <a:off x="768756" y="4783131"/>
            <a:ext cx="1593444" cy="338554"/>
          </a:xfrm>
          <a:prstGeom prst="rect">
            <a:avLst/>
          </a:prstGeom>
          <a:noFill/>
        </p:spPr>
        <p:txBody>
          <a:bodyPr wrap="square" rtlCol="0">
            <a:spAutoFit/>
          </a:bodyPr>
          <a:lstStyle/>
          <a:p>
            <a:r>
              <a:rPr lang="en-US" altLang="zh-CN" sz="1600" dirty="0" smtClean="0"/>
              <a:t>A=0, B=1:  A&lt;B</a:t>
            </a:r>
            <a:endParaRPr lang="zh-CN" altLang="en-US" sz="1600" dirty="0" err="1" smtClean="0"/>
          </a:p>
        </p:txBody>
      </p:sp>
      <p:sp>
        <p:nvSpPr>
          <p:cNvPr id="11" name="文本框 10"/>
          <p:cNvSpPr txBox="1"/>
          <p:nvPr/>
        </p:nvSpPr>
        <p:spPr>
          <a:xfrm>
            <a:off x="776286" y="4081848"/>
            <a:ext cx="1585914" cy="338554"/>
          </a:xfrm>
          <a:prstGeom prst="rect">
            <a:avLst/>
          </a:prstGeom>
          <a:noFill/>
        </p:spPr>
        <p:txBody>
          <a:bodyPr wrap="square" rtlCol="0">
            <a:spAutoFit/>
          </a:bodyPr>
          <a:lstStyle/>
          <a:p>
            <a:r>
              <a:rPr lang="en-US" altLang="zh-CN" sz="1600" dirty="0" smtClean="0"/>
              <a:t>A=1, B=0:  A&gt;B</a:t>
            </a:r>
            <a:endParaRPr lang="zh-CN" altLang="en-US" sz="1600" dirty="0" err="1" smtClean="0"/>
          </a:p>
        </p:txBody>
      </p:sp>
      <p:sp>
        <p:nvSpPr>
          <p:cNvPr id="12" name="文本框 11"/>
          <p:cNvSpPr txBox="1"/>
          <p:nvPr/>
        </p:nvSpPr>
        <p:spPr>
          <a:xfrm>
            <a:off x="799648" y="5217654"/>
            <a:ext cx="1585914" cy="338554"/>
          </a:xfrm>
          <a:prstGeom prst="rect">
            <a:avLst/>
          </a:prstGeom>
          <a:noFill/>
        </p:spPr>
        <p:txBody>
          <a:bodyPr wrap="square" rtlCol="0">
            <a:spAutoFit/>
          </a:bodyPr>
          <a:lstStyle/>
          <a:p>
            <a:r>
              <a:rPr lang="en-US" altLang="zh-CN" sz="1600" dirty="0" smtClean="0"/>
              <a:t>A=1, B=0:  A&gt;B</a:t>
            </a:r>
            <a:endParaRPr lang="zh-CN" altLang="en-US" sz="1600" dirty="0" err="1"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1"/>
            <a:ext cx="8315528" cy="715409"/>
          </a:xfrm>
        </p:spPr>
        <p:txBody>
          <a:bodyPr/>
          <a:lstStyle/>
          <a:p>
            <a:r>
              <a:rPr lang="en-US" sz="2000" b="1" dirty="0">
                <a:latin typeface="+mn-lt"/>
              </a:rPr>
              <a:t>Figure 4</a:t>
            </a:r>
            <a:r>
              <a:rPr lang="en-US" sz="2000" dirty="0">
                <a:latin typeface="+mn-lt"/>
              </a:rPr>
              <a:t>.18</a:t>
            </a:r>
            <a:r>
              <a:rPr lang="en-US" sz="2000" b="1" dirty="0">
                <a:latin typeface="+mn-lt"/>
              </a:rPr>
              <a:t/>
            </a:r>
            <a:br>
              <a:rPr lang="en-US" sz="2000" b="1" dirty="0">
                <a:latin typeface="+mn-lt"/>
              </a:rPr>
            </a:br>
            <a:r>
              <a:rPr lang="en-US" sz="2000" dirty="0"/>
              <a:t>Three-to-eight-line decoder</a:t>
            </a:r>
            <a:r>
              <a:rPr lang="en-US" sz="2000" dirty="0">
                <a:latin typeface="+mn-lt"/>
              </a:rPr>
              <a:t>.</a:t>
            </a:r>
          </a:p>
        </p:txBody>
      </p:sp>
      <p:pic>
        <p:nvPicPr>
          <p:cNvPr id="8194" name="Picture 2" descr="The system receives inputs x, y, and z. Each input is split, and one of the split signals passes through an inverter. The system consists of 8 and gates, identified by subscript values from 0 to 7. Each and gate receives different inputs, which are expressed in its output. The outputs are as follows. D sub 0 = x prime y prime z prime, D sub 1 = x prime y prime z. D sub 2 = x prime y z prime. D sub 3 = x prime y z. D sub 4 = x y prime z prime. D sub 5 = x y prime z. D sub 6 = x y z prime. D sub 7 = x y z."/>
          <p:cNvPicPr>
            <a:picLocks noChangeAspect="1" noChangeArrowheads="1"/>
          </p:cNvPicPr>
          <p:nvPr/>
        </p:nvPicPr>
        <p:blipFill>
          <a:blip r:embed="rId3"/>
          <a:srcRect/>
          <a:stretch>
            <a:fillRect/>
          </a:stretch>
        </p:blipFill>
        <p:spPr bwMode="auto">
          <a:xfrm>
            <a:off x="2362200" y="1524000"/>
            <a:ext cx="4419600" cy="454263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27590"/>
            <a:ext cx="8391728" cy="926757"/>
          </a:xfrm>
        </p:spPr>
        <p:txBody>
          <a:bodyPr/>
          <a:lstStyle/>
          <a:p>
            <a:r>
              <a:rPr lang="en-US" sz="2000" b="1" dirty="0">
                <a:latin typeface="+mn-lt"/>
              </a:rPr>
              <a:t>Table 4</a:t>
            </a:r>
            <a:r>
              <a:rPr lang="en-US" sz="2000" dirty="0">
                <a:latin typeface="+mn-lt"/>
              </a:rPr>
              <a:t>.6</a:t>
            </a:r>
            <a:r>
              <a:rPr lang="en-US" sz="2000" b="1" dirty="0">
                <a:latin typeface="+mn-lt"/>
              </a:rPr>
              <a:t/>
            </a:r>
            <a:br>
              <a:rPr lang="en-US" sz="2000" b="1" dirty="0">
                <a:latin typeface="+mn-lt"/>
              </a:rPr>
            </a:br>
            <a:r>
              <a:rPr lang="en-US" sz="2000" dirty="0"/>
              <a:t>Truth Table of a Three-to-Eight-Line Decoder</a:t>
            </a:r>
            <a:r>
              <a:rPr lang="en-US" sz="2000" dirty="0">
                <a:latin typeface="+mn-lt"/>
              </a:rPr>
              <a:t>.</a:t>
            </a:r>
          </a:p>
        </p:txBody>
      </p:sp>
      <p:pic>
        <p:nvPicPr>
          <p:cNvPr id="9218" name="Picture 2" descr="Z:\NewMedia\Ebook-Novella\Wiley\jira\Mano_Ciletti6e\Work\Images\Ch04\t06.jpg"/>
          <p:cNvPicPr>
            <a:picLocks noChangeAspect="1" noChangeArrowheads="1"/>
          </p:cNvPicPr>
          <p:nvPr/>
        </p:nvPicPr>
        <p:blipFill>
          <a:blip r:embed="rId3"/>
          <a:srcRect/>
          <a:stretch>
            <a:fillRect/>
          </a:stretch>
        </p:blipFill>
        <p:spPr bwMode="auto">
          <a:xfrm>
            <a:off x="688084" y="1981201"/>
            <a:ext cx="7767832" cy="2895600"/>
          </a:xfrm>
          <a:prstGeom prst="rect">
            <a:avLst/>
          </a:prstGeom>
          <a:noFill/>
        </p:spPr>
      </p:pic>
      <p:sp>
        <p:nvSpPr>
          <p:cNvPr id="2" name="文本框 1"/>
          <p:cNvSpPr txBox="1"/>
          <p:nvPr/>
        </p:nvSpPr>
        <p:spPr>
          <a:xfrm>
            <a:off x="3124200" y="5486400"/>
            <a:ext cx="5105400" cy="400110"/>
          </a:xfrm>
          <a:prstGeom prst="rect">
            <a:avLst/>
          </a:prstGeom>
          <a:noFill/>
        </p:spPr>
        <p:txBody>
          <a:bodyPr wrap="square" rtlCol="0">
            <a:spAutoFit/>
          </a:bodyPr>
          <a:lstStyle/>
          <a:p>
            <a:r>
              <a:rPr lang="en-US" altLang="zh-CN" sz="2000" dirty="0" smtClean="0"/>
              <a:t>A full adder can be built with 3-8 decoder</a:t>
            </a:r>
            <a:endParaRPr lang="zh-CN" altLang="en-US" sz="2000" dirty="0" err="1" smtClean="0"/>
          </a:p>
        </p:txBody>
      </p:sp>
      <p:pic>
        <p:nvPicPr>
          <p:cNvPr id="5" name="Picture 2" descr="Z:\NewMedia\Ebook-Novella\Wiley\jira\Mano_Ciletti6e\Work\Images\Ch04\ciletti_6e_table_04_04.jpg"/>
          <p:cNvPicPr>
            <a:picLocks noChangeAspect="1" noChangeArrowheads="1"/>
          </p:cNvPicPr>
          <p:nvPr/>
        </p:nvPicPr>
        <p:blipFill>
          <a:blip r:embed="rId4" cstate="print"/>
          <a:srcRect/>
          <a:stretch>
            <a:fillRect/>
          </a:stretch>
        </p:blipFill>
        <p:spPr bwMode="auto">
          <a:xfrm>
            <a:off x="838200" y="4940788"/>
            <a:ext cx="2143383" cy="1917212"/>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b="1" dirty="0">
                <a:latin typeface="+mn-lt"/>
              </a:rPr>
              <a:t>Figure 4</a:t>
            </a:r>
            <a:r>
              <a:rPr lang="en-US" sz="2000" dirty="0">
                <a:latin typeface="+mn-lt"/>
              </a:rPr>
              <a:t>.19</a:t>
            </a:r>
            <a:br>
              <a:rPr lang="en-US" sz="2000" dirty="0">
                <a:latin typeface="+mn-lt"/>
              </a:rPr>
            </a:br>
            <a:r>
              <a:rPr lang="en-US" sz="2000" dirty="0"/>
              <a:t>Two-to-four-line decoder with enable input.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0242" name="Picture 2" descr="The structure has inputs Ay, B, and E passing 4 n and gates, as follows. First n and gate: inputs A prime, B prime, e prime; output D sub 0. Second n and gate: inputs Ay prime, B, E prime; output D sub 1. Third n and gate: inputs Ay, B prime, e prime; output D sub 2. Fourth n and gate: inputs Ay, B, E prime; output D sub 3. The table has the following column headings from left to right: E, Ay, B, D sub 0, D sub 1, D sub 2, D sub 3. The row entries are as follows, with a semicolon before the D values. Row 1: 1 X X; 1 1 1 1. Row 2: 0 0 0; 0 1 1 1. Row 3: 0 0 1; 1 0 1 1. Row 4: 0 1 0; 1 1 0 1. Row 5: 0 1 1; 1 1 1 0."/>
          <p:cNvPicPr>
            <a:picLocks noChangeAspect="1" noChangeArrowheads="1"/>
          </p:cNvPicPr>
          <p:nvPr/>
        </p:nvPicPr>
        <p:blipFill>
          <a:blip r:embed="rId3"/>
          <a:srcRect/>
          <a:stretch>
            <a:fillRect/>
          </a:stretch>
        </p:blipFill>
        <p:spPr bwMode="auto">
          <a:xfrm>
            <a:off x="1143000" y="1447800"/>
            <a:ext cx="6792386" cy="44196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707654"/>
          </a:xfrm>
        </p:spPr>
        <p:txBody>
          <a:bodyPr/>
          <a:lstStyle/>
          <a:p>
            <a:r>
              <a:rPr lang="en-US" sz="2000" b="1" dirty="0">
                <a:latin typeface="+mn-lt"/>
              </a:rPr>
              <a:t>Figure 4</a:t>
            </a:r>
            <a:r>
              <a:rPr lang="en-US" sz="2000" dirty="0">
                <a:latin typeface="+mn-lt"/>
              </a:rPr>
              <a:t>.20</a:t>
            </a:r>
            <a:br>
              <a:rPr lang="en-US" sz="2000" dirty="0">
                <a:latin typeface="+mn-lt"/>
              </a:rPr>
            </a:br>
            <a:r>
              <a:rPr lang="en-US" sz="2000" dirty="0"/>
              <a:t>4 x 16 decoder constructed with two 3 x 8 decoders.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1266" name="Picture 2" descr="The structure has inputs x, y, z, and w. The system has two 3 by 8 decoders. The inputs and outputs for each decoder are as follows. First decoder: inputs x, y, z, E from w prime; outputs D sub 0 to D sub 7. Second decoder: inputs x, y, z, E from w; outputs D sub 8 to D sub 15."/>
          <p:cNvPicPr>
            <a:picLocks noChangeAspect="1" noChangeArrowheads="1"/>
          </p:cNvPicPr>
          <p:nvPr/>
        </p:nvPicPr>
        <p:blipFill>
          <a:blip r:embed="rId3"/>
          <a:srcRect/>
          <a:stretch>
            <a:fillRect/>
          </a:stretch>
        </p:blipFill>
        <p:spPr bwMode="auto">
          <a:xfrm>
            <a:off x="1652337" y="1447800"/>
            <a:ext cx="5839326" cy="39624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Figure PE4.8 </a:t>
            </a:r>
            <a:r>
              <a:rPr lang="en-US" sz="2000" b="1" dirty="0">
                <a:latin typeface="+mn-lt"/>
              </a:rPr>
              <a:t/>
            </a:r>
            <a:br>
              <a:rPr lang="en-US" sz="2000" b="1" dirty="0">
                <a:latin typeface="+mn-lt"/>
              </a:rPr>
            </a:br>
            <a:r>
              <a:rPr lang="en-US" sz="2000" dirty="0">
                <a:latin typeface="+mn-lt"/>
              </a:rPr>
              <a:t/>
            </a:r>
            <a:br>
              <a:rPr lang="en-US" sz="2000" dirty="0">
                <a:latin typeface="+mn-lt"/>
              </a:rPr>
            </a:br>
            <a:endParaRPr lang="en-US" sz="2000" dirty="0">
              <a:latin typeface="+mn-lt"/>
            </a:endParaRPr>
          </a:p>
        </p:txBody>
      </p:sp>
      <p:pic>
        <p:nvPicPr>
          <p:cNvPr id="12290" name="Picture 2" descr="A logic diagram: The structure has three inputs x, y, and E, and two 2 by 4 decoders. First decoder: inputs x, y, E from E prime; outputs D sub 0 to D sub 3. Second decoder: inputs x, y, E; outputs D sub 4 to D sub 7. The table has columns for the following values from left to right: E, x, y, d sub 0, D sub 1, D sub 2, D sub 3, D sub 4, D sub 5, D sub 6, D sub 7. The row entries are as follows: row 1, 0 0 0 1 0 0 0 0 0 0 0; row 2, 0 0 1 0 1 0 0 0 0 0 0; row 3, 0 1 0 0 0 1 0 0 0 0 0 ; row 4, 0 1 1 0 0 0 1 0 0 0 0; row 5, 1 0 0 0 0 0 0 1 0 0 0; row 6, 1 0 1 0 0 0 0 0 1 0 0; row 7, 1 1 0 0 0 0 0 0 0 1 0; row 8, 1 1 1 0 0 0 0 0 0 0 1."/>
          <p:cNvPicPr>
            <a:picLocks noChangeAspect="1" noChangeArrowheads="1"/>
          </p:cNvPicPr>
          <p:nvPr/>
        </p:nvPicPr>
        <p:blipFill>
          <a:blip r:embed="rId3" cstate="print"/>
          <a:srcRect/>
          <a:stretch>
            <a:fillRect/>
          </a:stretch>
        </p:blipFill>
        <p:spPr bwMode="auto">
          <a:xfrm>
            <a:off x="1034103" y="1981200"/>
            <a:ext cx="7075794" cy="28956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4.21 </a:t>
            </a:r>
            <a:r>
              <a:rPr lang="en-US" sz="2000" b="1" dirty="0">
                <a:latin typeface="+mn-lt"/>
              </a:rPr>
              <a:t/>
            </a:r>
            <a:br>
              <a:rPr lang="en-US" sz="2000" b="1" dirty="0">
                <a:latin typeface="+mn-lt"/>
              </a:rPr>
            </a:br>
            <a:r>
              <a:rPr lang="en-US" sz="2000" dirty="0"/>
              <a:t>Implementation of a full adder with a decoder.</a:t>
            </a:r>
            <a:endParaRPr lang="en-US" sz="2000" dirty="0">
              <a:latin typeface="+mn-lt"/>
            </a:endParaRPr>
          </a:p>
        </p:txBody>
      </p:sp>
      <p:pic>
        <p:nvPicPr>
          <p:cNvPr id="14338" name="Picture 2" descr="The 3 by 8 decoder receives inputs x = 2 squared, y = 2 to the first, z = 2 to the zero. The decoder has outputs 0 to 7. The outputs are transmitted to two or gates. First or gate: inputs, 1 2 4 7; output S. Second or gate: inputs 3 5 6 7; output C."/>
          <p:cNvPicPr>
            <a:picLocks noChangeAspect="1" noChangeArrowheads="1"/>
          </p:cNvPicPr>
          <p:nvPr/>
        </p:nvPicPr>
        <p:blipFill>
          <a:blip r:embed="rId3"/>
          <a:srcRect/>
          <a:stretch>
            <a:fillRect/>
          </a:stretch>
        </p:blipFill>
        <p:spPr bwMode="auto">
          <a:xfrm>
            <a:off x="990600" y="1600200"/>
            <a:ext cx="7021048" cy="3962400"/>
          </a:xfrm>
          <a:prstGeom prst="rect">
            <a:avLst/>
          </a:prstGeom>
          <a:noFill/>
        </p:spPr>
      </p:pic>
      <p:pic>
        <p:nvPicPr>
          <p:cNvPr id="4" name="Picture 2" descr="Z:\NewMedia\Ebook-Novella\Wiley\jira\Mano_Ciletti6e\Work\Images\Ch04\t06.jpg"/>
          <p:cNvPicPr>
            <a:picLocks noChangeAspect="1" noChangeArrowheads="1"/>
          </p:cNvPicPr>
          <p:nvPr/>
        </p:nvPicPr>
        <p:blipFill>
          <a:blip r:embed="rId4"/>
          <a:srcRect/>
          <a:stretch>
            <a:fillRect/>
          </a:stretch>
        </p:blipFill>
        <p:spPr bwMode="auto">
          <a:xfrm>
            <a:off x="3962400" y="5257800"/>
            <a:ext cx="4343400" cy="1619081"/>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a:t>Table 4.7</a:t>
            </a:r>
            <a:r>
              <a:rPr lang="en-US" sz="2000" b="1" dirty="0">
                <a:latin typeface="+mn-lt"/>
              </a:rPr>
              <a:t/>
            </a:r>
            <a:br>
              <a:rPr lang="en-US" sz="2000" b="1" dirty="0">
                <a:latin typeface="+mn-lt"/>
              </a:rPr>
            </a:br>
            <a:r>
              <a:rPr lang="en-US" sz="2000" dirty="0"/>
              <a:t>Truth Table of an Octal-to-Binary Encoder. </a:t>
            </a:r>
            <a:r>
              <a:rPr lang="en-US" sz="2000" dirty="0">
                <a:latin typeface="+mn-lt"/>
              </a:rPr>
              <a:t/>
            </a:r>
            <a:br>
              <a:rPr lang="en-US" sz="2000" dirty="0">
                <a:latin typeface="+mn-lt"/>
              </a:rPr>
            </a:br>
            <a:endParaRPr lang="en-US" sz="2000" dirty="0">
              <a:latin typeface="+mn-lt"/>
            </a:endParaRPr>
          </a:p>
        </p:txBody>
      </p:sp>
      <p:pic>
        <p:nvPicPr>
          <p:cNvPr id="15362" name="Picture 2" descr="Z:\NewMedia\Ebook-Novella\Wiley\jira\Mano_Ciletti6e\Work\Images\Ch04\ciletti_6e_table_04_07.jpg"/>
          <p:cNvPicPr>
            <a:picLocks noChangeAspect="1" noChangeArrowheads="1"/>
          </p:cNvPicPr>
          <p:nvPr/>
        </p:nvPicPr>
        <p:blipFill>
          <a:blip r:embed="rId3"/>
          <a:srcRect/>
          <a:stretch>
            <a:fillRect/>
          </a:stretch>
        </p:blipFill>
        <p:spPr bwMode="auto">
          <a:xfrm>
            <a:off x="885139" y="2057400"/>
            <a:ext cx="7373722" cy="2743200"/>
          </a:xfrm>
          <a:prstGeom prst="rect">
            <a:avLst/>
          </a:prstGeom>
          <a:noFill/>
        </p:spPr>
      </p:pic>
      <p:sp>
        <p:nvSpPr>
          <p:cNvPr id="2" name="文本框 1"/>
          <p:cNvSpPr txBox="1"/>
          <p:nvPr/>
        </p:nvSpPr>
        <p:spPr>
          <a:xfrm>
            <a:off x="6324600" y="990600"/>
            <a:ext cx="954107" cy="400110"/>
          </a:xfrm>
          <a:prstGeom prst="rect">
            <a:avLst/>
          </a:prstGeom>
          <a:noFill/>
        </p:spPr>
        <p:txBody>
          <a:bodyPr wrap="none" rtlCol="0">
            <a:spAutoFit/>
          </a:bodyPr>
          <a:lstStyle/>
          <a:p>
            <a:r>
              <a:rPr lang="zh-CN" altLang="en-US" sz="2000" dirty="0" smtClean="0"/>
              <a:t>编码器</a:t>
            </a:r>
          </a:p>
        </p:txBody>
      </p:sp>
      <p:sp>
        <p:nvSpPr>
          <p:cNvPr id="4" name="文本框 3"/>
          <p:cNvSpPr txBox="1"/>
          <p:nvPr/>
        </p:nvSpPr>
        <p:spPr>
          <a:xfrm>
            <a:off x="3505200" y="251903"/>
            <a:ext cx="4879865" cy="400110"/>
          </a:xfrm>
          <a:prstGeom prst="rect">
            <a:avLst/>
          </a:prstGeom>
          <a:noFill/>
        </p:spPr>
        <p:txBody>
          <a:bodyPr wrap="square" rtlCol="0">
            <a:spAutoFit/>
          </a:bodyPr>
          <a:lstStyle/>
          <a:p>
            <a:r>
              <a:rPr lang="en-US" altLang="zh-CN" sz="2000" dirty="0" smtClean="0"/>
              <a:t>Encoder :Inverse</a:t>
            </a:r>
            <a:r>
              <a:rPr lang="zh-CN" altLang="en-US" sz="2000" dirty="0" smtClean="0"/>
              <a:t> </a:t>
            </a:r>
            <a:r>
              <a:rPr lang="en-US" altLang="zh-CN" sz="2000" dirty="0" smtClean="0"/>
              <a:t>of 3-8 decoder</a:t>
            </a:r>
            <a:endParaRPr lang="zh-CN" altLang="en-US" sz="2000" dirty="0" err="1"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4.8 </a:t>
            </a:r>
            <a:r>
              <a:rPr lang="en-US" sz="2000" b="1" dirty="0">
                <a:latin typeface="+mn-lt"/>
              </a:rPr>
              <a:t/>
            </a:r>
            <a:br>
              <a:rPr lang="en-US" sz="2000" b="1" dirty="0">
                <a:latin typeface="+mn-lt"/>
              </a:rPr>
            </a:br>
            <a:r>
              <a:rPr lang="en-US" sz="2000" dirty="0"/>
              <a:t>Truth Table of a Priority Encoder.</a:t>
            </a:r>
            <a:endParaRPr lang="en-US" sz="2000" dirty="0">
              <a:latin typeface="+mn-lt"/>
            </a:endParaRPr>
          </a:p>
        </p:txBody>
      </p:sp>
      <p:pic>
        <p:nvPicPr>
          <p:cNvPr id="16386" name="Picture 2" descr="Z:\NewMedia\Ebook-Novella\Wiley\jira\Mano_Ciletti6e\Work\Images\Ch04\t08.jpg"/>
          <p:cNvPicPr>
            <a:picLocks noChangeAspect="1" noChangeArrowheads="1"/>
          </p:cNvPicPr>
          <p:nvPr/>
        </p:nvPicPr>
        <p:blipFill>
          <a:blip r:embed="rId3"/>
          <a:srcRect/>
          <a:stretch>
            <a:fillRect/>
          </a:stretch>
        </p:blipFill>
        <p:spPr bwMode="auto">
          <a:xfrm>
            <a:off x="1004174" y="1752600"/>
            <a:ext cx="7135652" cy="33528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4.22 </a:t>
            </a:r>
            <a:r>
              <a:rPr lang="en-US" sz="2000" b="1" dirty="0">
                <a:latin typeface="+mn-lt"/>
              </a:rPr>
              <a:t/>
            </a:r>
            <a:br>
              <a:rPr lang="en-US" sz="2000" b="1" dirty="0">
                <a:latin typeface="+mn-lt"/>
              </a:rPr>
            </a:br>
            <a:r>
              <a:rPr lang="en-US" sz="2000" dirty="0"/>
              <a:t>Maps for a priority encoder.</a:t>
            </a:r>
            <a:endParaRPr lang="en-US" sz="2000" dirty="0">
              <a:latin typeface="+mn-lt"/>
            </a:endParaRPr>
          </a:p>
        </p:txBody>
      </p:sp>
      <p:pic>
        <p:nvPicPr>
          <p:cNvPr id="17410" name="Picture 2" descr="The first K map is for x = D sub 2 + D sub 3. Entries marked 1: m sub 1, m sub 3, m sub 2, m sub 5, m sub 7, m sub 6, m sub 13, m sub 15, m sub 14, m sub 9, m sub 11. Entries marked upper X: m sub 0, m sub 10. The block of m entries from m sub 1 to m sub 11 is lightly shaded. The block of m entries from m sub 3 to m sub 10 is darkly shaded. The second K map is for y = D sub 3 + D sub 1 D sub 2 prime. Entries marked 1: m sub 1, m sub 3, m sub 4, m sub 5, m sub 7, m sub 12, m sub 13, m sub 15, m sub 9, m sub 11. The block of entries from m sub 4 to m sub 13 is lightly shaded. the block of entries from m sub 1 to m sub 11 is darkly shaded."/>
          <p:cNvPicPr>
            <a:picLocks noChangeAspect="1" noChangeArrowheads="1"/>
          </p:cNvPicPr>
          <p:nvPr/>
        </p:nvPicPr>
        <p:blipFill>
          <a:blip r:embed="rId3"/>
          <a:srcRect/>
          <a:stretch>
            <a:fillRect/>
          </a:stretch>
        </p:blipFill>
        <p:spPr bwMode="auto">
          <a:xfrm>
            <a:off x="957433" y="1828801"/>
            <a:ext cx="7229134" cy="32004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4.23</a:t>
            </a:r>
            <a:r>
              <a:rPr lang="en-US" sz="2000" b="1" dirty="0">
                <a:latin typeface="+mn-lt"/>
              </a:rPr>
              <a:t/>
            </a:r>
            <a:br>
              <a:rPr lang="en-US" sz="2000" b="1" dirty="0">
                <a:latin typeface="+mn-lt"/>
              </a:rPr>
            </a:br>
            <a:r>
              <a:rPr lang="en-US" sz="2000" dirty="0"/>
              <a:t>Four-input priority encoder.</a:t>
            </a:r>
            <a:endParaRPr lang="en-US" sz="2000" dirty="0">
              <a:latin typeface="+mn-lt"/>
            </a:endParaRPr>
          </a:p>
        </p:txBody>
      </p:sp>
      <p:pic>
        <p:nvPicPr>
          <p:cNvPr id="18434" name="Picture 2" descr="The structure has three levels. The inputs and final outputs at each level are as follows. Level 1. Inverter: input D sub 2. Or gate: input D sub 2 and D sub 3; final output x. Level 2. And gate: inputs D sub 2 prime and D sub 1. Or gate: input signal from level 1 or gate, D sub 1, and D sub 0; final output V. Level 3. Or gate: inputs D sub 3 and signal from and gate; final output y."/>
          <p:cNvPicPr>
            <a:picLocks noChangeAspect="1" noChangeArrowheads="1"/>
          </p:cNvPicPr>
          <p:nvPr/>
        </p:nvPicPr>
        <p:blipFill>
          <a:blip r:embed="rId3"/>
          <a:srcRect/>
          <a:stretch>
            <a:fillRect/>
          </a:stretch>
        </p:blipFill>
        <p:spPr bwMode="auto">
          <a:xfrm>
            <a:off x="1120852" y="1905000"/>
            <a:ext cx="6902296" cy="30480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4.24</a:t>
            </a:r>
            <a:r>
              <a:rPr lang="en-US" sz="2000" b="1" dirty="0">
                <a:latin typeface="+mn-lt"/>
              </a:rPr>
              <a:t/>
            </a:r>
            <a:br>
              <a:rPr lang="en-US" sz="2000" b="1" dirty="0">
                <a:latin typeface="+mn-lt"/>
              </a:rPr>
            </a:br>
            <a:r>
              <a:rPr lang="en-US" sz="2000" dirty="0"/>
              <a:t>Two-to-one-line multiplexer.</a:t>
            </a:r>
            <a:endParaRPr lang="en-US" sz="2000" dirty="0">
              <a:latin typeface="+mn-lt"/>
            </a:endParaRPr>
          </a:p>
        </p:txBody>
      </p:sp>
      <p:pic>
        <p:nvPicPr>
          <p:cNvPr id="19458" name="Picture 2" descr="Part ay: logic diagram. Inputs I sub 0 and S prime and inputs I sub 1 and S enter separate and gates. The and gate outputs enter the same r gate, which generates Y. Part b: block diagram. Inputs I sub 0 and I sub 1 enter the M U X at 0 and 1, yielding S and Y. "/>
          <p:cNvPicPr>
            <a:picLocks noChangeAspect="1" noChangeArrowheads="1"/>
          </p:cNvPicPr>
          <p:nvPr/>
        </p:nvPicPr>
        <p:blipFill>
          <a:blip r:embed="rId3"/>
          <a:srcRect/>
          <a:stretch>
            <a:fillRect/>
          </a:stretch>
        </p:blipFill>
        <p:spPr bwMode="auto">
          <a:xfrm>
            <a:off x="770135" y="2209801"/>
            <a:ext cx="7603730" cy="24384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4.25</a:t>
            </a:r>
            <a:r>
              <a:rPr lang="en-US" sz="2000" b="1" dirty="0">
                <a:latin typeface="+mn-lt"/>
              </a:rPr>
              <a:t/>
            </a:r>
            <a:br>
              <a:rPr lang="en-US" sz="2000" b="1" dirty="0">
                <a:latin typeface="+mn-lt"/>
              </a:rPr>
            </a:br>
            <a:r>
              <a:rPr lang="en-US" sz="2000" dirty="0"/>
              <a:t>Four-to-one-line multiplexer.</a:t>
            </a:r>
            <a:endParaRPr lang="en-US" sz="2000" dirty="0">
              <a:latin typeface="+mn-lt"/>
            </a:endParaRPr>
          </a:p>
        </p:txBody>
      </p:sp>
      <p:pic>
        <p:nvPicPr>
          <p:cNvPr id="20482" name="Picture 2" descr="Part ay: logic diagram. The structure has inputs I sub 0 to I sub 3, as well as S sub 0 and S sub 1. The structure includes 4 and gates sending outputs to an or gate that yields Y. The and gates receive the following inputs. First gate: I sub 0, S sub 1 prime, S sub 0 prime. Second gate: I sub 1, S sub 1 prime, S sub 0 prime. Third gate: I sub 2, S sub 1, S sub 0 prime. Fourth gate: I sub 3, S sub 1, S sub 0. Part b: function table. The table has columns for the following values from left to right: S sub 1, S sub 0, Y. The row entries are as follows: 0 0 I sub 0, 0 1 I sub 1, 1 0 I sub 2, 1 1 I sub 3."/>
          <p:cNvPicPr>
            <a:picLocks noChangeAspect="1" noChangeArrowheads="1"/>
          </p:cNvPicPr>
          <p:nvPr/>
        </p:nvPicPr>
        <p:blipFill>
          <a:blip r:embed="rId3"/>
          <a:srcRect/>
          <a:stretch>
            <a:fillRect/>
          </a:stretch>
        </p:blipFill>
        <p:spPr bwMode="auto">
          <a:xfrm>
            <a:off x="1676400" y="1447800"/>
            <a:ext cx="5791200" cy="434425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4.26</a:t>
            </a:r>
            <a:r>
              <a:rPr lang="en-US" sz="2000" b="1" dirty="0">
                <a:latin typeface="+mn-lt"/>
              </a:rPr>
              <a:t/>
            </a:r>
            <a:br>
              <a:rPr lang="en-US" sz="2000" b="1" dirty="0">
                <a:latin typeface="+mn-lt"/>
              </a:rPr>
            </a:br>
            <a:r>
              <a:rPr lang="en-US" sz="2000" dirty="0"/>
              <a:t>Quadruple two-to-one-line multiplexer.</a:t>
            </a:r>
            <a:endParaRPr lang="en-US" sz="2000" dirty="0">
              <a:latin typeface="+mn-lt"/>
            </a:endParaRPr>
          </a:p>
        </p:txBody>
      </p:sp>
      <p:pic>
        <p:nvPicPr>
          <p:cNvPr id="21506" name="Picture 2" descr="The structure has inputs Ay sub 0 to A sub 3, B sub 0 to B sub 3, S for select, and E for enable. the structure includes 8 and gates and 4 or gates. The inputs for the and gates are as follow. First and gate: Ay sub 0, S prime, E prime. Second and gate: Ay sub 1, S prime, E prime. Third and gate: Ay sub 2, S prime, E prime. Fourth and gate: Ay sub 3, S prime, E prime. Fifth and gate: B sub 0, S, E prime. Sixth and gate: B sub 1, S, E prime. Seventh and gate: B sub 2, S, E prime. Eighth and gate: B sub 3, S, E prime. For each or gate, the following list provides the inputs and outputs. First or gate: inputs from first and fifth and gates; output Y sub 0. Second or gate: inputs from second and sixth and gates; output Y sub 1. Third or gate: inputs from third and seventh and gates; output Y sub 2. Fourth or gate: inputs from fourth and eighth and gates; output Y sub 3. The table has columns with the following headings from left to right: E, S, output Y. Row 1: 1, upper X, all zeroes. Row 2: 0, 0, select Ay. Row 3: 0, 1, select B."/>
          <p:cNvPicPr>
            <a:picLocks noChangeAspect="1" noChangeArrowheads="1"/>
          </p:cNvPicPr>
          <p:nvPr/>
        </p:nvPicPr>
        <p:blipFill>
          <a:blip r:embed="rId3"/>
          <a:srcRect/>
          <a:stretch>
            <a:fillRect/>
          </a:stretch>
        </p:blipFill>
        <p:spPr bwMode="auto">
          <a:xfrm>
            <a:off x="2667000" y="1447800"/>
            <a:ext cx="3962400" cy="4432162"/>
          </a:xfrm>
          <a:prstGeom prst="rect">
            <a:avLst/>
          </a:prstGeom>
          <a:noFill/>
        </p:spPr>
      </p:pic>
      <p:sp>
        <p:nvSpPr>
          <p:cNvPr id="2" name="文本框 1"/>
          <p:cNvSpPr txBox="1"/>
          <p:nvPr/>
        </p:nvSpPr>
        <p:spPr>
          <a:xfrm>
            <a:off x="5715000" y="994144"/>
            <a:ext cx="3039844" cy="400110"/>
          </a:xfrm>
          <a:prstGeom prst="rect">
            <a:avLst/>
          </a:prstGeom>
          <a:noFill/>
        </p:spPr>
        <p:txBody>
          <a:bodyPr wrap="square" rtlCol="0">
            <a:spAutoFit/>
          </a:bodyPr>
          <a:lstStyle/>
          <a:p>
            <a:r>
              <a:rPr lang="en-US" altLang="zh-CN" sz="2000" dirty="0" smtClean="0"/>
              <a:t>4X    2-input multiplexer </a:t>
            </a:r>
            <a:endParaRPr lang="zh-CN" altLang="en-US" sz="2000" dirty="0" err="1"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4.27</a:t>
            </a:r>
            <a:r>
              <a:rPr lang="en-US" sz="2000" b="1" dirty="0">
                <a:latin typeface="+mn-lt"/>
              </a:rPr>
              <a:t/>
            </a:r>
            <a:br>
              <a:rPr lang="en-US" sz="2000" b="1" dirty="0">
                <a:latin typeface="+mn-lt"/>
              </a:rPr>
            </a:br>
            <a:r>
              <a:rPr lang="en-US" sz="2000" dirty="0"/>
              <a:t>Implementing a Boolean function with a multiplexer.</a:t>
            </a:r>
            <a:endParaRPr lang="en-US" sz="2000" dirty="0">
              <a:latin typeface="+mn-lt"/>
            </a:endParaRPr>
          </a:p>
        </p:txBody>
      </p:sp>
      <p:pic>
        <p:nvPicPr>
          <p:cNvPr id="22530" name="Picture 2" descr="Part ay: truth table. The table has columns with the following headings from left to right: x, y, z, F. The table is divided into sections for different values of F. For F = z, the row entries are as follows: 0 0 0 0, 0 0 1 1. For F = z prime, the row entries are as follows: 0 1 0 1, 0 1 1 0. For F = 0, the row entries are as follows: 1 0 0 0, 1 0 1 0. For F = 1, the row entries are as follows: 1 1 0 1, 1 1 1 1. Part b: multiplexer implementation. The 4 by 1 M U X receives the following inputs: y at S sub 0, x at S sub 1, z at 0, z prime at 1, 0 at 2, 1 at 3. The M UX outputs F."/>
          <p:cNvPicPr>
            <a:picLocks noChangeAspect="1" noChangeArrowheads="1"/>
          </p:cNvPicPr>
          <p:nvPr/>
        </p:nvPicPr>
        <p:blipFill>
          <a:blip r:embed="rId3"/>
          <a:srcRect/>
          <a:stretch>
            <a:fillRect/>
          </a:stretch>
        </p:blipFill>
        <p:spPr bwMode="auto">
          <a:xfrm>
            <a:off x="914400" y="1447800"/>
            <a:ext cx="7310536" cy="42672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4.28</a:t>
            </a:r>
            <a:r>
              <a:rPr lang="en-US" sz="2000" b="1" dirty="0">
                <a:latin typeface="+mn-lt"/>
              </a:rPr>
              <a:t/>
            </a:r>
            <a:br>
              <a:rPr lang="en-US" sz="2000" b="1" dirty="0">
                <a:latin typeface="+mn-lt"/>
              </a:rPr>
            </a:br>
            <a:r>
              <a:rPr lang="en-US" sz="2000" dirty="0"/>
              <a:t>Implementing a four-input function with a multiplexer.</a:t>
            </a:r>
            <a:endParaRPr lang="en-US" sz="2000" dirty="0">
              <a:latin typeface="+mn-lt"/>
            </a:endParaRPr>
          </a:p>
        </p:txBody>
      </p:sp>
      <p:pic>
        <p:nvPicPr>
          <p:cNvPr id="23554" name="Picture 2" descr="The table has columns with the following headings from left to right: Ay, B, C, D, F. The table is divided into sections for different F values, with 2 rows for each definition of F. The following list provides the row entries for each F. F = D: 0 0 0 0 0, 0 0 0 1 1. F = D: 0 0 1 0 0, 0 0 1 1 1. F = D prime: 0 1 0 0 1, 0 1 0 1 0. F = 0: 0 1 1 0 0, 0 1 1 1 0. F = 0: 1 0 0 0 0, 1 0 0 1 0. F = D: 1 0 1 0 0, 1 0 1 1 1. F = 1: 1 1 0 0 1, 1 1 0 1 1. F = 1: 1 1 1 0 1, 1 1 1 1 1. The block diagram shows an 8by 1 M U X receiving the following inputs: C at S sub 0, B at S sub 1, Ay at S sub 2, D at 0, D at 1, D prime at 2, 0 at 2, 0 at 4, D at 5, 1 at 6, 1 at 7. The M U X produces F."/>
          <p:cNvPicPr>
            <a:picLocks noChangeAspect="1" noChangeArrowheads="1"/>
          </p:cNvPicPr>
          <p:nvPr/>
        </p:nvPicPr>
        <p:blipFill>
          <a:blip r:embed="rId3"/>
          <a:srcRect/>
          <a:stretch>
            <a:fillRect/>
          </a:stretch>
        </p:blipFill>
        <p:spPr bwMode="auto">
          <a:xfrm>
            <a:off x="1371600" y="1600200"/>
            <a:ext cx="6458464" cy="42672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PE4.9 </a:t>
            </a:r>
            <a:endParaRPr lang="en-US" sz="2000" dirty="0">
              <a:latin typeface="+mn-lt"/>
            </a:endParaRPr>
          </a:p>
        </p:txBody>
      </p:sp>
      <p:pic>
        <p:nvPicPr>
          <p:cNvPr id="24578" name="Picture 2" descr="The 4 by 1 M U x has the following inputs: B at S sub 0, Ay at S sub 1, 0 at 0, C for Ay prime B C at 1, C for Ay B prime C at 2, 1 for Ay B = Ay B C + Ay b C prime at 3."/>
          <p:cNvPicPr>
            <a:picLocks noChangeAspect="1" noChangeArrowheads="1"/>
          </p:cNvPicPr>
          <p:nvPr/>
        </p:nvPicPr>
        <p:blipFill>
          <a:blip r:embed="rId3"/>
          <a:srcRect/>
          <a:stretch>
            <a:fillRect/>
          </a:stretch>
        </p:blipFill>
        <p:spPr bwMode="auto">
          <a:xfrm>
            <a:off x="1905000" y="1329087"/>
            <a:ext cx="5334000" cy="4199826"/>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4.29 </a:t>
            </a:r>
            <a:br>
              <a:rPr lang="en-US" sz="2000" dirty="0"/>
            </a:br>
            <a:r>
              <a:rPr lang="en-US" sz="2000" dirty="0"/>
              <a:t>Graphic symbol for a three-state buffer.</a:t>
            </a:r>
            <a:endParaRPr lang="en-US" sz="2000" dirty="0">
              <a:latin typeface="+mn-lt"/>
            </a:endParaRPr>
          </a:p>
        </p:txBody>
      </p:sp>
      <p:pic>
        <p:nvPicPr>
          <p:cNvPr id="25602" name="Picture 2" descr="A logic diagram. A buffer receives normal input Ay and control input C. The buffer yields output Y = Ay if C = 1, with high impedance if C = 0."/>
          <p:cNvPicPr>
            <a:picLocks noChangeAspect="1" noChangeArrowheads="1"/>
          </p:cNvPicPr>
          <p:nvPr/>
        </p:nvPicPr>
        <p:blipFill>
          <a:blip r:embed="rId3"/>
          <a:srcRect/>
          <a:stretch>
            <a:fillRect/>
          </a:stretch>
        </p:blipFill>
        <p:spPr bwMode="auto">
          <a:xfrm>
            <a:off x="794479" y="2743200"/>
            <a:ext cx="7555042" cy="13716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Figure 4.30 </a:t>
            </a:r>
            <a:br>
              <a:rPr lang="en-US" sz="2000" dirty="0"/>
            </a:br>
            <a:r>
              <a:rPr lang="en-US" sz="2000" dirty="0"/>
              <a:t>Multiplexers with three-state gates.</a:t>
            </a:r>
            <a:endParaRPr lang="en-US" sz="2000" dirty="0">
              <a:latin typeface="+mn-lt"/>
            </a:endParaRPr>
          </a:p>
        </p:txBody>
      </p:sp>
      <p:pic>
        <p:nvPicPr>
          <p:cNvPr id="26626" name="Picture 2" descr="Part ay: 2 to 1 line M U X. Inputs Ay and select prime and inputs B and select enter separate buffers leading to Y. Part b: 4 to 1 line M U X. The system includes inputs I sub 0 to I sub 3. It also includes a 2 by 4 decoder that receives select input S sub 0 and S sub 1 and enable input E N. The decoder also produces outputs 0 to 3. The system has 4 buffers leading to final output Y, and the buffers receive the following inputs. First buffer: I sub 0 and 0 from the decoder. Second buffer: I sub 1 and 1 from the decoder. Third buffer I sub 2 and 2 from the decoder. Fourth buffer: I sub 3 and 3 from the decoder."/>
          <p:cNvPicPr>
            <a:picLocks noChangeAspect="1" noChangeArrowheads="1"/>
          </p:cNvPicPr>
          <p:nvPr/>
        </p:nvPicPr>
        <p:blipFill>
          <a:blip r:embed="rId3"/>
          <a:srcRect/>
          <a:stretch>
            <a:fillRect/>
          </a:stretch>
        </p:blipFill>
        <p:spPr bwMode="auto">
          <a:xfrm>
            <a:off x="1295931" y="1676401"/>
            <a:ext cx="6552138" cy="35052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4.31 </a:t>
            </a:r>
            <a:br>
              <a:rPr lang="en-US" sz="2000" dirty="0"/>
            </a:br>
            <a:r>
              <a:rPr lang="en-US" sz="2000" dirty="0"/>
              <a:t>Relationship of Verilog constructs to truth tables, Boolean equations, and schematics.</a:t>
            </a:r>
            <a:endParaRPr lang="en-US" sz="2000" dirty="0">
              <a:latin typeface="+mn-lt"/>
            </a:endParaRPr>
          </a:p>
        </p:txBody>
      </p:sp>
      <p:pic>
        <p:nvPicPr>
          <p:cNvPr id="27650" name="Picture 2" descr="The Verilog model, or combinational logic interacts with the truth table via user-defined primitive. The model interacts with the Boolean equation via continuous assignment, and it communicates with the schematic or structure via a primitive gate. The Boolean equation also interacts with the truth table and schematic."/>
          <p:cNvPicPr>
            <a:picLocks noChangeAspect="1" noChangeArrowheads="1"/>
          </p:cNvPicPr>
          <p:nvPr/>
        </p:nvPicPr>
        <p:blipFill>
          <a:blip r:embed="rId3" cstate="print"/>
          <a:srcRect/>
          <a:stretch>
            <a:fillRect/>
          </a:stretch>
        </p:blipFill>
        <p:spPr bwMode="auto">
          <a:xfrm>
            <a:off x="2971800" y="1981200"/>
            <a:ext cx="3200400" cy="3765176"/>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4.32</a:t>
            </a:r>
            <a:br>
              <a:rPr lang="en-US" sz="2000" dirty="0"/>
            </a:br>
            <a:r>
              <a:rPr lang="en-US" sz="2000" dirty="0"/>
              <a:t>Relationship of VHDL constructs to truth tables, Boolean equations, and schematics three-state gates.</a:t>
            </a:r>
            <a:endParaRPr lang="en-US" sz="2000" dirty="0">
              <a:latin typeface="+mn-lt"/>
            </a:endParaRPr>
          </a:p>
        </p:txBody>
      </p:sp>
      <p:pic>
        <p:nvPicPr>
          <p:cNvPr id="28675" name="Picture 3" descr="The V H D L model interacts with the Boolean equation via signal assignment, and it interacts with the schematic via a component. The Boolean equation interacts with the truth table and schematic."/>
          <p:cNvPicPr>
            <a:picLocks noChangeAspect="1" noChangeArrowheads="1"/>
          </p:cNvPicPr>
          <p:nvPr/>
        </p:nvPicPr>
        <p:blipFill>
          <a:blip r:embed="rId3" cstate="print"/>
          <a:srcRect/>
          <a:stretch>
            <a:fillRect/>
          </a:stretch>
        </p:blipFill>
        <p:spPr bwMode="auto">
          <a:xfrm>
            <a:off x="2895600" y="1905000"/>
            <a:ext cx="3352800" cy="3733976"/>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4.9 </a:t>
            </a:r>
            <a:br>
              <a:rPr lang="en-US" sz="2000" dirty="0"/>
            </a:br>
            <a:r>
              <a:rPr lang="en-US" sz="2000" dirty="0"/>
              <a:t>Truth Table for Predefined Primitive Gates.</a:t>
            </a:r>
            <a:endParaRPr lang="en-US" sz="2000" dirty="0">
              <a:latin typeface="+mn-lt"/>
            </a:endParaRPr>
          </a:p>
        </p:txBody>
      </p:sp>
      <p:pic>
        <p:nvPicPr>
          <p:cNvPr id="29698" name="Picture 2" descr="Z:\NewMedia\Ebook-Novella\Wiley\jira\Mano_Ciletti6e\Work\Images\Ch04\t09.jpg"/>
          <p:cNvPicPr>
            <a:picLocks noChangeAspect="1" noChangeArrowheads="1"/>
          </p:cNvPicPr>
          <p:nvPr/>
        </p:nvPicPr>
        <p:blipFill>
          <a:blip r:embed="rId3"/>
          <a:srcRect/>
          <a:stretch>
            <a:fillRect/>
          </a:stretch>
        </p:blipFill>
        <p:spPr bwMode="auto">
          <a:xfrm>
            <a:off x="1451068" y="1371600"/>
            <a:ext cx="6241864" cy="41148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4.33 </a:t>
            </a:r>
            <a:br>
              <a:rPr lang="en-US" sz="2000" dirty="0"/>
            </a:br>
            <a:r>
              <a:rPr lang="en-US" sz="2000" dirty="0"/>
              <a:t>Design hierarchy of an 8-bit ripple-carry adder. For simplicity, some blocks are omitted where they replicate what is already shown.</a:t>
            </a:r>
            <a:endParaRPr lang="en-US" sz="2000" dirty="0">
              <a:latin typeface="+mn-lt"/>
            </a:endParaRPr>
          </a:p>
        </p:txBody>
      </p:sp>
      <p:pic>
        <p:nvPicPr>
          <p:cNvPr id="30722" name="Picture 2" descr="The block names in the chart use underscores instead of spaces. However, the description employs spaces for clarity. Add r c ay 8 branches into two components: M 2, Add r c ay 4; M 1, Add r c ay 4. M 2 branches into the following components: M 6, Add full; M 5, Add full; M 4, Add full; M 3, Add full. M 5 branches into the following components: M 9, Add half; M 8, Nor mod; M 7, Not mod. M 9 branches into two components: M 11, X or mod; M 10, And mod. "/>
          <p:cNvPicPr>
            <a:picLocks noChangeAspect="1" noChangeArrowheads="1"/>
          </p:cNvPicPr>
          <p:nvPr/>
        </p:nvPicPr>
        <p:blipFill>
          <a:blip r:embed="rId3" cstate="print"/>
          <a:srcRect/>
          <a:stretch>
            <a:fillRect/>
          </a:stretch>
        </p:blipFill>
        <p:spPr bwMode="auto">
          <a:xfrm>
            <a:off x="1676400" y="1905000"/>
            <a:ext cx="5791200" cy="3490232"/>
          </a:xfrm>
          <a:prstGeom prst="rect">
            <a:avLst/>
          </a:prstGeom>
          <a:noFill/>
        </p:spPr>
      </p:pic>
      <p:pic>
        <p:nvPicPr>
          <p:cNvPr id="4" name="Picture 2" descr="First logic diagram. The following sets of inputs enter separate and gates: x prime, y prime, and z; x prime, y, and z prime; x, y prime, and z prime; x, y, and z. The outputs from the and gates then enter an or gate, producing S. Second diagram: The following sets of inputs enter separate and gates: x and y, x and z, y and z. The and gate outputs then enter an or gate, producing C."/>
          <p:cNvPicPr>
            <a:picLocks noChangeAspect="1" noChangeArrowheads="1"/>
          </p:cNvPicPr>
          <p:nvPr/>
        </p:nvPicPr>
        <p:blipFill>
          <a:blip r:embed="rId4"/>
          <a:srcRect/>
          <a:stretch>
            <a:fillRect/>
          </a:stretch>
        </p:blipFill>
        <p:spPr bwMode="auto">
          <a:xfrm>
            <a:off x="5409794" y="4724400"/>
            <a:ext cx="3404006" cy="1424668"/>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1600" dirty="0"/>
              <a:t>Figure 4.34</a:t>
            </a:r>
            <a:br>
              <a:rPr lang="en-US" sz="1600" dirty="0"/>
            </a:br>
            <a:r>
              <a:rPr lang="en-US" sz="1600" dirty="0"/>
              <a:t>Decomposition of an 8-bit ripple carry adder into a chain of two 4-bit</a:t>
            </a:r>
            <a:br>
              <a:rPr lang="en-US" sz="1600" dirty="0"/>
            </a:br>
            <a:r>
              <a:rPr lang="en-US" sz="1600" dirty="0"/>
              <a:t>adders;</a:t>
            </a:r>
            <a:r>
              <a:rPr lang="en-US" sz="1600" baseline="30000" dirty="0"/>
              <a:t>9</a:t>
            </a:r>
            <a:r>
              <a:rPr lang="en-US" sz="1600" dirty="0"/>
              <a:t> each 4-bit adder consists of a chain of four full adders. The full adders are composed of half adders and one OR gate; the half adders are composed of logic gates.</a:t>
            </a:r>
            <a:endParaRPr lang="en-US" sz="1600" dirty="0">
              <a:latin typeface="+mn-lt"/>
            </a:endParaRPr>
          </a:p>
        </p:txBody>
      </p:sp>
      <p:pic>
        <p:nvPicPr>
          <p:cNvPr id="31746" name="Picture 2" descr="In the block diagrams, the vectors use the following notation letter left bracket maximum value colon minimum value right bracket.  Part ay: M 0, Add r c ay 8. The block receives 8 from vector ay from 7 to 0, vector b from 7 to 0, and vector sum from 7 to 0. The block also connected to c in and c out. Part b: Add r c ay 8. The structure includes M 0, Add r c ay 4, and M 1, Add r c ay 4. M 0 receives c in, vector a from 3 to 0, vector b from 3 to 0, and vector sum from 3 to 0. M 0 sends c in 4 to M 1. M 1 also receives vector ay from 7 to 4, vector b from 7 to 4, and vector sum from 7 to 4, before outputting c out. Part c: Add r c ay 4. The structure consists of four Add full units, M 0, M 1, M 2, and M 3.M 0 receives vectors g, b 0, and sum 0, and it send c in 1 to M 1. M 1 receives vectors ay 1, b 1, and sum 1, and it sends c in 2 to M 2, and so on. Part d: Add full. The structure includes two Add half units, M 0 and M 1. M 0 receives c in and sum, and it sends w 2 to M 1, which receives ay and b. M 0 and M 1 then send w 3 and w 1 to or gate G 1, which produces c out. Part e: Add half. Inputs ay and b enter x or gate G 1, producing sum, and and gate G 2, producing c out."/>
          <p:cNvPicPr>
            <a:picLocks noChangeAspect="1" noChangeArrowheads="1"/>
          </p:cNvPicPr>
          <p:nvPr/>
        </p:nvPicPr>
        <p:blipFill>
          <a:blip r:embed="rId3"/>
          <a:srcRect/>
          <a:stretch>
            <a:fillRect/>
          </a:stretch>
        </p:blipFill>
        <p:spPr bwMode="auto">
          <a:xfrm>
            <a:off x="2895600" y="1447799"/>
            <a:ext cx="3159522" cy="5309658"/>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4.35</a:t>
            </a:r>
            <a:br>
              <a:rPr lang="en-US" sz="2000" dirty="0"/>
            </a:br>
            <a:r>
              <a:rPr lang="en-US" sz="2000" dirty="0"/>
              <a:t>Three-state gates.</a:t>
            </a:r>
            <a:endParaRPr lang="en-US" sz="2000" dirty="0">
              <a:latin typeface="+mn-lt"/>
            </a:endParaRPr>
          </a:p>
        </p:txBody>
      </p:sp>
      <p:pic>
        <p:nvPicPr>
          <p:cNvPr id="32770" name="Picture 2" descr="First diagram: buf if 1. The input and control enter a buffer that produces output. Second diagram: buf if 0. The input and the complement of control enter the buffer, which produces output. Third diagram: not if 1. The input and control enter an inverter that produces output. Fourth diagram: not if 0. The input and the complement of control enter an inverter that produces output."/>
          <p:cNvPicPr>
            <a:picLocks noChangeAspect="1" noChangeArrowheads="1"/>
          </p:cNvPicPr>
          <p:nvPr/>
        </p:nvPicPr>
        <p:blipFill>
          <a:blip r:embed="rId3" cstate="print"/>
          <a:srcRect/>
          <a:stretch>
            <a:fillRect/>
          </a:stretch>
        </p:blipFill>
        <p:spPr bwMode="auto">
          <a:xfrm>
            <a:off x="2133600" y="2057400"/>
            <a:ext cx="4924256" cy="320040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36254"/>
          </a:xfrm>
        </p:spPr>
        <p:txBody>
          <a:bodyPr/>
          <a:lstStyle/>
          <a:p>
            <a:r>
              <a:rPr lang="en-US" sz="2000" dirty="0"/>
              <a:t>Figure 4.36</a:t>
            </a:r>
            <a:br>
              <a:rPr lang="en-US" sz="2000" dirty="0"/>
            </a:br>
            <a:r>
              <a:rPr lang="en-US" sz="2000" dirty="0"/>
              <a:t>Two-to-one-line multiplexer with three-state buffers.</a:t>
            </a:r>
            <a:endParaRPr lang="en-US" sz="2000" dirty="0">
              <a:latin typeface="+mn-lt"/>
            </a:endParaRPr>
          </a:p>
        </p:txBody>
      </p:sp>
      <p:pic>
        <p:nvPicPr>
          <p:cNvPr id="33794" name="Picture 2" descr="Inputs Ay and select enter the first buffer. Inputs B and the complement of select enter the second buffer. Signals from the buffers combine to form m out."/>
          <p:cNvPicPr>
            <a:picLocks noChangeAspect="1" noChangeArrowheads="1"/>
          </p:cNvPicPr>
          <p:nvPr/>
        </p:nvPicPr>
        <p:blipFill>
          <a:blip r:embed="rId3"/>
          <a:srcRect/>
          <a:stretch>
            <a:fillRect/>
          </a:stretch>
        </p:blipFill>
        <p:spPr bwMode="auto">
          <a:xfrm>
            <a:off x="1371600" y="2005012"/>
            <a:ext cx="6400800" cy="2847976"/>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4.10 </a:t>
            </a:r>
            <a:br>
              <a:rPr lang="en-US" sz="2000" dirty="0"/>
            </a:br>
            <a:r>
              <a:rPr lang="en-US" dirty="0"/>
              <a:t>Some Verilog Operators.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19200" y="1625672"/>
            <a:ext cx="6705600" cy="3606656"/>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4.11a </a:t>
            </a:r>
            <a:br>
              <a:rPr lang="en-US" sz="2000" dirty="0"/>
            </a:br>
            <a:r>
              <a:rPr lang="en-US" dirty="0" err="1"/>
              <a:t>SystemVerilog</a:t>
            </a:r>
            <a:r>
              <a:rPr lang="en-US" dirty="0"/>
              <a:t> Assignment Operators</a:t>
            </a:r>
            <a:r>
              <a:rPr lang="en-US" baseline="30000" dirty="0"/>
              <a:t>15</a:t>
            </a:r>
            <a:r>
              <a:rPr lang="en-US" dirty="0"/>
              <a:t>.</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43000" y="2001067"/>
            <a:ext cx="6858000" cy="2855866"/>
          </a:xfrm>
          <a:prstGeom prst="rect">
            <a:avLst/>
          </a:prstGeom>
          <a:noFill/>
        </p:spPr>
      </p:pic>
      <p:sp>
        <p:nvSpPr>
          <p:cNvPr id="2" name="文本框 1"/>
          <p:cNvSpPr txBox="1"/>
          <p:nvPr/>
        </p:nvSpPr>
        <p:spPr>
          <a:xfrm>
            <a:off x="7315200" y="152400"/>
            <a:ext cx="898003" cy="400110"/>
          </a:xfrm>
          <a:prstGeom prst="rect">
            <a:avLst/>
          </a:prstGeom>
          <a:noFill/>
        </p:spPr>
        <p:txBody>
          <a:bodyPr wrap="none" rtlCol="0">
            <a:spAutoFit/>
          </a:bodyPr>
          <a:lstStyle/>
          <a:p>
            <a:r>
              <a:rPr lang="en-US" altLang="zh-CN" sz="2000" dirty="0" smtClean="0"/>
              <a:t>ignore</a:t>
            </a:r>
            <a:endParaRPr lang="zh-CN" altLang="en-US" sz="2000" dirty="0" err="1"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4.11b</a:t>
            </a:r>
            <a:br>
              <a:rPr lang="en-US" sz="2000" dirty="0"/>
            </a:br>
            <a:r>
              <a:rPr lang="en-US" dirty="0" err="1"/>
              <a:t>SystemVerilog</a:t>
            </a:r>
            <a:r>
              <a:rPr lang="en-US" dirty="0"/>
              <a:t> Increment/Decrement Operators.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 y="2718598"/>
            <a:ext cx="7924800" cy="1420804"/>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4.12</a:t>
            </a:r>
            <a:br>
              <a:rPr lang="en-US" sz="2000" dirty="0"/>
            </a:br>
            <a:r>
              <a:rPr lang="en-US" dirty="0"/>
              <a:t>Predefined VHDL Data Types.</a:t>
            </a:r>
            <a:endParaRPr lang="en-US" sz="2000" dirty="0">
              <a:latin typeface="+mn-lt"/>
            </a:endParaRP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0" y="2111502"/>
            <a:ext cx="7467600" cy="2634996"/>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sz="2000" dirty="0"/>
              <a:t>Table 4.13</a:t>
            </a:r>
            <a:br>
              <a:rPr lang="en-US" sz="2000" dirty="0"/>
            </a:br>
            <a:r>
              <a:rPr lang="en-IN" dirty="0"/>
              <a:t>VHDL Operators.</a:t>
            </a:r>
            <a:endParaRPr lang="en-US" sz="2000" dirty="0">
              <a:latin typeface="+mn-lt"/>
            </a:endParaRPr>
          </a:p>
        </p:txBody>
      </p:sp>
      <p:pic>
        <p:nvPicPr>
          <p:cNvPr id="29698" name="Picture 2" descr="The table provides the characteristics for different operators in order of increasing precedence. Operator type: binary logical. Symbol: and, or, n and, n or, x or, x n or. Operands: bit, Boolean, boolean underscore vector, bit underscore vector. Result: same as operands. Operator: relational. Symbol: equals, slash, equals, less than less than, equals, greater than greater than, equals. Operand: two expressions matched in type and size. Result: false, true. Operator: shift operators. Symbol: s l l, s r l, s l ay, s r ay, r o l, r o r. Operand: bit underscore vector. result: bit underscore vector. Operator: addition operators: plus, minus. Operand: integer, real number. Result: integer, real number. Operator: concatenation operator: ampersand. Operand: vectors. Result: vectors. Operator: unitary sign operator. Symbol: plus or minus. Operand: blank. result: blank. Operator: multiplication operators: dot slash m o d, r e m. Operand: blank. Result: blank. Operator: miscellaneous operators. Symbol: not, ay b s, dot dot. Operand: numerical, numerical integer, floating point. Result: exponentiated by intege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19199" y="1721467"/>
            <a:ext cx="6705602" cy="3415066"/>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4.37</a:t>
            </a:r>
            <a:br>
              <a:rPr lang="en-IN" dirty="0"/>
            </a:br>
            <a:r>
              <a:rPr lang="en-IN" dirty="0"/>
              <a:t>Interaction between </a:t>
            </a:r>
            <a:r>
              <a:rPr lang="en-IN" dirty="0" err="1"/>
              <a:t>testbench</a:t>
            </a:r>
            <a:r>
              <a:rPr lang="en-IN" dirty="0"/>
              <a:t> and Verilog design unit.</a:t>
            </a:r>
            <a:endParaRPr lang="en-US" sz="2000" dirty="0">
              <a:latin typeface="+mn-lt"/>
            </a:endParaRPr>
          </a:p>
        </p:txBody>
      </p:sp>
      <p:pic>
        <p:nvPicPr>
          <p:cNvPr id="2" name="Picture 1" descr="The t design unit contains the test bench, and the test bench contains the design unit. The structure is accompanied by code for module 1 t underscore Design underscore Unit left parenthesis right parenthesis. Line 8 of the code is double-indented, and it reads as follows: left parenthesis period Ay left parenthesis t underscore Ay right parenthesis comma period B left parenthesis t underscore B right parenthesis comma period select left parenthesis t underscore select right parenthesis t comma period m underscore out left parenthesis t underscore m underscore out right parenthesis right parenthesis semicolon. The following phrases in the code correspond to values in the design unit: t underscore Ay, Ay; t underscore B, B; t underscore select, select; m underscore out, m underscore ou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2593" y="1752600"/>
            <a:ext cx="6601486" cy="381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4.38</a:t>
            </a:r>
            <a:br>
              <a:rPr lang="en-IN" dirty="0"/>
            </a:br>
            <a:r>
              <a:rPr lang="en-IN" dirty="0"/>
              <a:t>Interaction between </a:t>
            </a:r>
            <a:r>
              <a:rPr lang="en-IN" dirty="0" err="1"/>
              <a:t>testbench</a:t>
            </a:r>
            <a:r>
              <a:rPr lang="en-IN" dirty="0"/>
              <a:t> and VHDL design unit.</a:t>
            </a:r>
            <a:endParaRPr lang="en-US" sz="2000" dirty="0">
              <a:latin typeface="+mn-lt"/>
            </a:endParaRPr>
          </a:p>
        </p:txBody>
      </p:sp>
      <p:pic>
        <p:nvPicPr>
          <p:cNvPr id="2" name="Picture 1" descr="The t design unit contains the test bench, and the test bench contains the design unit. The structure is accompanied by code for entity t underscore Design underscore Unit is. The following line defines the relevant values on the design unit: U U T colon Design underscore Unit port map left parenthesis t underscore Ay comma t underscore B comma t underscore select comma t underscore m underscore out right parenthesis semicolon. The related values are Ay, B, select, and m ou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524000"/>
            <a:ext cx="5687114" cy="451716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US" dirty="0"/>
              <a:t>Figure 4.39</a:t>
            </a:r>
            <a:br>
              <a:rPr lang="en-US" dirty="0"/>
            </a:br>
            <a:r>
              <a:rPr lang="en-US" dirty="0"/>
              <a:t>Circuit for event-driven simulation.</a:t>
            </a:r>
            <a:endParaRPr lang="en-US" sz="2000" dirty="0">
              <a:latin typeface="+mn-lt"/>
            </a:endParaRPr>
          </a:p>
        </p:txBody>
      </p:sp>
      <p:pic>
        <p:nvPicPr>
          <p:cNvPr id="2" name="Picture 1" descr="A logic diagram: Inputs Ay and B enter an and gate, producing C, which passes through an inverter to produce output 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2790063"/>
            <a:ext cx="6553200" cy="127787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4.40</a:t>
            </a:r>
            <a:br>
              <a:rPr lang="en-IN" dirty="0"/>
            </a:br>
            <a:r>
              <a:rPr lang="en-IN" dirty="0"/>
              <a:t>Representation of event-driven simulation (with zero delay).</a:t>
            </a:r>
            <a:endParaRPr lang="en-US" sz="2000" dirty="0">
              <a:latin typeface="+mn-lt"/>
            </a:endParaRPr>
          </a:p>
        </p:txBody>
      </p:sp>
      <p:pic>
        <p:nvPicPr>
          <p:cNvPr id="2" name="Picture 1" descr="The first logic diagram shows the following structure. Inputs Ay and B enter an and gate that produces C. C then enters an inverter that generates D. Four graphs represent signals Ay, B, C, and D on the same horizontal axis for t sub sim. Each graph is a square waveform with a minimum on the t sub sim axis and a uniform maximum. The following list provides the time intervals for the maximum of each graph. Signal Ay: 0 to 30. Signal B: 0 to 10, 20 to 40. Signal C: 0 to 10, 20 to 30. Signal D: 0 to 20, 30 onward. The region under the graph for each signal from 0 to 10 represents x. An accompanying diagram shows an event list for each event time: t sub sim = 0, A = x, B = x, C = x, D = x; t sub sim = 10, Ay = 1, B = 0, C = 0, D = 1; t sub sim = 20, B = 1, C = 1, D = 0; t sub sim = 30, Ay = 0, C = 0, D = 1; t sub sim = 40, B = 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1038" y="1419504"/>
            <a:ext cx="3975962" cy="462859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4.41</a:t>
            </a:r>
            <a:br>
              <a:rPr lang="en-IN" dirty="0"/>
            </a:br>
            <a:r>
              <a:rPr lang="en-IN" dirty="0"/>
              <a:t>Representation of event-driven simulation (with propagation delay).</a:t>
            </a:r>
            <a:endParaRPr lang="en-US" sz="2000" dirty="0">
              <a:latin typeface="+mn-lt"/>
            </a:endParaRPr>
          </a:p>
        </p:txBody>
      </p:sp>
      <p:pic>
        <p:nvPicPr>
          <p:cNvPr id="2" name="Picture 1" descr="A logic diagram: Inputs Ay and B enter and gate 3, yielding C. C enters inverter 2, yielding D. The graphs for signals Ay to D have maximums over the following time intervals t sub sim. Signal Ay: 0 to 30. Signal B: 0 to 10, 20 to 40. Signal C: 0 to 13, 23 to 33. Signal D: 0 to 25, 35 onward. The region under each curve represents x. The time interval for the region under each signal graph is as follows: Ay, 0 to 10; B, 0 to 10; C, 0 to 13; D, 0 to 15. The final diagram provides the event list for different values of t sub sim: 0, Ay = x, B = x, C = x, D = x; 10, Ay = 1, B = 0; 13, C = 0; 15, D = 1; 20, B = 1; 23, C = 1; 25, D = 0; 30, Ay = 0; 33, C = 0; 35, D = 1; 40, B = 0. All values estim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678" y="1447800"/>
            <a:ext cx="3671316" cy="4572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P4.1</a:t>
            </a:r>
            <a:endParaRPr lang="en-US" sz="2000" dirty="0">
              <a:latin typeface="+mn-lt"/>
            </a:endParaRPr>
          </a:p>
        </p:txBody>
      </p:sp>
      <p:pic>
        <p:nvPicPr>
          <p:cNvPr id="2" name="Picture 1" descr="The structure has inputs Ay, B, C, and D and five levels. The following list provides the inputs to each gate, according to level. Level 1. First inverter: B. Second inverter: Ay. Level 2. First and gate: B prime and C. Second and gate: Ay prime and B. level 3. First or gate: Ay and T sub 1 from the first and gate. X or gate: T sub 2 from second and gate and D. Second or gate: T sub 2 and D prime. Level 5. Or gate: T sub 3 from first or gate and T sub 4 from x or gate. The level 5 or gate produces F sub 1, and the second level 4 or gate produces F sub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072" y="1752600"/>
            <a:ext cx="7702528" cy="304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P4.2</a:t>
            </a:r>
            <a:endParaRPr lang="en-US" sz="2000" dirty="0">
              <a:latin typeface="+mn-lt"/>
            </a:endParaRPr>
          </a:p>
        </p:txBody>
      </p:sp>
      <p:pic>
        <p:nvPicPr>
          <p:cNvPr id="2" name="Picture 1" descr="The structure has inputs Ay, B, C, and D and four levels. The following list provides the inputs for each gate, according to level. Level 1. Inverter: Ay. And gate: B and C. Level 2. N and gate: A prime and D. Level 3. N and gate: Ay prime and signal from level 2 n and gate. Or gate: Ay prime and signal from level 1 and gate. Level 4. First and gate: signal from level 3 n and gate and signal from level 3 or gate. Second and gate: signal from level 3 or gate and level 2 n and gate. The first level 4 and gate produces F, and the second level 4 and gate produces 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460" y="1828800"/>
            <a:ext cx="7821752" cy="27432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447472" y="435346"/>
            <a:ext cx="8391728" cy="631454"/>
          </a:xfrm>
        </p:spPr>
        <p:txBody>
          <a:bodyPr/>
          <a:lstStyle/>
          <a:p>
            <a:r>
              <a:rPr lang="en-IN" dirty="0"/>
              <a:t>FIGURE P4.9</a:t>
            </a:r>
            <a:endParaRPr lang="en-US" sz="2000" dirty="0">
              <a:latin typeface="+mn-lt"/>
            </a:endParaRPr>
          </a:p>
        </p:txBody>
      </p:sp>
      <p:pic>
        <p:nvPicPr>
          <p:cNvPr id="8" name="Picture 7" descr="Part ay: segment designation. A figure 8 is composed of seven segments. Clockwise from the top, the exterior segments are labeled ay, b, c, d, e, and f, and the middle segment is labeled g. Part b: numerical designation for display. Different combinations of segments ay to g produce the digits 0 to 9, with 1 formed by segments b and c."/>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7156" y="2514600"/>
            <a:ext cx="8412044" cy="16764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631454"/>
          </a:xfrm>
        </p:spPr>
        <p:txBody>
          <a:bodyPr/>
          <a:lstStyle/>
          <a:p>
            <a:r>
              <a:rPr lang="en-IN" dirty="0"/>
              <a:t>FIGURE P4.16</a:t>
            </a:r>
            <a:endParaRPr lang="en-US" sz="2000" dirty="0">
              <a:latin typeface="+mn-lt"/>
            </a:endParaRPr>
          </a:p>
        </p:txBody>
      </p:sp>
      <p:pic>
        <p:nvPicPr>
          <p:cNvPr id="4" name="Picture 3" descr="The structure has inputs Ay sub 0, B sub 0, and C sub 0, and it has three levels. The following list provides the input for each gate, according to level. Level 1. N and gate: A sub 0 and B sub 0. N or gate: Ay sub 0 and B sub 0. Inverter: C sub 0. Level 2. First and gate: signal from level 1 n and gate and C sub 0 prime. Second and gate: signal from level 1 and gate, and signal from level 1 n or gate complemented. Inverter: C sub 0 prime. Level 3. N or gate: signal from level 1 n or gate and signal from first level 2 and gate. x or gate: signal from second level 2 and gate, and signal from level 2 inverter. The level 3 n or gate produces C sub 1, and the level 3 x or gate produces S sub 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9536" y="1371600"/>
            <a:ext cx="7467600" cy="3909822"/>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Horizon</Template>
  <TotalTime>294</TotalTime>
  <Words>425</Words>
  <Application>Microsoft Office PowerPoint</Application>
  <PresentationFormat>全屏显示(4:3)</PresentationFormat>
  <Paragraphs>172</Paragraphs>
  <Slides>65</Slides>
  <Notes>63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65</vt:i4>
      </vt:variant>
    </vt:vector>
  </HeadingPairs>
  <TitlesOfParts>
    <vt:vector size="74" baseType="lpstr">
      <vt:lpstr>Arial (Body)</vt:lpstr>
      <vt:lpstr>Arial (headings)</vt:lpstr>
      <vt:lpstr>黑体</vt:lpstr>
      <vt:lpstr>微软雅黑</vt:lpstr>
      <vt:lpstr>Arial</vt:lpstr>
      <vt:lpstr>Times New Roman</vt:lpstr>
      <vt:lpstr>Verdana</vt:lpstr>
      <vt:lpstr>Wingdings</vt:lpstr>
      <vt:lpstr>508 Lecture</vt:lpstr>
      <vt:lpstr>Digital Design</vt:lpstr>
      <vt:lpstr>Figure 4.1  Block diagram of combinational circuit.</vt:lpstr>
      <vt:lpstr>Figure 4.2  Logic diagram for analysis example.</vt:lpstr>
      <vt:lpstr>Table 4.1  Truth Table for the Logic Diagram of Fig. 4.2.</vt:lpstr>
      <vt:lpstr>Figure PE4.1 </vt:lpstr>
      <vt:lpstr>Table 4.2 Truth Table for Code Conversion Example.</vt:lpstr>
      <vt:lpstr>Figure 4.3 Maps for BCD-to-excess-3 code converter.</vt:lpstr>
      <vt:lpstr>Figure 4.4 Logic diagram for BCD-to-excess-3 code converter. </vt:lpstr>
      <vt:lpstr>Table 4.3 Half Adder.  </vt:lpstr>
      <vt:lpstr>Figure 4.5 Implementation of half adder.  </vt:lpstr>
      <vt:lpstr>Table 4.4 Full Adder.  </vt:lpstr>
      <vt:lpstr>Figure 4.6 K-Maps for full adder.</vt:lpstr>
      <vt:lpstr>Figure 4.7 Implementation of full adder in sum-of-products form.</vt:lpstr>
      <vt:lpstr>Figure 4.8 Implementation of full adder with two half adders and an OR gate.</vt:lpstr>
      <vt:lpstr>Figure 4.9 Four-bit adder.</vt:lpstr>
      <vt:lpstr>Binary Adder </vt:lpstr>
      <vt:lpstr>Figure 4.10 Full adder with P and G shown.</vt:lpstr>
      <vt:lpstr>Figure 4.12 Four-bit adder with carry lookahead.  </vt:lpstr>
      <vt:lpstr>Figure 4.11 Logic diagram of carry lookahead generator.</vt:lpstr>
      <vt:lpstr>Figure 4.12 Four-bit adder with carry lookahead.  </vt:lpstr>
      <vt:lpstr>Figure 4.13 Four-bit adder–subtractor (with overflow detection).</vt:lpstr>
      <vt:lpstr>Table 4.5  Derivation of BCD Adder.</vt:lpstr>
      <vt:lpstr>Figure 4.14 Block diagram of a BCD adder.</vt:lpstr>
      <vt:lpstr>Figure 4.15 Two-bit by two-bit binary multiplier.</vt:lpstr>
      <vt:lpstr>Figure 4.16 Four-bit by three-bit binary multiplier.</vt:lpstr>
      <vt:lpstr>Figure 4.17 Four-bit magnitude comparator.</vt:lpstr>
      <vt:lpstr>Figure 4.18 Three-to-eight-line decoder.</vt:lpstr>
      <vt:lpstr>Table 4.6 Truth Table of a Three-to-Eight-Line Decoder.</vt:lpstr>
      <vt:lpstr>Figure 4.19 Two-to-four-line decoder with enable input.   </vt:lpstr>
      <vt:lpstr>Figure 4.20 4 x 16 decoder constructed with two 3 x 8 decoders.   </vt:lpstr>
      <vt:lpstr>Figure PE4.8   </vt:lpstr>
      <vt:lpstr>Figure 4.21  Implementation of a full adder with a decoder.</vt:lpstr>
      <vt:lpstr>Table 4.7 Truth Table of an Octal-to-Binary Encoder.  </vt:lpstr>
      <vt:lpstr>Table 4.8  Truth Table of a Priority Encoder.</vt:lpstr>
      <vt:lpstr>Figure 4.22  Maps for a priority encoder.</vt:lpstr>
      <vt:lpstr>Figure 4.23 Four-input priority encoder.</vt:lpstr>
      <vt:lpstr>Figure 4.24 Two-to-one-line multiplexer.</vt:lpstr>
      <vt:lpstr>Figure 4.25 Four-to-one-line multiplexer.</vt:lpstr>
      <vt:lpstr>Figure 4.26 Quadruple two-to-one-line multiplexer.</vt:lpstr>
      <vt:lpstr>Figure 4.27 Implementing a Boolean function with a multiplexer.</vt:lpstr>
      <vt:lpstr>Figure 4.28 Implementing a four-input function with a multiplexer.</vt:lpstr>
      <vt:lpstr>Figure PE4.9 </vt:lpstr>
      <vt:lpstr>Figure 4.29  Graphic symbol for a three-state buffer.</vt:lpstr>
      <vt:lpstr>Figure 4.30  Multiplexers with three-state gates.</vt:lpstr>
      <vt:lpstr>Figure 4.31  Relationship of Verilog constructs to truth tables, Boolean equations, and schematics.</vt:lpstr>
      <vt:lpstr>Figure 4.32 Relationship of VHDL constructs to truth tables, Boolean equations, and schematics three-state gates.</vt:lpstr>
      <vt:lpstr>Table 4.9  Truth Table for Predefined Primitive Gates.</vt:lpstr>
      <vt:lpstr>Figure 4.33  Design hierarchy of an 8-bit ripple-carry adder. For simplicity, some blocks are omitted where they replicate what is already shown.</vt:lpstr>
      <vt:lpstr>Figure 4.34 Decomposition of an 8-bit ripple carry adder into a chain of two 4-bit adders;9 each 4-bit adder consists of a chain of four full adders. The full adders are composed of half adders and one OR gate; the half adders are composed of logic gates.</vt:lpstr>
      <vt:lpstr>Figure 4.35 Three-state gates.</vt:lpstr>
      <vt:lpstr>Figure 4.36 Two-to-one-line multiplexer with three-state buffers.</vt:lpstr>
      <vt:lpstr>Table 4.10  Some Verilog Operators.</vt:lpstr>
      <vt:lpstr>Table 4.11a  SystemVerilog Assignment Operators15.</vt:lpstr>
      <vt:lpstr>Table 4.11b SystemVerilog Increment/Decrement Operators.</vt:lpstr>
      <vt:lpstr>Table 4.12 Predefined VHDL Data Types.</vt:lpstr>
      <vt:lpstr>Table 4.13 VHDL Operators.</vt:lpstr>
      <vt:lpstr>Figure 4.37 Interaction between testbench and Verilog design unit.</vt:lpstr>
      <vt:lpstr>Figure 4.38 Interaction between testbench and VHDL design unit.</vt:lpstr>
      <vt:lpstr>Figure 4.39 Circuit for event-driven simulation.</vt:lpstr>
      <vt:lpstr>Figure 4.40 Representation of event-driven simulation (with zero delay).</vt:lpstr>
      <vt:lpstr>Figure 4.41 Representation of event-driven simulation (with propagation delay).</vt:lpstr>
      <vt:lpstr>FIGURE P4.1</vt:lpstr>
      <vt:lpstr>FIGURE P4.2</vt:lpstr>
      <vt:lpstr>FIGURE P4.9</vt:lpstr>
      <vt:lpstr>FIGURE P4.16</vt:lpstr>
    </vt:vector>
  </TitlesOfParts>
  <Company>echosvoice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lenovo</cp:lastModifiedBy>
  <cp:revision>526</cp:revision>
  <dcterms:created xsi:type="dcterms:W3CDTF">2014-07-14T20:04:00Z</dcterms:created>
  <dcterms:modified xsi:type="dcterms:W3CDTF">2025-11-03T14:56:44Z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11DD57263438443C82FCCDB71EDD2DCF_12</vt:lpwstr>
  </property>
  <property fmtid="{D5CDD505-2E9C-101B-9397-08002B2CF9AE}" pid="3" name="KSOProductBuildVer">
    <vt:lpwstr>2052-12.1.0.23125</vt:lpwstr>
  </property>
</Properties>
</file>