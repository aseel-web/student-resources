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7"/>
  </p:notesMasterIdLst>
  <p:sldIdLst>
    <p:sldId id="462" r:id="rId2"/>
    <p:sldId id="396" r:id="rId3"/>
    <p:sldId id="463" r:id="rId4"/>
    <p:sldId id="415" r:id="rId5"/>
    <p:sldId id="513" r:id="rId6"/>
    <p:sldId id="377" r:id="rId7"/>
    <p:sldId id="378" r:id="rId8"/>
    <p:sldId id="464" r:id="rId9"/>
    <p:sldId id="328" r:id="rId10"/>
    <p:sldId id="483" r:id="rId11"/>
    <p:sldId id="485" r:id="rId12"/>
    <p:sldId id="484" r:id="rId13"/>
    <p:sldId id="465" r:id="rId14"/>
    <p:sldId id="454" r:id="rId15"/>
    <p:sldId id="466" r:id="rId16"/>
    <p:sldId id="331" r:id="rId17"/>
    <p:sldId id="514" r:id="rId18"/>
    <p:sldId id="332" r:id="rId19"/>
    <p:sldId id="333" r:id="rId20"/>
    <p:sldId id="334" r:id="rId21"/>
    <p:sldId id="335" r:id="rId22"/>
    <p:sldId id="336" r:id="rId23"/>
    <p:sldId id="337" r:id="rId24"/>
    <p:sldId id="486" r:id="rId25"/>
    <p:sldId id="487" r:id="rId26"/>
    <p:sldId id="488" r:id="rId27"/>
    <p:sldId id="489" r:id="rId28"/>
    <p:sldId id="490" r:id="rId29"/>
    <p:sldId id="491" r:id="rId30"/>
    <p:sldId id="492" r:id="rId31"/>
    <p:sldId id="494" r:id="rId32"/>
    <p:sldId id="493" r:id="rId33"/>
    <p:sldId id="495" r:id="rId34"/>
    <p:sldId id="497" r:id="rId35"/>
    <p:sldId id="498" r:id="rId36"/>
    <p:sldId id="338" r:id="rId37"/>
    <p:sldId id="516" r:id="rId38"/>
    <p:sldId id="515" r:id="rId39"/>
    <p:sldId id="422" r:id="rId40"/>
    <p:sldId id="423" r:id="rId41"/>
    <p:sldId id="424" r:id="rId42"/>
    <p:sldId id="402" r:id="rId43"/>
    <p:sldId id="343" r:id="rId44"/>
    <p:sldId id="413" r:id="rId45"/>
    <p:sldId id="474" r:id="rId46"/>
    <p:sldId id="395" r:id="rId47"/>
    <p:sldId id="346" r:id="rId48"/>
    <p:sldId id="347" r:id="rId49"/>
    <p:sldId id="348" r:id="rId50"/>
    <p:sldId id="439" r:id="rId51"/>
    <p:sldId id="440" r:id="rId52"/>
    <p:sldId id="476" r:id="rId53"/>
    <p:sldId id="467" r:id="rId54"/>
    <p:sldId id="477" r:id="rId55"/>
    <p:sldId id="442" r:id="rId56"/>
    <p:sldId id="517" r:id="rId57"/>
    <p:sldId id="353" r:id="rId58"/>
    <p:sldId id="478" r:id="rId59"/>
    <p:sldId id="479" r:id="rId60"/>
    <p:sldId id="357" r:id="rId61"/>
    <p:sldId id="376" r:id="rId62"/>
    <p:sldId id="352" r:id="rId63"/>
    <p:sldId id="389" r:id="rId64"/>
    <p:sldId id="475" r:id="rId65"/>
    <p:sldId id="391" r:id="rId66"/>
    <p:sldId id="358" r:id="rId67"/>
    <p:sldId id="468" r:id="rId68"/>
    <p:sldId id="380" r:id="rId69"/>
    <p:sldId id="364" r:id="rId70"/>
    <p:sldId id="470" r:id="rId71"/>
    <p:sldId id="363" r:id="rId72"/>
    <p:sldId id="518" r:id="rId73"/>
    <p:sldId id="469" r:id="rId74"/>
    <p:sldId id="480" r:id="rId75"/>
    <p:sldId id="471" r:id="rId76"/>
    <p:sldId id="365" r:id="rId77"/>
    <p:sldId id="366" r:id="rId78"/>
    <p:sldId id="382" r:id="rId79"/>
    <p:sldId id="368" r:id="rId80"/>
    <p:sldId id="472" r:id="rId81"/>
    <p:sldId id="473" r:id="rId82"/>
    <p:sldId id="481" r:id="rId83"/>
    <p:sldId id="499" r:id="rId84"/>
    <p:sldId id="501" r:id="rId85"/>
    <p:sldId id="502" r:id="rId86"/>
    <p:sldId id="503" r:id="rId87"/>
    <p:sldId id="504" r:id="rId88"/>
    <p:sldId id="505" r:id="rId89"/>
    <p:sldId id="506" r:id="rId90"/>
    <p:sldId id="507" r:id="rId91"/>
    <p:sldId id="508" r:id="rId92"/>
    <p:sldId id="509" r:id="rId93"/>
    <p:sldId id="511" r:id="rId94"/>
    <p:sldId id="512" r:id="rId95"/>
    <p:sldId id="482" r:id="rId96"/>
  </p:sldIdLst>
  <p:sldSz cx="12192000" cy="6858000"/>
  <p:notesSz cx="6797675" cy="99250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snapToObjects="1">
      <p:cViewPr varScale="1">
        <p:scale>
          <a:sx n="64" d="100"/>
          <a:sy n="64" d="100"/>
        </p:scale>
        <p:origin x="72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50443" y="0"/>
            <a:ext cx="2945659" cy="497976"/>
          </a:xfrm>
          <a:prstGeom prst="rect">
            <a:avLst/>
          </a:prstGeom>
        </p:spPr>
        <p:txBody>
          <a:bodyPr vert="horz" lIns="91440" tIns="45720" rIns="91440" bIns="45720" rtlCol="0"/>
          <a:lstStyle>
            <a:lvl1pPr algn="r">
              <a:defRPr sz="1200"/>
            </a:lvl1pPr>
          </a:lstStyle>
          <a:p>
            <a:fld id="{4CDF85E0-5A87-9148-AC9E-29A77524043F}" type="datetimeFigureOut">
              <a:rPr kumimoji="1" lang="zh-CN" altLang="en-US" smtClean="0"/>
              <a:t>2025/10/17</a:t>
            </a:fld>
            <a:endParaRPr kumimoji="1" lang="zh-CN" altLang="en-US"/>
          </a:p>
        </p:txBody>
      </p:sp>
      <p:sp>
        <p:nvSpPr>
          <p:cNvPr id="4" name="幻灯片图像占位符 3"/>
          <p:cNvSpPr>
            <a:spLocks noGrp="1" noRot="1" noChangeAspect="1"/>
          </p:cNvSpPr>
          <p:nvPr>
            <p:ph type="sldImg" idx="2"/>
          </p:nvPr>
        </p:nvSpPr>
        <p:spPr>
          <a:xfrm>
            <a:off x="420688" y="1239838"/>
            <a:ext cx="5956300" cy="33512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6431"/>
            <a:ext cx="5438140" cy="3907988"/>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9427076"/>
            <a:ext cx="2945659" cy="497975"/>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50443" y="9427076"/>
            <a:ext cx="2945659" cy="497975"/>
          </a:xfrm>
          <a:prstGeom prst="rect">
            <a:avLst/>
          </a:prstGeom>
        </p:spPr>
        <p:txBody>
          <a:bodyPr vert="horz" lIns="91440" tIns="45720" rIns="91440" bIns="45720" rtlCol="0" anchor="b"/>
          <a:lstStyle>
            <a:lvl1pPr algn="r">
              <a:defRPr sz="1200"/>
            </a:lvl1pPr>
          </a:lstStyle>
          <a:p>
            <a:fld id="{453ADB9F-4DAC-5041-A444-6363CBA3F12F}" type="slidenum">
              <a:rPr kumimoji="1" lang="zh-CN" altLang="en-US" smtClean="0"/>
              <a:t>‹#›</a:t>
            </a:fld>
            <a:endParaRPr kumimoji="1" lang="zh-CN" altLang="en-US"/>
          </a:p>
        </p:txBody>
      </p:sp>
    </p:spTree>
    <p:extLst>
      <p:ext uri="{BB962C8B-B14F-4D97-AF65-F5344CB8AC3E}">
        <p14:creationId xmlns:p14="http://schemas.microsoft.com/office/powerpoint/2010/main" val="1989013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24DFB92-88AF-0454-6819-0E92D74930DA}"/>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4EB0849-3AC1-4543-B69C-2A1DF982D864}" type="slidenum">
              <a:rPr lang="en-US" altLang="en-US"/>
              <a:pPr>
                <a:spcBef>
                  <a:spcPct val="0"/>
                </a:spcBef>
              </a:pPr>
              <a:t>4</a:t>
            </a:fld>
            <a:endParaRPr lang="en-US" altLang="en-US"/>
          </a:p>
        </p:txBody>
      </p:sp>
      <p:sp>
        <p:nvSpPr>
          <p:cNvPr id="51203" name="Rectangle 2">
            <a:extLst>
              <a:ext uri="{FF2B5EF4-FFF2-40B4-BE49-F238E27FC236}">
                <a16:creationId xmlns:a16="http://schemas.microsoft.com/office/drawing/2014/main" id="{B983A57D-0EA9-DA62-D965-8C80396D1C51}"/>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59C1BD0-5220-E0B2-C3A3-FF31C0FA17B1}"/>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F540-043E-673C-AABC-2ADF2C2979E0}"/>
            </a:ext>
          </a:extLst>
        </p:cNvPr>
        <p:cNvGrpSpPr/>
        <p:nvPr/>
      </p:nvGrpSpPr>
      <p:grpSpPr>
        <a:xfrm>
          <a:off x="0" y="0"/>
          <a:ext cx="0" cy="0"/>
          <a:chOff x="0" y="0"/>
          <a:chExt cx="0" cy="0"/>
        </a:xfrm>
      </p:grpSpPr>
      <p:sp>
        <p:nvSpPr>
          <p:cNvPr id="51202" name="Rectangle 7">
            <a:extLst>
              <a:ext uri="{FF2B5EF4-FFF2-40B4-BE49-F238E27FC236}">
                <a16:creationId xmlns:a16="http://schemas.microsoft.com/office/drawing/2014/main" id="{9997BB7F-9EFE-F146-3AC0-97394AB77B3E}"/>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4EB0849-3AC1-4543-B69C-2A1DF982D864}" type="slidenum">
              <a:rPr lang="en-US" altLang="en-US"/>
              <a:pPr>
                <a:spcBef>
                  <a:spcPct val="0"/>
                </a:spcBef>
              </a:pPr>
              <a:t>5</a:t>
            </a:fld>
            <a:endParaRPr lang="en-US" altLang="en-US"/>
          </a:p>
        </p:txBody>
      </p:sp>
      <p:sp>
        <p:nvSpPr>
          <p:cNvPr id="51203" name="Rectangle 2">
            <a:extLst>
              <a:ext uri="{FF2B5EF4-FFF2-40B4-BE49-F238E27FC236}">
                <a16:creationId xmlns:a16="http://schemas.microsoft.com/office/drawing/2014/main" id="{482FED28-B12E-EA9B-BE95-04C84176CBAC}"/>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85197487-F77C-5B94-7C3E-10E3D99EAFA6}"/>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8803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3D8F5A99-C742-A040-B724-D388C7D5237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33E790DB-CE4A-C448-A898-6DE6995D3D65}" type="slidenum">
              <a:rPr lang="en-US" altLang="zh-CN"/>
              <a:pPr eaLnBrk="1" hangingPunct="1">
                <a:spcBef>
                  <a:spcPct val="0"/>
                </a:spcBef>
              </a:pPr>
              <a:t>6</a:t>
            </a:fld>
            <a:endParaRPr lang="en-US" altLang="zh-CN"/>
          </a:p>
        </p:txBody>
      </p:sp>
      <p:sp>
        <p:nvSpPr>
          <p:cNvPr id="64515" name="Rectangle 2">
            <a:extLst>
              <a:ext uri="{FF2B5EF4-FFF2-40B4-BE49-F238E27FC236}">
                <a16:creationId xmlns:a16="http://schemas.microsoft.com/office/drawing/2014/main" id="{D9ACDD82-86D9-C746-8DC9-2BA37746AEA0}"/>
              </a:ext>
            </a:extLst>
          </p:cNvPr>
          <p:cNvSpPr>
            <a:spLocks noGrp="1" noRot="1" noChangeAspect="1" noChangeArrowheads="1" noTextEdit="1"/>
          </p:cNvSpPr>
          <p:nvPr>
            <p:ph type="sldImg"/>
          </p:nvPr>
        </p:nvSpPr>
        <p:spPr>
          <a:xfrm>
            <a:off x="-201613" y="804863"/>
            <a:ext cx="7140576" cy="4017962"/>
          </a:xfrm>
          <a:ln/>
        </p:spPr>
      </p:sp>
      <p:sp>
        <p:nvSpPr>
          <p:cNvPr id="64516" name="Rectangle 3">
            <a:extLst>
              <a:ext uri="{FF2B5EF4-FFF2-40B4-BE49-F238E27FC236}">
                <a16:creationId xmlns:a16="http://schemas.microsoft.com/office/drawing/2014/main" id="{4290F184-5D44-724F-960A-90253891BFB2}"/>
              </a:ext>
            </a:extLst>
          </p:cNvPr>
          <p:cNvSpPr>
            <a:spLocks noGrp="1" noChangeArrowheads="1"/>
          </p:cNvSpPr>
          <p:nvPr>
            <p:ph type="body" idx="1"/>
          </p:nvPr>
        </p:nvSpPr>
        <p:spPr>
          <a:xfrm>
            <a:off x="898489" y="5091758"/>
            <a:ext cx="4940903" cy="4821231"/>
          </a:xfrm>
          <a:noFill/>
        </p:spPr>
        <p:txBody>
          <a:bodyPr/>
          <a:lstStyle/>
          <a:p>
            <a:pPr eaLnBrk="1" hangingPunct="1"/>
            <a:endParaRPr lang="en-US" altLang="zh-CN">
              <a:solidFill>
                <a:schemeClr val="tx2"/>
              </a:solidFill>
              <a:latin typeface="Arial" panose="020B0604020202020204" pitchFamily="34" charset="0"/>
            </a:endParaRPr>
          </a:p>
        </p:txBody>
      </p:sp>
    </p:spTree>
    <p:extLst>
      <p:ext uri="{BB962C8B-B14F-4D97-AF65-F5344CB8AC3E}">
        <p14:creationId xmlns:p14="http://schemas.microsoft.com/office/powerpoint/2010/main" val="1609797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1D1D645-755D-B247-9F83-4E6954950DD3}"/>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23069BB9-DF07-624E-8B00-D581A283583A}" type="slidenum">
              <a:rPr lang="en-US" altLang="zh-CN"/>
              <a:pPr eaLnBrk="1" hangingPunct="1">
                <a:spcBef>
                  <a:spcPct val="0"/>
                </a:spcBef>
              </a:pPr>
              <a:t>7</a:t>
            </a:fld>
            <a:endParaRPr lang="en-US" altLang="zh-CN"/>
          </a:p>
        </p:txBody>
      </p:sp>
      <p:sp>
        <p:nvSpPr>
          <p:cNvPr id="65539" name="Rectangle 2">
            <a:extLst>
              <a:ext uri="{FF2B5EF4-FFF2-40B4-BE49-F238E27FC236}">
                <a16:creationId xmlns:a16="http://schemas.microsoft.com/office/drawing/2014/main" id="{66001D7D-8589-4948-B216-B08750A20158}"/>
              </a:ext>
            </a:extLst>
          </p:cNvPr>
          <p:cNvSpPr>
            <a:spLocks noGrp="1" noRot="1" noChangeAspect="1" noChangeArrowheads="1" noTextEdit="1"/>
          </p:cNvSpPr>
          <p:nvPr>
            <p:ph type="sldImg"/>
          </p:nvPr>
        </p:nvSpPr>
        <p:spPr>
          <a:xfrm>
            <a:off x="-201613" y="804863"/>
            <a:ext cx="7140576" cy="4017962"/>
          </a:xfrm>
          <a:ln/>
        </p:spPr>
      </p:sp>
      <p:sp>
        <p:nvSpPr>
          <p:cNvPr id="65540" name="Rectangle 3">
            <a:extLst>
              <a:ext uri="{FF2B5EF4-FFF2-40B4-BE49-F238E27FC236}">
                <a16:creationId xmlns:a16="http://schemas.microsoft.com/office/drawing/2014/main" id="{FEA17069-2371-FD46-8D46-ED0959651181}"/>
              </a:ext>
            </a:extLst>
          </p:cNvPr>
          <p:cNvSpPr>
            <a:spLocks noGrp="1" noChangeArrowheads="1"/>
          </p:cNvSpPr>
          <p:nvPr>
            <p:ph type="body" idx="1"/>
          </p:nvPr>
        </p:nvSpPr>
        <p:spPr>
          <a:xfrm>
            <a:off x="898489" y="5091758"/>
            <a:ext cx="4940903" cy="4821231"/>
          </a:xfrm>
          <a:noFill/>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330345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04E5D-B0C7-9E13-594F-44D46F575B57}"/>
            </a:ext>
          </a:extLst>
        </p:cNvPr>
        <p:cNvGrpSpPr/>
        <p:nvPr/>
      </p:nvGrpSpPr>
      <p:grpSpPr>
        <a:xfrm>
          <a:off x="0" y="0"/>
          <a:ext cx="0" cy="0"/>
          <a:chOff x="0" y="0"/>
          <a:chExt cx="0" cy="0"/>
        </a:xfrm>
      </p:grpSpPr>
      <p:sp>
        <p:nvSpPr>
          <p:cNvPr id="66562" name="Rectangle 7">
            <a:extLst>
              <a:ext uri="{FF2B5EF4-FFF2-40B4-BE49-F238E27FC236}">
                <a16:creationId xmlns:a16="http://schemas.microsoft.com/office/drawing/2014/main" id="{A553DE17-1479-8009-127A-847D1868955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7095A2EB-0FDD-CC4A-B5AB-74A7BC79BBD6}" type="slidenum">
              <a:rPr lang="en-US" altLang="zh-CN"/>
              <a:pPr eaLnBrk="1" hangingPunct="1">
                <a:spcBef>
                  <a:spcPct val="0"/>
                </a:spcBef>
              </a:pPr>
              <a:t>8</a:t>
            </a:fld>
            <a:endParaRPr lang="en-US" altLang="zh-CN"/>
          </a:p>
        </p:txBody>
      </p:sp>
      <p:sp>
        <p:nvSpPr>
          <p:cNvPr id="66563" name="Rectangle 2">
            <a:extLst>
              <a:ext uri="{FF2B5EF4-FFF2-40B4-BE49-F238E27FC236}">
                <a16:creationId xmlns:a16="http://schemas.microsoft.com/office/drawing/2014/main" id="{CFDA8BD0-630E-730B-F5AF-0AE6CBB92004}"/>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66564" name="Rectangle 3">
            <a:extLst>
              <a:ext uri="{FF2B5EF4-FFF2-40B4-BE49-F238E27FC236}">
                <a16:creationId xmlns:a16="http://schemas.microsoft.com/office/drawing/2014/main" id="{4C6261A2-3DC0-6E16-C52C-31AF9D44CAEB}"/>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4179948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964F9-FCDB-FAAA-B279-F3B826DBBFBE}"/>
            </a:ext>
          </a:extLst>
        </p:cNvPr>
        <p:cNvGrpSpPr/>
        <p:nvPr/>
      </p:nvGrpSpPr>
      <p:grpSpPr>
        <a:xfrm>
          <a:off x="0" y="0"/>
          <a:ext cx="0" cy="0"/>
          <a:chOff x="0" y="0"/>
          <a:chExt cx="0" cy="0"/>
        </a:xfrm>
      </p:grpSpPr>
      <p:sp>
        <p:nvSpPr>
          <p:cNvPr id="67586" name="Rectangle 7">
            <a:extLst>
              <a:ext uri="{FF2B5EF4-FFF2-40B4-BE49-F238E27FC236}">
                <a16:creationId xmlns:a16="http://schemas.microsoft.com/office/drawing/2014/main" id="{EA96CD7C-2BEA-4789-830B-87A32F56699E}"/>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3FCE1AA-A143-C745-B2BD-AD48D11B7116}" type="slidenum">
              <a:rPr lang="en-US" altLang="zh-CN"/>
              <a:pPr eaLnBrk="1" hangingPunct="1">
                <a:spcBef>
                  <a:spcPct val="0"/>
                </a:spcBef>
              </a:pPr>
              <a:t>10</a:t>
            </a:fld>
            <a:endParaRPr lang="en-US" altLang="zh-CN"/>
          </a:p>
        </p:txBody>
      </p:sp>
      <p:sp>
        <p:nvSpPr>
          <p:cNvPr id="67587" name="Rectangle 2">
            <a:extLst>
              <a:ext uri="{FF2B5EF4-FFF2-40B4-BE49-F238E27FC236}">
                <a16:creationId xmlns:a16="http://schemas.microsoft.com/office/drawing/2014/main" id="{E48A9562-BCC1-F89B-BA5C-3EEF635B5A6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CA8EB9EB-F4FA-7329-7074-337EED139831}"/>
              </a:ext>
            </a:extLst>
          </p:cNvPr>
          <p:cNvSpPr>
            <a:spLocks noGrp="1" noChangeArrowheads="1"/>
          </p:cNvSpPr>
          <p:nvPr>
            <p:ph type="body" idx="1"/>
          </p:nvPr>
        </p:nvSpPr>
        <p:spPr>
          <a:xfrm>
            <a:off x="898489" y="5091758"/>
            <a:ext cx="4940903" cy="4822953"/>
          </a:xfrm>
          <a:noFill/>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695700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11E19-1FE1-4164-E873-217EC59EF4B8}"/>
            </a:ext>
          </a:extLst>
        </p:cNvPr>
        <p:cNvGrpSpPr/>
        <p:nvPr/>
      </p:nvGrpSpPr>
      <p:grpSpPr>
        <a:xfrm>
          <a:off x="0" y="0"/>
          <a:ext cx="0" cy="0"/>
          <a:chOff x="0" y="0"/>
          <a:chExt cx="0" cy="0"/>
        </a:xfrm>
      </p:grpSpPr>
      <p:sp>
        <p:nvSpPr>
          <p:cNvPr id="67586" name="Rectangle 7">
            <a:extLst>
              <a:ext uri="{FF2B5EF4-FFF2-40B4-BE49-F238E27FC236}">
                <a16:creationId xmlns:a16="http://schemas.microsoft.com/office/drawing/2014/main" id="{2C3510DA-72F0-9345-46CB-6F28EA0566FC}"/>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3FCE1AA-A143-C745-B2BD-AD48D11B7116}" type="slidenum">
              <a:rPr lang="en-US" altLang="zh-CN"/>
              <a:pPr eaLnBrk="1" hangingPunct="1">
                <a:spcBef>
                  <a:spcPct val="0"/>
                </a:spcBef>
              </a:pPr>
              <a:t>11</a:t>
            </a:fld>
            <a:endParaRPr lang="en-US" altLang="zh-CN"/>
          </a:p>
        </p:txBody>
      </p:sp>
      <p:sp>
        <p:nvSpPr>
          <p:cNvPr id="67587" name="Rectangle 2">
            <a:extLst>
              <a:ext uri="{FF2B5EF4-FFF2-40B4-BE49-F238E27FC236}">
                <a16:creationId xmlns:a16="http://schemas.microsoft.com/office/drawing/2014/main" id="{A506B1C5-4B48-5A53-064C-8E16A78895E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C91DAD7C-D0AC-9207-0A2F-BEA7FE6ECCE4}"/>
              </a:ext>
            </a:extLst>
          </p:cNvPr>
          <p:cNvSpPr>
            <a:spLocks noGrp="1" noChangeArrowheads="1"/>
          </p:cNvSpPr>
          <p:nvPr>
            <p:ph type="body" idx="1"/>
          </p:nvPr>
        </p:nvSpPr>
        <p:spPr>
          <a:xfrm>
            <a:off x="898489" y="5091758"/>
            <a:ext cx="4940903" cy="4822953"/>
          </a:xfrm>
          <a:noFill/>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4088243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396FB-2C1A-76A5-732B-40C8B88A9752}"/>
            </a:ext>
          </a:extLst>
        </p:cNvPr>
        <p:cNvGrpSpPr/>
        <p:nvPr/>
      </p:nvGrpSpPr>
      <p:grpSpPr>
        <a:xfrm>
          <a:off x="0" y="0"/>
          <a:ext cx="0" cy="0"/>
          <a:chOff x="0" y="0"/>
          <a:chExt cx="0" cy="0"/>
        </a:xfrm>
      </p:grpSpPr>
      <p:sp>
        <p:nvSpPr>
          <p:cNvPr id="67586" name="Rectangle 7">
            <a:extLst>
              <a:ext uri="{FF2B5EF4-FFF2-40B4-BE49-F238E27FC236}">
                <a16:creationId xmlns:a16="http://schemas.microsoft.com/office/drawing/2014/main" id="{5BD0A9E8-73C7-1966-77FB-602FC40E1388}"/>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3FCE1AA-A143-C745-B2BD-AD48D11B7116}" type="slidenum">
              <a:rPr lang="en-US" altLang="zh-CN"/>
              <a:pPr eaLnBrk="1" hangingPunct="1">
                <a:spcBef>
                  <a:spcPct val="0"/>
                </a:spcBef>
              </a:pPr>
              <a:t>12</a:t>
            </a:fld>
            <a:endParaRPr lang="en-US" altLang="zh-CN"/>
          </a:p>
        </p:txBody>
      </p:sp>
      <p:sp>
        <p:nvSpPr>
          <p:cNvPr id="67587" name="Rectangle 2">
            <a:extLst>
              <a:ext uri="{FF2B5EF4-FFF2-40B4-BE49-F238E27FC236}">
                <a16:creationId xmlns:a16="http://schemas.microsoft.com/office/drawing/2014/main" id="{33058890-7907-5247-E42E-7F11184E6FD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7FED905A-F45E-0A95-FCA6-C5218E83D76E}"/>
              </a:ext>
            </a:extLst>
          </p:cNvPr>
          <p:cNvSpPr>
            <a:spLocks noGrp="1" noChangeArrowheads="1"/>
          </p:cNvSpPr>
          <p:nvPr>
            <p:ph type="body" idx="1"/>
          </p:nvPr>
        </p:nvSpPr>
        <p:spPr>
          <a:xfrm>
            <a:off x="898489" y="5091758"/>
            <a:ext cx="4940903" cy="4822953"/>
          </a:xfrm>
          <a:noFill/>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496975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9D7E-671E-762B-87B3-ED90F34610CB}"/>
            </a:ext>
          </a:extLst>
        </p:cNvPr>
        <p:cNvGrpSpPr/>
        <p:nvPr/>
      </p:nvGrpSpPr>
      <p:grpSpPr>
        <a:xfrm>
          <a:off x="0" y="0"/>
          <a:ext cx="0" cy="0"/>
          <a:chOff x="0" y="0"/>
          <a:chExt cx="0" cy="0"/>
        </a:xfrm>
      </p:grpSpPr>
      <p:sp>
        <p:nvSpPr>
          <p:cNvPr id="67586" name="Rectangle 7">
            <a:extLst>
              <a:ext uri="{FF2B5EF4-FFF2-40B4-BE49-F238E27FC236}">
                <a16:creationId xmlns:a16="http://schemas.microsoft.com/office/drawing/2014/main" id="{C828E999-95BA-DE58-57A0-9E30180B2A6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3FCE1AA-A143-C745-B2BD-AD48D11B7116}" type="slidenum">
              <a:rPr lang="en-US" altLang="zh-CN"/>
              <a:pPr eaLnBrk="1" hangingPunct="1">
                <a:spcBef>
                  <a:spcPct val="0"/>
                </a:spcBef>
              </a:pPr>
              <a:t>13</a:t>
            </a:fld>
            <a:endParaRPr lang="en-US" altLang="zh-CN"/>
          </a:p>
        </p:txBody>
      </p:sp>
      <p:sp>
        <p:nvSpPr>
          <p:cNvPr id="67587" name="Rectangle 2">
            <a:extLst>
              <a:ext uri="{FF2B5EF4-FFF2-40B4-BE49-F238E27FC236}">
                <a16:creationId xmlns:a16="http://schemas.microsoft.com/office/drawing/2014/main" id="{CB3EB412-2F1B-E83A-7525-43FE6BCC9CF7}"/>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070DC7FA-2558-705B-71A5-1A48BB0FF080}"/>
              </a:ext>
            </a:extLst>
          </p:cNvPr>
          <p:cNvSpPr>
            <a:spLocks noGrp="1" noChangeArrowheads="1"/>
          </p:cNvSpPr>
          <p:nvPr>
            <p:ph type="body" idx="1"/>
          </p:nvPr>
        </p:nvSpPr>
        <p:spPr>
          <a:xfrm>
            <a:off x="898489" y="5091758"/>
            <a:ext cx="4940903" cy="4822953"/>
          </a:xfrm>
          <a:noFill/>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2398026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02231F1-DE50-EC45-AA48-74A4D93AE40E}"/>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029CC25-4735-8B4A-9EF0-337481152A59}" type="slidenum">
              <a:rPr lang="en-US" altLang="zh-CN"/>
              <a:pPr eaLnBrk="1" hangingPunct="1">
                <a:spcBef>
                  <a:spcPct val="0"/>
                </a:spcBef>
              </a:pPr>
              <a:t>16</a:t>
            </a:fld>
            <a:endParaRPr lang="en-US" altLang="zh-CN"/>
          </a:p>
        </p:txBody>
      </p:sp>
      <p:sp>
        <p:nvSpPr>
          <p:cNvPr id="68611" name="Rectangle 2">
            <a:extLst>
              <a:ext uri="{FF2B5EF4-FFF2-40B4-BE49-F238E27FC236}">
                <a16:creationId xmlns:a16="http://schemas.microsoft.com/office/drawing/2014/main" id="{71BE4764-020F-314B-BE74-9D34A1E9A29F}"/>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68612" name="Rectangle 3">
            <a:extLst>
              <a:ext uri="{FF2B5EF4-FFF2-40B4-BE49-F238E27FC236}">
                <a16:creationId xmlns:a16="http://schemas.microsoft.com/office/drawing/2014/main" id="{63728889-A7F5-364F-A9E3-568FF26E3FF8}"/>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589413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689A5-98FA-6FC3-6394-598298DCEB6B}"/>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6CC31F66-7FA4-8168-8C8D-F96E9479EBC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029CC25-4735-8B4A-9EF0-337481152A59}" type="slidenum">
              <a:rPr lang="en-US" altLang="zh-CN"/>
              <a:pPr eaLnBrk="1" hangingPunct="1">
                <a:spcBef>
                  <a:spcPct val="0"/>
                </a:spcBef>
              </a:pPr>
              <a:t>17</a:t>
            </a:fld>
            <a:endParaRPr lang="en-US" altLang="zh-CN"/>
          </a:p>
        </p:txBody>
      </p:sp>
      <p:sp>
        <p:nvSpPr>
          <p:cNvPr id="68611" name="Rectangle 2">
            <a:extLst>
              <a:ext uri="{FF2B5EF4-FFF2-40B4-BE49-F238E27FC236}">
                <a16:creationId xmlns:a16="http://schemas.microsoft.com/office/drawing/2014/main" id="{88E64714-C6F2-2B9C-23CF-7479ABC0C257}"/>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68612" name="Rectangle 3">
            <a:extLst>
              <a:ext uri="{FF2B5EF4-FFF2-40B4-BE49-F238E27FC236}">
                <a16:creationId xmlns:a16="http://schemas.microsoft.com/office/drawing/2014/main" id="{4168B418-C8AE-7BF6-3F72-A2723D96398A}"/>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171537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C91C7D5D-D6D1-6040-903B-72CAD4FCA204}"/>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6B89222-3597-5F42-A392-532AA1FEE550}" type="slidenum">
              <a:rPr lang="en-US" altLang="zh-CN"/>
              <a:pPr eaLnBrk="1" hangingPunct="1">
                <a:spcBef>
                  <a:spcPct val="0"/>
                </a:spcBef>
              </a:pPr>
              <a:t>18</a:t>
            </a:fld>
            <a:endParaRPr lang="en-US" altLang="zh-CN"/>
          </a:p>
        </p:txBody>
      </p:sp>
      <p:sp>
        <p:nvSpPr>
          <p:cNvPr id="69635" name="Rectangle 2">
            <a:extLst>
              <a:ext uri="{FF2B5EF4-FFF2-40B4-BE49-F238E27FC236}">
                <a16:creationId xmlns:a16="http://schemas.microsoft.com/office/drawing/2014/main" id="{61740CB8-46FA-7748-AB5F-B04E9EC3AF79}"/>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b="1">
              <a:latin typeface="Arial" panose="020B0604020202020204" pitchFamily="34" charset="0"/>
            </a:endParaRPr>
          </a:p>
        </p:txBody>
      </p:sp>
      <p:sp>
        <p:nvSpPr>
          <p:cNvPr id="69636" name="Rectangle 3">
            <a:extLst>
              <a:ext uri="{FF2B5EF4-FFF2-40B4-BE49-F238E27FC236}">
                <a16:creationId xmlns:a16="http://schemas.microsoft.com/office/drawing/2014/main" id="{C40564D6-ABE0-5840-852F-21D94B7A08E2}"/>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348158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D152AA2D-9FF1-FA41-9300-A39030A5B6A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298E4286-ED1F-C643-9D89-48433DBED519}" type="slidenum">
              <a:rPr lang="en-US" altLang="zh-CN"/>
              <a:pPr eaLnBrk="1" hangingPunct="1">
                <a:spcBef>
                  <a:spcPct val="0"/>
                </a:spcBef>
              </a:pPr>
              <a:t>19</a:t>
            </a:fld>
            <a:endParaRPr lang="en-US" altLang="zh-CN"/>
          </a:p>
        </p:txBody>
      </p:sp>
      <p:sp>
        <p:nvSpPr>
          <p:cNvPr id="70659" name="Rectangle 2">
            <a:extLst>
              <a:ext uri="{FF2B5EF4-FFF2-40B4-BE49-F238E27FC236}">
                <a16:creationId xmlns:a16="http://schemas.microsoft.com/office/drawing/2014/main" id="{C26CE8A8-BE4A-BB46-AC42-17C575E792B3}"/>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0660" name="Rectangle 3">
            <a:extLst>
              <a:ext uri="{FF2B5EF4-FFF2-40B4-BE49-F238E27FC236}">
                <a16:creationId xmlns:a16="http://schemas.microsoft.com/office/drawing/2014/main" id="{EE988120-4382-3E47-89CB-3AD5AD20B24C}"/>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177261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C3C16DF7-0882-FF41-A233-3B88D0CF3444}"/>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4FA812E-8748-3C4A-AC99-1B0804AF3FC7}" type="slidenum">
              <a:rPr lang="en-US" altLang="zh-CN"/>
              <a:pPr eaLnBrk="1" hangingPunct="1">
                <a:spcBef>
                  <a:spcPct val="0"/>
                </a:spcBef>
              </a:pPr>
              <a:t>36</a:t>
            </a:fld>
            <a:endParaRPr lang="en-US" altLang="zh-CN"/>
          </a:p>
        </p:txBody>
      </p:sp>
      <p:sp>
        <p:nvSpPr>
          <p:cNvPr id="71683" name="Rectangle 2">
            <a:extLst>
              <a:ext uri="{FF2B5EF4-FFF2-40B4-BE49-F238E27FC236}">
                <a16:creationId xmlns:a16="http://schemas.microsoft.com/office/drawing/2014/main" id="{9939A7F8-33BA-4A48-8F94-24D6C12C5ECC}"/>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1684" name="Rectangle 3">
            <a:extLst>
              <a:ext uri="{FF2B5EF4-FFF2-40B4-BE49-F238E27FC236}">
                <a16:creationId xmlns:a16="http://schemas.microsoft.com/office/drawing/2014/main" id="{26AAA067-D85E-A444-865D-922F564AC645}"/>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483051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69BE-E7E1-B54A-4C85-092EE90FE0F1}"/>
            </a:ext>
          </a:extLst>
        </p:cNvPr>
        <p:cNvGrpSpPr/>
        <p:nvPr/>
      </p:nvGrpSpPr>
      <p:grpSpPr>
        <a:xfrm>
          <a:off x="0" y="0"/>
          <a:ext cx="0" cy="0"/>
          <a:chOff x="0" y="0"/>
          <a:chExt cx="0" cy="0"/>
        </a:xfrm>
      </p:grpSpPr>
      <p:sp>
        <p:nvSpPr>
          <p:cNvPr id="71682" name="Rectangle 7">
            <a:extLst>
              <a:ext uri="{FF2B5EF4-FFF2-40B4-BE49-F238E27FC236}">
                <a16:creationId xmlns:a16="http://schemas.microsoft.com/office/drawing/2014/main" id="{81ACAEB6-3DBC-113E-63EC-ACAA62086D3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4FA812E-8748-3C4A-AC99-1B0804AF3FC7}" type="slidenum">
              <a:rPr lang="en-US" altLang="zh-CN"/>
              <a:pPr eaLnBrk="1" hangingPunct="1">
                <a:spcBef>
                  <a:spcPct val="0"/>
                </a:spcBef>
              </a:pPr>
              <a:t>37</a:t>
            </a:fld>
            <a:endParaRPr lang="en-US" altLang="zh-CN"/>
          </a:p>
        </p:txBody>
      </p:sp>
      <p:sp>
        <p:nvSpPr>
          <p:cNvPr id="71683" name="Rectangle 2">
            <a:extLst>
              <a:ext uri="{FF2B5EF4-FFF2-40B4-BE49-F238E27FC236}">
                <a16:creationId xmlns:a16="http://schemas.microsoft.com/office/drawing/2014/main" id="{2409F35E-3389-F672-5BC4-EA424AFB0224}"/>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1684" name="Rectangle 3">
            <a:extLst>
              <a:ext uri="{FF2B5EF4-FFF2-40B4-BE49-F238E27FC236}">
                <a16:creationId xmlns:a16="http://schemas.microsoft.com/office/drawing/2014/main" id="{98A1CBDA-B5F5-DD2F-916B-0A068E45213D}"/>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549411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8BCA-D8CD-7E48-487A-7F7DC327E3D5}"/>
            </a:ext>
          </a:extLst>
        </p:cNvPr>
        <p:cNvGrpSpPr/>
        <p:nvPr/>
      </p:nvGrpSpPr>
      <p:grpSpPr>
        <a:xfrm>
          <a:off x="0" y="0"/>
          <a:ext cx="0" cy="0"/>
          <a:chOff x="0" y="0"/>
          <a:chExt cx="0" cy="0"/>
        </a:xfrm>
      </p:grpSpPr>
      <p:sp>
        <p:nvSpPr>
          <p:cNvPr id="71682" name="Rectangle 7">
            <a:extLst>
              <a:ext uri="{FF2B5EF4-FFF2-40B4-BE49-F238E27FC236}">
                <a16:creationId xmlns:a16="http://schemas.microsoft.com/office/drawing/2014/main" id="{9295C898-9F8C-97DF-B967-647EC0407A0A}"/>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4FA812E-8748-3C4A-AC99-1B0804AF3FC7}" type="slidenum">
              <a:rPr lang="en-US" altLang="zh-CN"/>
              <a:pPr eaLnBrk="1" hangingPunct="1">
                <a:spcBef>
                  <a:spcPct val="0"/>
                </a:spcBef>
              </a:pPr>
              <a:t>38</a:t>
            </a:fld>
            <a:endParaRPr lang="en-US" altLang="zh-CN"/>
          </a:p>
        </p:txBody>
      </p:sp>
      <p:sp>
        <p:nvSpPr>
          <p:cNvPr id="71683" name="Rectangle 2">
            <a:extLst>
              <a:ext uri="{FF2B5EF4-FFF2-40B4-BE49-F238E27FC236}">
                <a16:creationId xmlns:a16="http://schemas.microsoft.com/office/drawing/2014/main" id="{23B1EF8F-FAFA-F3C0-5609-CC8114E7D696}"/>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1684" name="Rectangle 3">
            <a:extLst>
              <a:ext uri="{FF2B5EF4-FFF2-40B4-BE49-F238E27FC236}">
                <a16:creationId xmlns:a16="http://schemas.microsoft.com/office/drawing/2014/main" id="{44ED9470-994C-C076-49D7-23062A922C2F}"/>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835316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7643F83-DAD8-EDB5-C33B-381A9CC2B54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36BA9B-DC79-4D0F-BC68-C3F01AC4749C}" type="slidenum">
              <a:rPr lang="en-US" altLang="en-US"/>
              <a:pPr>
                <a:spcBef>
                  <a:spcPct val="0"/>
                </a:spcBef>
              </a:pPr>
              <a:t>39</a:t>
            </a:fld>
            <a:endParaRPr lang="en-US" altLang="en-US"/>
          </a:p>
        </p:txBody>
      </p:sp>
      <p:sp>
        <p:nvSpPr>
          <p:cNvPr id="60419" name="Rectangle 2">
            <a:extLst>
              <a:ext uri="{FF2B5EF4-FFF2-40B4-BE49-F238E27FC236}">
                <a16:creationId xmlns:a16="http://schemas.microsoft.com/office/drawing/2014/main" id="{88AB630D-DFF5-0DF2-E4A4-4169C8540205}"/>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0E7DCFCA-B361-6AAB-ABC0-F2E570A17F8C}"/>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D4622DA-126F-1B36-40EB-F18B985EB4B8}"/>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8BDC6D6-6917-4FCD-9AC9-CC0EECE37A01}" type="slidenum">
              <a:rPr lang="en-US" altLang="en-US"/>
              <a:pPr>
                <a:spcBef>
                  <a:spcPct val="0"/>
                </a:spcBef>
              </a:pPr>
              <a:t>40</a:t>
            </a:fld>
            <a:endParaRPr lang="en-US" altLang="en-US"/>
          </a:p>
        </p:txBody>
      </p:sp>
      <p:sp>
        <p:nvSpPr>
          <p:cNvPr id="61443" name="Rectangle 2">
            <a:extLst>
              <a:ext uri="{FF2B5EF4-FFF2-40B4-BE49-F238E27FC236}">
                <a16:creationId xmlns:a16="http://schemas.microsoft.com/office/drawing/2014/main" id="{F86B95A0-2A0A-5FC8-CE36-926C96F663E4}"/>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59AA4CF7-48BE-8E12-0A76-56A6AE0A3743}"/>
              </a:ext>
            </a:extLst>
          </p:cNvPr>
          <p:cNvSpPr>
            <a:spLocks noGrp="1" noChangeArrowheads="1"/>
          </p:cNvSpPr>
          <p:nvPr>
            <p:ph type="body" idx="1"/>
          </p:nvPr>
        </p:nvSpPr>
        <p:spPr>
          <a:noFill/>
        </p:spPr>
        <p:txBody>
          <a:bodyPr/>
          <a:lstStyle/>
          <a:p>
            <a:pPr marL="228600" indent="-228600"/>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B22FCE6-07BF-B8B7-F905-72AFC96CB01D}"/>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318892-B1C3-46D0-A4D8-0BAF9674FD17}" type="slidenum">
              <a:rPr lang="en-US" altLang="en-US"/>
              <a:pPr>
                <a:spcBef>
                  <a:spcPct val="0"/>
                </a:spcBef>
              </a:pPr>
              <a:t>41</a:t>
            </a:fld>
            <a:endParaRPr lang="en-US" altLang="en-US"/>
          </a:p>
        </p:txBody>
      </p:sp>
      <p:sp>
        <p:nvSpPr>
          <p:cNvPr id="62467" name="Rectangle 2">
            <a:extLst>
              <a:ext uri="{FF2B5EF4-FFF2-40B4-BE49-F238E27FC236}">
                <a16:creationId xmlns:a16="http://schemas.microsoft.com/office/drawing/2014/main" id="{CB7C192B-F146-FBE4-6F0D-2CEB40C1A3E0}"/>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6669360-B7D5-477F-E5DB-B7E7D9F2AD0F}"/>
              </a:ext>
            </a:extLst>
          </p:cNvPr>
          <p:cNvSpPr>
            <a:spLocks noGrp="1" noChangeArrowheads="1"/>
          </p:cNvSpPr>
          <p:nvPr>
            <p:ph type="body" idx="1"/>
          </p:nvPr>
        </p:nvSpPr>
        <p:spPr>
          <a:noFill/>
        </p:spPr>
        <p:txBody>
          <a:bodyPr/>
          <a:lstStyle/>
          <a:p>
            <a:pPr marL="228600" indent="-228600">
              <a:buFontTx/>
              <a:buAutoNum type="arabicPeriod" startAt="3"/>
            </a:pPr>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CCAC5671-2D1B-2353-B1C2-C616FFA69C57}"/>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0F14D5-DE5D-4719-8159-19544214B524}" type="slidenum">
              <a:rPr lang="en-US" altLang="en-US"/>
              <a:pPr>
                <a:spcBef>
                  <a:spcPct val="0"/>
                </a:spcBef>
              </a:pPr>
              <a:t>42</a:t>
            </a:fld>
            <a:endParaRPr lang="en-US" altLang="en-US"/>
          </a:p>
        </p:txBody>
      </p:sp>
      <p:sp>
        <p:nvSpPr>
          <p:cNvPr id="63491" name="Rectangle 2">
            <a:extLst>
              <a:ext uri="{FF2B5EF4-FFF2-40B4-BE49-F238E27FC236}">
                <a16:creationId xmlns:a16="http://schemas.microsoft.com/office/drawing/2014/main" id="{74492AA4-F603-C195-02DE-395FAA61F15A}"/>
              </a:ext>
            </a:extLst>
          </p:cNvPr>
          <p:cNvSpPr>
            <a:spLocks noGrp="1" noChangeArrowheads="1"/>
          </p:cNvSpPr>
          <p:nvPr>
            <p:ph type="body" idx="1"/>
          </p:nvPr>
        </p:nvSpPr>
        <p:spPr>
          <a:xfrm>
            <a:off x="904784" y="4712676"/>
            <a:ext cx="4986535" cy="446627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a:endParaRPr lang="en-US" altLang="en-US">
              <a:latin typeface="Times New Roman" panose="02020603050405020304" pitchFamily="18" charset="0"/>
            </a:endParaRPr>
          </a:p>
        </p:txBody>
      </p:sp>
      <p:sp>
        <p:nvSpPr>
          <p:cNvPr id="63492" name="Rectangle 3">
            <a:extLst>
              <a:ext uri="{FF2B5EF4-FFF2-40B4-BE49-F238E27FC236}">
                <a16:creationId xmlns:a16="http://schemas.microsoft.com/office/drawing/2014/main" id="{C854CA2C-863B-67F9-38DD-0205225684C9}"/>
              </a:ext>
            </a:extLst>
          </p:cNvPr>
          <p:cNvSpPr>
            <a:spLocks noGrp="1" noRot="1" noChangeAspect="1" noChangeArrowheads="1" noTextEdit="1"/>
          </p:cNvSpPr>
          <p:nvPr>
            <p:ph type="sldImg"/>
          </p:nvPr>
        </p:nvSpPr>
        <p:spPr>
          <a:xfrm>
            <a:off x="103188" y="750888"/>
            <a:ext cx="6591300" cy="3708400"/>
          </a:xfrm>
          <a:ln w="12700" cap="flat">
            <a:solidFill>
              <a:schemeClr val="tx1"/>
            </a:solid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52D0E54C-529B-C143-AEF4-710072C942BF}"/>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9633C3D7-8411-2641-8971-BCF4DEC0699F}" type="slidenum">
              <a:rPr lang="en-US" altLang="zh-CN"/>
              <a:pPr eaLnBrk="1" hangingPunct="1">
                <a:spcBef>
                  <a:spcPct val="0"/>
                </a:spcBef>
              </a:pPr>
              <a:t>43</a:t>
            </a:fld>
            <a:endParaRPr lang="en-US" altLang="zh-CN"/>
          </a:p>
        </p:txBody>
      </p:sp>
      <p:sp>
        <p:nvSpPr>
          <p:cNvPr id="76803" name="Rectangle 2">
            <a:extLst>
              <a:ext uri="{FF2B5EF4-FFF2-40B4-BE49-F238E27FC236}">
                <a16:creationId xmlns:a16="http://schemas.microsoft.com/office/drawing/2014/main" id="{354A9BF3-345F-F045-99B6-B8E14AFA1B9A}"/>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6804" name="Rectangle 3">
            <a:extLst>
              <a:ext uri="{FF2B5EF4-FFF2-40B4-BE49-F238E27FC236}">
                <a16:creationId xmlns:a16="http://schemas.microsoft.com/office/drawing/2014/main" id="{75709D1B-732D-5C4A-80E7-5718DE4DA530}"/>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851497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A627FA3E-665F-6703-E216-FA5DADB13C9C}"/>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BCA828-C5DC-4552-9D15-A00AF368BF8F}" type="slidenum">
              <a:rPr lang="en-US" altLang="en-US"/>
              <a:pPr>
                <a:spcBef>
                  <a:spcPct val="0"/>
                </a:spcBef>
              </a:pPr>
              <a:t>44</a:t>
            </a:fld>
            <a:endParaRPr lang="en-US" altLang="en-US"/>
          </a:p>
        </p:txBody>
      </p:sp>
      <p:sp>
        <p:nvSpPr>
          <p:cNvPr id="65539" name="Rectangle 2">
            <a:extLst>
              <a:ext uri="{FF2B5EF4-FFF2-40B4-BE49-F238E27FC236}">
                <a16:creationId xmlns:a16="http://schemas.microsoft.com/office/drawing/2014/main" id="{989E73D4-6544-F522-2DC5-2650B8CE415C}"/>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99BE982F-3278-C7FB-E0DF-E9F63E59082F}"/>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827F4-1821-354F-6011-11AD2C91630D}"/>
            </a:ext>
          </a:extLst>
        </p:cNvPr>
        <p:cNvGrpSpPr/>
        <p:nvPr/>
      </p:nvGrpSpPr>
      <p:grpSpPr>
        <a:xfrm>
          <a:off x="0" y="0"/>
          <a:ext cx="0" cy="0"/>
          <a:chOff x="0" y="0"/>
          <a:chExt cx="0" cy="0"/>
        </a:xfrm>
      </p:grpSpPr>
      <p:sp>
        <p:nvSpPr>
          <p:cNvPr id="71682" name="Rectangle 7">
            <a:extLst>
              <a:ext uri="{FF2B5EF4-FFF2-40B4-BE49-F238E27FC236}">
                <a16:creationId xmlns:a16="http://schemas.microsoft.com/office/drawing/2014/main" id="{629DA049-0EA2-DDCE-86A1-DF6EB5A99383}"/>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4FA812E-8748-3C4A-AC99-1B0804AF3FC7}" type="slidenum">
              <a:rPr lang="en-US" altLang="zh-CN"/>
              <a:pPr eaLnBrk="1" hangingPunct="1">
                <a:spcBef>
                  <a:spcPct val="0"/>
                </a:spcBef>
              </a:pPr>
              <a:t>45</a:t>
            </a:fld>
            <a:endParaRPr lang="en-US" altLang="zh-CN"/>
          </a:p>
        </p:txBody>
      </p:sp>
      <p:sp>
        <p:nvSpPr>
          <p:cNvPr id="71683" name="Rectangle 2">
            <a:extLst>
              <a:ext uri="{FF2B5EF4-FFF2-40B4-BE49-F238E27FC236}">
                <a16:creationId xmlns:a16="http://schemas.microsoft.com/office/drawing/2014/main" id="{3FA2356D-0FBF-BE73-6352-62150039EA3F}"/>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1684" name="Rectangle 3">
            <a:extLst>
              <a:ext uri="{FF2B5EF4-FFF2-40B4-BE49-F238E27FC236}">
                <a16:creationId xmlns:a16="http://schemas.microsoft.com/office/drawing/2014/main" id="{656A549B-F36F-93F7-7397-2AFF36FAE621}"/>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4210742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A0BB38C1-9709-894E-8825-E6E92562182F}"/>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4CD3F4-B815-D041-B228-1FC18CDA106B}" type="slidenum">
              <a:rPr lang="en-US" altLang="en-US"/>
              <a:pPr>
                <a:spcBef>
                  <a:spcPct val="0"/>
                </a:spcBef>
              </a:pPr>
              <a:t>46</a:t>
            </a:fld>
            <a:endParaRPr lang="en-US" altLang="en-US"/>
          </a:p>
        </p:txBody>
      </p:sp>
      <p:sp>
        <p:nvSpPr>
          <p:cNvPr id="76803" name="Rectangle 2">
            <a:extLst>
              <a:ext uri="{FF2B5EF4-FFF2-40B4-BE49-F238E27FC236}">
                <a16:creationId xmlns:a16="http://schemas.microsoft.com/office/drawing/2014/main" id="{B94B5028-C7EA-4E46-AE1F-048CCB68F3A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7D9F9C70-6B39-C543-BCE6-880C3F6D9C28}"/>
              </a:ext>
            </a:extLst>
          </p:cNvPr>
          <p:cNvSpPr>
            <a:spLocks noGrp="1" noChangeArrowheads="1"/>
          </p:cNvSpPr>
          <p:nvPr>
            <p:ph type="body" idx="1"/>
          </p:nvPr>
        </p:nvSpPr>
        <p:spPr>
          <a:noFill/>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434908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4F253AED-B7E2-2749-9D61-277D10E2D8B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5739A0F3-BF7F-7046-9393-BCAE8ECB4554}" type="slidenum">
              <a:rPr lang="en-US" altLang="zh-CN"/>
              <a:pPr eaLnBrk="1" hangingPunct="1">
                <a:spcBef>
                  <a:spcPct val="0"/>
                </a:spcBef>
              </a:pPr>
              <a:t>47</a:t>
            </a:fld>
            <a:endParaRPr lang="en-US" altLang="zh-CN"/>
          </a:p>
        </p:txBody>
      </p:sp>
      <p:sp>
        <p:nvSpPr>
          <p:cNvPr id="77827" name="Rectangle 2">
            <a:extLst>
              <a:ext uri="{FF2B5EF4-FFF2-40B4-BE49-F238E27FC236}">
                <a16:creationId xmlns:a16="http://schemas.microsoft.com/office/drawing/2014/main" id="{298B70D9-18E3-FC44-B390-C6F46B464F01}"/>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7828" name="Rectangle 3">
            <a:extLst>
              <a:ext uri="{FF2B5EF4-FFF2-40B4-BE49-F238E27FC236}">
                <a16:creationId xmlns:a16="http://schemas.microsoft.com/office/drawing/2014/main" id="{75C492A0-1BF7-A948-8E5F-83FAAA77C2A8}"/>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563585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4880E541-90F1-B349-AB8B-765A79FD169B}"/>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66F91477-4275-3C4B-A115-6C9EE9E5FA23}" type="slidenum">
              <a:rPr lang="en-US" altLang="zh-CN"/>
              <a:pPr eaLnBrk="1" hangingPunct="1">
                <a:spcBef>
                  <a:spcPct val="0"/>
                </a:spcBef>
              </a:pPr>
              <a:t>48</a:t>
            </a:fld>
            <a:endParaRPr lang="en-US" altLang="zh-CN"/>
          </a:p>
        </p:txBody>
      </p:sp>
      <p:sp>
        <p:nvSpPr>
          <p:cNvPr id="78851" name="Rectangle 2">
            <a:extLst>
              <a:ext uri="{FF2B5EF4-FFF2-40B4-BE49-F238E27FC236}">
                <a16:creationId xmlns:a16="http://schemas.microsoft.com/office/drawing/2014/main" id="{530FE14A-C860-9545-B6C4-D829CDD54CA3}"/>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8852" name="Rectangle 3">
            <a:extLst>
              <a:ext uri="{FF2B5EF4-FFF2-40B4-BE49-F238E27FC236}">
                <a16:creationId xmlns:a16="http://schemas.microsoft.com/office/drawing/2014/main" id="{7E4382DF-29C1-D54E-A59A-447F87916780}"/>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446507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B8E4A48-3483-BE66-C425-C581C97F34BB}"/>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CB8E2F5-6537-4C30-BD85-846006E6E88A}" type="slidenum">
              <a:rPr lang="en-US" altLang="en-US"/>
              <a:pPr>
                <a:spcBef>
                  <a:spcPct val="0"/>
                </a:spcBef>
              </a:pPr>
              <a:t>50</a:t>
            </a:fld>
            <a:endParaRPr lang="en-US" altLang="en-US"/>
          </a:p>
        </p:txBody>
      </p:sp>
      <p:sp>
        <p:nvSpPr>
          <p:cNvPr id="67587" name="Rectangle 2">
            <a:extLst>
              <a:ext uri="{FF2B5EF4-FFF2-40B4-BE49-F238E27FC236}">
                <a16:creationId xmlns:a16="http://schemas.microsoft.com/office/drawing/2014/main" id="{91AE8BAC-AE78-CC86-7499-D2A44D34E15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20286B4-2D50-0D50-E69C-0B07F070C363}"/>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8A2DD51-CE56-C332-B69B-F7C527C8042C}"/>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838E35-1F29-46DB-868D-B2BFF7A81876}" type="slidenum">
              <a:rPr lang="en-US" altLang="en-US"/>
              <a:pPr>
                <a:spcBef>
                  <a:spcPct val="0"/>
                </a:spcBef>
              </a:pPr>
              <a:t>51</a:t>
            </a:fld>
            <a:endParaRPr lang="en-US" altLang="en-US"/>
          </a:p>
        </p:txBody>
      </p:sp>
      <p:sp>
        <p:nvSpPr>
          <p:cNvPr id="68611" name="Rectangle 2">
            <a:extLst>
              <a:ext uri="{FF2B5EF4-FFF2-40B4-BE49-F238E27FC236}">
                <a16:creationId xmlns:a16="http://schemas.microsoft.com/office/drawing/2014/main" id="{E4317D75-F03C-7925-E461-27D577F064B9}"/>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B1E66ABA-5E6D-ED4E-4C0B-2C1A92CF27BF}"/>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3311A-88DF-E000-5D18-235A72C901F9}"/>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7BA4E62B-169D-E445-AA23-B860B9D444F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838E35-1F29-46DB-868D-B2BFF7A81876}" type="slidenum">
              <a:rPr lang="en-US" altLang="en-US"/>
              <a:pPr>
                <a:spcBef>
                  <a:spcPct val="0"/>
                </a:spcBef>
              </a:pPr>
              <a:t>52</a:t>
            </a:fld>
            <a:endParaRPr lang="en-US" altLang="en-US"/>
          </a:p>
        </p:txBody>
      </p:sp>
      <p:sp>
        <p:nvSpPr>
          <p:cNvPr id="68611" name="Rectangle 2">
            <a:extLst>
              <a:ext uri="{FF2B5EF4-FFF2-40B4-BE49-F238E27FC236}">
                <a16:creationId xmlns:a16="http://schemas.microsoft.com/office/drawing/2014/main" id="{2DBE5AD7-61A9-2B31-18EC-A81A36AA37B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E93DCB5E-E1DA-C7B6-6CBB-3EB566C27C55}"/>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575551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120DF-03BB-5DC9-6C8E-067608B91901}"/>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C39EE79E-4783-9531-8456-A4AE14D2B95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838E35-1F29-46DB-868D-B2BFF7A81876}" type="slidenum">
              <a:rPr lang="en-US" altLang="en-US"/>
              <a:pPr>
                <a:spcBef>
                  <a:spcPct val="0"/>
                </a:spcBef>
              </a:pPr>
              <a:t>53</a:t>
            </a:fld>
            <a:endParaRPr lang="en-US" altLang="en-US"/>
          </a:p>
        </p:txBody>
      </p:sp>
      <p:sp>
        <p:nvSpPr>
          <p:cNvPr id="68611" name="Rectangle 2">
            <a:extLst>
              <a:ext uri="{FF2B5EF4-FFF2-40B4-BE49-F238E27FC236}">
                <a16:creationId xmlns:a16="http://schemas.microsoft.com/office/drawing/2014/main" id="{59881EA1-326A-627D-E5EA-42AC609D9E48}"/>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6AA7BE53-A01E-5AF5-134D-2017B0F5FCF5}"/>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305813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E64A-63A9-C930-6541-1267FE122EE4}"/>
            </a:ext>
          </a:extLst>
        </p:cNvPr>
        <p:cNvGrpSpPr/>
        <p:nvPr/>
      </p:nvGrpSpPr>
      <p:grpSpPr>
        <a:xfrm>
          <a:off x="0" y="0"/>
          <a:ext cx="0" cy="0"/>
          <a:chOff x="0" y="0"/>
          <a:chExt cx="0" cy="0"/>
        </a:xfrm>
      </p:grpSpPr>
      <p:sp>
        <p:nvSpPr>
          <p:cNvPr id="68610" name="Rectangle 7">
            <a:extLst>
              <a:ext uri="{FF2B5EF4-FFF2-40B4-BE49-F238E27FC236}">
                <a16:creationId xmlns:a16="http://schemas.microsoft.com/office/drawing/2014/main" id="{ACC0E4CD-0B12-07DE-3961-1E92480D1ADA}"/>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838E35-1F29-46DB-868D-B2BFF7A81876}" type="slidenum">
              <a:rPr lang="en-US" altLang="en-US"/>
              <a:pPr>
                <a:spcBef>
                  <a:spcPct val="0"/>
                </a:spcBef>
              </a:pPr>
              <a:t>54</a:t>
            </a:fld>
            <a:endParaRPr lang="en-US" altLang="en-US"/>
          </a:p>
        </p:txBody>
      </p:sp>
      <p:sp>
        <p:nvSpPr>
          <p:cNvPr id="68611" name="Rectangle 2">
            <a:extLst>
              <a:ext uri="{FF2B5EF4-FFF2-40B4-BE49-F238E27FC236}">
                <a16:creationId xmlns:a16="http://schemas.microsoft.com/office/drawing/2014/main" id="{DD21E4D9-DFD3-5910-5662-DDA7622B7295}"/>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284603DA-C6D6-852A-6E12-70B05BB7F8F1}"/>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177756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34E3D59-FD7F-DA6F-60C0-EF8992FA4E21}"/>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3FAAF1C-E12E-49F5-8A06-D7C8D2C8F594}" type="slidenum">
              <a:rPr lang="en-US" altLang="en-US"/>
              <a:pPr>
                <a:spcBef>
                  <a:spcPct val="0"/>
                </a:spcBef>
              </a:pPr>
              <a:t>55</a:t>
            </a:fld>
            <a:endParaRPr lang="en-US" altLang="en-US"/>
          </a:p>
        </p:txBody>
      </p:sp>
      <p:sp>
        <p:nvSpPr>
          <p:cNvPr id="70659" name="Rectangle 2">
            <a:extLst>
              <a:ext uri="{FF2B5EF4-FFF2-40B4-BE49-F238E27FC236}">
                <a16:creationId xmlns:a16="http://schemas.microsoft.com/office/drawing/2014/main" id="{13CAEDE7-5778-3F87-EEDA-C827B7D04154}"/>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8CFA8884-F8C0-1FBD-1E43-3D098D18BA21}"/>
              </a:ext>
            </a:extLst>
          </p:cNvPr>
          <p:cNvSpPr>
            <a:spLocks noGrp="1" noChangeArrowheads="1"/>
          </p:cNvSpPr>
          <p:nvPr>
            <p:ph type="body" idx="1"/>
          </p:nvPr>
        </p:nvSpPr>
        <p:spPr>
          <a:noFill/>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5A318-D61E-4044-CD60-D360867FF2BD}"/>
            </a:ext>
          </a:extLst>
        </p:cNvPr>
        <p:cNvGrpSpPr/>
        <p:nvPr/>
      </p:nvGrpSpPr>
      <p:grpSpPr>
        <a:xfrm>
          <a:off x="0" y="0"/>
          <a:ext cx="0" cy="0"/>
          <a:chOff x="0" y="0"/>
          <a:chExt cx="0" cy="0"/>
        </a:xfrm>
      </p:grpSpPr>
      <p:sp>
        <p:nvSpPr>
          <p:cNvPr id="71682" name="Rectangle 7">
            <a:extLst>
              <a:ext uri="{FF2B5EF4-FFF2-40B4-BE49-F238E27FC236}">
                <a16:creationId xmlns:a16="http://schemas.microsoft.com/office/drawing/2014/main" id="{077270D4-326C-AD95-42B2-504A9FE3F914}"/>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4FA812E-8748-3C4A-AC99-1B0804AF3FC7}" type="slidenum">
              <a:rPr lang="en-US" altLang="zh-CN"/>
              <a:pPr eaLnBrk="1" hangingPunct="1">
                <a:spcBef>
                  <a:spcPct val="0"/>
                </a:spcBef>
              </a:pPr>
              <a:t>56</a:t>
            </a:fld>
            <a:endParaRPr lang="en-US" altLang="zh-CN"/>
          </a:p>
        </p:txBody>
      </p:sp>
      <p:sp>
        <p:nvSpPr>
          <p:cNvPr id="71683" name="Rectangle 2">
            <a:extLst>
              <a:ext uri="{FF2B5EF4-FFF2-40B4-BE49-F238E27FC236}">
                <a16:creationId xmlns:a16="http://schemas.microsoft.com/office/drawing/2014/main" id="{D5AC34E0-A160-C7A4-0E20-EA74E03B728D}"/>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71684" name="Rectangle 3">
            <a:extLst>
              <a:ext uri="{FF2B5EF4-FFF2-40B4-BE49-F238E27FC236}">
                <a16:creationId xmlns:a16="http://schemas.microsoft.com/office/drawing/2014/main" id="{5EC1B766-4AD3-E6F4-FEA5-E87BDC9A03B8}"/>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945039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60C5209-24F5-7A4B-83F4-0A9977BEFD6F}"/>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CCAD766E-ECB7-5B44-9620-2DB4EFE0AE45}" type="slidenum">
              <a:rPr lang="en-US" altLang="zh-CN"/>
              <a:pPr eaLnBrk="1" hangingPunct="1">
                <a:spcBef>
                  <a:spcPct val="0"/>
                </a:spcBef>
              </a:pPr>
              <a:t>61</a:t>
            </a:fld>
            <a:endParaRPr lang="en-US" altLang="zh-CN"/>
          </a:p>
        </p:txBody>
      </p:sp>
      <p:sp>
        <p:nvSpPr>
          <p:cNvPr id="84995" name="Rectangle 2">
            <a:extLst>
              <a:ext uri="{FF2B5EF4-FFF2-40B4-BE49-F238E27FC236}">
                <a16:creationId xmlns:a16="http://schemas.microsoft.com/office/drawing/2014/main" id="{FF7478E3-64FD-044D-8980-D86686068818}"/>
              </a:ext>
            </a:extLst>
          </p:cNvPr>
          <p:cNvSpPr>
            <a:spLocks noGrp="1" noChangeArrowheads="1"/>
          </p:cNvSpPr>
          <p:nvPr>
            <p:ph type="body" idx="1"/>
          </p:nvPr>
        </p:nvSpPr>
        <p:spPr>
          <a:xfrm>
            <a:off x="898489" y="4919449"/>
            <a:ext cx="4940903" cy="4993541"/>
          </a:xfrm>
          <a:noFill/>
          <a:extLst>
            <a:ext uri="{91240B29-F687-4F45-9708-019B960494DF}">
              <a14:hiddenLine xmlns:a14="http://schemas.microsoft.com/office/drawing/2010/main" w="12700">
                <a:solidFill>
                  <a:schemeClr val="tx1"/>
                </a:solidFill>
                <a:miter lim="800000"/>
                <a:headEnd/>
                <a:tailEnd/>
              </a14:hiddenLine>
            </a:ext>
          </a:extLst>
        </p:spPr>
        <p:txBody>
          <a:bodyPr lIns="90011" tIns="44217" rIns="90011" bIns="44217"/>
          <a:lstStyle/>
          <a:p>
            <a:pPr eaLnBrk="1" hangingPunct="1"/>
            <a:endParaRPr lang="zh-TW" altLang="en-US">
              <a:latin typeface="Arial" panose="020B0604020202020204" pitchFamily="34" charset="0"/>
              <a:ea typeface="PMingLiU" panose="02020500000000000000" pitchFamily="18" charset="-120"/>
            </a:endParaRPr>
          </a:p>
        </p:txBody>
      </p:sp>
      <p:sp>
        <p:nvSpPr>
          <p:cNvPr id="84996" name="Rectangle 3">
            <a:extLst>
              <a:ext uri="{FF2B5EF4-FFF2-40B4-BE49-F238E27FC236}">
                <a16:creationId xmlns:a16="http://schemas.microsoft.com/office/drawing/2014/main" id="{18A8B51E-BA5E-404E-A1DE-B1328191D2EB}"/>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94916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2C76004-8E9F-7B45-B3AC-933FB866DB1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FB5EA7C9-F639-A747-8357-5F161FEAB3C1}" type="slidenum">
              <a:rPr lang="en-US" altLang="zh-CN"/>
              <a:pPr eaLnBrk="1" hangingPunct="1">
                <a:spcBef>
                  <a:spcPct val="0"/>
                </a:spcBef>
              </a:pPr>
              <a:t>62</a:t>
            </a:fld>
            <a:endParaRPr lang="en-US" altLang="zh-CN"/>
          </a:p>
        </p:txBody>
      </p:sp>
      <p:sp>
        <p:nvSpPr>
          <p:cNvPr id="83971" name="Rectangle 2">
            <a:extLst>
              <a:ext uri="{FF2B5EF4-FFF2-40B4-BE49-F238E27FC236}">
                <a16:creationId xmlns:a16="http://schemas.microsoft.com/office/drawing/2014/main" id="{4B90DC44-129A-6E41-8AA3-2B4739D631C6}"/>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83972" name="Rectangle 3">
            <a:extLst>
              <a:ext uri="{FF2B5EF4-FFF2-40B4-BE49-F238E27FC236}">
                <a16:creationId xmlns:a16="http://schemas.microsoft.com/office/drawing/2014/main" id="{8E64F2A8-9FD5-AE47-A335-C9F94007B1B5}"/>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3792380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F0968BE4-D951-7A4F-B96F-B2916579E9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29D621B3-EF52-3C43-9475-B07A98AE41CA}" type="slidenum">
              <a:rPr lang="en-US" altLang="zh-CN"/>
              <a:pPr eaLnBrk="1" hangingPunct="1">
                <a:spcBef>
                  <a:spcPct val="0"/>
                </a:spcBef>
              </a:pPr>
              <a:t>65</a:t>
            </a:fld>
            <a:endParaRPr lang="en-US" altLang="zh-CN"/>
          </a:p>
        </p:txBody>
      </p:sp>
      <p:sp>
        <p:nvSpPr>
          <p:cNvPr id="86019" name="Rectangle 2">
            <a:extLst>
              <a:ext uri="{FF2B5EF4-FFF2-40B4-BE49-F238E27FC236}">
                <a16:creationId xmlns:a16="http://schemas.microsoft.com/office/drawing/2014/main" id="{BAE9CE4F-334B-7D43-95C4-007009E2A5C5}"/>
              </a:ext>
            </a:extLst>
          </p:cNvPr>
          <p:cNvSpPr>
            <a:spLocks noGrp="1" noChangeArrowheads="1"/>
          </p:cNvSpPr>
          <p:nvPr>
            <p:ph type="body" idx="1"/>
          </p:nvPr>
        </p:nvSpPr>
        <p:spPr>
          <a:xfrm>
            <a:off x="896915" y="5086588"/>
            <a:ext cx="4942477" cy="482467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86020" name="Rectangle 3">
            <a:extLst>
              <a:ext uri="{FF2B5EF4-FFF2-40B4-BE49-F238E27FC236}">
                <a16:creationId xmlns:a16="http://schemas.microsoft.com/office/drawing/2014/main" id="{C24B6DEA-3184-634C-88BD-535F5150C908}"/>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9476841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F8D86030-3E6C-4E4F-9A94-F8F203436EA7}"/>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E7D52A9-95C4-5740-8EC2-228B64E471C2}" type="slidenum">
              <a:rPr lang="en-US" altLang="zh-CN"/>
              <a:pPr eaLnBrk="1" hangingPunct="1">
                <a:spcBef>
                  <a:spcPct val="0"/>
                </a:spcBef>
              </a:pPr>
              <a:t>66</a:t>
            </a:fld>
            <a:endParaRPr lang="en-US" altLang="zh-CN"/>
          </a:p>
        </p:txBody>
      </p:sp>
      <p:sp>
        <p:nvSpPr>
          <p:cNvPr id="87043" name="Rectangle 2">
            <a:extLst>
              <a:ext uri="{FF2B5EF4-FFF2-40B4-BE49-F238E27FC236}">
                <a16:creationId xmlns:a16="http://schemas.microsoft.com/office/drawing/2014/main" id="{C2A3A39A-FD60-FF47-9C1C-AC8716497825}"/>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87044" name="Rectangle 3">
            <a:extLst>
              <a:ext uri="{FF2B5EF4-FFF2-40B4-BE49-F238E27FC236}">
                <a16:creationId xmlns:a16="http://schemas.microsoft.com/office/drawing/2014/main" id="{9A79C657-133C-1842-8BCF-8172E526C420}"/>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9009551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CEB7E-D1FD-3818-350C-956737FDED42}"/>
            </a:ext>
          </a:extLst>
        </p:cNvPr>
        <p:cNvGrpSpPr/>
        <p:nvPr/>
      </p:nvGrpSpPr>
      <p:grpSpPr>
        <a:xfrm>
          <a:off x="0" y="0"/>
          <a:ext cx="0" cy="0"/>
          <a:chOff x="0" y="0"/>
          <a:chExt cx="0" cy="0"/>
        </a:xfrm>
      </p:grpSpPr>
      <p:sp>
        <p:nvSpPr>
          <p:cNvPr id="87042" name="Rectangle 7">
            <a:extLst>
              <a:ext uri="{FF2B5EF4-FFF2-40B4-BE49-F238E27FC236}">
                <a16:creationId xmlns:a16="http://schemas.microsoft.com/office/drawing/2014/main" id="{D19427A7-A330-7458-7377-C0DC5E1FB6E0}"/>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8E7D52A9-95C4-5740-8EC2-228B64E471C2}" type="slidenum">
              <a:rPr lang="en-US" altLang="zh-CN"/>
              <a:pPr eaLnBrk="1" hangingPunct="1">
                <a:spcBef>
                  <a:spcPct val="0"/>
                </a:spcBef>
              </a:pPr>
              <a:t>67</a:t>
            </a:fld>
            <a:endParaRPr lang="en-US" altLang="zh-CN"/>
          </a:p>
        </p:txBody>
      </p:sp>
      <p:sp>
        <p:nvSpPr>
          <p:cNvPr id="87043" name="Rectangle 2">
            <a:extLst>
              <a:ext uri="{FF2B5EF4-FFF2-40B4-BE49-F238E27FC236}">
                <a16:creationId xmlns:a16="http://schemas.microsoft.com/office/drawing/2014/main" id="{0E8B0B75-0659-8F1A-E888-C12A33196B0D}"/>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87044" name="Rectangle 3">
            <a:extLst>
              <a:ext uri="{FF2B5EF4-FFF2-40B4-BE49-F238E27FC236}">
                <a16:creationId xmlns:a16="http://schemas.microsoft.com/office/drawing/2014/main" id="{89A413E9-EEE7-FB9A-0592-0F2FF12767D8}"/>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181109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0CDD9215-F4CA-F14E-B8C9-268F40B7EA83}"/>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69</a:t>
            </a:fld>
            <a:endParaRPr lang="en-US" altLang="zh-CN"/>
          </a:p>
        </p:txBody>
      </p:sp>
      <p:sp>
        <p:nvSpPr>
          <p:cNvPr id="91139" name="Rectangle 2">
            <a:extLst>
              <a:ext uri="{FF2B5EF4-FFF2-40B4-BE49-F238E27FC236}">
                <a16:creationId xmlns:a16="http://schemas.microsoft.com/office/drawing/2014/main" id="{08F5F646-DAFA-B048-BBAA-C55C41F593E9}"/>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F91D1538-6FB8-9D4D-B306-04C203110DD5}"/>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6967614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78B2-EFE1-DF0D-816C-177FBF2A6ED1}"/>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1DDC24E3-ABE7-034F-E1D7-A63F2A77D48C}"/>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70</a:t>
            </a:fld>
            <a:endParaRPr lang="en-US" altLang="zh-CN"/>
          </a:p>
        </p:txBody>
      </p:sp>
      <p:sp>
        <p:nvSpPr>
          <p:cNvPr id="91139" name="Rectangle 2">
            <a:extLst>
              <a:ext uri="{FF2B5EF4-FFF2-40B4-BE49-F238E27FC236}">
                <a16:creationId xmlns:a16="http://schemas.microsoft.com/office/drawing/2014/main" id="{688B1475-5893-D883-BD2A-A9854CBD6417}"/>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CF930C6F-A2C8-5BDB-0BCF-26EBDD50E4CF}"/>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8378841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D96C7A6-5873-DD4E-9592-634F32D1897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299FCA51-54B6-6044-8EC2-4CBBDA2D05B9}" type="slidenum">
              <a:rPr lang="en-US" altLang="zh-CN"/>
              <a:pPr eaLnBrk="1" hangingPunct="1">
                <a:spcBef>
                  <a:spcPct val="0"/>
                </a:spcBef>
              </a:pPr>
              <a:t>71</a:t>
            </a:fld>
            <a:endParaRPr lang="en-US" altLang="zh-CN"/>
          </a:p>
        </p:txBody>
      </p:sp>
      <p:sp>
        <p:nvSpPr>
          <p:cNvPr id="90115" name="Rectangle 2">
            <a:extLst>
              <a:ext uri="{FF2B5EF4-FFF2-40B4-BE49-F238E27FC236}">
                <a16:creationId xmlns:a16="http://schemas.microsoft.com/office/drawing/2014/main" id="{B74410C6-5AB2-454A-8468-4C370E363043}"/>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90116" name="Rectangle 3">
            <a:extLst>
              <a:ext uri="{FF2B5EF4-FFF2-40B4-BE49-F238E27FC236}">
                <a16:creationId xmlns:a16="http://schemas.microsoft.com/office/drawing/2014/main" id="{7CEB3E07-8DCC-554C-9A7E-7AEFC9E3E13B}"/>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1041195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46F28-7058-E779-0761-8A47B0231912}"/>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BF37F8F0-E947-3136-DBFE-A92689D7ECDE}"/>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72</a:t>
            </a:fld>
            <a:endParaRPr lang="en-US" altLang="zh-CN"/>
          </a:p>
        </p:txBody>
      </p:sp>
      <p:sp>
        <p:nvSpPr>
          <p:cNvPr id="91139" name="Rectangle 2">
            <a:extLst>
              <a:ext uri="{FF2B5EF4-FFF2-40B4-BE49-F238E27FC236}">
                <a16:creationId xmlns:a16="http://schemas.microsoft.com/office/drawing/2014/main" id="{93729730-F972-D496-F468-23BD1AA3529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D76EECC3-9998-AAE6-4AA0-B871D787A0DC}"/>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8533019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57A16-25EC-99E3-02E8-882958734A5F}"/>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327E9859-A53A-724F-AC0B-B0722233D168}"/>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73</a:t>
            </a:fld>
            <a:endParaRPr lang="en-US" altLang="zh-CN"/>
          </a:p>
        </p:txBody>
      </p:sp>
      <p:sp>
        <p:nvSpPr>
          <p:cNvPr id="91139" name="Rectangle 2">
            <a:extLst>
              <a:ext uri="{FF2B5EF4-FFF2-40B4-BE49-F238E27FC236}">
                <a16:creationId xmlns:a16="http://schemas.microsoft.com/office/drawing/2014/main" id="{54FEFB19-08FB-8AC6-4189-BD09763CD221}"/>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B8E4C326-F5C8-9F83-CCA5-30C89562EA90}"/>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8209309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48CDB-A0C8-0D93-ACB4-C4042C000BF6}"/>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C6182D2-939D-7B2E-2344-9FE3CDD4E7C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8F6754F-4CC4-CC44-8750-6A917382E3EF}" type="slidenum">
              <a:rPr lang="en-US" altLang="zh-CN"/>
              <a:pPr eaLnBrk="1" hangingPunct="1">
                <a:spcBef>
                  <a:spcPct val="0"/>
                </a:spcBef>
              </a:pPr>
              <a:t>74</a:t>
            </a:fld>
            <a:endParaRPr lang="en-US" altLang="zh-CN"/>
          </a:p>
        </p:txBody>
      </p:sp>
      <p:sp>
        <p:nvSpPr>
          <p:cNvPr id="93187" name="Rectangle 2">
            <a:extLst>
              <a:ext uri="{FF2B5EF4-FFF2-40B4-BE49-F238E27FC236}">
                <a16:creationId xmlns:a16="http://schemas.microsoft.com/office/drawing/2014/main" id="{41DCE683-7617-7E50-ACD1-E9D02B6DF43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a:latin typeface="Arial" panose="020B0604020202020204" pitchFamily="34" charset="0"/>
            </a:endParaRPr>
          </a:p>
        </p:txBody>
      </p:sp>
      <p:sp>
        <p:nvSpPr>
          <p:cNvPr id="93188" name="Rectangle 3">
            <a:extLst>
              <a:ext uri="{FF2B5EF4-FFF2-40B4-BE49-F238E27FC236}">
                <a16:creationId xmlns:a16="http://schemas.microsoft.com/office/drawing/2014/main" id="{49C300BD-5A97-DEBD-0240-12CADEC5A2F6}"/>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1667344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62F1-95FA-C4C2-B5D7-DDC96671FF8A}"/>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4970BF1F-1E3B-11FB-217F-5F72F67A1C5C}"/>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8F6754F-4CC4-CC44-8750-6A917382E3EF}" type="slidenum">
              <a:rPr lang="en-US" altLang="zh-CN"/>
              <a:pPr eaLnBrk="1" hangingPunct="1">
                <a:spcBef>
                  <a:spcPct val="0"/>
                </a:spcBef>
              </a:pPr>
              <a:t>75</a:t>
            </a:fld>
            <a:endParaRPr lang="en-US" altLang="zh-CN"/>
          </a:p>
        </p:txBody>
      </p:sp>
      <p:sp>
        <p:nvSpPr>
          <p:cNvPr id="93187" name="Rectangle 2">
            <a:extLst>
              <a:ext uri="{FF2B5EF4-FFF2-40B4-BE49-F238E27FC236}">
                <a16:creationId xmlns:a16="http://schemas.microsoft.com/office/drawing/2014/main" id="{65466DA2-B273-4A20-4BA4-B062128C82D8}"/>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a:latin typeface="Arial" panose="020B0604020202020204" pitchFamily="34" charset="0"/>
            </a:endParaRPr>
          </a:p>
        </p:txBody>
      </p:sp>
      <p:sp>
        <p:nvSpPr>
          <p:cNvPr id="93188" name="Rectangle 3">
            <a:extLst>
              <a:ext uri="{FF2B5EF4-FFF2-40B4-BE49-F238E27FC236}">
                <a16:creationId xmlns:a16="http://schemas.microsoft.com/office/drawing/2014/main" id="{D3152B09-1C7A-9D23-8EA2-09CE7FE6A6C4}"/>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7461425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EC02D71-A3C6-034B-80E2-8CECE4EC5CA3}"/>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8F6754F-4CC4-CC44-8750-6A917382E3EF}" type="slidenum">
              <a:rPr lang="en-US" altLang="zh-CN"/>
              <a:pPr eaLnBrk="1" hangingPunct="1">
                <a:spcBef>
                  <a:spcPct val="0"/>
                </a:spcBef>
              </a:pPr>
              <a:t>76</a:t>
            </a:fld>
            <a:endParaRPr lang="en-US" altLang="zh-CN"/>
          </a:p>
        </p:txBody>
      </p:sp>
      <p:sp>
        <p:nvSpPr>
          <p:cNvPr id="93187" name="Rectangle 2">
            <a:extLst>
              <a:ext uri="{FF2B5EF4-FFF2-40B4-BE49-F238E27FC236}">
                <a16:creationId xmlns:a16="http://schemas.microsoft.com/office/drawing/2014/main" id="{229F41CB-888A-6840-9B65-11680E7FF2F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a:latin typeface="Arial" panose="020B0604020202020204" pitchFamily="34" charset="0"/>
            </a:endParaRPr>
          </a:p>
        </p:txBody>
      </p:sp>
      <p:sp>
        <p:nvSpPr>
          <p:cNvPr id="93188" name="Rectangle 3">
            <a:extLst>
              <a:ext uri="{FF2B5EF4-FFF2-40B4-BE49-F238E27FC236}">
                <a16:creationId xmlns:a16="http://schemas.microsoft.com/office/drawing/2014/main" id="{0299F027-D890-DF4F-82DE-F2B2A441FE8D}"/>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2693863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620BE317-23C6-C245-9464-7D66A5963DA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D9B8D46-1649-F34A-B238-F23F1711F5B1}" type="slidenum">
              <a:rPr lang="en-US" altLang="zh-CN"/>
              <a:pPr eaLnBrk="1" hangingPunct="1">
                <a:spcBef>
                  <a:spcPct val="0"/>
                </a:spcBef>
              </a:pPr>
              <a:t>79</a:t>
            </a:fld>
            <a:endParaRPr lang="en-US" altLang="zh-CN"/>
          </a:p>
        </p:txBody>
      </p:sp>
      <p:sp>
        <p:nvSpPr>
          <p:cNvPr id="94211" name="Rectangle 2">
            <a:extLst>
              <a:ext uri="{FF2B5EF4-FFF2-40B4-BE49-F238E27FC236}">
                <a16:creationId xmlns:a16="http://schemas.microsoft.com/office/drawing/2014/main" id="{8FAF3793-F40A-CA4F-ABC7-F0F155FACA44}"/>
              </a:ext>
            </a:extLst>
          </p:cNvPr>
          <p:cNvSpPr>
            <a:spLocks noGrp="1" noChangeArrowheads="1"/>
          </p:cNvSpPr>
          <p:nvPr>
            <p:ph type="body" idx="1"/>
          </p:nvPr>
        </p:nvSpPr>
        <p:spPr>
          <a:xfrm>
            <a:off x="896915" y="5086588"/>
            <a:ext cx="4942477" cy="4824677"/>
          </a:xfrm>
          <a:noFill/>
          <a:extLst>
            <a:ext uri="{91240B29-F687-4F45-9708-019B960494DF}">
              <a14:hiddenLine xmlns:a14="http://schemas.microsoft.com/office/drawing/2010/main" w="12700">
                <a:solidFill>
                  <a:schemeClr val="tx1"/>
                </a:solidFill>
                <a:miter lim="800000"/>
                <a:headEnd/>
                <a:tailEnd/>
              </a14:hiddenLine>
            </a:ext>
          </a:extLst>
        </p:spPr>
        <p:txBody>
          <a:bodyPr lIns="94141" tIns="46273" rIns="94141" bIns="46273"/>
          <a:lstStyle/>
          <a:p>
            <a:pPr defTabSz="930275" eaLnBrk="1" hangingPunct="1"/>
            <a:endParaRPr lang="en-US" altLang="zh-CN">
              <a:latin typeface="Arial" panose="020B0604020202020204" pitchFamily="34" charset="0"/>
            </a:endParaRPr>
          </a:p>
        </p:txBody>
      </p:sp>
      <p:sp>
        <p:nvSpPr>
          <p:cNvPr id="94212" name="Rectangle 3">
            <a:extLst>
              <a:ext uri="{FF2B5EF4-FFF2-40B4-BE49-F238E27FC236}">
                <a16:creationId xmlns:a16="http://schemas.microsoft.com/office/drawing/2014/main" id="{13C1E9C0-ABA2-514E-87A1-962353651806}"/>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29536188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A728E-2941-34B0-2DEA-E9775FC9697C}"/>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5A9EBC57-2FFC-8AAE-8710-6F807D6BD215}"/>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80</a:t>
            </a:fld>
            <a:endParaRPr lang="en-US" altLang="zh-CN"/>
          </a:p>
        </p:txBody>
      </p:sp>
      <p:sp>
        <p:nvSpPr>
          <p:cNvPr id="91139" name="Rectangle 2">
            <a:extLst>
              <a:ext uri="{FF2B5EF4-FFF2-40B4-BE49-F238E27FC236}">
                <a16:creationId xmlns:a16="http://schemas.microsoft.com/office/drawing/2014/main" id="{11E5638E-744C-1917-324A-68B0446C93DE}"/>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1BC985C6-25D0-8352-13F0-8B952DB4FB9B}"/>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780792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0081-D11B-26B8-EB89-0CBF03984AD4}"/>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EAB5A4E2-CB87-3EFA-9082-35198F5378EB}"/>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48F6754F-4CC4-CC44-8750-6A917382E3EF}" type="slidenum">
              <a:rPr lang="en-US" altLang="zh-CN"/>
              <a:pPr eaLnBrk="1" hangingPunct="1">
                <a:spcBef>
                  <a:spcPct val="0"/>
                </a:spcBef>
              </a:pPr>
              <a:t>81</a:t>
            </a:fld>
            <a:endParaRPr lang="en-US" altLang="zh-CN"/>
          </a:p>
        </p:txBody>
      </p:sp>
      <p:sp>
        <p:nvSpPr>
          <p:cNvPr id="93187" name="Rectangle 2">
            <a:extLst>
              <a:ext uri="{FF2B5EF4-FFF2-40B4-BE49-F238E27FC236}">
                <a16:creationId xmlns:a16="http://schemas.microsoft.com/office/drawing/2014/main" id="{E54FD7DB-23DB-A96E-8647-C7B1F3479F04}"/>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a:latin typeface="Arial" panose="020B0604020202020204" pitchFamily="34" charset="0"/>
            </a:endParaRPr>
          </a:p>
        </p:txBody>
      </p:sp>
      <p:sp>
        <p:nvSpPr>
          <p:cNvPr id="93188" name="Rectangle 3">
            <a:extLst>
              <a:ext uri="{FF2B5EF4-FFF2-40B4-BE49-F238E27FC236}">
                <a16:creationId xmlns:a16="http://schemas.microsoft.com/office/drawing/2014/main" id="{3F822CDF-E5E0-5913-89C8-04D985A4B016}"/>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4713587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AB78E-8141-66A9-ACBB-10EBD5F11F7C}"/>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9D933E93-8734-42DC-4C11-C1E361C271E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83</a:t>
            </a:fld>
            <a:endParaRPr lang="en-US" altLang="zh-CN"/>
          </a:p>
        </p:txBody>
      </p:sp>
      <p:sp>
        <p:nvSpPr>
          <p:cNvPr id="91139" name="Rectangle 2">
            <a:extLst>
              <a:ext uri="{FF2B5EF4-FFF2-40B4-BE49-F238E27FC236}">
                <a16:creationId xmlns:a16="http://schemas.microsoft.com/office/drawing/2014/main" id="{2DD95919-1CC3-698C-F392-024893A3231E}"/>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2AF6E38C-3BE3-952B-B803-F9B6EC595C85}"/>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448761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9A10-DF08-C49D-AA26-ABACA73F05B3}"/>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3D918D7A-6792-2120-84D6-FF21567DC08A}"/>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84</a:t>
            </a:fld>
            <a:endParaRPr lang="en-US" altLang="zh-CN"/>
          </a:p>
        </p:txBody>
      </p:sp>
      <p:sp>
        <p:nvSpPr>
          <p:cNvPr id="91139" name="Rectangle 2">
            <a:extLst>
              <a:ext uri="{FF2B5EF4-FFF2-40B4-BE49-F238E27FC236}">
                <a16:creationId xmlns:a16="http://schemas.microsoft.com/office/drawing/2014/main" id="{83BDFDAE-8DA5-C9EE-00D1-9347D3E48528}"/>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5A1BD58F-BD49-5819-EAA0-38E9950832DC}"/>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7553378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5113-F9D4-312B-2A63-CCFC0F464033}"/>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48DF2622-D319-BAEF-FC3A-CCC3F5CF436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85</a:t>
            </a:fld>
            <a:endParaRPr lang="en-US" altLang="zh-CN"/>
          </a:p>
        </p:txBody>
      </p:sp>
      <p:sp>
        <p:nvSpPr>
          <p:cNvPr id="91139" name="Rectangle 2">
            <a:extLst>
              <a:ext uri="{FF2B5EF4-FFF2-40B4-BE49-F238E27FC236}">
                <a16:creationId xmlns:a16="http://schemas.microsoft.com/office/drawing/2014/main" id="{05924F81-C5C5-6946-E444-98CC96DBAD3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F534C76D-D6A7-EA7B-3E59-0BD60389F0B7}"/>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8839684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1C26-6418-5CCB-4345-8339FD575297}"/>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9D191D32-E136-7B45-2039-2DE201288898}"/>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86</a:t>
            </a:fld>
            <a:endParaRPr lang="en-US" altLang="zh-CN"/>
          </a:p>
        </p:txBody>
      </p:sp>
      <p:sp>
        <p:nvSpPr>
          <p:cNvPr id="91139" name="Rectangle 2">
            <a:extLst>
              <a:ext uri="{FF2B5EF4-FFF2-40B4-BE49-F238E27FC236}">
                <a16:creationId xmlns:a16="http://schemas.microsoft.com/office/drawing/2014/main" id="{9A4BFB4A-CC71-E585-1FA1-185F553E6C45}"/>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7C5594C9-D465-623D-35DA-205FEFBDF4EC}"/>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606142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3CA8A-EF74-0F56-601B-B40533F394E9}"/>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C999EA3D-D919-8909-A8F1-AC2BA11AC9D6}"/>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87</a:t>
            </a:fld>
            <a:endParaRPr lang="en-US" altLang="zh-CN"/>
          </a:p>
        </p:txBody>
      </p:sp>
      <p:sp>
        <p:nvSpPr>
          <p:cNvPr id="91139" name="Rectangle 2">
            <a:extLst>
              <a:ext uri="{FF2B5EF4-FFF2-40B4-BE49-F238E27FC236}">
                <a16:creationId xmlns:a16="http://schemas.microsoft.com/office/drawing/2014/main" id="{645D2958-2C1F-DD2C-CCE6-60F82534333F}"/>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FAC49171-C475-61FE-5104-E41C559936D5}"/>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2692396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46DB1-1CCA-74BD-806D-81793A5B62DE}"/>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C77E631A-ADC7-1800-F17F-AAC055C236B1}"/>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88</a:t>
            </a:fld>
            <a:endParaRPr lang="en-US" altLang="zh-CN"/>
          </a:p>
        </p:txBody>
      </p:sp>
      <p:sp>
        <p:nvSpPr>
          <p:cNvPr id="91139" name="Rectangle 2">
            <a:extLst>
              <a:ext uri="{FF2B5EF4-FFF2-40B4-BE49-F238E27FC236}">
                <a16:creationId xmlns:a16="http://schemas.microsoft.com/office/drawing/2014/main" id="{220925D2-34DF-FEED-756E-E4D9D851CFD4}"/>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F19C3002-4758-881B-DCD0-93FD35C190B6}"/>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4703694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CB602-3F02-1990-CBCE-6558BB6842D1}"/>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420AA7DD-D361-E23E-9B3C-B8CB22EEB3B7}"/>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89</a:t>
            </a:fld>
            <a:endParaRPr lang="en-US" altLang="zh-CN"/>
          </a:p>
        </p:txBody>
      </p:sp>
      <p:sp>
        <p:nvSpPr>
          <p:cNvPr id="91139" name="Rectangle 2">
            <a:extLst>
              <a:ext uri="{FF2B5EF4-FFF2-40B4-BE49-F238E27FC236}">
                <a16:creationId xmlns:a16="http://schemas.microsoft.com/office/drawing/2014/main" id="{32D36F9D-3EF8-4C44-186D-96D72A0FECC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7FAB61DA-F5A8-CE96-B5F7-7F3ADD4855E4}"/>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1812353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9B84D-E795-ACE2-D624-C07A5BCF80B0}"/>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256F26F9-5BDE-6841-A0BD-C47345E9C4DF}"/>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90</a:t>
            </a:fld>
            <a:endParaRPr lang="en-US" altLang="zh-CN"/>
          </a:p>
        </p:txBody>
      </p:sp>
      <p:sp>
        <p:nvSpPr>
          <p:cNvPr id="91139" name="Rectangle 2">
            <a:extLst>
              <a:ext uri="{FF2B5EF4-FFF2-40B4-BE49-F238E27FC236}">
                <a16:creationId xmlns:a16="http://schemas.microsoft.com/office/drawing/2014/main" id="{229346E0-C13F-ADF1-02DE-26CE4C3FFC19}"/>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EAE642C6-374A-9C80-9567-F2CBE1650EF7}"/>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36253649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81B18-0549-D05B-FF24-B4CA7BAAFF69}"/>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B6EB0B4E-9CC9-2417-40E7-2B2968739AB9}"/>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91</a:t>
            </a:fld>
            <a:endParaRPr lang="en-US" altLang="zh-CN"/>
          </a:p>
        </p:txBody>
      </p:sp>
      <p:sp>
        <p:nvSpPr>
          <p:cNvPr id="91139" name="Rectangle 2">
            <a:extLst>
              <a:ext uri="{FF2B5EF4-FFF2-40B4-BE49-F238E27FC236}">
                <a16:creationId xmlns:a16="http://schemas.microsoft.com/office/drawing/2014/main" id="{84CF76ED-3797-15D8-EB89-946DD185A14A}"/>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771A754D-73EE-615D-459B-DD2BBAA69391}"/>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2935578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4787-AB60-B18F-437E-1BEC2A0013EE}"/>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842B6425-C196-AE56-294B-25E439CC3310}"/>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92</a:t>
            </a:fld>
            <a:endParaRPr lang="en-US" altLang="zh-CN"/>
          </a:p>
        </p:txBody>
      </p:sp>
      <p:sp>
        <p:nvSpPr>
          <p:cNvPr id="91139" name="Rectangle 2">
            <a:extLst>
              <a:ext uri="{FF2B5EF4-FFF2-40B4-BE49-F238E27FC236}">
                <a16:creationId xmlns:a16="http://schemas.microsoft.com/office/drawing/2014/main" id="{EC47F898-424D-3F64-D723-1C0E4F21F36C}"/>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D098C379-913D-5BAE-DD11-51DA5E8C2EB2}"/>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9440499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42DF4-3196-3F8C-0CF6-302C91F38DD2}"/>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1A21D9A6-32EC-9E9E-4F1A-1F6AB17249D2}"/>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93</a:t>
            </a:fld>
            <a:endParaRPr lang="en-US" altLang="zh-CN"/>
          </a:p>
        </p:txBody>
      </p:sp>
      <p:sp>
        <p:nvSpPr>
          <p:cNvPr id="91139" name="Rectangle 2">
            <a:extLst>
              <a:ext uri="{FF2B5EF4-FFF2-40B4-BE49-F238E27FC236}">
                <a16:creationId xmlns:a16="http://schemas.microsoft.com/office/drawing/2014/main" id="{0448CE7F-1C29-99FA-A81B-C7AF3ECF6A34}"/>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99EF57EF-4183-11AB-9C3C-3F240F27D1EC}"/>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3803788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634A8-1B24-4D33-15BE-ED4C89123126}"/>
            </a:ext>
          </a:extLst>
        </p:cNvPr>
        <p:cNvGrpSpPr/>
        <p:nvPr/>
      </p:nvGrpSpPr>
      <p:grpSpPr>
        <a:xfrm>
          <a:off x="0" y="0"/>
          <a:ext cx="0" cy="0"/>
          <a:chOff x="0" y="0"/>
          <a:chExt cx="0" cy="0"/>
        </a:xfrm>
      </p:grpSpPr>
      <p:sp>
        <p:nvSpPr>
          <p:cNvPr id="91138" name="Rectangle 7">
            <a:extLst>
              <a:ext uri="{FF2B5EF4-FFF2-40B4-BE49-F238E27FC236}">
                <a16:creationId xmlns:a16="http://schemas.microsoft.com/office/drawing/2014/main" id="{3F2FE38E-1CC4-CC90-0B41-541300EBC46D}"/>
              </a:ext>
            </a:extLst>
          </p:cNvPr>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11D765D8-C062-7345-BF8C-3F249F56EFD4}" type="slidenum">
              <a:rPr lang="en-US" altLang="zh-CN"/>
              <a:pPr eaLnBrk="1" hangingPunct="1">
                <a:spcBef>
                  <a:spcPct val="0"/>
                </a:spcBef>
              </a:pPr>
              <a:t>94</a:t>
            </a:fld>
            <a:endParaRPr lang="en-US" altLang="zh-CN"/>
          </a:p>
        </p:txBody>
      </p:sp>
      <p:sp>
        <p:nvSpPr>
          <p:cNvPr id="91139" name="Rectangle 2">
            <a:extLst>
              <a:ext uri="{FF2B5EF4-FFF2-40B4-BE49-F238E27FC236}">
                <a16:creationId xmlns:a16="http://schemas.microsoft.com/office/drawing/2014/main" id="{3CC1F993-727A-C64F-8B1B-0627330196A6}"/>
              </a:ext>
            </a:extLst>
          </p:cNvPr>
          <p:cNvSpPr>
            <a:spLocks noGrp="1" noChangeArrowheads="1"/>
          </p:cNvSpPr>
          <p:nvPr>
            <p:ph type="body" idx="1"/>
          </p:nvPr>
        </p:nvSpPr>
        <p:spPr>
          <a:xfrm>
            <a:off x="896915" y="5088312"/>
            <a:ext cx="4942477" cy="4822953"/>
          </a:xfrm>
          <a:noFill/>
          <a:extLst>
            <a:ext uri="{91240B29-F687-4F45-9708-019B960494DF}">
              <a14:hiddenLine xmlns:a14="http://schemas.microsoft.com/office/drawing/2010/main" w="12700">
                <a:solidFill>
                  <a:schemeClr val="tx1"/>
                </a:solidFill>
                <a:miter lim="800000"/>
                <a:headEnd/>
                <a:tailEnd/>
              </a14:hiddenLine>
            </a:ext>
          </a:extLst>
        </p:spPr>
        <p:txBody>
          <a:bodyPr lIns="93663" tIns="46038" rIns="93663" bIns="46038"/>
          <a:lstStyle/>
          <a:p>
            <a:pPr defTabSz="930275" eaLnBrk="1" hangingPunct="1"/>
            <a:endParaRPr lang="en-US" altLang="zh-CN" b="1">
              <a:latin typeface="Arial" panose="020B0604020202020204" pitchFamily="34" charset="0"/>
            </a:endParaRPr>
          </a:p>
        </p:txBody>
      </p:sp>
      <p:sp>
        <p:nvSpPr>
          <p:cNvPr id="91140" name="Rectangle 3">
            <a:extLst>
              <a:ext uri="{FF2B5EF4-FFF2-40B4-BE49-F238E27FC236}">
                <a16:creationId xmlns:a16="http://schemas.microsoft.com/office/drawing/2014/main" id="{3124A90C-169F-CE75-C08E-AD0799886A71}"/>
              </a:ext>
            </a:extLst>
          </p:cNvPr>
          <p:cNvSpPr>
            <a:spLocks noGrp="1" noRot="1" noChangeAspect="1" noChangeArrowheads="1" noTextEdit="1"/>
          </p:cNvSpPr>
          <p:nvPr>
            <p:ph type="sldImg"/>
          </p:nvPr>
        </p:nvSpPr>
        <p:spPr>
          <a:xfrm>
            <a:off x="-190500" y="811213"/>
            <a:ext cx="7119938" cy="4005262"/>
          </a:xfrm>
          <a:ln w="12700" cap="flat">
            <a:solidFill>
              <a:schemeClr val="tx1"/>
            </a:solidFill>
          </a:ln>
        </p:spPr>
      </p:sp>
    </p:spTree>
    <p:extLst>
      <p:ext uri="{BB962C8B-B14F-4D97-AF65-F5344CB8AC3E}">
        <p14:creationId xmlns:p14="http://schemas.microsoft.com/office/powerpoint/2010/main" val="1314176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2E7A6-5383-E44E-AA68-F39C8937402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310A2F21-9574-024D-A04A-A1A66951BD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2943824D-35BD-5942-B191-9D15710EB832}"/>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EE9A94C3-020D-2F4C-A1FB-8867C1EC3F7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D7CD428-E125-494A-9C2A-4A1CAFDB30B5}"/>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62388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54575-ECBF-FA41-B72A-884C2FA5808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00F5EF-EA2D-0540-8519-1809BC089C5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86A5C53-8311-E04F-972D-D5975F144CEA}"/>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887A382A-6DF2-F748-A371-983A9DE2097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8DB5ECA-186B-5A41-8911-F28636EEE740}"/>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4088183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F919F9-9F2A-C742-A114-2AD5BC941BE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15DA381-C9D4-8944-9303-1661272770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9BC118A-433D-E44D-9152-C62D10491F1A}"/>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68BE7EE8-6BBE-4546-BD18-3490967D1B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BCCC686-43A4-1546-AF6F-235E0B8577EA}"/>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119046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532C19-C48A-1546-9A10-0291865B74F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6F65456-DE76-F44E-A3AE-AAFE70E36F5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2D728B6-59FE-3544-B3A7-B0CD86EC7B3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87F04C9-940C-8949-8807-3198B59D6D9F}"/>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6" name="页脚占位符 5">
            <a:extLst>
              <a:ext uri="{FF2B5EF4-FFF2-40B4-BE49-F238E27FC236}">
                <a16:creationId xmlns:a16="http://schemas.microsoft.com/office/drawing/2014/main" id="{E4396F7D-E68F-CB4F-A841-E3516F35CCA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6FBD73F-8966-7F49-9572-7412EAF7FD90}"/>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464083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4A789B-3D1A-E54D-ABD1-8D5A17B167E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841F6E3-B1C6-D54D-B986-CE069F81C1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81301D9-43BA-6047-9FE3-AFBC48C5957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F7BB539-7F5B-4845-888A-6AB7D9D549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9EB23847-B9E7-024C-8AFA-8A3F2EC853DC}"/>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0B36D089-2FAF-8F4E-970F-6107907D2E2D}"/>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8" name="页脚占位符 7">
            <a:extLst>
              <a:ext uri="{FF2B5EF4-FFF2-40B4-BE49-F238E27FC236}">
                <a16:creationId xmlns:a16="http://schemas.microsoft.com/office/drawing/2014/main" id="{FC7269E5-A31B-3C4D-BE14-7D7B850275D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D2AE0B1-F566-7440-A62D-4BD023DADCA1}"/>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450631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4DB8C1-9D4C-DF40-B066-19BA0C85EF1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FD38121-DECE-7A44-96E6-9D41D0109928}"/>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4" name="页脚占位符 3">
            <a:extLst>
              <a:ext uri="{FF2B5EF4-FFF2-40B4-BE49-F238E27FC236}">
                <a16:creationId xmlns:a16="http://schemas.microsoft.com/office/drawing/2014/main" id="{C01DF004-9EF4-9F47-9CFB-3D11D868EEB0}"/>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BE1A8FA-3B57-4345-9F1B-5E7C5168B3C9}"/>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456298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20265F3-AED3-204F-B3F3-730C7954059F}"/>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3" name="页脚占位符 2">
            <a:extLst>
              <a:ext uri="{FF2B5EF4-FFF2-40B4-BE49-F238E27FC236}">
                <a16:creationId xmlns:a16="http://schemas.microsoft.com/office/drawing/2014/main" id="{F67202CB-0F60-6049-87D0-8B79A1B3F26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7DB0C34-3257-AE43-A836-A504E9EB3949}"/>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194861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03BD29-05CD-8041-8093-ABB8500CEF7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2B3E060-EC1A-B948-86FC-E61B5DF728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7AE45C8F-E157-AF46-9063-103815B0F6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A03C17-54C1-3242-8937-F5005819E835}"/>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6" name="页脚占位符 5">
            <a:extLst>
              <a:ext uri="{FF2B5EF4-FFF2-40B4-BE49-F238E27FC236}">
                <a16:creationId xmlns:a16="http://schemas.microsoft.com/office/drawing/2014/main" id="{7C840A53-977E-9144-844B-3BFA7195C6F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4AADA83-1E57-C14C-8CDE-BDD7C0C5D0C2}"/>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09094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40515-E856-3B48-9667-619340334C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3896E35-647F-714C-9424-000881700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094ABE1-6274-DE47-9458-0A465C9C39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5538F20-DE12-794A-AE22-217C918B4BA2}"/>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6" name="页脚占位符 5">
            <a:extLst>
              <a:ext uri="{FF2B5EF4-FFF2-40B4-BE49-F238E27FC236}">
                <a16:creationId xmlns:a16="http://schemas.microsoft.com/office/drawing/2014/main" id="{269CA201-F560-7744-94E8-D6B4D20D0CB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79CD05D-C08C-8445-8A3C-3B4A59DC435F}"/>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929282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BA76D0-385D-394B-A2F9-462CC280CD4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66FF9A9-7C4F-A341-901B-EB3076525BB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8DC0452-6B76-5043-A04A-D973AF9B66A9}"/>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46B6163F-FE89-F14F-A966-4F4B98D4502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BC8FD76-7FA3-FB4D-B698-5E060DD46A1B}"/>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1612673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1F04485-9972-B241-A7C6-C61736C771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3117B2A-0B2D-7842-8DE1-FD5B571DDC96}"/>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36C15C9-E9AA-5140-87A8-B0E1337B7B5F}"/>
              </a:ext>
            </a:extLst>
          </p:cNvPr>
          <p:cNvSpPr>
            <a:spLocks noGrp="1"/>
          </p:cNvSpPr>
          <p:nvPr>
            <p:ph type="dt" sz="half" idx="10"/>
          </p:nvPr>
        </p:nvSpPr>
        <p:spPr/>
        <p:txBody>
          <a:body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C860E053-EE33-7C45-BAA9-C93DDA17AEF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581F60E-CDD0-844A-BE7F-ED6A045F31CD}"/>
              </a:ext>
            </a:extLst>
          </p:cNvPr>
          <p:cNvSpPr>
            <a:spLocks noGrp="1"/>
          </p:cNvSpPr>
          <p:nvPr>
            <p:ph type="sldNum" sz="quarter" idx="12"/>
          </p:nvPr>
        </p:nvSpPr>
        <p:spPr/>
        <p:txBody>
          <a:body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3820402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609600" y="1600201"/>
            <a:ext cx="5384800" cy="45307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307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a:extLst>
              <a:ext uri="{FF2B5EF4-FFF2-40B4-BE49-F238E27FC236}">
                <a16:creationId xmlns:a16="http://schemas.microsoft.com/office/drawing/2014/main" id="{AAEB8A0C-F72E-0649-9848-BAD61FF8B48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1A44EF6-3808-E24D-B195-EC0317F7F72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74F57EE-D02F-9E4F-833E-57E099D90024}"/>
              </a:ext>
            </a:extLst>
          </p:cNvPr>
          <p:cNvSpPr>
            <a:spLocks noGrp="1" noChangeArrowheads="1"/>
          </p:cNvSpPr>
          <p:nvPr>
            <p:ph type="sldNum" sz="quarter" idx="12"/>
          </p:nvPr>
        </p:nvSpPr>
        <p:spPr>
          <a:ln/>
        </p:spPr>
        <p:txBody>
          <a:bodyPr/>
          <a:lstStyle>
            <a:lvl1pPr>
              <a:defRPr/>
            </a:lvl1pPr>
          </a:lstStyle>
          <a:p>
            <a:fld id="{5F7CCB70-4EA5-2146-A07E-37712CF3B5ED}" type="slidenum">
              <a:rPr lang="en-US" altLang="zh-CN"/>
              <a:pPr/>
              <a:t>‹#›</a:t>
            </a:fld>
            <a:endParaRPr lang="en-US" altLang="zh-CN"/>
          </a:p>
        </p:txBody>
      </p:sp>
    </p:spTree>
    <p:extLst>
      <p:ext uri="{BB962C8B-B14F-4D97-AF65-F5344CB8AC3E}">
        <p14:creationId xmlns:p14="http://schemas.microsoft.com/office/powerpoint/2010/main" val="3134477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609600" y="1600201"/>
            <a:ext cx="5384800" cy="45307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6197600" y="1600201"/>
            <a:ext cx="5384800" cy="21891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6197600" y="3941763"/>
            <a:ext cx="5384800" cy="21891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Rectangle 4">
            <a:extLst>
              <a:ext uri="{FF2B5EF4-FFF2-40B4-BE49-F238E27FC236}">
                <a16:creationId xmlns:a16="http://schemas.microsoft.com/office/drawing/2014/main" id="{FC63CFB2-734F-3245-818A-B3508279A8B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98A11406-184C-004C-AC2E-A802FA79EDC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CADF4199-AD28-1E49-935C-43D0702E4942}"/>
              </a:ext>
            </a:extLst>
          </p:cNvPr>
          <p:cNvSpPr>
            <a:spLocks noGrp="1" noChangeArrowheads="1"/>
          </p:cNvSpPr>
          <p:nvPr>
            <p:ph type="sldNum" sz="quarter" idx="12"/>
          </p:nvPr>
        </p:nvSpPr>
        <p:spPr>
          <a:ln/>
        </p:spPr>
        <p:txBody>
          <a:bodyPr/>
          <a:lstStyle>
            <a:lvl1pPr>
              <a:defRPr/>
            </a:lvl1pPr>
          </a:lstStyle>
          <a:p>
            <a:fld id="{2E275213-A576-9547-A83F-410E5F25DBA7}" type="slidenum">
              <a:rPr lang="en-US" altLang="zh-CN"/>
              <a:pPr/>
              <a:t>‹#›</a:t>
            </a:fld>
            <a:endParaRPr lang="en-US" altLang="zh-CN"/>
          </a:p>
        </p:txBody>
      </p:sp>
    </p:spTree>
    <p:extLst>
      <p:ext uri="{BB962C8B-B14F-4D97-AF65-F5344CB8AC3E}">
        <p14:creationId xmlns:p14="http://schemas.microsoft.com/office/powerpoint/2010/main" val="2452794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7814"/>
            <a:ext cx="10972800" cy="1139825"/>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609600" y="1600201"/>
            <a:ext cx="5384800" cy="21891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6197600" y="1600201"/>
            <a:ext cx="5384800" cy="21891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Content Placeholder 4"/>
          <p:cNvSpPr>
            <a:spLocks noGrp="1"/>
          </p:cNvSpPr>
          <p:nvPr>
            <p:ph sz="quarter" idx="3"/>
          </p:nvPr>
        </p:nvSpPr>
        <p:spPr>
          <a:xfrm>
            <a:off x="609600" y="3941763"/>
            <a:ext cx="5384800" cy="21891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Content Placeholder 5"/>
          <p:cNvSpPr>
            <a:spLocks noGrp="1"/>
          </p:cNvSpPr>
          <p:nvPr>
            <p:ph sz="quarter" idx="4"/>
          </p:nvPr>
        </p:nvSpPr>
        <p:spPr>
          <a:xfrm>
            <a:off x="6197600" y="3941763"/>
            <a:ext cx="5384800" cy="21891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a:extLst>
              <a:ext uri="{FF2B5EF4-FFF2-40B4-BE49-F238E27FC236}">
                <a16:creationId xmlns:a16="http://schemas.microsoft.com/office/drawing/2014/main" id="{C164729D-8050-C242-9512-BE012776EC0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295E1A1-7154-9B41-850A-ED83AC78BA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F4A59D4-A44F-D945-8C53-41FE1D7343AA}"/>
              </a:ext>
            </a:extLst>
          </p:cNvPr>
          <p:cNvSpPr>
            <a:spLocks noGrp="1" noChangeArrowheads="1"/>
          </p:cNvSpPr>
          <p:nvPr>
            <p:ph type="sldNum" sz="quarter" idx="12"/>
          </p:nvPr>
        </p:nvSpPr>
        <p:spPr>
          <a:ln/>
        </p:spPr>
        <p:txBody>
          <a:bodyPr/>
          <a:lstStyle>
            <a:lvl1pPr>
              <a:defRPr/>
            </a:lvl1pPr>
          </a:lstStyle>
          <a:p>
            <a:fld id="{3D0E41C6-1E6B-C141-A431-8AE346DF3159}" type="slidenum">
              <a:rPr lang="en-US" altLang="zh-CN"/>
              <a:pPr/>
              <a:t>‹#›</a:t>
            </a:fld>
            <a:endParaRPr lang="en-US" altLang="zh-CN"/>
          </a:p>
        </p:txBody>
      </p:sp>
    </p:spTree>
    <p:extLst>
      <p:ext uri="{BB962C8B-B14F-4D97-AF65-F5344CB8AC3E}">
        <p14:creationId xmlns:p14="http://schemas.microsoft.com/office/powerpoint/2010/main" val="315925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and Content and LO Numb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77813"/>
            <a:ext cx="10363200" cy="1143000"/>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3"/>
          </p:nvPr>
        </p:nvSpPr>
        <p:spPr>
          <a:xfrm>
            <a:off x="0" y="-1"/>
            <a:ext cx="1402080" cy="402336"/>
          </a:xfrm>
          <a:solidFill>
            <a:schemeClr val="tx2">
              <a:alpha val="80000"/>
            </a:schemeClr>
          </a:solidFill>
          <a:ln>
            <a:solidFill>
              <a:schemeClr val="tx1"/>
            </a:solidFill>
          </a:ln>
        </p:spPr>
        <p:txBody>
          <a:bodyPr>
            <a:noAutofit/>
          </a:bodyPr>
          <a:lstStyle>
            <a:lvl1pPr marL="0" indent="0">
              <a:buNone/>
              <a:defRPr sz="2000" baseline="0">
                <a:solidFill>
                  <a:schemeClr val="bg1"/>
                </a:solidFill>
              </a:defRPr>
            </a:lvl1pPr>
            <a:lvl2pPr>
              <a:defRPr sz="1200"/>
            </a:lvl2pPr>
            <a:lvl3pPr>
              <a:defRPr sz="1200"/>
            </a:lvl3pPr>
            <a:lvl4pPr>
              <a:defRPr sz="1200"/>
            </a:lvl4pPr>
            <a:lvl5pPr>
              <a:defRPr sz="1200"/>
            </a:lvl5pPr>
          </a:lstStyle>
          <a:p>
            <a:pPr lvl="0"/>
            <a:r>
              <a:rPr lang="en-US"/>
              <a:t>Click to edit Master text styles</a:t>
            </a:r>
          </a:p>
        </p:txBody>
      </p:sp>
      <p:sp>
        <p:nvSpPr>
          <p:cNvPr id="5" name="Rectangle 9">
            <a:extLst>
              <a:ext uri="{FF2B5EF4-FFF2-40B4-BE49-F238E27FC236}">
                <a16:creationId xmlns:a16="http://schemas.microsoft.com/office/drawing/2014/main" id="{9D237D46-5025-8A48-A4F4-4A99E2E6A014}"/>
              </a:ext>
            </a:extLst>
          </p:cNvPr>
          <p:cNvSpPr>
            <a:spLocks noGrp="1" noChangeArrowheads="1"/>
          </p:cNvSpPr>
          <p:nvPr>
            <p:ph type="dt" sz="half" idx="14"/>
          </p:nvPr>
        </p:nvSpPr>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1537A2BE-D8B7-0247-8E7D-B6CA8F0BD32B}"/>
              </a:ext>
            </a:extLst>
          </p:cNvPr>
          <p:cNvSpPr>
            <a:spLocks noGrp="1" noChangeArrowheads="1"/>
          </p:cNvSpPr>
          <p:nvPr>
            <p:ph type="ftr" sz="quarter" idx="15"/>
          </p:nvPr>
        </p:nvSpPr>
        <p:spPr/>
        <p:txBody>
          <a:bodyPr/>
          <a:lstStyle>
            <a:lvl1pPr>
              <a:defRPr/>
            </a:lvl1pPr>
          </a:lstStyle>
          <a:p>
            <a:pPr>
              <a:defRPr/>
            </a:pPr>
            <a:endParaRPr lang="en-US"/>
          </a:p>
        </p:txBody>
      </p:sp>
      <p:sp>
        <p:nvSpPr>
          <p:cNvPr id="7" name="Rectangle 12">
            <a:extLst>
              <a:ext uri="{FF2B5EF4-FFF2-40B4-BE49-F238E27FC236}">
                <a16:creationId xmlns:a16="http://schemas.microsoft.com/office/drawing/2014/main" id="{FC7BB9EC-5008-7940-901B-41C0AE1566DA}"/>
              </a:ext>
            </a:extLst>
          </p:cNvPr>
          <p:cNvSpPr>
            <a:spLocks noGrp="1" noChangeArrowheads="1"/>
          </p:cNvSpPr>
          <p:nvPr>
            <p:ph type="sldNum" sz="quarter" idx="16"/>
          </p:nvPr>
        </p:nvSpPr>
        <p:spPr>
          <a:xfrm>
            <a:off x="9389533" y="6243638"/>
            <a:ext cx="25400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r>
              <a:rPr lang="en-US" altLang="zh-CN"/>
              <a:t>3-</a:t>
            </a:r>
            <a:fld id="{10C3F89A-4418-144F-BD29-E5ACB2F8CF7C}" type="slidenum">
              <a:rPr lang="en-US" altLang="zh-CN"/>
              <a:pPr/>
              <a:t>‹#›</a:t>
            </a:fld>
            <a:endParaRPr lang="en-US" altLang="zh-CN"/>
          </a:p>
        </p:txBody>
      </p:sp>
    </p:spTree>
    <p:extLst>
      <p:ext uri="{BB962C8B-B14F-4D97-AF65-F5344CB8AC3E}">
        <p14:creationId xmlns:p14="http://schemas.microsoft.com/office/powerpoint/2010/main" val="2678002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Content and Learning Objective">
    <p:spTree>
      <p:nvGrpSpPr>
        <p:cNvPr id="1" name=""/>
        <p:cNvGrpSpPr/>
        <p:nvPr/>
      </p:nvGrpSpPr>
      <p:grpSpPr>
        <a:xfrm>
          <a:off x="0" y="0"/>
          <a:ext cx="0" cy="0"/>
          <a:chOff x="0" y="0"/>
          <a:chExt cx="0" cy="0"/>
        </a:xfrm>
      </p:grpSpPr>
      <p:sp>
        <p:nvSpPr>
          <p:cNvPr id="2" name="Title 1"/>
          <p:cNvSpPr>
            <a:spLocks noGrp="1"/>
          </p:cNvSpPr>
          <p:nvPr>
            <p:ph type="title"/>
          </p:nvPr>
        </p:nvSpPr>
        <p:spPr>
          <a:xfrm>
            <a:off x="2235200" y="277813"/>
            <a:ext cx="9347200" cy="1143000"/>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p:nvPr>
        </p:nvSpPr>
        <p:spPr>
          <a:xfrm>
            <a:off x="0" y="-1"/>
            <a:ext cx="2235200" cy="914400"/>
          </a:xfrm>
          <a:solidFill>
            <a:schemeClr val="tx2">
              <a:alpha val="80000"/>
            </a:schemeClr>
          </a:solidFill>
          <a:ln>
            <a:solidFill>
              <a:schemeClr val="tx1"/>
            </a:solidFill>
          </a:ln>
        </p:spPr>
        <p:txBody>
          <a:bodyPr>
            <a:normAutofit/>
          </a:bodyPr>
          <a:lstStyle>
            <a:lvl1pPr marL="0" indent="0">
              <a:buNone/>
              <a:defRPr sz="1200" baseline="0">
                <a:solidFill>
                  <a:schemeClr val="bg1"/>
                </a:solidFill>
              </a:defRPr>
            </a:lvl1pPr>
            <a:lvl2pPr>
              <a:defRPr sz="1200"/>
            </a:lvl2pPr>
            <a:lvl3pPr>
              <a:defRPr sz="1200"/>
            </a:lvl3pPr>
            <a:lvl4pPr>
              <a:defRPr sz="1200"/>
            </a:lvl4pPr>
            <a:lvl5pPr>
              <a:defRPr sz="1200"/>
            </a:lvl5pPr>
          </a:lstStyle>
          <a:p>
            <a:pPr lvl="0"/>
            <a:r>
              <a:rPr lang="en-US"/>
              <a:t>Click to edit Master text styles</a:t>
            </a:r>
          </a:p>
        </p:txBody>
      </p:sp>
      <p:sp>
        <p:nvSpPr>
          <p:cNvPr id="4" name="Rectangle 9">
            <a:extLst>
              <a:ext uri="{FF2B5EF4-FFF2-40B4-BE49-F238E27FC236}">
                <a16:creationId xmlns:a16="http://schemas.microsoft.com/office/drawing/2014/main" id="{3A624467-F3EC-1A0E-B293-94D482B2AEEC}"/>
              </a:ext>
            </a:extLst>
          </p:cNvPr>
          <p:cNvSpPr>
            <a:spLocks noGrp="1" noChangeArrowheads="1"/>
          </p:cNvSpPr>
          <p:nvPr>
            <p:ph type="dt" sz="half" idx="14"/>
          </p:nvPr>
        </p:nvSpPr>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1A3226E5-78E9-B392-F9E0-A03CE94D7E1E}"/>
              </a:ext>
            </a:extLst>
          </p:cNvPr>
          <p:cNvSpPr>
            <a:spLocks noGrp="1" noChangeArrowheads="1"/>
          </p:cNvSpPr>
          <p:nvPr>
            <p:ph type="ftr" sz="quarter" idx="15"/>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844527D-74E1-CBD3-BA33-4A99C921345A}"/>
              </a:ext>
            </a:extLst>
          </p:cNvPr>
          <p:cNvSpPr>
            <a:spLocks noGrp="1" noChangeArrowheads="1"/>
          </p:cNvSpPr>
          <p:nvPr>
            <p:ph type="sldNum" sz="quarter" idx="16"/>
          </p:nvPr>
        </p:nvSpPr>
        <p:spPr>
          <a:xfrm>
            <a:off x="9389533" y="6243638"/>
            <a:ext cx="25400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r>
              <a:rPr lang="en-US" altLang="zh-CN"/>
              <a:t>6-</a:t>
            </a:r>
            <a:fld id="{7EAA2772-DDCF-4AF4-8F0E-95FC90E6C9D8}" type="slidenum">
              <a:rPr lang="en-US" altLang="zh-CN"/>
              <a:pPr/>
              <a:t>‹#›</a:t>
            </a:fld>
            <a:endParaRPr lang="en-US" altLang="zh-CN"/>
          </a:p>
        </p:txBody>
      </p:sp>
    </p:spTree>
    <p:extLst>
      <p:ext uri="{BB962C8B-B14F-4D97-AF65-F5344CB8AC3E}">
        <p14:creationId xmlns:p14="http://schemas.microsoft.com/office/powerpoint/2010/main" val="3645056940"/>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Picture with LO">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0" y="-1"/>
            <a:ext cx="1402080" cy="402336"/>
          </a:xfrm>
          <a:solidFill>
            <a:schemeClr val="tx2">
              <a:alpha val="80000"/>
            </a:schemeClr>
          </a:solidFill>
          <a:ln>
            <a:solidFill>
              <a:schemeClr val="tx1"/>
            </a:solidFill>
          </a:ln>
        </p:spPr>
        <p:txBody>
          <a:bodyPr>
            <a:noAutofit/>
          </a:bodyPr>
          <a:lstStyle>
            <a:lvl1pPr marL="0" indent="0">
              <a:buNone/>
              <a:defRPr sz="2000" baseline="0">
                <a:solidFill>
                  <a:schemeClr val="bg1"/>
                </a:solidFill>
              </a:defRPr>
            </a:lvl1pPr>
            <a:lvl2pPr>
              <a:defRPr sz="1200"/>
            </a:lvl2pPr>
            <a:lvl3pPr>
              <a:defRPr sz="1200"/>
            </a:lvl3pPr>
            <a:lvl4pPr>
              <a:defRPr sz="1200"/>
            </a:lvl4pPr>
            <a:lvl5pPr>
              <a:defRPr sz="1200"/>
            </a:lvl5pPr>
          </a:lstStyle>
          <a:p>
            <a:pPr lvl="0"/>
            <a:r>
              <a:rPr lang="en-US"/>
              <a:t>Click to edit Master text styles</a:t>
            </a:r>
          </a:p>
        </p:txBody>
      </p:sp>
      <p:sp>
        <p:nvSpPr>
          <p:cNvPr id="9" name="Title 1"/>
          <p:cNvSpPr>
            <a:spLocks noGrp="1"/>
          </p:cNvSpPr>
          <p:nvPr>
            <p:ph type="title"/>
          </p:nvPr>
        </p:nvSpPr>
        <p:spPr>
          <a:xfrm>
            <a:off x="1219200" y="277813"/>
            <a:ext cx="10363200" cy="1143000"/>
          </a:xfrm>
        </p:spPr>
        <p:txBody>
          <a:bodyPr/>
          <a:lstStyle/>
          <a:p>
            <a:r>
              <a:rPr lang="en-US"/>
              <a:t>Click to edit Master title style</a:t>
            </a:r>
            <a:endParaRPr lang="en-US" dirty="0"/>
          </a:p>
        </p:txBody>
      </p:sp>
      <p:sp>
        <p:nvSpPr>
          <p:cNvPr id="11" name="Text Placeholder 10"/>
          <p:cNvSpPr>
            <a:spLocks noGrp="1"/>
          </p:cNvSpPr>
          <p:nvPr>
            <p:ph type="body" sz="quarter" idx="14"/>
          </p:nvPr>
        </p:nvSpPr>
        <p:spPr>
          <a:xfrm>
            <a:off x="0" y="6553200"/>
            <a:ext cx="4470400" cy="304800"/>
          </a:xfrm>
        </p:spPr>
        <p:txBody>
          <a:bodyPr/>
          <a:lstStyle>
            <a:lvl1pPr marL="0" indent="0">
              <a:buNone/>
              <a:defRPr sz="1200"/>
            </a:lvl1pPr>
          </a:lstStyle>
          <a:p>
            <a:pPr lvl="0"/>
            <a:r>
              <a:rPr lang="en-US"/>
              <a:t>Click to edit Master text styles</a:t>
            </a:r>
          </a:p>
        </p:txBody>
      </p:sp>
      <p:sp>
        <p:nvSpPr>
          <p:cNvPr id="10" name="Content Placeholder 2"/>
          <p:cNvSpPr>
            <a:spLocks noGrp="1"/>
          </p:cNvSpPr>
          <p:nvPr>
            <p:ph idx="1"/>
          </p:nvPr>
        </p:nvSpPr>
        <p:spPr>
          <a:xfrm>
            <a:off x="1219200" y="1600201"/>
            <a:ext cx="103632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3">
            <a:extLst>
              <a:ext uri="{FF2B5EF4-FFF2-40B4-BE49-F238E27FC236}">
                <a16:creationId xmlns:a16="http://schemas.microsoft.com/office/drawing/2014/main" id="{8C599AE4-84E9-FF09-CF24-E2F7BC77C0F1}"/>
              </a:ext>
            </a:extLst>
          </p:cNvPr>
          <p:cNvSpPr>
            <a:spLocks noGrp="1" noChangeArrowheads="1"/>
          </p:cNvSpPr>
          <p:nvPr>
            <p:ph type="sldNum" sz="quarter" idx="15"/>
          </p:nvPr>
        </p:nvSpPr>
        <p:spPr>
          <a:xfrm>
            <a:off x="9389533" y="6243638"/>
            <a:ext cx="25400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r>
              <a:rPr lang="en-US" altLang="zh-CN"/>
              <a:t>6-</a:t>
            </a:r>
            <a:fld id="{979E448F-D30D-4192-A356-8CDF4F4F1747}" type="slidenum">
              <a:rPr lang="en-US" altLang="zh-CN"/>
              <a:pPr/>
              <a:t>‹#›</a:t>
            </a:fld>
            <a:endParaRPr lang="en-US" altLang="zh-CN"/>
          </a:p>
        </p:txBody>
      </p:sp>
    </p:spTree>
    <p:extLst>
      <p:ext uri="{BB962C8B-B14F-4D97-AF65-F5344CB8AC3E}">
        <p14:creationId xmlns:p14="http://schemas.microsoft.com/office/powerpoint/2010/main" val="318155508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0CE29F5-7B22-E446-83E2-210EA2A105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B10D180-81E5-0044-ABAC-ED245CD025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425EB18-6898-9747-95B2-3B20765A3E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1A2B3-B579-7E41-84C8-0946DF22910F}" type="datetimeFigureOut">
              <a:rPr kumimoji="1" lang="zh-CN" altLang="en-US" smtClean="0"/>
              <a:t>2025/10/17</a:t>
            </a:fld>
            <a:endParaRPr kumimoji="1" lang="zh-CN" altLang="en-US"/>
          </a:p>
        </p:txBody>
      </p:sp>
      <p:sp>
        <p:nvSpPr>
          <p:cNvPr id="5" name="页脚占位符 4">
            <a:extLst>
              <a:ext uri="{FF2B5EF4-FFF2-40B4-BE49-F238E27FC236}">
                <a16:creationId xmlns:a16="http://schemas.microsoft.com/office/drawing/2014/main" id="{6C5BB4FA-16C7-0946-A626-D9DABF37EA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AA6E415-E755-3741-9534-AB234451F0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BB40C-4509-DB4D-B3B7-3911EEB284D9}" type="slidenum">
              <a:rPr kumimoji="1" lang="zh-CN" altLang="en-US" smtClean="0"/>
              <a:t>‹#›</a:t>
            </a:fld>
            <a:endParaRPr kumimoji="1" lang="zh-CN" altLang="en-US"/>
          </a:p>
        </p:txBody>
      </p:sp>
    </p:spTree>
    <p:extLst>
      <p:ext uri="{BB962C8B-B14F-4D97-AF65-F5344CB8AC3E}">
        <p14:creationId xmlns:p14="http://schemas.microsoft.com/office/powerpoint/2010/main" val="1522326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60.png"/><Relationship Id="rId4" Type="http://schemas.openxmlformats.org/officeDocument/2006/relationships/image" Target="../media/image250.png"/></Relationships>
</file>

<file path=ppt/slides/_rels/slide46.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38.png"/><Relationship Id="rId5" Type="http://schemas.openxmlformats.org/officeDocument/2006/relationships/image" Target="../media/image290.png"/><Relationship Id="rId4" Type="http://schemas.openxmlformats.org/officeDocument/2006/relationships/image" Target="../media/image280.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7.xml"/><Relationship Id="rId5" Type="http://schemas.openxmlformats.org/officeDocument/2006/relationships/image" Target="../media/image43.png"/><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7.xml"/><Relationship Id="rId5" Type="http://schemas.openxmlformats.org/officeDocument/2006/relationships/image" Target="../media/image47.png"/><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17.xml"/><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61.png"/><Relationship Id="rId7"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71.png"/><Relationship Id="rId4" Type="http://schemas.openxmlformats.org/officeDocument/2006/relationships/image" Target="../media/image52.png"/><Relationship Id="rId9"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30.png"/><Relationship Id="rId4" Type="http://schemas.openxmlformats.org/officeDocument/2006/relationships/image" Target="../media/image62.png"/></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60.png"/><Relationship Id="rId7"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580.png"/><Relationship Id="rId4" Type="http://schemas.openxmlformats.org/officeDocument/2006/relationships/image" Target="../media/image5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3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image" Target="../media/image670.png"/><Relationship Id="rId3" Type="http://schemas.openxmlformats.org/officeDocument/2006/relationships/image" Target="../media/image67.png"/><Relationship Id="rId7" Type="http://schemas.openxmlformats.org/officeDocument/2006/relationships/image" Target="../media/image660.png"/><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image" Target="../media/image650.png"/><Relationship Id="rId5" Type="http://schemas.openxmlformats.org/officeDocument/2006/relationships/image" Target="../media/image640.png"/><Relationship Id="rId4" Type="http://schemas.openxmlformats.org/officeDocument/2006/relationships/image" Target="../media/image630.png"/></Relationships>
</file>

<file path=ppt/slides/_rels/slide7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8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1.xml"/><Relationship Id="rId1" Type="http://schemas.openxmlformats.org/officeDocument/2006/relationships/slideLayout" Target="../slideLayouts/slideLayout6.xml"/><Relationship Id="rId4" Type="http://schemas.openxmlformats.org/officeDocument/2006/relationships/image" Target="../media/image85.png"/></Relationships>
</file>

<file path=ppt/slides/_rels/slide8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9.xml"/><Relationship Id="rId1" Type="http://schemas.openxmlformats.org/officeDocument/2006/relationships/slideLayout" Target="../slideLayouts/slideLayout6.xml"/><Relationship Id="rId4" Type="http://schemas.openxmlformats.org/officeDocument/2006/relationships/image" Target="../media/image97.png"/></Relationships>
</file>

<file path=ppt/slides/_rels/slide9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99.png"/></Relationships>
</file>

<file path=ppt/slides/_rels/slide9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AF9FA-D15E-3D43-06BA-E4DEF32834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B0F24A-0255-D9C0-DD17-1DD7616CB686}"/>
              </a:ext>
            </a:extLst>
          </p:cNvPr>
          <p:cNvSpPr txBox="1"/>
          <p:nvPr/>
        </p:nvSpPr>
        <p:spPr>
          <a:xfrm>
            <a:off x="675862" y="819775"/>
            <a:ext cx="8239538" cy="2976199"/>
          </a:xfrm>
          <a:prstGeom prst="rect">
            <a:avLst/>
          </a:prstGeom>
          <a:noFill/>
        </p:spPr>
        <p:txBody>
          <a:bodyPr wrap="square">
            <a:spAutoFit/>
          </a:bodyPr>
          <a:lstStyle/>
          <a:p>
            <a:pPr>
              <a:lnSpc>
                <a:spcPct val="90000"/>
              </a:lnSpc>
              <a:spcBef>
                <a:spcPct val="0"/>
              </a:spcBef>
              <a:spcAft>
                <a:spcPts val="600"/>
              </a:spcAft>
              <a:buNone/>
            </a:pPr>
            <a:r>
              <a:rPr lang="en-US" altLang="zh-CN" sz="4800" b="1" kern="1200" dirty="0">
                <a:solidFill>
                  <a:schemeClr val="tx1"/>
                </a:solidFill>
                <a:latin typeface="Times New Roman" panose="02020603050405020304" pitchFamily="18" charset="0"/>
                <a:ea typeface="+mj-ea"/>
                <a:cs typeface="Times New Roman" panose="02020603050405020304" pitchFamily="18" charset="0"/>
              </a:rPr>
              <a:t>Chapter 6</a:t>
            </a:r>
            <a:br>
              <a:rPr lang="en-US" altLang="zh-CN" sz="4800" b="1" kern="1200" dirty="0">
                <a:solidFill>
                  <a:schemeClr val="tx1"/>
                </a:solidFill>
                <a:latin typeface="Times New Roman" panose="02020603050405020304" pitchFamily="18" charset="0"/>
                <a:ea typeface="+mj-ea"/>
                <a:cs typeface="Times New Roman" panose="02020603050405020304" pitchFamily="18" charset="0"/>
              </a:rPr>
            </a:br>
            <a:endParaRPr lang="en-US" altLang="zh-CN" sz="4800" b="1" kern="1200" dirty="0">
              <a:solidFill>
                <a:schemeClr val="tx1"/>
              </a:solidFill>
              <a:latin typeface="Times New Roman" panose="02020603050405020304" pitchFamily="18" charset="0"/>
              <a:ea typeface="+mj-ea"/>
              <a:cs typeface="Times New Roman" panose="02020603050405020304" pitchFamily="18" charset="0"/>
            </a:endParaRPr>
          </a:p>
          <a:p>
            <a:r>
              <a:rPr kumimoji="1" lang="en-US" altLang="zh-CN" sz="4800" b="1" dirty="0">
                <a:solidFill>
                  <a:srgbClr val="0033CC"/>
                </a:solidFill>
                <a:latin typeface="Times New Roman" panose="02020603050405020304" pitchFamily="18" charset="0"/>
                <a:cs typeface="Times New Roman" panose="02020603050405020304" pitchFamily="18" charset="0"/>
              </a:rPr>
              <a:t>Continuous Random Variables</a:t>
            </a:r>
            <a:endParaRPr kumimoji="1" lang="zh-CN" altLang="en-US" sz="4800" b="1" dirty="0">
              <a:solidFill>
                <a:srgbClr val="0033CC"/>
              </a:solidFill>
              <a:latin typeface="Times New Roman" panose="02020603050405020304" pitchFamily="18" charset="0"/>
              <a:cs typeface="Times New Roman" panose="02020603050405020304" pitchFamily="18" charset="0"/>
            </a:endParaRPr>
          </a:p>
          <a:p>
            <a:endParaRPr lang="en-US" altLang="en-US" sz="4800" b="1"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006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DA7BCF-5244-AC75-2215-387389A582C2}"/>
              </a:ext>
            </a:extLst>
          </p:cNvPr>
          <p:cNvSpPr txBox="1"/>
          <p:nvPr/>
        </p:nvSpPr>
        <p:spPr>
          <a:xfrm>
            <a:off x="695737" y="843604"/>
            <a:ext cx="10933044" cy="4021550"/>
          </a:xfrm>
          <a:prstGeom prst="rect">
            <a:avLst/>
          </a:prstGeom>
          <a:noFill/>
        </p:spPr>
        <p:txBody>
          <a:bodyPr wrap="square">
            <a:spAutoFit/>
          </a:bodyPr>
          <a:lstStyle/>
          <a:p>
            <a:pPr algn="just">
              <a:lnSpc>
                <a:spcPct val="110000"/>
              </a:lnSpc>
            </a:pPr>
            <a:r>
              <a:rPr lang="en-AU" sz="2600" dirty="0">
                <a:latin typeface="Times New Roman" panose="02020603050405020304" pitchFamily="18" charset="0"/>
                <a:cs typeface="Times New Roman" panose="02020603050405020304" pitchFamily="18" charset="0"/>
              </a:rPr>
              <a:t>In Chapter 5 we defined discrete and continuous random variables. We also discussed </a:t>
            </a:r>
            <a:r>
              <a:rPr lang="en-AU" sz="2600" dirty="0">
                <a:highlight>
                  <a:srgbClr val="FFFF00"/>
                </a:highlight>
                <a:latin typeface="Times New Roman" panose="02020603050405020304" pitchFamily="18" charset="0"/>
                <a:cs typeface="Times New Roman" panose="02020603050405020304" pitchFamily="18" charset="0"/>
              </a:rPr>
              <a:t>discrete probability distributions</a:t>
            </a:r>
            <a:r>
              <a:rPr lang="en-AU" sz="2600" dirty="0">
                <a:latin typeface="Times New Roman" panose="02020603050405020304" pitchFamily="18" charset="0"/>
                <a:cs typeface="Times New Roman" panose="02020603050405020304" pitchFamily="18" charset="0"/>
              </a:rPr>
              <a:t>, which are used to compute the probabilities of values of discrete random variables. In this chapter we discuss </a:t>
            </a:r>
            <a:r>
              <a:rPr lang="en-AU" sz="2600" dirty="0">
                <a:highlight>
                  <a:srgbClr val="FFFF00"/>
                </a:highlight>
                <a:latin typeface="Times New Roman" panose="02020603050405020304" pitchFamily="18" charset="0"/>
                <a:cs typeface="Times New Roman" panose="02020603050405020304" pitchFamily="18" charset="0"/>
              </a:rPr>
              <a:t>continuous probability distributions</a:t>
            </a:r>
            <a:r>
              <a:rPr lang="en-AU" sz="2600" dirty="0">
                <a:latin typeface="Times New Roman" panose="02020603050405020304" pitchFamily="18" charset="0"/>
                <a:cs typeface="Times New Roman" panose="02020603050405020304" pitchFamily="18" charset="0"/>
              </a:rPr>
              <a:t>. These are used to find probabilities concerning continuous random variables. We begin by explaining the general idea behind a continuous probability distribution. Then we present three important continuous distributions — </a:t>
            </a:r>
            <a:r>
              <a:rPr lang="en-AU" sz="2600" dirty="0">
                <a:solidFill>
                  <a:srgbClr val="FF0000"/>
                </a:solidFill>
                <a:latin typeface="Times New Roman" panose="02020603050405020304" pitchFamily="18" charset="0"/>
                <a:cs typeface="Times New Roman" panose="02020603050405020304" pitchFamily="18" charset="0"/>
              </a:rPr>
              <a:t>the uniform, normal, and exponential distributions</a:t>
            </a:r>
            <a:r>
              <a:rPr lang="en-AU" sz="2600" dirty="0">
                <a:latin typeface="Times New Roman" panose="02020603050405020304" pitchFamily="18" charset="0"/>
                <a:cs typeface="Times New Roman" panose="02020603050405020304" pitchFamily="18" charset="0"/>
              </a:rPr>
              <a:t>. We also study </a:t>
            </a:r>
            <a:r>
              <a:rPr lang="en-AU" sz="2600" dirty="0">
                <a:solidFill>
                  <a:srgbClr val="0000FF"/>
                </a:solidFill>
                <a:latin typeface="Times New Roman" panose="02020603050405020304" pitchFamily="18" charset="0"/>
                <a:cs typeface="Times New Roman" panose="02020603050405020304" pitchFamily="18" charset="0"/>
              </a:rPr>
              <a:t>when and how </a:t>
            </a:r>
            <a:r>
              <a:rPr lang="en-AU" sz="2600" dirty="0">
                <a:latin typeface="Times New Roman" panose="02020603050405020304" pitchFamily="18" charset="0"/>
                <a:cs typeface="Times New Roman" panose="02020603050405020304" pitchFamily="18" charset="0"/>
              </a:rPr>
              <a:t>the </a:t>
            </a:r>
            <a:r>
              <a:rPr lang="en-AU" sz="2600" b="1" dirty="0">
                <a:solidFill>
                  <a:srgbClr val="0000FF"/>
                </a:solidFill>
                <a:latin typeface="Times New Roman" panose="02020603050405020304" pitchFamily="18" charset="0"/>
                <a:cs typeface="Times New Roman" panose="02020603050405020304" pitchFamily="18" charset="0"/>
              </a:rPr>
              <a:t>normal distribution </a:t>
            </a:r>
            <a:r>
              <a:rPr lang="en-AU" sz="2600" dirty="0">
                <a:solidFill>
                  <a:srgbClr val="0000FF"/>
                </a:solidFill>
                <a:latin typeface="Times New Roman" panose="02020603050405020304" pitchFamily="18" charset="0"/>
                <a:cs typeface="Times New Roman" panose="02020603050405020304" pitchFamily="18" charset="0"/>
              </a:rPr>
              <a:t>can be used to approximate the </a:t>
            </a:r>
            <a:r>
              <a:rPr lang="en-AU" sz="2600" b="1" dirty="0">
                <a:solidFill>
                  <a:srgbClr val="0000FF"/>
                </a:solidFill>
                <a:latin typeface="Times New Roman" panose="02020603050405020304" pitchFamily="18" charset="0"/>
                <a:cs typeface="Times New Roman" panose="02020603050405020304" pitchFamily="18" charset="0"/>
              </a:rPr>
              <a:t>binomial distribution </a:t>
            </a:r>
            <a:r>
              <a:rPr lang="en-AU" sz="2600" dirty="0">
                <a:latin typeface="Times New Roman" panose="02020603050405020304" pitchFamily="18" charset="0"/>
                <a:cs typeface="Times New Roman" panose="02020603050405020304" pitchFamily="18" charset="0"/>
              </a:rPr>
              <a:t>(which was discussed in Chapter 5). </a:t>
            </a:r>
          </a:p>
        </p:txBody>
      </p:sp>
      <p:sp>
        <p:nvSpPr>
          <p:cNvPr id="2" name="灯片编号占位符 16">
            <a:extLst>
              <a:ext uri="{FF2B5EF4-FFF2-40B4-BE49-F238E27FC236}">
                <a16:creationId xmlns:a16="http://schemas.microsoft.com/office/drawing/2014/main" id="{316F14E0-6CA1-5835-32DB-CDF2744DF7C8}"/>
              </a:ext>
            </a:extLst>
          </p:cNvPr>
          <p:cNvSpPr>
            <a:spLocks noGrp="1"/>
          </p:cNvSpPr>
          <p:nvPr>
            <p:ph type="sldNum" sz="quarter" idx="12"/>
          </p:nvPr>
        </p:nvSpPr>
        <p:spPr>
          <a:xfrm>
            <a:off x="11430000" y="6453962"/>
            <a:ext cx="731880" cy="393405"/>
          </a:xfrm>
        </p:spPr>
        <p:txBody>
          <a:bodyPr/>
          <a:lstStyle/>
          <a:p>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t>2</a:t>
            </a:fld>
            <a:endParaRPr lang="zh-CN" altLang="en-US" sz="200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66726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B64B-3C6D-E613-F1C8-8042D078EAF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FE968A-5973-5DF4-6831-59915F8CDD0F}"/>
              </a:ext>
            </a:extLst>
          </p:cNvPr>
          <p:cNvSpPr>
            <a:spLocks noGrp="1"/>
          </p:cNvSpPr>
          <p:nvPr>
            <p:ph type="title"/>
          </p:nvPr>
        </p:nvSpPr>
        <p:spPr>
          <a:xfrm>
            <a:off x="1115568" y="548640"/>
            <a:ext cx="10168128" cy="1179576"/>
          </a:xfrm>
        </p:spPr>
        <p:txBody>
          <a:bodyPr>
            <a:normAutofit/>
          </a:bodyPr>
          <a:lstStyle/>
          <a:p>
            <a:r>
              <a:rPr kumimoji="1" lang="en-US" altLang="zh-CN" sz="4000" b="1" dirty="0">
                <a:solidFill>
                  <a:srgbClr val="0000FF"/>
                </a:solidFill>
                <a:latin typeface="Times New Roman" panose="02020603050405020304" pitchFamily="18" charset="0"/>
                <a:cs typeface="Times New Roman" panose="02020603050405020304" pitchFamily="18" charset="0"/>
              </a:rPr>
              <a:t>Outline</a:t>
            </a:r>
            <a:endParaRPr kumimoji="1" lang="zh-CN" altLang="en-US" sz="4000" b="1" dirty="0">
              <a:solidFill>
                <a:srgbClr val="0000FF"/>
              </a:solidFill>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3A8A6570-44F0-EFE7-7D7D-813653EB633D}"/>
              </a:ext>
            </a:extLst>
          </p:cNvPr>
          <p:cNvSpPr>
            <a:spLocks noGrp="1"/>
          </p:cNvSpPr>
          <p:nvPr>
            <p:ph idx="1"/>
          </p:nvPr>
        </p:nvSpPr>
        <p:spPr>
          <a:xfrm>
            <a:off x="1115568" y="2005198"/>
            <a:ext cx="8545267" cy="2536985"/>
          </a:xfrm>
        </p:spPr>
        <p:txBody>
          <a:bodyPr>
            <a:noAutofit/>
          </a:bodyPr>
          <a:lstStyle/>
          <a:p>
            <a:pPr marL="914400" indent="-914400" eaLnBrk="1" hangingPunct="1">
              <a:buFont typeface="Wingdings" panose="05000000000000000000" pitchFamily="2" charset="2"/>
              <a:buNone/>
            </a:pPr>
            <a:r>
              <a:rPr lang="en-US" altLang="en-US" sz="3200" b="1" dirty="0">
                <a:solidFill>
                  <a:srgbClr val="FF0000"/>
                </a:solidFill>
                <a:latin typeface="Times New Roman" panose="02020603050405020304" pitchFamily="18" charset="0"/>
                <a:cs typeface="Times New Roman" panose="02020603050405020304" pitchFamily="18" charset="0"/>
              </a:rPr>
              <a:t>6.1  </a:t>
            </a:r>
            <a:r>
              <a:rPr lang="en-US" altLang="en-US" sz="3200" dirty="0">
                <a:latin typeface="Times New Roman" panose="02020603050405020304" pitchFamily="18" charset="0"/>
                <a:cs typeface="Times New Roman" panose="02020603050405020304" pitchFamily="18" charset="0"/>
              </a:rPr>
              <a:t>	Continuous Probability Distributions</a:t>
            </a:r>
          </a:p>
          <a:p>
            <a:pPr marL="914400" indent="-914400" eaLnBrk="1" hangingPunct="1">
              <a:lnSpc>
                <a:spcPct val="150000"/>
              </a:lnSpc>
              <a:spcBef>
                <a:spcPts val="1800"/>
              </a:spcBef>
              <a:buFont typeface="Wingdings" panose="05000000000000000000" pitchFamily="2" charset="2"/>
              <a:buNone/>
            </a:pPr>
            <a:r>
              <a:rPr lang="en-US" altLang="en-US" sz="3200" b="1" dirty="0">
                <a:solidFill>
                  <a:srgbClr val="FF0000"/>
                </a:solidFill>
                <a:latin typeface="Times New Roman" panose="02020603050405020304" pitchFamily="18" charset="0"/>
                <a:cs typeface="Times New Roman" panose="02020603050405020304" pitchFamily="18" charset="0"/>
              </a:rPr>
              <a:t>6.2  </a:t>
            </a:r>
            <a:r>
              <a:rPr lang="en-US" altLang="en-US" sz="3200" dirty="0">
                <a:latin typeface="Times New Roman" panose="02020603050405020304" pitchFamily="18" charset="0"/>
                <a:cs typeface="Times New Roman" panose="02020603050405020304" pitchFamily="18" charset="0"/>
              </a:rPr>
              <a:t>	The Uniform Distribution</a:t>
            </a:r>
          </a:p>
          <a:p>
            <a:pPr marL="914400" indent="-914400" eaLnBrk="1" hangingPunct="1">
              <a:lnSpc>
                <a:spcPct val="150000"/>
              </a:lnSpc>
              <a:spcBef>
                <a:spcPts val="1800"/>
              </a:spcBef>
              <a:buFont typeface="Wingdings" panose="05000000000000000000" pitchFamily="2" charset="2"/>
              <a:buNone/>
            </a:pPr>
            <a:r>
              <a:rPr lang="en-US" altLang="en-US" sz="3200" b="1" dirty="0">
                <a:solidFill>
                  <a:srgbClr val="FF0000"/>
                </a:solidFill>
                <a:latin typeface="Times New Roman" panose="02020603050405020304" pitchFamily="18" charset="0"/>
                <a:cs typeface="Times New Roman" panose="02020603050405020304" pitchFamily="18" charset="0"/>
              </a:rPr>
              <a:t>6.3</a:t>
            </a:r>
            <a:r>
              <a:rPr lang="en-US" altLang="en-US" sz="3200" dirty="0">
                <a:latin typeface="Times New Roman" panose="02020603050405020304" pitchFamily="18" charset="0"/>
                <a:cs typeface="Times New Roman" panose="02020603050405020304" pitchFamily="18" charset="0"/>
              </a:rPr>
              <a:t>  	The Normal Probability Distribution</a:t>
            </a:r>
          </a:p>
        </p:txBody>
      </p:sp>
      <p:sp>
        <p:nvSpPr>
          <p:cNvPr id="4" name="灯片编号占位符 16">
            <a:extLst>
              <a:ext uri="{FF2B5EF4-FFF2-40B4-BE49-F238E27FC236}">
                <a16:creationId xmlns:a16="http://schemas.microsoft.com/office/drawing/2014/main" id="{52E9B469-7495-53D7-109E-F723E3C6B126}"/>
              </a:ext>
            </a:extLst>
          </p:cNvPr>
          <p:cNvSpPr>
            <a:spLocks noGrp="1"/>
          </p:cNvSpPr>
          <p:nvPr>
            <p:ph type="sldNum" sz="quarter" idx="12"/>
          </p:nvPr>
        </p:nvSpPr>
        <p:spPr>
          <a:xfrm>
            <a:off x="11430000" y="6453962"/>
            <a:ext cx="731880" cy="393405"/>
          </a:xfrm>
        </p:spPr>
        <p:txBody>
          <a:bodyPr/>
          <a:lstStyle/>
          <a:p>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t>3</a:t>
            </a:fld>
            <a:endParaRPr lang="zh-CN" altLang="en-US" sz="200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0181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3">
            <a:extLst>
              <a:ext uri="{FF2B5EF4-FFF2-40B4-BE49-F238E27FC236}">
                <a16:creationId xmlns:a16="http://schemas.microsoft.com/office/drawing/2014/main" id="{F68B1CB1-0DA4-0863-E677-2FEBBA65C98B}"/>
              </a:ext>
            </a:extLst>
          </p:cNvPr>
          <p:cNvSpPr>
            <a:spLocks noGrp="1" noChangeArrowheads="1"/>
          </p:cNvSpPr>
          <p:nvPr>
            <p:ph type="title"/>
          </p:nvPr>
        </p:nvSpPr>
        <p:spPr>
          <a:xfrm>
            <a:off x="1484243" y="1322109"/>
            <a:ext cx="8285922" cy="1987621"/>
          </a:xfrm>
        </p:spPr>
        <p:txBody>
          <a:bodyPr>
            <a:normAutofit/>
          </a:bodyPr>
          <a:lstStyle/>
          <a:p>
            <a:pPr eaLnBrk="1" hangingPunct="1"/>
            <a:r>
              <a:rPr lang="en-US" altLang="en-US" sz="3200" b="1" dirty="0">
                <a:solidFill>
                  <a:srgbClr val="FF0000"/>
                </a:solidFill>
                <a:latin typeface="Times New Roman" panose="02020603050405020304" pitchFamily="18" charset="0"/>
                <a:cs typeface="Times New Roman" panose="02020603050405020304" pitchFamily="18" charset="0"/>
              </a:rPr>
              <a:t>Section 6.1</a:t>
            </a:r>
            <a:br>
              <a:rPr lang="en-US" altLang="en-US" sz="3200" b="1" dirty="0">
                <a:solidFill>
                  <a:srgbClr val="FF0000"/>
                </a:solidFill>
                <a:latin typeface="Times New Roman" panose="02020603050405020304" pitchFamily="18" charset="0"/>
                <a:cs typeface="Times New Roman" panose="02020603050405020304" pitchFamily="18" charset="0"/>
              </a:rPr>
            </a:br>
            <a:br>
              <a:rPr lang="en-US" altLang="en-US" sz="3200" b="1" dirty="0">
                <a:solidFill>
                  <a:srgbClr val="FF0000"/>
                </a:solidFill>
                <a:latin typeface="Times New Roman" panose="02020603050405020304" pitchFamily="18" charset="0"/>
                <a:cs typeface="Times New Roman" panose="02020603050405020304" pitchFamily="18" charset="0"/>
              </a:rPr>
            </a:br>
            <a:br>
              <a:rPr lang="en-US" altLang="en-US" sz="3200" b="1" dirty="0">
                <a:solidFill>
                  <a:srgbClr val="FF0000"/>
                </a:solidFill>
                <a:latin typeface="Times New Roman" panose="02020603050405020304" pitchFamily="18" charset="0"/>
                <a:cs typeface="Times New Roman" panose="02020603050405020304" pitchFamily="18" charset="0"/>
              </a:rPr>
            </a:br>
            <a:r>
              <a:rPr lang="en-US" altLang="en-US" sz="3200" b="1" dirty="0">
                <a:latin typeface="Times New Roman" panose="02020603050405020304" pitchFamily="18" charset="0"/>
                <a:cs typeface="Times New Roman" panose="02020603050405020304" pitchFamily="18" charset="0"/>
              </a:rPr>
              <a:t>Continuous Probability Distributions</a:t>
            </a:r>
          </a:p>
        </p:txBody>
      </p:sp>
      <p:sp>
        <p:nvSpPr>
          <p:cNvPr id="2" name="灯片编号占位符 16">
            <a:extLst>
              <a:ext uri="{FF2B5EF4-FFF2-40B4-BE49-F238E27FC236}">
                <a16:creationId xmlns:a16="http://schemas.microsoft.com/office/drawing/2014/main" id="{175ADB4C-3181-682C-FA69-A544F32930D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12E93-A180-EE4D-2E95-4473701F5A63}"/>
            </a:ext>
          </a:extLst>
        </p:cNvPr>
        <p:cNvGrpSpPr/>
        <p:nvPr/>
      </p:nvGrpSpPr>
      <p:grpSpPr>
        <a:xfrm>
          <a:off x="0" y="0"/>
          <a:ext cx="0" cy="0"/>
          <a:chOff x="0" y="0"/>
          <a:chExt cx="0" cy="0"/>
        </a:xfrm>
      </p:grpSpPr>
      <p:sp>
        <p:nvSpPr>
          <p:cNvPr id="16387" name="Rectangle 14">
            <a:extLst>
              <a:ext uri="{FF2B5EF4-FFF2-40B4-BE49-F238E27FC236}">
                <a16:creationId xmlns:a16="http://schemas.microsoft.com/office/drawing/2014/main" id="{77C547EB-4DF2-41B4-0E19-8D029EE0C644}"/>
              </a:ext>
            </a:extLst>
          </p:cNvPr>
          <p:cNvSpPr>
            <a:spLocks noGrp="1" noChangeArrowheads="1"/>
          </p:cNvSpPr>
          <p:nvPr>
            <p:ph idx="1"/>
          </p:nvPr>
        </p:nvSpPr>
        <p:spPr>
          <a:xfrm>
            <a:off x="838199" y="1338607"/>
            <a:ext cx="10293627" cy="3153880"/>
          </a:xfrm>
        </p:spPr>
        <p:txBody>
          <a:bodyPr>
            <a:noAutofit/>
          </a:bodyPr>
          <a:lstStyle/>
          <a:p>
            <a:pPr eaLnBrk="1" hangingPunct="1">
              <a:lnSpc>
                <a:spcPct val="100000"/>
              </a:lnSpc>
              <a:spcBef>
                <a:spcPts val="0"/>
              </a:spcBef>
            </a:pPr>
            <a:r>
              <a:rPr lang="en-US" altLang="en-US" dirty="0">
                <a:latin typeface="Times New Roman" panose="02020603050405020304" pitchFamily="18" charset="0"/>
                <a:cs typeface="Times New Roman" panose="02020603050405020304" pitchFamily="18" charset="0"/>
              </a:rPr>
              <a:t>A continuous random variable may assume any numerical value in one or more intervals (e.g., Car mileage, Temperature)</a:t>
            </a:r>
          </a:p>
          <a:p>
            <a:pPr eaLnBrk="1" hangingPunct="1">
              <a:lnSpc>
                <a:spcPct val="100000"/>
              </a:lnSpc>
              <a:spcBef>
                <a:spcPts val="1800"/>
              </a:spcBef>
            </a:pPr>
            <a:r>
              <a:rPr lang="en-US" altLang="en-US" dirty="0">
                <a:latin typeface="Times New Roman" panose="02020603050405020304" pitchFamily="18" charset="0"/>
                <a:cs typeface="Times New Roman" panose="02020603050405020304" pitchFamily="18" charset="0"/>
              </a:rPr>
              <a:t>Use a continuous probability distribution to assign probabilities to intervals of values.</a:t>
            </a:r>
          </a:p>
          <a:p>
            <a:pPr eaLnBrk="1" hangingPunct="1">
              <a:lnSpc>
                <a:spcPct val="100000"/>
              </a:lnSpc>
              <a:spcBef>
                <a:spcPts val="1800"/>
              </a:spcBef>
            </a:pPr>
            <a:r>
              <a:rPr lang="en-US" altLang="en-US" dirty="0">
                <a:latin typeface="Times New Roman" panose="02020603050405020304" pitchFamily="18" charset="0"/>
                <a:cs typeface="Times New Roman" panose="02020603050405020304" pitchFamily="18" charset="0"/>
              </a:rPr>
              <a:t>Uses a continuous probability distribution.</a:t>
            </a:r>
          </a:p>
        </p:txBody>
      </p:sp>
      <p:sp>
        <p:nvSpPr>
          <p:cNvPr id="2" name="灯片编号占位符 16">
            <a:extLst>
              <a:ext uri="{FF2B5EF4-FFF2-40B4-BE49-F238E27FC236}">
                <a16:creationId xmlns:a16="http://schemas.microsoft.com/office/drawing/2014/main" id="{9C832826-6D6C-23B4-DE30-ED74DAE52FE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322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DBA3C20-4C14-13C6-79EB-F6C50B4D8FA6}"/>
              </a:ext>
            </a:extLst>
          </p:cNvPr>
          <p:cNvGrpSpPr/>
          <p:nvPr/>
        </p:nvGrpSpPr>
        <p:grpSpPr>
          <a:xfrm>
            <a:off x="167079" y="129207"/>
            <a:ext cx="11531277" cy="6338860"/>
            <a:chOff x="167079" y="0"/>
            <a:chExt cx="11531277" cy="6338860"/>
          </a:xfrm>
        </p:grpSpPr>
        <p:pic>
          <p:nvPicPr>
            <p:cNvPr id="350213" name="Picture 5">
              <a:extLst>
                <a:ext uri="{FF2B5EF4-FFF2-40B4-BE49-F238E27FC236}">
                  <a16:creationId xmlns:a16="http://schemas.microsoft.com/office/drawing/2014/main" id="{E26EE3A3-413B-DA40-BBCB-52329EC5A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926" y="0"/>
              <a:ext cx="6989430" cy="6036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0214" name="AutoShape 6">
              <a:extLst>
                <a:ext uri="{FF2B5EF4-FFF2-40B4-BE49-F238E27FC236}">
                  <a16:creationId xmlns:a16="http://schemas.microsoft.com/office/drawing/2014/main" id="{89878D7C-DB1B-3A44-B542-7DFB26F0D8BE}"/>
                </a:ext>
              </a:extLst>
            </p:cNvPr>
            <p:cNvSpPr>
              <a:spLocks noChangeArrowheads="1"/>
            </p:cNvSpPr>
            <p:nvPr/>
          </p:nvSpPr>
          <p:spPr bwMode="auto">
            <a:xfrm>
              <a:off x="1401418" y="3362007"/>
              <a:ext cx="2578049" cy="647700"/>
            </a:xfrm>
            <a:prstGeom prst="wedgeEllipseCallout">
              <a:avLst>
                <a:gd name="adj1" fmla="val 66963"/>
                <a:gd name="adj2" fmla="val -14509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800" dirty="0">
                  <a:latin typeface="Times New Roman" panose="02020603050405020304" pitchFamily="18" charset="0"/>
                  <a:cs typeface="Times New Roman" panose="02020603050405020304" pitchFamily="18" charset="0"/>
                </a:rPr>
                <a:t>Probability</a:t>
              </a:r>
            </a:p>
          </p:txBody>
        </p:sp>
        <p:sp>
          <p:nvSpPr>
            <p:cNvPr id="2" name="Text Box 2">
              <a:extLst>
                <a:ext uri="{FF2B5EF4-FFF2-40B4-BE49-F238E27FC236}">
                  <a16:creationId xmlns:a16="http://schemas.microsoft.com/office/drawing/2014/main" id="{F8D66833-CFB1-3F15-E1A1-3F59D42947E6}"/>
                </a:ext>
              </a:extLst>
            </p:cNvPr>
            <p:cNvSpPr txBox="1">
              <a:spLocks noChangeArrowheads="1"/>
            </p:cNvSpPr>
            <p:nvPr/>
          </p:nvSpPr>
          <p:spPr bwMode="auto">
            <a:xfrm>
              <a:off x="167079" y="5446308"/>
              <a:ext cx="6492138"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114300" indent="27940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508000" indent="29845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600" dirty="0">
                  <a:solidFill>
                    <a:srgbClr val="FF0000"/>
                  </a:solidFill>
                  <a:latin typeface="Times New Roman" panose="02020603050405020304" pitchFamily="18" charset="0"/>
                </a:rPr>
                <a:t>There is no probability at a specified number.</a:t>
              </a:r>
            </a:p>
            <a:p>
              <a:pPr algn="just">
                <a:spcBef>
                  <a:spcPct val="0"/>
                </a:spcBef>
                <a:buClrTx/>
                <a:buSzTx/>
                <a:buFontTx/>
                <a:buNone/>
              </a:pPr>
              <a:r>
                <a:rPr lang="en-US" altLang="zh-CN" sz="2600" dirty="0">
                  <a:solidFill>
                    <a:srgbClr val="0000FF"/>
                  </a:solidFill>
                  <a:latin typeface="Times New Roman" panose="02020603050405020304" pitchFamily="18" charset="0"/>
                </a:rPr>
                <a:t>We must specify an interval of numbers.</a:t>
              </a:r>
            </a:p>
          </p:txBody>
        </p:sp>
      </p:grpSp>
      <p:sp>
        <p:nvSpPr>
          <p:cNvPr id="3" name="灯片编号占位符 16">
            <a:extLst>
              <a:ext uri="{FF2B5EF4-FFF2-40B4-BE49-F238E27FC236}">
                <a16:creationId xmlns:a16="http://schemas.microsoft.com/office/drawing/2014/main" id="{CDF6E715-B9F7-B199-B9B4-3A66FF1F6FB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27179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a:extLst>
              <a:ext uri="{FF2B5EF4-FFF2-40B4-BE49-F238E27FC236}">
                <a16:creationId xmlns:a16="http://schemas.microsoft.com/office/drawing/2014/main" id="{7B96D5DE-640F-D141-A3AC-27DFD34FFE53}"/>
              </a:ext>
            </a:extLst>
          </p:cNvPr>
          <p:cNvSpPr txBox="1">
            <a:spLocks noChangeArrowheads="1"/>
          </p:cNvSpPr>
          <p:nvPr/>
        </p:nvSpPr>
        <p:spPr bwMode="auto">
          <a:xfrm>
            <a:off x="683914" y="125852"/>
            <a:ext cx="10964748"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114300" indent="27940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508000" indent="29845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600" b="1" dirty="0">
                <a:solidFill>
                  <a:srgbClr val="0000FF"/>
                </a:solidFill>
                <a:latin typeface="Times New Roman" panose="02020603050405020304" pitchFamily="18" charset="0"/>
              </a:rPr>
              <a:t>Definition: </a:t>
            </a:r>
            <a:r>
              <a:rPr lang="en-US" altLang="zh-CN" sz="2600" dirty="0">
                <a:latin typeface="Times New Roman" panose="02020603050405020304" pitchFamily="18" charset="0"/>
              </a:rPr>
              <a:t>The curve </a:t>
            </a:r>
            <a:r>
              <a:rPr lang="en-US" altLang="zh-CN" sz="2600" i="1" dirty="0">
                <a:latin typeface="Times New Roman" panose="02020603050405020304" pitchFamily="18" charset="0"/>
              </a:rPr>
              <a:t>f</a:t>
            </a:r>
            <a:r>
              <a:rPr lang="en-US" altLang="zh-CN" sz="2600" dirty="0">
                <a:latin typeface="Times New Roman" panose="02020603050405020304" pitchFamily="18" charset="0"/>
              </a:rPr>
              <a:t>(</a:t>
            </a:r>
            <a:r>
              <a:rPr lang="en-US" altLang="zh-CN" sz="2600" i="1" dirty="0">
                <a:latin typeface="Times New Roman" panose="02020603050405020304" pitchFamily="18" charset="0"/>
              </a:rPr>
              <a:t>x</a:t>
            </a:r>
            <a:r>
              <a:rPr lang="en-US" altLang="zh-CN" sz="2600" dirty="0">
                <a:latin typeface="Times New Roman" panose="02020603050405020304" pitchFamily="18" charset="0"/>
              </a:rPr>
              <a:t>) is the </a:t>
            </a:r>
            <a:r>
              <a:rPr lang="en-US" altLang="zh-CN" sz="2600" dirty="0">
                <a:solidFill>
                  <a:srgbClr val="FF0000"/>
                </a:solidFill>
                <a:latin typeface="Times New Roman" panose="02020603050405020304" pitchFamily="18" charset="0"/>
              </a:rPr>
              <a:t>continuous probability distribution </a:t>
            </a:r>
            <a:r>
              <a:rPr lang="en-US" altLang="zh-CN" sz="2600" dirty="0">
                <a:latin typeface="Times New Roman" panose="02020603050405020304" pitchFamily="18" charset="0"/>
              </a:rPr>
              <a:t>of the continuous random variable </a:t>
            </a:r>
            <a:r>
              <a:rPr lang="en-US" altLang="zh-CN" sz="2600" i="1" dirty="0">
                <a:latin typeface="Times New Roman" panose="02020603050405020304" pitchFamily="18" charset="0"/>
              </a:rPr>
              <a:t>x</a:t>
            </a:r>
            <a:r>
              <a:rPr lang="en-US" altLang="zh-CN" sz="2600" dirty="0">
                <a:latin typeface="Times New Roman" panose="02020603050405020304" pitchFamily="18" charset="0"/>
              </a:rPr>
              <a:t> if the probability that </a:t>
            </a:r>
            <a:r>
              <a:rPr lang="en-US" altLang="zh-CN" sz="2600" i="1" dirty="0">
                <a:latin typeface="Times New Roman" panose="02020603050405020304" pitchFamily="18" charset="0"/>
              </a:rPr>
              <a:t>x</a:t>
            </a:r>
            <a:r>
              <a:rPr lang="en-US" altLang="zh-CN" sz="2600" dirty="0">
                <a:latin typeface="Times New Roman" panose="02020603050405020304" pitchFamily="18" charset="0"/>
              </a:rPr>
              <a:t> will be in a specified </a:t>
            </a:r>
            <a:r>
              <a:rPr lang="en-US" altLang="zh-CN" sz="2600" dirty="0">
                <a:highlight>
                  <a:srgbClr val="FFFF00"/>
                </a:highlight>
                <a:latin typeface="Times New Roman" panose="02020603050405020304" pitchFamily="18" charset="0"/>
              </a:rPr>
              <a:t>interval</a:t>
            </a:r>
            <a:r>
              <a:rPr lang="en-US" altLang="zh-CN" sz="2600" dirty="0">
                <a:latin typeface="Times New Roman" panose="02020603050405020304" pitchFamily="18" charset="0"/>
              </a:rPr>
              <a:t> of numbers is the area under the curve </a:t>
            </a:r>
            <a:r>
              <a:rPr lang="en-US" altLang="zh-CN" sz="2600" i="1" dirty="0">
                <a:latin typeface="Times New Roman" panose="02020603050405020304" pitchFamily="18" charset="0"/>
              </a:rPr>
              <a:t>f</a:t>
            </a:r>
            <a:r>
              <a:rPr lang="en-US" altLang="zh-CN" sz="2600" dirty="0">
                <a:latin typeface="Times New Roman" panose="02020603050405020304" pitchFamily="18" charset="0"/>
              </a:rPr>
              <a:t>(</a:t>
            </a:r>
            <a:r>
              <a:rPr lang="en-US" altLang="zh-CN" sz="2600" i="1" dirty="0">
                <a:latin typeface="Times New Roman" panose="02020603050405020304" pitchFamily="18" charset="0"/>
              </a:rPr>
              <a:t>x</a:t>
            </a:r>
            <a:r>
              <a:rPr lang="en-US" altLang="zh-CN" sz="2600" dirty="0">
                <a:latin typeface="Times New Roman" panose="02020603050405020304" pitchFamily="18" charset="0"/>
              </a:rPr>
              <a:t>) corresponding to the interval.</a:t>
            </a:r>
          </a:p>
          <a:p>
            <a:pPr lvl="1" algn="just">
              <a:spcBef>
                <a:spcPts val="1200"/>
              </a:spcBef>
              <a:buClrTx/>
              <a:buSzTx/>
            </a:pPr>
            <a:r>
              <a:rPr lang="en-US" altLang="zh-CN" dirty="0">
                <a:latin typeface="Times New Roman" panose="02020603050405020304" pitchFamily="18" charset="0"/>
              </a:rPr>
              <a:t> Other names for a continuous probability distribution:</a:t>
            </a:r>
          </a:p>
          <a:p>
            <a:pPr lvl="2" algn="just">
              <a:spcBef>
                <a:spcPct val="0"/>
              </a:spcBef>
              <a:buClr>
                <a:schemeClr val="tx1"/>
              </a:buClr>
              <a:buSzTx/>
              <a:buFontTx/>
              <a:buChar char="•"/>
            </a:pPr>
            <a:r>
              <a:rPr lang="en-US" altLang="zh-CN" sz="2600" dirty="0">
                <a:solidFill>
                  <a:srgbClr val="0000FF"/>
                </a:solidFill>
                <a:latin typeface="Times New Roman" panose="02020603050405020304" pitchFamily="18" charset="0"/>
              </a:rPr>
              <a:t>probability curve</a:t>
            </a:r>
            <a:r>
              <a:rPr lang="en-US" altLang="zh-CN" sz="2600" dirty="0">
                <a:latin typeface="Times New Roman" panose="02020603050405020304" pitchFamily="18" charset="0"/>
              </a:rPr>
              <a:t>, or</a:t>
            </a:r>
          </a:p>
          <a:p>
            <a:pPr lvl="2" algn="just">
              <a:spcBef>
                <a:spcPct val="0"/>
              </a:spcBef>
              <a:buClr>
                <a:schemeClr val="tx1"/>
              </a:buClr>
              <a:buSzTx/>
              <a:buFontTx/>
              <a:buChar char="•"/>
            </a:pPr>
            <a:r>
              <a:rPr lang="en-US" altLang="zh-CN" sz="2600" dirty="0">
                <a:solidFill>
                  <a:srgbClr val="FF0000"/>
                </a:solidFill>
                <a:latin typeface="Times New Roman" panose="02020603050405020304" pitchFamily="18" charset="0"/>
              </a:rPr>
              <a:t>probability density function.</a:t>
            </a:r>
          </a:p>
        </p:txBody>
      </p:sp>
      <p:pic>
        <p:nvPicPr>
          <p:cNvPr id="3" name="Picture 2">
            <a:extLst>
              <a:ext uri="{FF2B5EF4-FFF2-40B4-BE49-F238E27FC236}">
                <a16:creationId xmlns:a16="http://schemas.microsoft.com/office/drawing/2014/main" id="{E054A57D-A01F-8E62-2B9A-2EE3099EBC9C}"/>
              </a:ext>
            </a:extLst>
          </p:cNvPr>
          <p:cNvPicPr>
            <a:picLocks noChangeAspect="1"/>
          </p:cNvPicPr>
          <p:nvPr/>
        </p:nvPicPr>
        <p:blipFill>
          <a:blip r:embed="rId3"/>
          <a:stretch>
            <a:fillRect/>
          </a:stretch>
        </p:blipFill>
        <p:spPr>
          <a:xfrm>
            <a:off x="4184372" y="2890316"/>
            <a:ext cx="7005661" cy="3760348"/>
          </a:xfrm>
          <a:prstGeom prst="rect">
            <a:avLst/>
          </a:prstGeom>
        </p:spPr>
      </p:pic>
      <p:sp>
        <p:nvSpPr>
          <p:cNvPr id="2" name="灯片编号占位符 16">
            <a:extLst>
              <a:ext uri="{FF2B5EF4-FFF2-40B4-BE49-F238E27FC236}">
                <a16:creationId xmlns:a16="http://schemas.microsoft.com/office/drawing/2014/main" id="{86E4668B-F4CE-681D-4E50-6D06F744855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6249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223C-574A-ADBC-9AD0-A20B248FFA71}"/>
            </a:ext>
          </a:extLst>
        </p:cNvPr>
        <p:cNvGrpSpPr/>
        <p:nvPr/>
      </p:nvGrpSpPr>
      <p:grpSpPr>
        <a:xfrm>
          <a:off x="0" y="0"/>
          <a:ext cx="0" cy="0"/>
          <a:chOff x="0" y="0"/>
          <a:chExt cx="0" cy="0"/>
        </a:xfrm>
      </p:grpSpPr>
      <p:sp>
        <p:nvSpPr>
          <p:cNvPr id="6147" name="Rectangle 2">
            <a:extLst>
              <a:ext uri="{FF2B5EF4-FFF2-40B4-BE49-F238E27FC236}">
                <a16:creationId xmlns:a16="http://schemas.microsoft.com/office/drawing/2014/main" id="{71BC9077-878B-6A6B-D752-99A85937B3CC}"/>
              </a:ext>
            </a:extLst>
          </p:cNvPr>
          <p:cNvSpPr>
            <a:spLocks noGrp="1" noChangeArrowheads="1"/>
          </p:cNvSpPr>
          <p:nvPr>
            <p:ph type="title"/>
          </p:nvPr>
        </p:nvSpPr>
        <p:spPr>
          <a:xfrm>
            <a:off x="1224899" y="404953"/>
            <a:ext cx="8585023" cy="787741"/>
          </a:xfrm>
          <a:extLst>
            <a:ext uri="{91240B29-F687-4F45-9708-019B960494DF}">
              <a14:hiddenLine xmlns:a14="http://schemas.microsoft.com/office/drawing/2010/main" w="12700">
                <a:solidFill>
                  <a:schemeClr val="tx1"/>
                </a:solidFill>
                <a:miter lim="800000"/>
                <a:headEnd/>
                <a:tailEnd/>
              </a14:hiddenLine>
            </a:ext>
          </a:extLst>
        </p:spPr>
        <p:txBody>
          <a:bodyPr vert="horz" lIns="91440" tIns="45720" rIns="91440" bIns="45720" rtlCol="0" anchor="ctr">
            <a:normAutofit/>
          </a:bodyPr>
          <a:lstStyle/>
          <a:p>
            <a:r>
              <a:rPr lang="en-US" altLang="zh-CN" sz="3000" b="1" kern="1200" dirty="0">
                <a:solidFill>
                  <a:srgbClr val="0000FF"/>
                </a:solidFill>
                <a:latin typeface="Times New Roman" panose="02020603050405020304" pitchFamily="18" charset="0"/>
                <a:cs typeface="Times New Roman" panose="02020603050405020304" pitchFamily="18" charset="0"/>
              </a:rPr>
              <a:t>Properties of Continuous Probability Distributions</a:t>
            </a:r>
          </a:p>
        </p:txBody>
      </p:sp>
      <p:sp>
        <p:nvSpPr>
          <p:cNvPr id="253955" name="Text Box 3">
            <a:extLst>
              <a:ext uri="{FF2B5EF4-FFF2-40B4-BE49-F238E27FC236}">
                <a16:creationId xmlns:a16="http://schemas.microsoft.com/office/drawing/2014/main" id="{DE3AD530-4F10-A57B-02C2-8191DFE05975}"/>
              </a:ext>
            </a:extLst>
          </p:cNvPr>
          <p:cNvSpPr txBox="1">
            <a:spLocks noChangeArrowheads="1"/>
          </p:cNvSpPr>
          <p:nvPr/>
        </p:nvSpPr>
        <p:spPr bwMode="auto">
          <a:xfrm>
            <a:off x="1175203" y="1416584"/>
            <a:ext cx="8932893" cy="240004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341313" indent="-341313">
              <a:defRPr>
                <a:solidFill>
                  <a:schemeClr val="tx1"/>
                </a:solidFill>
                <a:latin typeface="Arial" charset="0"/>
                <a:ea typeface="宋体" pitchFamily="2" charset="-122"/>
              </a:defRPr>
            </a:lvl1pPr>
            <a:lvl2pPr marL="1092200" indent="-457200">
              <a:defRPr>
                <a:solidFill>
                  <a:schemeClr val="tx1"/>
                </a:solidFill>
                <a:latin typeface="Arial" charset="0"/>
                <a:ea typeface="宋体" pitchFamily="2" charset="-122"/>
              </a:defRPr>
            </a:lvl2pPr>
            <a:lvl3pPr marL="1663700" indent="-457200">
              <a:defRPr>
                <a:solidFill>
                  <a:schemeClr val="tx1"/>
                </a:solidFill>
                <a:latin typeface="Arial" charset="0"/>
                <a:ea typeface="宋体" pitchFamily="2" charset="-122"/>
              </a:defRPr>
            </a:lvl3pPr>
            <a:lvl4pPr marL="2235200" indent="-457200">
              <a:defRPr>
                <a:solidFill>
                  <a:schemeClr val="tx1"/>
                </a:solidFill>
                <a:latin typeface="Arial" charset="0"/>
                <a:ea typeface="宋体" pitchFamily="2" charset="-122"/>
              </a:defRPr>
            </a:lvl4pPr>
            <a:lvl5pPr marL="2806700" indent="-457200">
              <a:defRPr>
                <a:solidFill>
                  <a:schemeClr val="tx1"/>
                </a:solidFill>
                <a:latin typeface="Arial" charset="0"/>
                <a:ea typeface="宋体" pitchFamily="2" charset="-122"/>
              </a:defRPr>
            </a:lvl5pPr>
            <a:lvl6pPr marL="3263900" indent="-457200" fontAlgn="base">
              <a:spcBef>
                <a:spcPct val="0"/>
              </a:spcBef>
              <a:spcAft>
                <a:spcPct val="0"/>
              </a:spcAft>
              <a:defRPr>
                <a:solidFill>
                  <a:schemeClr val="tx1"/>
                </a:solidFill>
                <a:latin typeface="Arial" charset="0"/>
                <a:ea typeface="宋体" pitchFamily="2" charset="-122"/>
              </a:defRPr>
            </a:lvl6pPr>
            <a:lvl7pPr marL="3721100" indent="-457200" fontAlgn="base">
              <a:spcBef>
                <a:spcPct val="0"/>
              </a:spcBef>
              <a:spcAft>
                <a:spcPct val="0"/>
              </a:spcAft>
              <a:defRPr>
                <a:solidFill>
                  <a:schemeClr val="tx1"/>
                </a:solidFill>
                <a:latin typeface="Arial" charset="0"/>
                <a:ea typeface="宋体" pitchFamily="2" charset="-122"/>
              </a:defRPr>
            </a:lvl7pPr>
            <a:lvl8pPr marL="4178300" indent="-457200" fontAlgn="base">
              <a:spcBef>
                <a:spcPct val="0"/>
              </a:spcBef>
              <a:spcAft>
                <a:spcPct val="0"/>
              </a:spcAft>
              <a:defRPr>
                <a:solidFill>
                  <a:schemeClr val="tx1"/>
                </a:solidFill>
                <a:latin typeface="Arial" charset="0"/>
                <a:ea typeface="宋体" pitchFamily="2" charset="-122"/>
              </a:defRPr>
            </a:lvl8pPr>
            <a:lvl9pPr marL="4635500" indent="-457200" fontAlgn="base">
              <a:spcBef>
                <a:spcPct val="0"/>
              </a:spcBef>
              <a:spcAft>
                <a:spcPct val="0"/>
              </a:spcAft>
              <a:defRPr>
                <a:solidFill>
                  <a:schemeClr val="tx1"/>
                </a:solidFill>
                <a:latin typeface="Arial" charset="0"/>
                <a:ea typeface="宋体" pitchFamily="2" charset="-122"/>
              </a:defRPr>
            </a:lvl9pPr>
          </a:lstStyle>
          <a:p>
            <a:pPr marL="112713" indent="0">
              <a:lnSpc>
                <a:spcPct val="90000"/>
              </a:lnSpc>
              <a:spcBef>
                <a:spcPct val="5000"/>
              </a:spcBef>
              <a:spcAft>
                <a:spcPct val="5000"/>
              </a:spcAft>
              <a:defRPr/>
            </a:pPr>
            <a:r>
              <a:rPr lang="en-US" altLang="zh-CN" sz="2800" dirty="0">
                <a:latin typeface="Times New Roman" panose="02020603050405020304" pitchFamily="18" charset="0"/>
                <a:ea typeface="+mn-ea"/>
                <a:cs typeface="Times New Roman" panose="02020603050405020304" pitchFamily="18" charset="0"/>
              </a:rPr>
              <a:t>Properties of </a:t>
            </a:r>
            <a:r>
              <a:rPr lang="en-US" altLang="zh-CN" sz="2800" i="1" dirty="0">
                <a:latin typeface="Times New Roman" panose="02020603050405020304" pitchFamily="18" charset="0"/>
                <a:ea typeface="+mn-ea"/>
                <a:cs typeface="Times New Roman" panose="02020603050405020304" pitchFamily="18" charset="0"/>
              </a:rPr>
              <a:t>f</a:t>
            </a:r>
            <a:r>
              <a:rPr lang="en-US" altLang="zh-CN" sz="2800" dirty="0">
                <a:latin typeface="Times New Roman" panose="02020603050405020304" pitchFamily="18" charset="0"/>
                <a:ea typeface="+mn-ea"/>
                <a:cs typeface="Times New Roman" panose="02020603050405020304" pitchFamily="18" charset="0"/>
              </a:rPr>
              <a:t>(</a:t>
            </a:r>
            <a:r>
              <a:rPr lang="en-US" altLang="zh-CN" sz="2800" i="1" dirty="0">
                <a:latin typeface="Times New Roman" panose="02020603050405020304" pitchFamily="18" charset="0"/>
                <a:ea typeface="+mn-ea"/>
                <a:cs typeface="Times New Roman" panose="02020603050405020304" pitchFamily="18" charset="0"/>
              </a:rPr>
              <a:t>x</a:t>
            </a:r>
            <a:r>
              <a:rPr lang="en-US" altLang="zh-CN" sz="2800" dirty="0">
                <a:latin typeface="Times New Roman" panose="02020603050405020304" pitchFamily="18" charset="0"/>
                <a:ea typeface="+mn-ea"/>
                <a:cs typeface="Times New Roman" panose="02020603050405020304" pitchFamily="18" charset="0"/>
              </a:rPr>
              <a:t>):</a:t>
            </a:r>
          </a:p>
          <a:p>
            <a:pPr marL="569913" indent="-457200">
              <a:spcBef>
                <a:spcPts val="1200"/>
              </a:spcBef>
              <a:spcAft>
                <a:spcPct val="5000"/>
              </a:spcAft>
              <a:buFont typeface="Arial" panose="020B0604020202020204" pitchFamily="34" charset="0"/>
              <a:buChar char="•"/>
              <a:defRPr/>
            </a:pPr>
            <a:r>
              <a:rPr lang="en-US" altLang="zh-CN" sz="2800" i="1" dirty="0">
                <a:latin typeface="Times New Roman" panose="02020603050405020304" pitchFamily="18" charset="0"/>
                <a:ea typeface="+mn-ea"/>
                <a:cs typeface="Times New Roman" panose="02020603050405020304" pitchFamily="18" charset="0"/>
              </a:rPr>
              <a:t>f</a:t>
            </a:r>
            <a:r>
              <a:rPr lang="en-US" altLang="zh-CN" sz="2800" dirty="0">
                <a:latin typeface="Times New Roman" panose="02020603050405020304" pitchFamily="18" charset="0"/>
                <a:ea typeface="+mn-ea"/>
                <a:cs typeface="Times New Roman" panose="02020603050405020304" pitchFamily="18" charset="0"/>
              </a:rPr>
              <a:t>(</a:t>
            </a:r>
            <a:r>
              <a:rPr lang="en-US" altLang="zh-CN" sz="2800" i="1" dirty="0">
                <a:latin typeface="Times New Roman" panose="02020603050405020304" pitchFamily="18" charset="0"/>
                <a:ea typeface="+mn-ea"/>
                <a:cs typeface="Times New Roman" panose="02020603050405020304" pitchFamily="18" charset="0"/>
              </a:rPr>
              <a:t>x</a:t>
            </a:r>
            <a:r>
              <a:rPr lang="en-US" altLang="zh-CN" sz="2800" dirty="0">
                <a:latin typeface="Times New Roman" panose="02020603050405020304" pitchFamily="18" charset="0"/>
                <a:ea typeface="+mn-ea"/>
                <a:cs typeface="Times New Roman" panose="02020603050405020304" pitchFamily="18" charset="0"/>
              </a:rPr>
              <a:t>) is a continuous function such that</a:t>
            </a:r>
          </a:p>
          <a:p>
            <a:pPr marL="569913" indent="-457200">
              <a:spcBef>
                <a:spcPts val="1200"/>
              </a:spcBef>
              <a:spcAft>
                <a:spcPct val="5000"/>
              </a:spcAft>
              <a:buFont typeface="Arial" panose="020B0604020202020204" pitchFamily="34" charset="0"/>
              <a:buChar char="•"/>
              <a:defRPr/>
            </a:pPr>
            <a:r>
              <a:rPr lang="en-US" altLang="zh-CN" sz="2800" i="1" dirty="0">
                <a:latin typeface="Times New Roman" panose="02020603050405020304" pitchFamily="18" charset="0"/>
                <a:ea typeface="+mn-ea"/>
                <a:cs typeface="Times New Roman" panose="02020603050405020304" pitchFamily="18" charset="0"/>
                <a:sym typeface="Symbol" pitchFamily="18" charset="2"/>
              </a:rPr>
              <a:t>f</a:t>
            </a:r>
            <a:r>
              <a:rPr lang="en-US" altLang="zh-CN" sz="2800" dirty="0">
                <a:latin typeface="Times New Roman" panose="02020603050405020304" pitchFamily="18" charset="0"/>
                <a:ea typeface="+mn-ea"/>
                <a:cs typeface="Times New Roman" panose="02020603050405020304" pitchFamily="18" charset="0"/>
              </a:rPr>
              <a:t>(</a:t>
            </a:r>
            <a:r>
              <a:rPr lang="en-US" altLang="zh-CN" sz="2800" i="1" dirty="0">
                <a:latin typeface="Times New Roman" panose="02020603050405020304" pitchFamily="18" charset="0"/>
                <a:ea typeface="+mn-ea"/>
                <a:cs typeface="Times New Roman" panose="02020603050405020304" pitchFamily="18" charset="0"/>
              </a:rPr>
              <a:t>x</a:t>
            </a:r>
            <a:r>
              <a:rPr lang="en-US" altLang="zh-CN" sz="2800" dirty="0">
                <a:latin typeface="Times New Roman" panose="02020603050405020304" pitchFamily="18" charset="0"/>
                <a:ea typeface="+mn-ea"/>
                <a:cs typeface="Times New Roman" panose="02020603050405020304" pitchFamily="18" charset="0"/>
              </a:rPr>
              <a:t>) </a:t>
            </a:r>
            <a:r>
              <a:rPr lang="en-US" altLang="zh-CN" sz="2800" dirty="0">
                <a:latin typeface="Times New Roman" panose="02020603050405020304" pitchFamily="18" charset="0"/>
                <a:ea typeface="+mn-ea"/>
                <a:cs typeface="Times New Roman" panose="02020603050405020304" pitchFamily="18" charset="0"/>
                <a:sym typeface="Symbol" pitchFamily="18" charset="2"/>
              </a:rPr>
              <a:t> 0 for all </a:t>
            </a:r>
            <a:r>
              <a:rPr lang="en-US" altLang="zh-CN" sz="2800" i="1" dirty="0">
                <a:latin typeface="Times New Roman" panose="02020603050405020304" pitchFamily="18" charset="0"/>
                <a:ea typeface="+mn-ea"/>
                <a:cs typeface="Times New Roman" panose="02020603050405020304" pitchFamily="18" charset="0"/>
                <a:sym typeface="Symbol" pitchFamily="18" charset="2"/>
              </a:rPr>
              <a:t>x</a:t>
            </a:r>
          </a:p>
          <a:p>
            <a:pPr marL="569913" indent="-457200">
              <a:spcBef>
                <a:spcPts val="1200"/>
              </a:spcBef>
              <a:spcAft>
                <a:spcPct val="5000"/>
              </a:spcAft>
              <a:buFont typeface="Arial" panose="020B0604020202020204" pitchFamily="34" charset="0"/>
              <a:buChar char="•"/>
              <a:defRPr/>
            </a:pPr>
            <a:r>
              <a:rPr lang="en-US" altLang="zh-CN" sz="2800" dirty="0">
                <a:latin typeface="Times New Roman" panose="02020603050405020304" pitchFamily="18" charset="0"/>
                <a:ea typeface="+mn-ea"/>
                <a:cs typeface="Times New Roman" panose="02020603050405020304" pitchFamily="18" charset="0"/>
                <a:sym typeface="Symbol" pitchFamily="18" charset="2"/>
              </a:rPr>
              <a:t>The total area under the curve of </a:t>
            </a:r>
            <a:r>
              <a:rPr lang="en-US" altLang="zh-CN" sz="2800" i="1" dirty="0">
                <a:latin typeface="Times New Roman" panose="02020603050405020304" pitchFamily="18" charset="0"/>
                <a:ea typeface="+mn-ea"/>
                <a:cs typeface="Times New Roman" panose="02020603050405020304" pitchFamily="18" charset="0"/>
                <a:sym typeface="Symbol" pitchFamily="18" charset="2"/>
              </a:rPr>
              <a:t>f</a:t>
            </a:r>
            <a:r>
              <a:rPr lang="en-US" altLang="zh-CN" sz="2800" dirty="0">
                <a:latin typeface="Times New Roman" panose="02020603050405020304" pitchFamily="18" charset="0"/>
                <a:ea typeface="+mn-ea"/>
                <a:cs typeface="Times New Roman" panose="02020603050405020304" pitchFamily="18" charset="0"/>
                <a:sym typeface="Symbol" pitchFamily="18" charset="2"/>
              </a:rPr>
              <a:t>(</a:t>
            </a:r>
            <a:r>
              <a:rPr lang="en-US" altLang="zh-CN" sz="2800" i="1" dirty="0">
                <a:latin typeface="Times New Roman" panose="02020603050405020304" pitchFamily="18" charset="0"/>
                <a:ea typeface="+mn-ea"/>
                <a:cs typeface="Times New Roman" panose="02020603050405020304" pitchFamily="18" charset="0"/>
                <a:sym typeface="Symbol" pitchFamily="18" charset="2"/>
              </a:rPr>
              <a:t>x</a:t>
            </a:r>
            <a:r>
              <a:rPr lang="en-US" altLang="zh-CN" sz="2800" dirty="0">
                <a:latin typeface="Times New Roman" panose="02020603050405020304" pitchFamily="18" charset="0"/>
                <a:ea typeface="+mn-ea"/>
                <a:cs typeface="Times New Roman" panose="02020603050405020304" pitchFamily="18" charset="0"/>
                <a:sym typeface="Symbol" pitchFamily="18" charset="2"/>
              </a:rPr>
              <a:t>) is equal to 1.</a:t>
            </a:r>
          </a:p>
        </p:txBody>
      </p:sp>
      <p:sp>
        <p:nvSpPr>
          <p:cNvPr id="253956" name="Text Box 4">
            <a:extLst>
              <a:ext uri="{FF2B5EF4-FFF2-40B4-BE49-F238E27FC236}">
                <a16:creationId xmlns:a16="http://schemas.microsoft.com/office/drawing/2014/main" id="{278FA856-5B39-4F37-4ADB-4494467D723A}"/>
              </a:ext>
            </a:extLst>
          </p:cNvPr>
          <p:cNvSpPr txBox="1">
            <a:spLocks noChangeArrowheads="1"/>
          </p:cNvSpPr>
          <p:nvPr/>
        </p:nvSpPr>
        <p:spPr bwMode="auto">
          <a:xfrm>
            <a:off x="1451115" y="4197506"/>
            <a:ext cx="6947452" cy="9556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Aft>
                <a:spcPts val="600"/>
              </a:spcAft>
              <a:defRPr/>
            </a:pPr>
            <a:r>
              <a:rPr lang="en-US" altLang="zh-CN" sz="2800" b="1" dirty="0">
                <a:latin typeface="Times New Roman" pitchFamily="18" charset="0"/>
              </a:rPr>
              <a:t>Essential point: </a:t>
            </a:r>
            <a:r>
              <a:rPr lang="en-US" altLang="zh-CN" sz="2800" dirty="0">
                <a:solidFill>
                  <a:srgbClr val="0000FF"/>
                </a:solidFill>
                <a:latin typeface="Times New Roman" pitchFamily="18" charset="0"/>
              </a:rPr>
              <a:t>An area under a continuous probability distribution is a probability.</a:t>
            </a:r>
          </a:p>
        </p:txBody>
      </p:sp>
      <p:sp>
        <p:nvSpPr>
          <p:cNvPr id="2" name="灯片编号占位符 16">
            <a:extLst>
              <a:ext uri="{FF2B5EF4-FFF2-40B4-BE49-F238E27FC236}">
                <a16:creationId xmlns:a16="http://schemas.microsoft.com/office/drawing/2014/main" id="{6816D99A-E0A6-964B-9B7C-2D6F0A9B042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708794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7D881E8A-022E-514F-A71C-2FCD982A44EF}"/>
              </a:ext>
            </a:extLst>
          </p:cNvPr>
          <p:cNvSpPr>
            <a:spLocks noGrp="1" noChangeArrowheads="1"/>
          </p:cNvSpPr>
          <p:nvPr>
            <p:ph type="title"/>
          </p:nvPr>
        </p:nvSpPr>
        <p:spPr>
          <a:xfrm>
            <a:off x="1319627" y="126311"/>
            <a:ext cx="4107138" cy="593725"/>
          </a:xfrm>
        </p:spPr>
        <p:txBody>
          <a:bodyPr>
            <a:normAutofit/>
          </a:bodyPr>
          <a:lstStyle/>
          <a:p>
            <a:pPr eaLnBrk="1" hangingPunct="1"/>
            <a:r>
              <a:rPr lang="en-US" altLang="zh-CN" sz="2800" b="1">
                <a:solidFill>
                  <a:srgbClr val="0000FF"/>
                </a:solidFill>
                <a:latin typeface="Times New Roman" panose="02020603050405020304" pitchFamily="18" charset="0"/>
                <a:cs typeface="Times New Roman" panose="02020603050405020304" pitchFamily="18" charset="0"/>
              </a:rPr>
              <a:t>Area and Probability</a:t>
            </a:r>
            <a:endParaRPr lang="en-US" altLang="zh-CN" sz="2800" b="1" dirty="0">
              <a:solidFill>
                <a:srgbClr val="0000FF"/>
              </a:solidFill>
              <a:latin typeface="Times New Roman" panose="02020603050405020304" pitchFamily="18" charset="0"/>
              <a:cs typeface="Times New Roman" panose="02020603050405020304" pitchFamily="18" charset="0"/>
            </a:endParaRPr>
          </a:p>
        </p:txBody>
      </p:sp>
      <p:sp>
        <p:nvSpPr>
          <p:cNvPr id="256003" name="Rectangle 3">
            <a:extLst>
              <a:ext uri="{FF2B5EF4-FFF2-40B4-BE49-F238E27FC236}">
                <a16:creationId xmlns:a16="http://schemas.microsoft.com/office/drawing/2014/main" id="{C572C7DA-7244-DA45-9ED5-D1636FC48247}"/>
              </a:ext>
            </a:extLst>
          </p:cNvPr>
          <p:cNvSpPr>
            <a:spLocks noGrp="1" noChangeArrowheads="1"/>
          </p:cNvSpPr>
          <p:nvPr>
            <p:ph type="body" idx="1"/>
          </p:nvPr>
        </p:nvSpPr>
        <p:spPr>
          <a:xfrm>
            <a:off x="1230638" y="742605"/>
            <a:ext cx="10358388" cy="2795588"/>
          </a:xfrm>
        </p:spPr>
        <p:txBody>
          <a:bodyPr/>
          <a:lstStyle/>
          <a:p>
            <a:pPr>
              <a:lnSpc>
                <a:spcPct val="95000"/>
              </a:lnSpc>
              <a:spcBef>
                <a:spcPct val="25000"/>
              </a:spcBef>
              <a:defRPr/>
            </a:pPr>
            <a:r>
              <a:rPr lang="en-US" altLang="zh-CN" sz="2600" dirty="0">
                <a:latin typeface="Times New Roman" pitchFamily="18" charset="0"/>
              </a:rPr>
              <a:t>The blue-colored area under the probability curve </a:t>
            </a:r>
            <a:r>
              <a:rPr lang="en-US" altLang="zh-CN" sz="2600" i="1" dirty="0">
                <a:latin typeface="Times New Roman" pitchFamily="18" charset="0"/>
              </a:rPr>
              <a:t>f</a:t>
            </a:r>
            <a:r>
              <a:rPr lang="en-US" altLang="zh-CN" sz="2600" dirty="0">
                <a:latin typeface="Times New Roman" pitchFamily="18" charset="0"/>
              </a:rPr>
              <a:t>(</a:t>
            </a:r>
            <a:r>
              <a:rPr lang="en-US" altLang="zh-CN" sz="2600" i="1" dirty="0">
                <a:latin typeface="Times New Roman" pitchFamily="18" charset="0"/>
              </a:rPr>
              <a:t>x</a:t>
            </a:r>
            <a:r>
              <a:rPr lang="en-US" altLang="zh-CN" sz="2600" dirty="0">
                <a:latin typeface="Times New Roman" pitchFamily="18" charset="0"/>
              </a:rPr>
              <a:t>) from the value </a:t>
            </a:r>
            <a:r>
              <a:rPr lang="en-US" altLang="zh-CN" sz="2600" i="1" dirty="0">
                <a:latin typeface="Times New Roman" pitchFamily="18" charset="0"/>
              </a:rPr>
              <a:t>x</a:t>
            </a:r>
            <a:r>
              <a:rPr lang="en-US" altLang="zh-CN" sz="2600" dirty="0">
                <a:latin typeface="Times New Roman" pitchFamily="18" charset="0"/>
              </a:rPr>
              <a:t> = </a:t>
            </a:r>
            <a:r>
              <a:rPr lang="en-US" altLang="zh-CN" sz="2600" i="1" dirty="0">
                <a:latin typeface="Times New Roman" pitchFamily="18" charset="0"/>
              </a:rPr>
              <a:t>a</a:t>
            </a:r>
            <a:r>
              <a:rPr lang="en-US" altLang="zh-CN" sz="2600" dirty="0">
                <a:latin typeface="Times New Roman" pitchFamily="18" charset="0"/>
              </a:rPr>
              <a:t> to </a:t>
            </a:r>
            <a:r>
              <a:rPr lang="en-US" altLang="zh-CN" sz="2600" i="1" dirty="0">
                <a:latin typeface="Times New Roman" pitchFamily="18" charset="0"/>
              </a:rPr>
              <a:t>x</a:t>
            </a:r>
            <a:r>
              <a:rPr lang="en-US" altLang="zh-CN" sz="2600" dirty="0">
                <a:latin typeface="Times New Roman" pitchFamily="18" charset="0"/>
              </a:rPr>
              <a:t> = </a:t>
            </a:r>
            <a:r>
              <a:rPr lang="en-US" altLang="zh-CN" sz="2600" i="1" dirty="0">
                <a:latin typeface="Times New Roman" pitchFamily="18" charset="0"/>
              </a:rPr>
              <a:t>b</a:t>
            </a:r>
            <a:r>
              <a:rPr lang="en-US" altLang="zh-CN" sz="2600" dirty="0">
                <a:latin typeface="Times New Roman" pitchFamily="18" charset="0"/>
              </a:rPr>
              <a:t> is the probability that </a:t>
            </a:r>
            <a:r>
              <a:rPr lang="en-US" altLang="zh-CN" sz="2600" i="1" dirty="0">
                <a:latin typeface="Times New Roman" pitchFamily="18" charset="0"/>
              </a:rPr>
              <a:t>x</a:t>
            </a:r>
            <a:r>
              <a:rPr lang="en-US" altLang="zh-CN" sz="2600" dirty="0">
                <a:latin typeface="Times New Roman" pitchFamily="18" charset="0"/>
              </a:rPr>
              <a:t> could take any value in the range </a:t>
            </a:r>
            <a:r>
              <a:rPr lang="en-US" altLang="zh-CN" sz="2600" i="1" dirty="0">
                <a:latin typeface="Times New Roman" pitchFamily="18" charset="0"/>
              </a:rPr>
              <a:t>a</a:t>
            </a:r>
            <a:r>
              <a:rPr lang="en-US" altLang="zh-CN" sz="2600" dirty="0">
                <a:latin typeface="Times New Roman" pitchFamily="18" charset="0"/>
              </a:rPr>
              <a:t> to </a:t>
            </a:r>
            <a:r>
              <a:rPr lang="en-US" altLang="zh-CN" sz="2600" i="1" dirty="0">
                <a:latin typeface="Times New Roman" pitchFamily="18" charset="0"/>
              </a:rPr>
              <a:t>b</a:t>
            </a:r>
            <a:r>
              <a:rPr lang="en-US" altLang="zh-CN" sz="2600" dirty="0">
                <a:latin typeface="Times New Roman" pitchFamily="18" charset="0"/>
              </a:rPr>
              <a:t>.</a:t>
            </a:r>
          </a:p>
          <a:p>
            <a:pPr lvl="1">
              <a:lnSpc>
                <a:spcPct val="95000"/>
              </a:lnSpc>
              <a:spcBef>
                <a:spcPct val="25000"/>
              </a:spcBef>
              <a:defRPr/>
            </a:pPr>
            <a:r>
              <a:rPr lang="en-US" altLang="zh-CN" dirty="0">
                <a:latin typeface="Times New Roman" pitchFamily="18" charset="0"/>
              </a:rPr>
              <a:t>Symbolized as </a:t>
            </a:r>
            <a:r>
              <a:rPr lang="en-US" altLang="zh-CN" i="1" dirty="0">
                <a:solidFill>
                  <a:srgbClr val="FF0000"/>
                </a:solidFill>
                <a:latin typeface="Times New Roman" pitchFamily="18" charset="0"/>
              </a:rPr>
              <a:t>P</a:t>
            </a:r>
            <a:r>
              <a:rPr lang="en-US" altLang="zh-CN" dirty="0">
                <a:solidFill>
                  <a:srgbClr val="FF0000"/>
                </a:solidFill>
                <a:latin typeface="Times New Roman" pitchFamily="18" charset="0"/>
              </a:rPr>
              <a:t>(</a:t>
            </a:r>
            <a:r>
              <a:rPr lang="en-US" altLang="zh-CN" i="1" dirty="0">
                <a:solidFill>
                  <a:srgbClr val="FF0000"/>
                </a:solidFill>
                <a:latin typeface="Times New Roman" pitchFamily="18" charset="0"/>
              </a:rPr>
              <a:t>a</a:t>
            </a:r>
            <a:r>
              <a:rPr lang="en-US" altLang="zh-CN" dirty="0">
                <a:solidFill>
                  <a:srgbClr val="FF0000"/>
                </a:solidFill>
                <a:latin typeface="Times New Roman" pitchFamily="18" charset="0"/>
              </a:rPr>
              <a:t> </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Times New Roman" pitchFamily="18" charset="0"/>
              </a:rPr>
              <a:t> </a:t>
            </a:r>
            <a:r>
              <a:rPr lang="en-US" altLang="zh-CN" i="1" dirty="0">
                <a:solidFill>
                  <a:srgbClr val="FF0000"/>
                </a:solidFill>
                <a:latin typeface="Times New Roman" pitchFamily="18" charset="0"/>
              </a:rPr>
              <a:t>x</a:t>
            </a:r>
            <a:r>
              <a:rPr lang="en-US" altLang="zh-CN" dirty="0">
                <a:solidFill>
                  <a:srgbClr val="FF0000"/>
                </a:solidFill>
                <a:latin typeface="Times New Roman" pitchFamily="18" charset="0"/>
              </a:rPr>
              <a:t> </a:t>
            </a:r>
            <a:r>
              <a:rPr lang="en-US" altLang="zh-CN" dirty="0">
                <a:solidFill>
                  <a:srgbClr val="FF0000"/>
                </a:solidFill>
                <a:latin typeface="Times New Roman" pitchFamily="18" charset="0"/>
                <a:sym typeface="Symbol" pitchFamily="18" charset="2"/>
              </a:rPr>
              <a:t></a:t>
            </a:r>
            <a:r>
              <a:rPr lang="en-US" altLang="zh-CN" dirty="0">
                <a:solidFill>
                  <a:srgbClr val="FF0000"/>
                </a:solidFill>
                <a:latin typeface="Times New Roman" pitchFamily="18" charset="0"/>
              </a:rPr>
              <a:t> </a:t>
            </a:r>
            <a:r>
              <a:rPr lang="en-US" altLang="zh-CN" i="1" dirty="0">
                <a:solidFill>
                  <a:srgbClr val="FF0000"/>
                </a:solidFill>
                <a:latin typeface="Times New Roman" pitchFamily="18" charset="0"/>
              </a:rPr>
              <a:t>b</a:t>
            </a:r>
            <a:r>
              <a:rPr lang="en-US" altLang="zh-CN" dirty="0">
                <a:solidFill>
                  <a:srgbClr val="FF0000"/>
                </a:solidFill>
                <a:latin typeface="Times New Roman" pitchFamily="18" charset="0"/>
              </a:rPr>
              <a:t>)</a:t>
            </a:r>
          </a:p>
          <a:p>
            <a:pPr lvl="2">
              <a:lnSpc>
                <a:spcPct val="95000"/>
              </a:lnSpc>
              <a:spcBef>
                <a:spcPct val="25000"/>
              </a:spcBef>
              <a:defRPr/>
            </a:pPr>
            <a:r>
              <a:rPr lang="en-US" altLang="zh-CN" sz="2600" dirty="0">
                <a:latin typeface="Times New Roman" pitchFamily="18" charset="0"/>
              </a:rPr>
              <a:t>Or as </a:t>
            </a:r>
            <a:r>
              <a:rPr lang="en-US" altLang="zh-CN" sz="2600" i="1" dirty="0">
                <a:solidFill>
                  <a:srgbClr val="FF0000"/>
                </a:solidFill>
                <a:latin typeface="Times New Roman" pitchFamily="18" charset="0"/>
              </a:rPr>
              <a:t>P</a:t>
            </a:r>
            <a:r>
              <a:rPr lang="en-US" altLang="zh-CN" sz="2600" dirty="0">
                <a:solidFill>
                  <a:srgbClr val="FF0000"/>
                </a:solidFill>
                <a:latin typeface="Times New Roman" pitchFamily="18" charset="0"/>
              </a:rPr>
              <a:t>(</a:t>
            </a:r>
            <a:r>
              <a:rPr lang="en-US" altLang="zh-CN" sz="2600" i="1" dirty="0">
                <a:solidFill>
                  <a:srgbClr val="FF0000"/>
                </a:solidFill>
                <a:latin typeface="Times New Roman" pitchFamily="18" charset="0"/>
              </a:rPr>
              <a:t>a</a:t>
            </a:r>
            <a:r>
              <a:rPr lang="en-US" altLang="zh-CN" sz="2600" dirty="0">
                <a:solidFill>
                  <a:srgbClr val="FF0000"/>
                </a:solidFill>
                <a:latin typeface="Times New Roman" pitchFamily="18" charset="0"/>
              </a:rPr>
              <a:t> </a:t>
            </a:r>
            <a:r>
              <a:rPr lang="en-US" altLang="zh-CN" sz="2600" dirty="0">
                <a:solidFill>
                  <a:srgbClr val="FF0000"/>
                </a:solidFill>
                <a:latin typeface="Times New Roman" pitchFamily="18" charset="0"/>
                <a:sym typeface="Symbol" pitchFamily="18" charset="2"/>
              </a:rPr>
              <a:t>&lt;</a:t>
            </a:r>
            <a:r>
              <a:rPr lang="en-US" altLang="zh-CN" sz="2600" dirty="0">
                <a:solidFill>
                  <a:srgbClr val="FF0000"/>
                </a:solidFill>
                <a:latin typeface="Times New Roman" pitchFamily="18" charset="0"/>
              </a:rPr>
              <a:t> </a:t>
            </a:r>
            <a:r>
              <a:rPr lang="en-US" altLang="zh-CN" sz="2600" i="1" dirty="0">
                <a:solidFill>
                  <a:srgbClr val="FF0000"/>
                </a:solidFill>
                <a:latin typeface="Times New Roman" pitchFamily="18" charset="0"/>
              </a:rPr>
              <a:t>x</a:t>
            </a:r>
            <a:r>
              <a:rPr lang="en-US" altLang="zh-CN" sz="2600" dirty="0">
                <a:solidFill>
                  <a:srgbClr val="FF0000"/>
                </a:solidFill>
                <a:latin typeface="Times New Roman" pitchFamily="18" charset="0"/>
              </a:rPr>
              <a:t> </a:t>
            </a:r>
            <a:r>
              <a:rPr lang="en-US" altLang="zh-CN" sz="2600" dirty="0">
                <a:solidFill>
                  <a:srgbClr val="FF0000"/>
                </a:solidFill>
                <a:latin typeface="Times New Roman" pitchFamily="18" charset="0"/>
                <a:sym typeface="Symbol" pitchFamily="18" charset="2"/>
              </a:rPr>
              <a:t>&lt;</a:t>
            </a:r>
            <a:r>
              <a:rPr lang="en-US" altLang="zh-CN" sz="2600" dirty="0">
                <a:solidFill>
                  <a:srgbClr val="FF0000"/>
                </a:solidFill>
                <a:latin typeface="Times New Roman" pitchFamily="18" charset="0"/>
              </a:rPr>
              <a:t> </a:t>
            </a:r>
            <a:r>
              <a:rPr lang="en-US" altLang="zh-CN" sz="2600" i="1" dirty="0">
                <a:solidFill>
                  <a:srgbClr val="FF0000"/>
                </a:solidFill>
                <a:latin typeface="Times New Roman" pitchFamily="18" charset="0"/>
              </a:rPr>
              <a:t>b</a:t>
            </a:r>
            <a:r>
              <a:rPr lang="en-US" altLang="zh-CN" sz="2600" dirty="0">
                <a:solidFill>
                  <a:srgbClr val="FF0000"/>
                </a:solidFill>
                <a:latin typeface="Times New Roman" pitchFamily="18" charset="0"/>
              </a:rPr>
              <a:t>), </a:t>
            </a:r>
            <a:r>
              <a:rPr lang="en-US" altLang="zh-CN" sz="2600" dirty="0">
                <a:latin typeface="Times New Roman" pitchFamily="18" charset="0"/>
              </a:rPr>
              <a:t>because each of the interval endpoints has a probability of 0.</a:t>
            </a:r>
          </a:p>
        </p:txBody>
      </p:sp>
      <p:pic>
        <p:nvPicPr>
          <p:cNvPr id="2" name="Picture 1">
            <a:extLst>
              <a:ext uri="{FF2B5EF4-FFF2-40B4-BE49-F238E27FC236}">
                <a16:creationId xmlns:a16="http://schemas.microsoft.com/office/drawing/2014/main" id="{C80F47B8-C1E4-058E-F011-5F55D1C4D530}"/>
              </a:ext>
            </a:extLst>
          </p:cNvPr>
          <p:cNvPicPr>
            <a:picLocks noChangeAspect="1"/>
          </p:cNvPicPr>
          <p:nvPr/>
        </p:nvPicPr>
        <p:blipFill>
          <a:blip r:embed="rId2"/>
          <a:stretch>
            <a:fillRect/>
          </a:stretch>
        </p:blipFill>
        <p:spPr>
          <a:xfrm>
            <a:off x="2425146" y="3028891"/>
            <a:ext cx="7005661" cy="3760348"/>
          </a:xfrm>
          <a:prstGeom prst="rect">
            <a:avLst/>
          </a:prstGeom>
        </p:spPr>
      </p:pic>
      <p:sp>
        <p:nvSpPr>
          <p:cNvPr id="3" name="灯片编号占位符 16">
            <a:extLst>
              <a:ext uri="{FF2B5EF4-FFF2-40B4-BE49-F238E27FC236}">
                <a16:creationId xmlns:a16="http://schemas.microsoft.com/office/drawing/2014/main" id="{042769B0-C773-1A6E-F245-40D6B63082EE}"/>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3636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ADC17-6575-DCF4-0660-8CCB3141C2DA}"/>
            </a:ext>
          </a:extLst>
        </p:cNvPr>
        <p:cNvGrpSpPr/>
        <p:nvPr/>
      </p:nvGrpSpPr>
      <p:grpSpPr>
        <a:xfrm>
          <a:off x="0" y="0"/>
          <a:ext cx="0" cy="0"/>
          <a:chOff x="0" y="0"/>
          <a:chExt cx="0" cy="0"/>
        </a:xfrm>
      </p:grpSpPr>
      <p:sp>
        <p:nvSpPr>
          <p:cNvPr id="8195" name="Rectangle 2">
            <a:extLst>
              <a:ext uri="{FF2B5EF4-FFF2-40B4-BE49-F238E27FC236}">
                <a16:creationId xmlns:a16="http://schemas.microsoft.com/office/drawing/2014/main" id="{A945E9EF-B3B4-961C-457B-CCA18924A711}"/>
              </a:ext>
            </a:extLst>
          </p:cNvPr>
          <p:cNvSpPr>
            <a:spLocks noGrp="1" noChangeArrowheads="1"/>
          </p:cNvSpPr>
          <p:nvPr>
            <p:ph type="title"/>
          </p:nvPr>
        </p:nvSpPr>
        <p:spPr>
          <a:xfrm>
            <a:off x="733688" y="224405"/>
            <a:ext cx="11062252" cy="6355299"/>
          </a:xfrm>
        </p:spPr>
        <p:txBody>
          <a:bodyPr vert="horz" lIns="91440" tIns="45720" rIns="91440" bIns="45720" rtlCol="0" anchor="ctr">
            <a:noAutofit/>
          </a:bodyPr>
          <a:lstStyle/>
          <a:p>
            <a:pPr>
              <a:lnSpc>
                <a:spcPct val="100000"/>
              </a:lnSpc>
              <a:spcBef>
                <a:spcPts val="4800"/>
              </a:spcBef>
            </a:pPr>
            <a:r>
              <a:rPr lang="en-AU" sz="2600" dirty="0">
                <a:latin typeface="Times New Roman" panose="02020603050405020304" pitchFamily="18" charset="0"/>
                <a:ea typeface="Tahoma" panose="020B0604030504040204" pitchFamily="34" charset="0"/>
                <a:cs typeface="Times New Roman" panose="02020603050405020304" pitchFamily="18" charset="0"/>
              </a:rPr>
              <a:t>As an </a:t>
            </a:r>
            <a:r>
              <a:rPr lang="en-AU" sz="2600" b="1" dirty="0">
                <a:solidFill>
                  <a:srgbClr val="0000FF"/>
                </a:solidFill>
                <a:highlight>
                  <a:srgbClr val="FFFF00"/>
                </a:highlight>
                <a:latin typeface="Times New Roman" panose="02020603050405020304" pitchFamily="18" charset="0"/>
                <a:ea typeface="Tahoma" panose="020B0604030504040204" pitchFamily="34" charset="0"/>
                <a:cs typeface="Times New Roman" panose="02020603050405020304" pitchFamily="18" charset="0"/>
              </a:rPr>
              <a:t>example</a:t>
            </a:r>
            <a:r>
              <a:rPr lang="en-AU" sz="2600" dirty="0">
                <a:latin typeface="Times New Roman" panose="02020603050405020304" pitchFamily="18" charset="0"/>
                <a:ea typeface="Tahoma" panose="020B0604030504040204" pitchFamily="34" charset="0"/>
                <a:cs typeface="Times New Roman" panose="02020603050405020304" pitchFamily="18" charset="0"/>
              </a:rPr>
              <a:t> of using a continuous probability distribution to describe a random variable,</a:t>
            </a:r>
            <a:br>
              <a:rPr lang="en-AU" sz="2600" dirty="0">
                <a:latin typeface="Times New Roman" panose="02020603050405020304" pitchFamily="18" charset="0"/>
                <a:ea typeface="Tahoma" panose="020B0604030504040204" pitchFamily="34" charset="0"/>
                <a:cs typeface="Times New Roman" panose="02020603050405020304" pitchFamily="18" charset="0"/>
              </a:rPr>
            </a:br>
            <a:r>
              <a:rPr lang="en-AU" sz="2600" dirty="0">
                <a:latin typeface="Times New Roman" panose="02020603050405020304" pitchFamily="18" charset="0"/>
                <a:ea typeface="Tahoma" panose="020B0604030504040204" pitchFamily="34" charset="0"/>
                <a:cs typeface="Times New Roman" panose="02020603050405020304" pitchFamily="18" charset="0"/>
              </a:rPr>
              <a:t>(a) Suppose that the fast-food restaurant studies the temperature of the coffee being dispensed</a:t>
            </a:r>
            <a:br>
              <a:rPr lang="en-AU" sz="2600" dirty="0">
                <a:latin typeface="Times New Roman" panose="02020603050405020304" pitchFamily="18" charset="0"/>
                <a:ea typeface="Tahoma" panose="020B0604030504040204" pitchFamily="34" charset="0"/>
                <a:cs typeface="Times New Roman" panose="02020603050405020304" pitchFamily="18" charset="0"/>
              </a:rPr>
            </a:br>
            <a:br>
              <a:rPr lang="en-AU" sz="1200" dirty="0">
                <a:latin typeface="Times New Roman" panose="02020603050405020304" pitchFamily="18" charset="0"/>
                <a:ea typeface="Tahoma" panose="020B0604030504040204" pitchFamily="34" charset="0"/>
                <a:cs typeface="Times New Roman" panose="02020603050405020304" pitchFamily="18" charset="0"/>
              </a:rPr>
            </a:br>
            <a:r>
              <a:rPr lang="en-AU" sz="2600" dirty="0">
                <a:latin typeface="Times New Roman" panose="02020603050405020304" pitchFamily="18" charset="0"/>
                <a:ea typeface="Tahoma" panose="020B0604030504040204" pitchFamily="34" charset="0"/>
                <a:cs typeface="Times New Roman" panose="02020603050405020304" pitchFamily="18" charset="0"/>
              </a:rPr>
              <a:t>(b) Giving the 48 coffee temperatures in Figure 6.1(a)</a:t>
            </a:r>
            <a:br>
              <a:rPr lang="en-AU" sz="2600" dirty="0">
                <a:latin typeface="Times New Roman" panose="02020603050405020304" pitchFamily="18" charset="0"/>
                <a:ea typeface="Tahoma" panose="020B0604030504040204" pitchFamily="34" charset="0"/>
                <a:cs typeface="Times New Roman" panose="02020603050405020304" pitchFamily="18" charset="0"/>
              </a:rPr>
            </a:br>
            <a:br>
              <a:rPr lang="en-AU" sz="1200" dirty="0">
                <a:latin typeface="Times New Roman" panose="02020603050405020304" pitchFamily="18" charset="0"/>
                <a:ea typeface="Tahoma" panose="020B0604030504040204" pitchFamily="34" charset="0"/>
                <a:cs typeface="Times New Roman" panose="02020603050405020304" pitchFamily="18" charset="0"/>
              </a:rPr>
            </a:br>
            <a:r>
              <a:rPr lang="en-AU" sz="2600" dirty="0">
                <a:latin typeface="Times New Roman" panose="02020603050405020304" pitchFamily="18" charset="0"/>
                <a:ea typeface="Tahoma" panose="020B0604030504040204" pitchFamily="34" charset="0"/>
                <a:cs typeface="Times New Roman" panose="02020603050405020304" pitchFamily="18" charset="0"/>
              </a:rPr>
              <a:t>(c) Figure 6.1(b) shows a percent frequency histogram of the coffee temperatures</a:t>
            </a:r>
            <a:br>
              <a:rPr lang="en-AU" sz="2600" dirty="0">
                <a:latin typeface="Times New Roman" panose="02020603050405020304" pitchFamily="18" charset="0"/>
                <a:ea typeface="Tahoma" panose="020B0604030504040204" pitchFamily="34" charset="0"/>
                <a:cs typeface="Times New Roman" panose="02020603050405020304" pitchFamily="18" charset="0"/>
              </a:rPr>
            </a:br>
            <a:br>
              <a:rPr lang="en-AU" sz="1200" dirty="0">
                <a:latin typeface="Times New Roman" panose="02020603050405020304" pitchFamily="18" charset="0"/>
                <a:ea typeface="Tahoma" panose="020B0604030504040204" pitchFamily="34" charset="0"/>
                <a:cs typeface="Times New Roman" panose="02020603050405020304" pitchFamily="18" charset="0"/>
              </a:rPr>
            </a:br>
            <a:r>
              <a:rPr lang="en-AU" sz="2600" dirty="0">
                <a:latin typeface="Times New Roman" panose="02020603050405020304" pitchFamily="18" charset="0"/>
                <a:ea typeface="Tahoma" panose="020B0604030504040204" pitchFamily="34" charset="0"/>
                <a:cs typeface="Times New Roman" panose="02020603050405020304" pitchFamily="18" charset="0"/>
              </a:rPr>
              <a:t>(d) If we </a:t>
            </a:r>
            <a:r>
              <a:rPr lang="en-AU" sz="2600" dirty="0">
                <a:latin typeface="Times New Roman" panose="02020603050405020304" pitchFamily="18" charset="0"/>
                <a:cs typeface="Times New Roman" panose="02020603050405020304" pitchFamily="18" charset="0"/>
              </a:rPr>
              <a:t>were to smooth out the histogram with a continuous curve, we would get a curve similar to the symmetrical and bell-shaped curve in Figure 6.1(c)</a:t>
            </a:r>
            <a:br>
              <a:rPr lang="en-AU" sz="2600" dirty="0">
                <a:latin typeface="Times New Roman" panose="02020603050405020304" pitchFamily="18" charset="0"/>
                <a:cs typeface="Times New Roman" panose="02020603050405020304" pitchFamily="18" charset="0"/>
              </a:rPr>
            </a:br>
            <a:br>
              <a:rPr lang="en-AU" sz="1200" dirty="0">
                <a:latin typeface="Times New Roman" panose="02020603050405020304" pitchFamily="18" charset="0"/>
                <a:cs typeface="Times New Roman" panose="02020603050405020304" pitchFamily="18" charset="0"/>
              </a:rPr>
            </a:br>
            <a:r>
              <a:rPr lang="en-AU" sz="2600" dirty="0">
                <a:latin typeface="Times New Roman" panose="02020603050405020304" pitchFamily="18" charset="0"/>
                <a:cs typeface="Times New Roman" panose="02020603050405020304" pitchFamily="18" charset="0"/>
              </a:rPr>
              <a:t>(e) One continuous probability distribution that graphs as a symmetrical and bell-shaped curve is the normal probability distribution (or normal curve)</a:t>
            </a:r>
            <a:br>
              <a:rPr lang="en-AU" sz="2600" dirty="0">
                <a:latin typeface="Times New Roman" panose="02020603050405020304" pitchFamily="18" charset="0"/>
                <a:cs typeface="Times New Roman" panose="02020603050405020304" pitchFamily="18" charset="0"/>
              </a:rPr>
            </a:br>
            <a:br>
              <a:rPr lang="en-AU" sz="1200" dirty="0">
                <a:latin typeface="Times New Roman" panose="02020603050405020304" pitchFamily="18" charset="0"/>
                <a:cs typeface="Times New Roman" panose="02020603050405020304" pitchFamily="18" charset="0"/>
              </a:rPr>
            </a:br>
            <a:r>
              <a:rPr lang="en-AU" sz="2600" dirty="0">
                <a:latin typeface="Times New Roman" panose="02020603050405020304" pitchFamily="18" charset="0"/>
                <a:cs typeface="Times New Roman" panose="02020603050405020304" pitchFamily="18" charset="0"/>
              </a:rPr>
              <a:t>(f) The coffee temperature histogram looks like a normal curve. So, it is reasonable to conclude that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the temperature of a randomly selected cup of coffee at the fast-food restaurant, is described by a normal probability distribution</a:t>
            </a:r>
            <a:endParaRPr lang="en-US" altLang="zh-TW" sz="2600" dirty="0">
              <a:solidFill>
                <a:srgbClr val="0000FF"/>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48BFC498-729F-0DFE-F7C6-279768557D2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46416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61E3-4EB0-3CD0-62AC-ADCF67B87F53}"/>
            </a:ext>
          </a:extLst>
        </p:cNvPr>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BB4683CA-EC6A-B20E-ADF7-2D6064EECFA3}"/>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 name="Picture 5">
            <a:extLst>
              <a:ext uri="{FF2B5EF4-FFF2-40B4-BE49-F238E27FC236}">
                <a16:creationId xmlns:a16="http://schemas.microsoft.com/office/drawing/2014/main" id="{3C3F9E28-896A-0583-52C6-B36066C080DF}"/>
              </a:ext>
            </a:extLst>
          </p:cNvPr>
          <p:cNvPicPr>
            <a:picLocks noChangeAspect="1"/>
          </p:cNvPicPr>
          <p:nvPr/>
        </p:nvPicPr>
        <p:blipFill>
          <a:blip r:embed="rId3"/>
          <a:stretch>
            <a:fillRect/>
          </a:stretch>
        </p:blipFill>
        <p:spPr>
          <a:xfrm>
            <a:off x="1121465" y="260036"/>
            <a:ext cx="9949070" cy="6337927"/>
          </a:xfrm>
          <a:prstGeom prst="rect">
            <a:avLst/>
          </a:prstGeom>
        </p:spPr>
      </p:pic>
    </p:spTree>
    <p:extLst>
      <p:ext uri="{BB962C8B-B14F-4D97-AF65-F5344CB8AC3E}">
        <p14:creationId xmlns:p14="http://schemas.microsoft.com/office/powerpoint/2010/main" val="287464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846D-8A2E-F72C-5E34-DE99D915BD25}"/>
            </a:ext>
          </a:extLst>
        </p:cNvPr>
        <p:cNvGrpSpPr/>
        <p:nvPr/>
      </p:nvGrpSpPr>
      <p:grpSpPr>
        <a:xfrm>
          <a:off x="0" y="0"/>
          <a:ext cx="0" cy="0"/>
          <a:chOff x="0" y="0"/>
          <a:chExt cx="0" cy="0"/>
        </a:xfrm>
      </p:grpSpPr>
      <p:sp>
        <p:nvSpPr>
          <p:cNvPr id="8195" name="Rectangle 2">
            <a:extLst>
              <a:ext uri="{FF2B5EF4-FFF2-40B4-BE49-F238E27FC236}">
                <a16:creationId xmlns:a16="http://schemas.microsoft.com/office/drawing/2014/main" id="{76A734B7-7892-8273-6F42-B06F9D084BE9}"/>
              </a:ext>
            </a:extLst>
          </p:cNvPr>
          <p:cNvSpPr>
            <a:spLocks noGrp="1" noChangeArrowheads="1"/>
          </p:cNvSpPr>
          <p:nvPr>
            <p:ph type="title"/>
          </p:nvPr>
        </p:nvSpPr>
        <p:spPr>
          <a:xfrm>
            <a:off x="278297" y="472881"/>
            <a:ext cx="11559207" cy="4983702"/>
          </a:xfrm>
        </p:spPr>
        <p:txBody>
          <a:bodyPr vert="horz" lIns="91440" tIns="45720" rIns="91440" bIns="45720" rtlCol="0" anchor="ctr">
            <a:noAutofit/>
          </a:bodyPr>
          <a:lstStyle/>
          <a:p>
            <a:pPr>
              <a:lnSpc>
                <a:spcPct val="100000"/>
              </a:lnSpc>
            </a:pPr>
            <a:r>
              <a:rPr lang="en-AU" sz="2600" dirty="0">
                <a:latin typeface="Times New Roman" panose="02020603050405020304" pitchFamily="18" charset="0"/>
                <a:cs typeface="Times New Roman" panose="02020603050405020304" pitchFamily="18" charset="0"/>
              </a:rPr>
              <a:t>(g) Experience shows that the best coffee temperature is between 153° and 167°.</a:t>
            </a:r>
            <a:br>
              <a:rPr lang="en-AU" sz="2600" dirty="0">
                <a:latin typeface="Times New Roman" panose="02020603050405020304" pitchFamily="18" charset="0"/>
                <a:cs typeface="Times New Roman" panose="02020603050405020304" pitchFamily="18" charset="0"/>
              </a:rPr>
            </a:br>
            <a:br>
              <a:rPr lang="en-AU" sz="1200" dirty="0">
                <a:latin typeface="Times New Roman" panose="02020603050405020304" pitchFamily="18" charset="0"/>
                <a:cs typeface="Times New Roman" panose="02020603050405020304" pitchFamily="18" charset="0"/>
              </a:rPr>
            </a:br>
            <a:r>
              <a:rPr lang="en-AU" sz="2600" dirty="0">
                <a:latin typeface="Times New Roman" panose="02020603050405020304" pitchFamily="18" charset="0"/>
                <a:cs typeface="Times New Roman" panose="02020603050405020304" pitchFamily="18" charset="0"/>
              </a:rPr>
              <a:t>(h) It follows that the probability that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will be between 153° and 167° is the area under the coffee temperature normal curve between 153 and 167.</a:t>
            </a:r>
            <a:br>
              <a:rPr lang="en-AU" sz="2600" dirty="0">
                <a:latin typeface="Times New Roman" panose="02020603050405020304" pitchFamily="18" charset="0"/>
                <a:cs typeface="Times New Roman" panose="02020603050405020304" pitchFamily="18" charset="0"/>
              </a:rPr>
            </a:br>
            <a:br>
              <a:rPr lang="en-AU" sz="1200" dirty="0">
                <a:latin typeface="Times New Roman" panose="02020603050405020304" pitchFamily="18" charset="0"/>
                <a:cs typeface="Times New Roman" panose="02020603050405020304" pitchFamily="18" charset="0"/>
              </a:rPr>
            </a:br>
            <a:r>
              <a:rPr lang="en-AU" sz="2600" dirty="0">
                <a:latin typeface="Times New Roman" panose="02020603050405020304" pitchFamily="18" charset="0"/>
                <a:cs typeface="Times New Roman" panose="02020603050405020304" pitchFamily="18" charset="0"/>
              </a:rPr>
              <a:t>(</a:t>
            </a:r>
            <a:r>
              <a:rPr lang="en-AU" sz="2600" dirty="0" err="1">
                <a:latin typeface="Times New Roman" panose="02020603050405020304" pitchFamily="18" charset="0"/>
                <a:cs typeface="Times New Roman" panose="02020603050405020304" pitchFamily="18" charset="0"/>
              </a:rPr>
              <a:t>i</a:t>
            </a:r>
            <a:r>
              <a:rPr lang="en-AU" sz="2600" dirty="0">
                <a:latin typeface="Times New Roman" panose="02020603050405020304" pitchFamily="18" charset="0"/>
                <a:cs typeface="Times New Roman" panose="02020603050405020304" pitchFamily="18" charset="0"/>
              </a:rPr>
              <a:t>) In </a:t>
            </a:r>
            <a:r>
              <a:rPr lang="en-AU" sz="2600" dirty="0">
                <a:solidFill>
                  <a:srgbClr val="FF0000"/>
                </a:solidFill>
                <a:latin typeface="Times New Roman" panose="02020603050405020304" pitchFamily="18" charset="0"/>
                <a:cs typeface="Times New Roman" panose="02020603050405020304" pitchFamily="18" charset="0"/>
              </a:rPr>
              <a:t>Section 6.3</a:t>
            </a:r>
            <a:r>
              <a:rPr lang="en-AU" sz="2600" dirty="0">
                <a:latin typeface="Times New Roman" panose="02020603050405020304" pitchFamily="18" charset="0"/>
                <a:cs typeface="Times New Roman" panose="02020603050405020304" pitchFamily="18" charset="0"/>
              </a:rPr>
              <a:t>, where we discuss the normal curve in detail, we will find that this area is 0.7223. That is, in probability notation: </a:t>
            </a:r>
            <a:r>
              <a:rPr lang="en-AU" sz="2600" i="1" dirty="0">
                <a:latin typeface="Times New Roman" panose="02020603050405020304" pitchFamily="18" charset="0"/>
                <a:cs typeface="Times New Roman" panose="02020603050405020304" pitchFamily="18" charset="0"/>
              </a:rPr>
              <a:t>P</a:t>
            </a:r>
            <a:r>
              <a:rPr lang="en-AU" sz="2600" dirty="0">
                <a:latin typeface="Times New Roman" panose="02020603050405020304" pitchFamily="18" charset="0"/>
                <a:cs typeface="Times New Roman" panose="02020603050405020304" pitchFamily="18" charset="0"/>
              </a:rPr>
              <a:t>(153 &lt; </a:t>
            </a:r>
            <a:r>
              <a:rPr lang="en-AU" sz="2600" i="1" dirty="0">
                <a:latin typeface="Times New Roman" panose="02020603050405020304" pitchFamily="18" charset="0"/>
                <a:cs typeface="Times New Roman" panose="02020603050405020304" pitchFamily="18" charset="0"/>
              </a:rPr>
              <a:t>x &lt;</a:t>
            </a:r>
            <a:r>
              <a:rPr lang="en-AU" sz="2600" dirty="0">
                <a:latin typeface="Times New Roman" panose="02020603050405020304" pitchFamily="18" charset="0"/>
                <a:cs typeface="Times New Roman" panose="02020603050405020304" pitchFamily="18" charset="0"/>
              </a:rPr>
              <a:t> 167) = 0.7223 (see the blue area in Figure 6.1(c)).</a:t>
            </a:r>
            <a:br>
              <a:rPr lang="en-AU" sz="2600" dirty="0">
                <a:latin typeface="Times New Roman" panose="02020603050405020304" pitchFamily="18" charset="0"/>
                <a:cs typeface="Times New Roman" panose="02020603050405020304" pitchFamily="18" charset="0"/>
              </a:rPr>
            </a:br>
            <a:br>
              <a:rPr lang="en-AU" sz="1200" dirty="0">
                <a:latin typeface="Times New Roman" panose="02020603050405020304" pitchFamily="18" charset="0"/>
                <a:cs typeface="Times New Roman" panose="02020603050405020304" pitchFamily="18" charset="0"/>
              </a:rPr>
            </a:br>
            <a:r>
              <a:rPr lang="en-AU" sz="2600" dirty="0">
                <a:latin typeface="Times New Roman" panose="02020603050405020304" pitchFamily="18" charset="0"/>
                <a:cs typeface="Times New Roman" panose="02020603050405020304" pitchFamily="18" charset="0"/>
              </a:rPr>
              <a:t>(j) In conclusion, we estimate that 72.23 percent of the coffee served at the restaurant is within the range of temperatures that is best and 27.77 percent of the coffee served is not in this range. If management wishes a very high percentage of the coffee served to taste best, it must improve the coffee-making process by better controlling temperatures.</a:t>
            </a:r>
            <a:endParaRPr lang="en-US" altLang="zh-TW" sz="2600" dirty="0">
              <a:solidFill>
                <a:srgbClr val="0000FF"/>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1394AB49-6E2A-79D9-9176-13848F4B844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98329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1794D-01CA-F655-DDA8-9E6852C151BF}"/>
            </a:ext>
          </a:extLst>
        </p:cNvPr>
        <p:cNvGrpSpPr/>
        <p:nvPr/>
      </p:nvGrpSpPr>
      <p:grpSpPr>
        <a:xfrm>
          <a:off x="0" y="0"/>
          <a:ext cx="0" cy="0"/>
          <a:chOff x="0" y="0"/>
          <a:chExt cx="0" cy="0"/>
        </a:xfrm>
      </p:grpSpPr>
      <p:sp>
        <p:nvSpPr>
          <p:cNvPr id="8195" name="Rectangle 2">
            <a:extLst>
              <a:ext uri="{FF2B5EF4-FFF2-40B4-BE49-F238E27FC236}">
                <a16:creationId xmlns:a16="http://schemas.microsoft.com/office/drawing/2014/main" id="{69E61936-F4D6-0EA3-3906-6F6B4E1EDE14}"/>
              </a:ext>
            </a:extLst>
          </p:cNvPr>
          <p:cNvSpPr>
            <a:spLocks noGrp="1" noChangeArrowheads="1"/>
          </p:cNvSpPr>
          <p:nvPr>
            <p:ph type="title"/>
          </p:nvPr>
        </p:nvSpPr>
        <p:spPr>
          <a:xfrm>
            <a:off x="434007" y="448994"/>
            <a:ext cx="3611880" cy="1535865"/>
          </a:xfrm>
        </p:spPr>
        <p:txBody>
          <a:bodyPr vert="horz" lIns="91440" tIns="45720" rIns="91440" bIns="45720" rtlCol="0" anchor="ctr">
            <a:normAutofit/>
          </a:bodyPr>
          <a:lstStyle/>
          <a:p>
            <a:r>
              <a:rPr lang="en-US" altLang="zh-CN" sz="3200" b="1" dirty="0">
                <a:solidFill>
                  <a:srgbClr val="0000FF"/>
                </a:solidFill>
                <a:latin typeface="Times New Roman" panose="02020603050405020304" pitchFamily="18" charset="0"/>
                <a:cs typeface="Times New Roman" panose="02020603050405020304" pitchFamily="18" charset="0"/>
              </a:rPr>
              <a:t>Continuous Probability Distributions</a:t>
            </a:r>
            <a:endParaRPr lang="en-US" altLang="zh-TW" sz="3200" b="1" dirty="0">
              <a:solidFill>
                <a:srgbClr val="0000FF"/>
              </a:solidFill>
              <a:latin typeface="Times New Roman" panose="02020603050405020304" pitchFamily="18" charset="0"/>
              <a:cs typeface="Times New Roman" panose="02020603050405020304" pitchFamily="18" charset="0"/>
            </a:endParaRPr>
          </a:p>
        </p:txBody>
      </p:sp>
      <p:sp>
        <p:nvSpPr>
          <p:cNvPr id="257027" name="Rectangle 3">
            <a:extLst>
              <a:ext uri="{FF2B5EF4-FFF2-40B4-BE49-F238E27FC236}">
                <a16:creationId xmlns:a16="http://schemas.microsoft.com/office/drawing/2014/main" id="{CEEC7FD5-8108-38BC-52B9-86D4A4743F4F}"/>
              </a:ext>
            </a:extLst>
          </p:cNvPr>
          <p:cNvSpPr>
            <a:spLocks noGrp="1" noChangeArrowheads="1"/>
          </p:cNvSpPr>
          <p:nvPr>
            <p:ph type="body" sz="half" idx="1"/>
          </p:nvPr>
        </p:nvSpPr>
        <p:spPr>
          <a:xfrm>
            <a:off x="3578089" y="149087"/>
            <a:ext cx="8179904" cy="2246243"/>
          </a:xfrm>
        </p:spPr>
        <p:txBody>
          <a:bodyPr vert="horz" lIns="91440" tIns="45720" rIns="91440" bIns="45720" rtlCol="0" anchor="ctr">
            <a:noAutofit/>
          </a:bodyPr>
          <a:lstStyle/>
          <a:p>
            <a:pPr>
              <a:lnSpc>
                <a:spcPct val="110000"/>
              </a:lnSpc>
            </a:pPr>
            <a:r>
              <a:rPr lang="en-US" altLang="zh-CN" sz="2600" dirty="0">
                <a:latin typeface="Times New Roman" panose="02020603050405020304" pitchFamily="18" charset="0"/>
                <a:cs typeface="Times New Roman" panose="02020603050405020304" pitchFamily="18" charset="0"/>
              </a:rPr>
              <a:t>For a continuous random variable, its </a:t>
            </a:r>
            <a:r>
              <a:rPr lang="en-US" altLang="zh-CN" sz="2600" dirty="0">
                <a:solidFill>
                  <a:srgbClr val="FF0000"/>
                </a:solidFill>
                <a:latin typeface="Times New Roman" panose="02020603050405020304" pitchFamily="18" charset="0"/>
                <a:cs typeface="Times New Roman" panose="02020603050405020304" pitchFamily="18" charset="0"/>
              </a:rPr>
              <a:t>probability density function</a:t>
            </a:r>
            <a:r>
              <a:rPr lang="en-US" altLang="zh-CN" sz="2600" dirty="0">
                <a:latin typeface="Times New Roman" panose="02020603050405020304" pitchFamily="18" charset="0"/>
                <a:cs typeface="Times New Roman" panose="02020603050405020304" pitchFamily="18" charset="0"/>
              </a:rPr>
              <a:t> gives a complete information about the variable.</a:t>
            </a:r>
          </a:p>
          <a:p>
            <a:pPr>
              <a:lnSpc>
                <a:spcPct val="110000"/>
              </a:lnSpc>
            </a:pPr>
            <a:r>
              <a:rPr lang="en-US" altLang="zh-CN" sz="2600" dirty="0">
                <a:latin typeface="Times New Roman" panose="02020603050405020304" pitchFamily="18" charset="0"/>
                <a:cs typeface="Times New Roman" panose="02020603050405020304" pitchFamily="18" charset="0"/>
              </a:rPr>
              <a:t>The most useful density functions are </a:t>
            </a:r>
            <a:r>
              <a:rPr lang="en-US" altLang="zh-CN" sz="2600" dirty="0">
                <a:solidFill>
                  <a:srgbClr val="FF0000"/>
                </a:solidFill>
                <a:latin typeface="Times New Roman" panose="02020603050405020304" pitchFamily="18" charset="0"/>
                <a:cs typeface="Times New Roman" panose="02020603050405020304" pitchFamily="18" charset="0"/>
              </a:rPr>
              <a:t>Normal distribution, </a:t>
            </a:r>
            <a:r>
              <a:rPr lang="en-US" altLang="zh-CN" sz="2600" dirty="0">
                <a:solidFill>
                  <a:srgbClr val="0000FF"/>
                </a:solidFill>
                <a:latin typeface="Times New Roman" panose="02020603050405020304" pitchFamily="18" charset="0"/>
                <a:cs typeface="Times New Roman" panose="02020603050405020304" pitchFamily="18" charset="0"/>
              </a:rPr>
              <a:t>uniform distribution </a:t>
            </a:r>
            <a:r>
              <a:rPr lang="en-US" altLang="zh-CN" sz="2600" dirty="0">
                <a:latin typeface="Times New Roman" panose="02020603050405020304" pitchFamily="18" charset="0"/>
                <a:cs typeface="Times New Roman" panose="02020603050405020304" pitchFamily="18" charset="0"/>
              </a:rPr>
              <a:t>and </a:t>
            </a:r>
            <a:r>
              <a:rPr lang="en-US" altLang="zh-CN" sz="2600" dirty="0">
                <a:solidFill>
                  <a:srgbClr val="FF0000"/>
                </a:solidFill>
                <a:latin typeface="Times New Roman" panose="02020603050405020304" pitchFamily="18" charset="0"/>
                <a:cs typeface="Times New Roman" panose="02020603050405020304" pitchFamily="18" charset="0"/>
              </a:rPr>
              <a:t>Exponential distribution</a:t>
            </a:r>
          </a:p>
        </p:txBody>
      </p:sp>
      <p:pic>
        <p:nvPicPr>
          <p:cNvPr id="8197" name="Picture 4" descr="fig6">
            <a:extLst>
              <a:ext uri="{FF2B5EF4-FFF2-40B4-BE49-F238E27FC236}">
                <a16:creationId xmlns:a16="http://schemas.microsoft.com/office/drawing/2014/main" id="{E74FFF1A-107A-3614-4B83-2D5930A6C3BA}"/>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39" r="1" b="1"/>
          <a:stretch/>
        </p:blipFill>
        <p:spPr>
          <a:xfrm>
            <a:off x="24049" y="2679370"/>
            <a:ext cx="12148073" cy="379100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灯片编号占位符 16">
            <a:extLst>
              <a:ext uri="{FF2B5EF4-FFF2-40B4-BE49-F238E27FC236}">
                <a16:creationId xmlns:a16="http://schemas.microsoft.com/office/drawing/2014/main" id="{EF30B7B4-3AB1-DF92-45AE-6085E914697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51020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487516-59EC-D100-D358-983E5A9ECAEF}"/>
              </a:ext>
            </a:extLst>
          </p:cNvPr>
          <p:cNvSpPr txBox="1"/>
          <p:nvPr/>
        </p:nvSpPr>
        <p:spPr>
          <a:xfrm>
            <a:off x="536713" y="733625"/>
            <a:ext cx="11171583" cy="4832092"/>
          </a:xfrm>
          <a:prstGeom prst="rect">
            <a:avLst/>
          </a:prstGeom>
          <a:noFill/>
        </p:spPr>
        <p:txBody>
          <a:bodyPr wrap="square">
            <a:spAutoFit/>
          </a:bodyPr>
          <a:lstStyle/>
          <a:p>
            <a:pPr algn="just"/>
            <a:r>
              <a:rPr lang="en-AU" sz="2800" dirty="0">
                <a:latin typeface="Times New Roman" panose="02020603050405020304" pitchFamily="18" charset="0"/>
                <a:cs typeface="Times New Roman" panose="02020603050405020304" pitchFamily="18" charset="0"/>
              </a:rPr>
              <a:t>We have seen that to calculate a probability concerning a continuous random variable, we must </a:t>
            </a:r>
            <a:r>
              <a:rPr lang="en-AU" sz="2800" dirty="0">
                <a:solidFill>
                  <a:srgbClr val="0000FF"/>
                </a:solidFill>
                <a:latin typeface="Times New Roman" panose="02020603050405020304" pitchFamily="18" charset="0"/>
                <a:cs typeface="Times New Roman" panose="02020603050405020304" pitchFamily="18" charset="0"/>
              </a:rPr>
              <a:t>compute </a:t>
            </a:r>
            <a:r>
              <a:rPr lang="en-AU" sz="2800" dirty="0">
                <a:latin typeface="Times New Roman" panose="02020603050405020304" pitchFamily="18" charset="0"/>
                <a:cs typeface="Times New Roman" panose="02020603050405020304" pitchFamily="18" charset="0"/>
              </a:rPr>
              <a:t>an appropriate </a:t>
            </a:r>
            <a:r>
              <a:rPr lang="en-AU" sz="2800" dirty="0">
                <a:solidFill>
                  <a:srgbClr val="0000FF"/>
                </a:solidFill>
                <a:latin typeface="Times New Roman" panose="02020603050405020304" pitchFamily="18" charset="0"/>
                <a:cs typeface="Times New Roman" panose="02020603050405020304" pitchFamily="18" charset="0"/>
              </a:rPr>
              <a:t>area</a:t>
            </a:r>
            <a:r>
              <a:rPr lang="en-AU" sz="2800" dirty="0">
                <a:latin typeface="Times New Roman" panose="02020603050405020304" pitchFamily="18" charset="0"/>
                <a:cs typeface="Times New Roman" panose="02020603050405020304" pitchFamily="18" charset="0"/>
              </a:rPr>
              <a:t> under the curve </a:t>
            </a:r>
            <a:r>
              <a:rPr lang="en-AU" sz="2800" i="1" dirty="0">
                <a:latin typeface="Times New Roman" panose="02020603050405020304" pitchFamily="18" charset="0"/>
                <a:cs typeface="Times New Roman" panose="02020603050405020304" pitchFamily="18" charset="0"/>
              </a:rPr>
              <a:t>f</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x</a:t>
            </a:r>
            <a:r>
              <a:rPr lang="en-AU" sz="2800" dirty="0">
                <a:latin typeface="Times New Roman" panose="02020603050405020304" pitchFamily="18" charset="0"/>
                <a:cs typeface="Times New Roman" panose="02020603050405020304" pitchFamily="18" charset="0"/>
              </a:rPr>
              <a:t>).</a:t>
            </a:r>
          </a:p>
          <a:p>
            <a:pPr algn="just"/>
            <a:endParaRPr lang="en-AU" sz="2800" dirty="0">
              <a:latin typeface="Times New Roman" panose="02020603050405020304" pitchFamily="18" charset="0"/>
              <a:cs typeface="Times New Roman" panose="02020603050405020304" pitchFamily="18" charset="0"/>
            </a:endParaRPr>
          </a:p>
          <a:p>
            <a:pPr algn="just"/>
            <a:r>
              <a:rPr lang="en-AU" sz="2800" dirty="0">
                <a:latin typeface="Times New Roman" panose="02020603050405020304" pitchFamily="18" charset="0"/>
                <a:cs typeface="Times New Roman" panose="02020603050405020304" pitchFamily="18" charset="0"/>
              </a:rPr>
              <a:t>Because there is no area under a continuous curve at a single point, or number, on the real line, </a:t>
            </a:r>
            <a:r>
              <a:rPr lang="en-AU" sz="2800" dirty="0">
                <a:solidFill>
                  <a:srgbClr val="0000FF"/>
                </a:solidFill>
                <a:latin typeface="Times New Roman" panose="02020603050405020304" pitchFamily="18" charset="0"/>
                <a:cs typeface="Times New Roman" panose="02020603050405020304" pitchFamily="18" charset="0"/>
              </a:rPr>
              <a:t>the probability </a:t>
            </a:r>
            <a:r>
              <a:rPr lang="en-AU" sz="2800" dirty="0">
                <a:latin typeface="Times New Roman" panose="02020603050405020304" pitchFamily="18" charset="0"/>
                <a:cs typeface="Times New Roman" panose="02020603050405020304" pitchFamily="18" charset="0"/>
              </a:rPr>
              <a:t>that a continuous random variable </a:t>
            </a:r>
            <a:r>
              <a:rPr lang="en-AU" sz="2800" i="1" dirty="0">
                <a:latin typeface="Times New Roman" panose="02020603050405020304" pitchFamily="18" charset="0"/>
                <a:cs typeface="Times New Roman" panose="02020603050405020304" pitchFamily="18" charset="0"/>
              </a:rPr>
              <a:t>x</a:t>
            </a:r>
            <a:r>
              <a:rPr lang="en-AU" sz="2800" dirty="0">
                <a:latin typeface="Times New Roman" panose="02020603050405020304" pitchFamily="18" charset="0"/>
                <a:cs typeface="Times New Roman" panose="02020603050405020304" pitchFamily="18" charset="0"/>
              </a:rPr>
              <a:t> will equal </a:t>
            </a:r>
            <a:r>
              <a:rPr lang="en-AU" sz="2800" dirty="0">
                <a:solidFill>
                  <a:srgbClr val="0000FF"/>
                </a:solidFill>
                <a:latin typeface="Times New Roman" panose="02020603050405020304" pitchFamily="18" charset="0"/>
                <a:cs typeface="Times New Roman" panose="02020603050405020304" pitchFamily="18" charset="0"/>
              </a:rPr>
              <a:t>a single numerical </a:t>
            </a:r>
            <a:r>
              <a:rPr lang="en-AU" sz="2800" dirty="0">
                <a:latin typeface="Times New Roman" panose="02020603050405020304" pitchFamily="18" charset="0"/>
                <a:cs typeface="Times New Roman" panose="02020603050405020304" pitchFamily="18" charset="0"/>
              </a:rPr>
              <a:t>value is always </a:t>
            </a:r>
            <a:r>
              <a:rPr lang="en-AU" sz="2800" dirty="0">
                <a:solidFill>
                  <a:srgbClr val="0000FF"/>
                </a:solidFill>
                <a:latin typeface="Times New Roman" panose="02020603050405020304" pitchFamily="18" charset="0"/>
                <a:cs typeface="Times New Roman" panose="02020603050405020304" pitchFamily="18" charset="0"/>
              </a:rPr>
              <a:t>equal to 0</a:t>
            </a:r>
            <a:r>
              <a:rPr lang="en-AU" sz="2800" dirty="0">
                <a:latin typeface="Times New Roman" panose="02020603050405020304" pitchFamily="18" charset="0"/>
                <a:cs typeface="Times New Roman" panose="02020603050405020304" pitchFamily="18" charset="0"/>
              </a:rPr>
              <a:t>.</a:t>
            </a:r>
          </a:p>
          <a:p>
            <a:pPr algn="just"/>
            <a:endParaRPr lang="en-AU" sz="2800" dirty="0">
              <a:latin typeface="Times New Roman" panose="02020603050405020304" pitchFamily="18" charset="0"/>
              <a:cs typeface="Times New Roman" panose="02020603050405020304" pitchFamily="18" charset="0"/>
            </a:endParaRPr>
          </a:p>
          <a:p>
            <a:pPr algn="just"/>
            <a:r>
              <a:rPr lang="en-AU" sz="2800" dirty="0">
                <a:latin typeface="Times New Roman" panose="02020603050405020304" pitchFamily="18" charset="0"/>
                <a:cs typeface="Times New Roman" panose="02020603050405020304" pitchFamily="18" charset="0"/>
              </a:rPr>
              <a:t>It follows that if [</a:t>
            </a:r>
            <a:r>
              <a:rPr lang="en-AU" sz="2800" i="1" dirty="0">
                <a:latin typeface="Times New Roman" panose="02020603050405020304" pitchFamily="18" charset="0"/>
                <a:cs typeface="Times New Roman" panose="02020603050405020304" pitchFamily="18" charset="0"/>
              </a:rPr>
              <a:t>a</a:t>
            </a:r>
            <a:r>
              <a:rPr lang="en-AU" sz="2800" dirty="0">
                <a:latin typeface="Times New Roman" panose="02020603050405020304" pitchFamily="18" charset="0"/>
                <a:cs typeface="Times New Roman" panose="02020603050405020304" pitchFamily="18" charset="0"/>
              </a:rPr>
              <a:t>, </a:t>
            </a:r>
            <a:r>
              <a:rPr lang="en-AU" sz="2800" i="1" dirty="0">
                <a:latin typeface="Times New Roman" panose="02020603050405020304" pitchFamily="18" charset="0"/>
                <a:cs typeface="Times New Roman" panose="02020603050405020304" pitchFamily="18" charset="0"/>
              </a:rPr>
              <a:t>b</a:t>
            </a:r>
            <a:r>
              <a:rPr lang="en-AU" sz="2800" dirty="0">
                <a:latin typeface="Times New Roman" panose="02020603050405020304" pitchFamily="18" charset="0"/>
                <a:cs typeface="Times New Roman" panose="02020603050405020304" pitchFamily="18" charset="0"/>
              </a:rPr>
              <a:t>] denotes an arbitrary interval of numbers on the real line, then </a:t>
            </a:r>
            <a:r>
              <a:rPr lang="en-AU" sz="2800" i="1" dirty="0">
                <a:latin typeface="Times New Roman" panose="02020603050405020304" pitchFamily="18" charset="0"/>
                <a:cs typeface="Times New Roman" panose="02020603050405020304" pitchFamily="18" charset="0"/>
              </a:rPr>
              <a:t>P</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x</a:t>
            </a:r>
            <a:r>
              <a:rPr lang="en-AU" sz="2800" dirty="0">
                <a:latin typeface="Times New Roman" panose="02020603050405020304" pitchFamily="18" charset="0"/>
                <a:cs typeface="Times New Roman" panose="02020603050405020304" pitchFamily="18" charset="0"/>
              </a:rPr>
              <a:t> = </a:t>
            </a:r>
            <a:r>
              <a:rPr lang="en-AU" sz="2800" i="1" dirty="0">
                <a:latin typeface="Times New Roman" panose="02020603050405020304" pitchFamily="18" charset="0"/>
                <a:cs typeface="Times New Roman" panose="02020603050405020304" pitchFamily="18" charset="0"/>
              </a:rPr>
              <a:t>a</a:t>
            </a:r>
            <a:r>
              <a:rPr lang="en-AU" sz="2800" dirty="0">
                <a:latin typeface="Times New Roman" panose="02020603050405020304" pitchFamily="18" charset="0"/>
                <a:cs typeface="Times New Roman" panose="02020603050405020304" pitchFamily="18" charset="0"/>
              </a:rPr>
              <a:t>) = 0 and</a:t>
            </a:r>
            <a:r>
              <a:rPr lang="en-AU" sz="2800" i="1" dirty="0">
                <a:latin typeface="Times New Roman" panose="02020603050405020304" pitchFamily="18" charset="0"/>
                <a:cs typeface="Times New Roman" panose="02020603050405020304" pitchFamily="18" charset="0"/>
              </a:rPr>
              <a:t> P</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x</a:t>
            </a:r>
            <a:r>
              <a:rPr lang="en-AU" sz="2800" dirty="0">
                <a:latin typeface="Times New Roman" panose="02020603050405020304" pitchFamily="18" charset="0"/>
                <a:cs typeface="Times New Roman" panose="02020603050405020304" pitchFamily="18" charset="0"/>
              </a:rPr>
              <a:t> = </a:t>
            </a:r>
            <a:r>
              <a:rPr lang="en-AU" sz="2800" i="1" dirty="0">
                <a:latin typeface="Times New Roman" panose="02020603050405020304" pitchFamily="18" charset="0"/>
                <a:cs typeface="Times New Roman" panose="02020603050405020304" pitchFamily="18" charset="0"/>
              </a:rPr>
              <a:t>b</a:t>
            </a:r>
            <a:r>
              <a:rPr lang="en-AU" sz="2800" dirty="0">
                <a:latin typeface="Times New Roman" panose="02020603050405020304" pitchFamily="18" charset="0"/>
                <a:cs typeface="Times New Roman" panose="02020603050405020304" pitchFamily="18" charset="0"/>
              </a:rPr>
              <a:t>) = 0. Therefore, </a:t>
            </a:r>
            <a:r>
              <a:rPr lang="en-AU" sz="2800" i="1" dirty="0">
                <a:solidFill>
                  <a:srgbClr val="0000FF"/>
                </a:solidFill>
                <a:latin typeface="Times New Roman" panose="02020603050405020304" pitchFamily="18" charset="0"/>
                <a:cs typeface="Times New Roman" panose="02020603050405020304" pitchFamily="18" charset="0"/>
              </a:rPr>
              <a:t>P</a:t>
            </a:r>
            <a:r>
              <a:rPr lang="en-AU" sz="2800" dirty="0">
                <a:solidFill>
                  <a:srgbClr val="0000FF"/>
                </a:solidFill>
                <a:latin typeface="Times New Roman" panose="02020603050405020304" pitchFamily="18" charset="0"/>
                <a:cs typeface="Times New Roman" panose="02020603050405020304" pitchFamily="18" charset="0"/>
              </a:rPr>
              <a:t>(</a:t>
            </a:r>
            <a:r>
              <a:rPr lang="en-AU" sz="2800" i="1" dirty="0">
                <a:solidFill>
                  <a:srgbClr val="0000FF"/>
                </a:solidFill>
                <a:latin typeface="Times New Roman" panose="02020603050405020304" pitchFamily="18" charset="0"/>
                <a:cs typeface="Times New Roman" panose="02020603050405020304" pitchFamily="18" charset="0"/>
              </a:rPr>
              <a:t>a</a:t>
            </a:r>
            <a:r>
              <a:rPr lang="en-AU" sz="2800" dirty="0">
                <a:solidFill>
                  <a:srgbClr val="0000FF"/>
                </a:solidFill>
                <a:latin typeface="Times New Roman" panose="02020603050405020304" pitchFamily="18" charset="0"/>
                <a:cs typeface="Times New Roman" panose="02020603050405020304" pitchFamily="18" charset="0"/>
              </a:rPr>
              <a:t> </a:t>
            </a:r>
            <a:r>
              <a:rPr lang="en-AU" sz="2800"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 </a:t>
            </a:r>
            <a:r>
              <a:rPr lang="en-AU" sz="2800" i="1"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x</a:t>
            </a:r>
            <a:r>
              <a:rPr lang="en-AU" sz="2800"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   </a:t>
            </a:r>
            <a:r>
              <a:rPr lang="en-AU" sz="2800" i="1"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b</a:t>
            </a:r>
            <a:r>
              <a:rPr lang="en-AU" sz="2800" dirty="0">
                <a:solidFill>
                  <a:srgbClr val="0000FF"/>
                </a:solidFill>
                <a:latin typeface="Times New Roman" panose="02020603050405020304" pitchFamily="18" charset="0"/>
                <a:cs typeface="Times New Roman" panose="02020603050405020304" pitchFamily="18" charset="0"/>
              </a:rPr>
              <a:t>) equals </a:t>
            </a:r>
            <a:r>
              <a:rPr lang="en-AU" sz="2800" i="1" dirty="0">
                <a:solidFill>
                  <a:srgbClr val="0000FF"/>
                </a:solidFill>
                <a:latin typeface="Times New Roman" panose="02020603050405020304" pitchFamily="18" charset="0"/>
                <a:cs typeface="Times New Roman" panose="02020603050405020304" pitchFamily="18" charset="0"/>
              </a:rPr>
              <a:t>P</a:t>
            </a:r>
            <a:r>
              <a:rPr lang="en-AU" sz="2800" dirty="0">
                <a:solidFill>
                  <a:srgbClr val="0000FF"/>
                </a:solidFill>
                <a:latin typeface="Times New Roman" panose="02020603050405020304" pitchFamily="18" charset="0"/>
                <a:cs typeface="Times New Roman" panose="02020603050405020304" pitchFamily="18" charset="0"/>
              </a:rPr>
              <a:t>(</a:t>
            </a:r>
            <a:r>
              <a:rPr lang="en-AU" sz="2800" i="1" dirty="0">
                <a:solidFill>
                  <a:srgbClr val="0000FF"/>
                </a:solidFill>
                <a:latin typeface="Times New Roman" panose="02020603050405020304" pitchFamily="18" charset="0"/>
                <a:cs typeface="Times New Roman" panose="02020603050405020304" pitchFamily="18" charset="0"/>
              </a:rPr>
              <a:t>a</a:t>
            </a:r>
            <a:r>
              <a:rPr lang="en-AU" sz="2800" dirty="0">
                <a:solidFill>
                  <a:srgbClr val="0000FF"/>
                </a:solidFill>
                <a:latin typeface="Times New Roman" panose="02020603050405020304" pitchFamily="18" charset="0"/>
                <a:cs typeface="Times New Roman" panose="02020603050405020304" pitchFamily="18" charset="0"/>
              </a:rPr>
              <a:t> &lt; </a:t>
            </a:r>
            <a:r>
              <a:rPr lang="en-AU" sz="2800" i="1" dirty="0">
                <a:solidFill>
                  <a:srgbClr val="0000FF"/>
                </a:solidFill>
                <a:latin typeface="Times New Roman" panose="02020603050405020304" pitchFamily="18" charset="0"/>
                <a:cs typeface="Times New Roman" panose="02020603050405020304" pitchFamily="18" charset="0"/>
              </a:rPr>
              <a:t>x</a:t>
            </a:r>
            <a:r>
              <a:rPr lang="en-AU" sz="2800" dirty="0">
                <a:solidFill>
                  <a:srgbClr val="0000FF"/>
                </a:solidFill>
                <a:latin typeface="Times New Roman" panose="02020603050405020304" pitchFamily="18" charset="0"/>
                <a:cs typeface="Times New Roman" panose="02020603050405020304" pitchFamily="18" charset="0"/>
              </a:rPr>
              <a:t> &lt; </a:t>
            </a:r>
            <a:r>
              <a:rPr lang="en-AU" sz="2800" i="1" dirty="0">
                <a:solidFill>
                  <a:srgbClr val="0000FF"/>
                </a:solidFill>
                <a:latin typeface="Times New Roman" panose="02020603050405020304" pitchFamily="18" charset="0"/>
                <a:cs typeface="Times New Roman" panose="02020603050405020304" pitchFamily="18" charset="0"/>
              </a:rPr>
              <a:t>b</a:t>
            </a:r>
            <a:r>
              <a:rPr lang="en-AU" sz="2800" dirty="0">
                <a:solidFill>
                  <a:srgbClr val="0000FF"/>
                </a:solidFill>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because each of the interval endpoints a and b has a probability that is equal to 0.</a:t>
            </a:r>
          </a:p>
        </p:txBody>
      </p:sp>
      <p:sp>
        <p:nvSpPr>
          <p:cNvPr id="2" name="灯片编号占位符 16">
            <a:extLst>
              <a:ext uri="{FF2B5EF4-FFF2-40B4-BE49-F238E27FC236}">
                <a16:creationId xmlns:a16="http://schemas.microsoft.com/office/drawing/2014/main" id="{66F6C74A-9FDC-C533-9501-2C5C838B00C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96319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5A43F-7990-61AC-4792-B5055C4064A5}"/>
            </a:ext>
          </a:extLst>
        </p:cNvPr>
        <p:cNvGrpSpPr/>
        <p:nvPr/>
      </p:nvGrpSpPr>
      <p:grpSpPr>
        <a:xfrm>
          <a:off x="0" y="0"/>
          <a:ext cx="0" cy="0"/>
          <a:chOff x="0" y="0"/>
          <a:chExt cx="0" cy="0"/>
        </a:xfrm>
      </p:grpSpPr>
      <p:sp>
        <p:nvSpPr>
          <p:cNvPr id="9219" name="Rectangle 2">
            <a:extLst>
              <a:ext uri="{FF2B5EF4-FFF2-40B4-BE49-F238E27FC236}">
                <a16:creationId xmlns:a16="http://schemas.microsoft.com/office/drawing/2014/main" id="{8C841983-2D76-9908-65E3-363F59F8E6C1}"/>
              </a:ext>
            </a:extLst>
          </p:cNvPr>
          <p:cNvSpPr>
            <a:spLocks noGrp="1" noChangeArrowheads="1"/>
          </p:cNvSpPr>
          <p:nvPr>
            <p:ph type="title"/>
          </p:nvPr>
        </p:nvSpPr>
        <p:spPr>
          <a:xfrm>
            <a:off x="1115568" y="548640"/>
            <a:ext cx="10168128" cy="485030"/>
          </a:xfrm>
        </p:spPr>
        <p:txBody>
          <a:bodyPr>
            <a:noAutofit/>
          </a:bodyPr>
          <a:lstStyle/>
          <a:p>
            <a:pPr eaLnBrk="1" hangingPunct="1"/>
            <a:r>
              <a:rPr lang="en-US" altLang="zh-CN" sz="3200" b="1" dirty="0">
                <a:solidFill>
                  <a:srgbClr val="0000FF"/>
                </a:solidFill>
                <a:latin typeface="Times New Roman" panose="02020603050405020304" pitchFamily="18" charset="0"/>
                <a:cs typeface="Times New Roman" panose="02020603050405020304" pitchFamily="18" charset="0"/>
              </a:rPr>
              <a:t>Distribution Shapes</a:t>
            </a:r>
          </a:p>
        </p:txBody>
      </p:sp>
      <p:sp>
        <p:nvSpPr>
          <p:cNvPr id="259075" name="Rectangle 3">
            <a:extLst>
              <a:ext uri="{FF2B5EF4-FFF2-40B4-BE49-F238E27FC236}">
                <a16:creationId xmlns:a16="http://schemas.microsoft.com/office/drawing/2014/main" id="{A69806D9-CC56-35BD-E5C5-C35A471F68AC}"/>
              </a:ext>
            </a:extLst>
          </p:cNvPr>
          <p:cNvSpPr>
            <a:spLocks noGrp="1" noChangeArrowheads="1"/>
          </p:cNvSpPr>
          <p:nvPr>
            <p:ph type="body" idx="1"/>
          </p:nvPr>
        </p:nvSpPr>
        <p:spPr>
          <a:xfrm>
            <a:off x="1226833" y="1471799"/>
            <a:ext cx="10168128" cy="4158157"/>
          </a:xfrm>
        </p:spPr>
        <p:txBody>
          <a:bodyPr>
            <a:noAutofit/>
          </a:bodyPr>
          <a:lstStyle/>
          <a:p>
            <a:pPr eaLnBrk="1" hangingPunct="1">
              <a:defRPr/>
            </a:pPr>
            <a:r>
              <a:rPr lang="en-US" altLang="zh-CN" dirty="0">
                <a:latin typeface="Times New Roman" pitchFamily="18" charset="0"/>
              </a:rPr>
              <a:t>Symmetrical and rectangular</a:t>
            </a:r>
          </a:p>
          <a:p>
            <a:pPr lvl="1" eaLnBrk="1" hangingPunct="1">
              <a:defRPr/>
            </a:pPr>
            <a:r>
              <a:rPr lang="en-US" altLang="zh-CN" sz="2800" dirty="0">
                <a:solidFill>
                  <a:srgbClr val="FF0000"/>
                </a:solidFill>
                <a:latin typeface="Times New Roman" pitchFamily="18" charset="0"/>
              </a:rPr>
              <a:t>The uniform distribution</a:t>
            </a:r>
          </a:p>
          <a:p>
            <a:pPr lvl="2" eaLnBrk="1" hangingPunct="1">
              <a:defRPr/>
            </a:pPr>
            <a:r>
              <a:rPr lang="en-US" altLang="zh-CN" sz="2800" dirty="0">
                <a:latin typeface="Times New Roman" pitchFamily="18" charset="0"/>
              </a:rPr>
              <a:t>Section 6.2</a:t>
            </a:r>
          </a:p>
          <a:p>
            <a:pPr eaLnBrk="1" hangingPunct="1">
              <a:defRPr/>
            </a:pPr>
            <a:r>
              <a:rPr lang="en-US" altLang="zh-CN" dirty="0">
                <a:latin typeface="Times New Roman" pitchFamily="18" charset="0"/>
              </a:rPr>
              <a:t>Symmetrical and bell-shaped</a:t>
            </a:r>
          </a:p>
          <a:p>
            <a:pPr lvl="1" eaLnBrk="1" hangingPunct="1">
              <a:defRPr/>
            </a:pPr>
            <a:r>
              <a:rPr lang="en-US" altLang="zh-CN" sz="2800" dirty="0">
                <a:solidFill>
                  <a:srgbClr val="FF0000"/>
                </a:solidFill>
                <a:latin typeface="Times New Roman" pitchFamily="18" charset="0"/>
              </a:rPr>
              <a:t>The normal distribution</a:t>
            </a:r>
          </a:p>
          <a:p>
            <a:pPr lvl="2" eaLnBrk="1" hangingPunct="1">
              <a:defRPr/>
            </a:pPr>
            <a:r>
              <a:rPr lang="en-US" altLang="zh-CN" sz="2800" dirty="0">
                <a:latin typeface="Times New Roman" pitchFamily="18" charset="0"/>
              </a:rPr>
              <a:t>Section 6.3</a:t>
            </a:r>
          </a:p>
          <a:p>
            <a:pPr eaLnBrk="1" hangingPunct="1">
              <a:defRPr/>
            </a:pPr>
            <a:r>
              <a:rPr lang="en-US" altLang="zh-CN" dirty="0">
                <a:solidFill>
                  <a:srgbClr val="FF0000"/>
                </a:solidFill>
                <a:latin typeface="Times New Roman" pitchFamily="18" charset="0"/>
              </a:rPr>
              <a:t>Skewed </a:t>
            </a:r>
            <a:r>
              <a:rPr lang="en-US" altLang="zh-CN" dirty="0">
                <a:solidFill>
                  <a:srgbClr val="FF0000"/>
                </a:solidFill>
                <a:highlight>
                  <a:srgbClr val="FFFF00"/>
                </a:highlight>
                <a:latin typeface="Times New Roman" pitchFamily="18" charset="0"/>
              </a:rPr>
              <a:t>(beyond the scope of </a:t>
            </a:r>
            <a:r>
              <a:rPr lang="en-US" altLang="zh-CN">
                <a:solidFill>
                  <a:srgbClr val="FF0000"/>
                </a:solidFill>
                <a:highlight>
                  <a:srgbClr val="FFFF00"/>
                </a:highlight>
                <a:latin typeface="Times New Roman" pitchFamily="18" charset="0"/>
              </a:rPr>
              <a:t>this course)</a:t>
            </a:r>
            <a:endParaRPr lang="en-US" altLang="zh-CN" dirty="0">
              <a:solidFill>
                <a:srgbClr val="FF0000"/>
              </a:solidFill>
              <a:highlight>
                <a:srgbClr val="FFFF00"/>
              </a:highlight>
              <a:latin typeface="Times New Roman" pitchFamily="18" charset="0"/>
            </a:endParaRPr>
          </a:p>
          <a:p>
            <a:pPr lvl="1" eaLnBrk="1" hangingPunct="1">
              <a:defRPr/>
            </a:pPr>
            <a:r>
              <a:rPr lang="en-US" altLang="zh-CN" sz="2800" dirty="0">
                <a:latin typeface="Times New Roman" pitchFamily="18" charset="0"/>
              </a:rPr>
              <a:t>Skewed either left or right</a:t>
            </a:r>
          </a:p>
          <a:p>
            <a:pPr lvl="1" eaLnBrk="1" hangingPunct="1">
              <a:buClr>
                <a:schemeClr val="tx1"/>
              </a:buClr>
              <a:buFontTx/>
              <a:buNone/>
              <a:defRPr/>
            </a:pPr>
            <a:r>
              <a:rPr lang="en-US" altLang="zh-CN" sz="2800" dirty="0">
                <a:latin typeface="Times New Roman" pitchFamily="18" charset="0"/>
              </a:rPr>
              <a:t>   For example, the right-skewed exponential distribution</a:t>
            </a:r>
          </a:p>
          <a:p>
            <a:pPr lvl="1" eaLnBrk="1" hangingPunct="1">
              <a:buClr>
                <a:schemeClr val="tx1"/>
              </a:buClr>
              <a:buFontTx/>
              <a:buNone/>
              <a:defRPr/>
            </a:pPr>
            <a:endParaRPr lang="en-US" altLang="zh-CN" sz="2800" dirty="0">
              <a:latin typeface="Times New Roman" pitchFamily="18" charset="0"/>
            </a:endParaRPr>
          </a:p>
        </p:txBody>
      </p:sp>
      <p:sp>
        <p:nvSpPr>
          <p:cNvPr id="2" name="灯片编号占位符 16">
            <a:extLst>
              <a:ext uri="{FF2B5EF4-FFF2-40B4-BE49-F238E27FC236}">
                <a16:creationId xmlns:a16="http://schemas.microsoft.com/office/drawing/2014/main" id="{FA582594-F841-08B1-940D-F646EC23917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5062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a16="http://schemas.microsoft.com/office/drawing/2014/main" id="{C64204E6-131E-C744-ABA3-3413D825BAA6}"/>
              </a:ext>
            </a:extLst>
          </p:cNvPr>
          <p:cNvSpPr>
            <a:spLocks noGrp="1" noChangeArrowheads="1"/>
          </p:cNvSpPr>
          <p:nvPr>
            <p:ph type="title"/>
          </p:nvPr>
        </p:nvSpPr>
        <p:spPr>
          <a:xfrm>
            <a:off x="2244381" y="1875960"/>
            <a:ext cx="6661080" cy="1970483"/>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r>
              <a:rPr lang="en-US" altLang="en-US" sz="3200" b="1" dirty="0">
                <a:solidFill>
                  <a:srgbClr val="FF0000"/>
                </a:solidFill>
                <a:latin typeface="Times New Roman" panose="02020603050405020304" pitchFamily="18" charset="0"/>
                <a:cs typeface="Times New Roman" panose="02020603050405020304" pitchFamily="18" charset="0"/>
              </a:rPr>
              <a:t>Section </a:t>
            </a:r>
            <a:r>
              <a:rPr lang="en-US" altLang="zh-CN" sz="3200" b="1" dirty="0">
                <a:solidFill>
                  <a:srgbClr val="FF0000"/>
                </a:solidFill>
                <a:latin typeface="Times New Roman" panose="02020603050405020304" pitchFamily="18" charset="0"/>
                <a:cs typeface="Times New Roman" panose="02020603050405020304" pitchFamily="18" charset="0"/>
              </a:rPr>
              <a:t>6.2</a:t>
            </a:r>
            <a:br>
              <a:rPr lang="en-US" altLang="zh-CN" sz="3200" b="1" dirty="0">
                <a:solidFill>
                  <a:srgbClr val="FF0000"/>
                </a:solidFill>
                <a:latin typeface="Times New Roman" panose="02020603050405020304" pitchFamily="18" charset="0"/>
                <a:cs typeface="Times New Roman" panose="02020603050405020304" pitchFamily="18" charset="0"/>
              </a:rPr>
            </a:br>
            <a:br>
              <a:rPr lang="en-US" altLang="zh-CN" sz="3200" b="1" dirty="0">
                <a:solidFill>
                  <a:srgbClr val="FF0000"/>
                </a:solidFill>
                <a:latin typeface="Times New Roman" panose="02020603050405020304" pitchFamily="18" charset="0"/>
                <a:cs typeface="Times New Roman" panose="02020603050405020304" pitchFamily="18" charset="0"/>
              </a:rPr>
            </a:br>
            <a:br>
              <a:rPr lang="en-US" altLang="zh-CN" sz="3200" b="1" dirty="0">
                <a:solidFill>
                  <a:srgbClr val="FF0000"/>
                </a:solidFill>
                <a:latin typeface="Times New Roman" panose="02020603050405020304" pitchFamily="18" charset="0"/>
                <a:cs typeface="Times New Roman" panose="02020603050405020304" pitchFamily="18" charset="0"/>
              </a:rPr>
            </a:br>
            <a:r>
              <a:rPr lang="en-US" altLang="zh-CN" sz="3200" b="1" dirty="0">
                <a:latin typeface="Times New Roman" panose="02020603050405020304" pitchFamily="18" charset="0"/>
                <a:cs typeface="Times New Roman" panose="02020603050405020304" pitchFamily="18" charset="0"/>
              </a:rPr>
              <a:t> The Uniform Distribution</a:t>
            </a:r>
          </a:p>
        </p:txBody>
      </p:sp>
      <p:sp>
        <p:nvSpPr>
          <p:cNvPr id="2" name="灯片编号占位符 16">
            <a:extLst>
              <a:ext uri="{FF2B5EF4-FFF2-40B4-BE49-F238E27FC236}">
                <a16:creationId xmlns:a16="http://schemas.microsoft.com/office/drawing/2014/main" id="{4670B92D-1C3E-1052-09E7-34B44A7F49B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57439079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95ECD-4F5C-0990-8B72-D5D72410E0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244" name="Object 3">
                <a:extLst>
                  <a:ext uri="{FF2B5EF4-FFF2-40B4-BE49-F238E27FC236}">
                    <a16:creationId xmlns:a16="http://schemas.microsoft.com/office/drawing/2014/main" id="{A73B8C77-320A-2755-F9EF-8D39E5B049C8}"/>
                  </a:ext>
                </a:extLst>
              </p:cNvPr>
              <p:cNvSpPr txBox="1">
                <a:spLocks noGrp="1"/>
              </p:cNvSpPr>
              <p:nvPr>
                <p:ph sz="half" idx="1"/>
              </p:nvPr>
            </p:nvSpPr>
            <p:spPr bwMode="auto">
              <a:xfrm>
                <a:off x="1087438" y="1610607"/>
                <a:ext cx="5096730" cy="1204912"/>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AU" sz="2600" i="1">
                          <a:solidFill>
                            <a:srgbClr val="000000"/>
                          </a:solidFill>
                          <a:latin typeface="Cambria Math" panose="02040503050406030204" pitchFamily="18" charset="0"/>
                        </a:rPr>
                        <m:t>𝑓</m:t>
                      </m:r>
                      <m:d>
                        <m:dPr>
                          <m:ctrlPr>
                            <a:rPr lang="en-AU" sz="2600" i="1">
                              <a:solidFill>
                                <a:srgbClr val="000000"/>
                              </a:solidFill>
                              <a:latin typeface="Cambria Math" panose="02040503050406030204" pitchFamily="18" charset="0"/>
                            </a:rPr>
                          </m:ctrlPr>
                        </m:dPr>
                        <m:e>
                          <m:r>
                            <a:rPr lang="en-AU" sz="2600" i="1">
                              <a:solidFill>
                                <a:srgbClr val="000000"/>
                              </a:solidFill>
                              <a:latin typeface="Cambria Math" panose="02040503050406030204" pitchFamily="18" charset="0"/>
                            </a:rPr>
                            <m:t>𝑥</m:t>
                          </m:r>
                        </m:e>
                      </m:d>
                      <m:r>
                        <a:rPr lang="en-AU" sz="2600" i="1">
                          <a:solidFill>
                            <a:srgbClr val="000000"/>
                          </a:solidFill>
                          <a:latin typeface="Cambria Math" panose="02040503050406030204" pitchFamily="18" charset="0"/>
                        </a:rPr>
                        <m:t>=</m:t>
                      </m:r>
                      <m:d>
                        <m:dPr>
                          <m:begChr m:val="{"/>
                          <m:endChr m:val=""/>
                          <m:ctrlPr>
                            <a:rPr lang="en-AU" sz="2600" i="1">
                              <a:solidFill>
                                <a:srgbClr val="000000"/>
                              </a:solidFill>
                              <a:latin typeface="Cambria Math" panose="02040503050406030204" pitchFamily="18" charset="0"/>
                            </a:rPr>
                          </m:ctrlPr>
                        </m:dPr>
                        <m:e>
                          <m:eqArr>
                            <m:eqArrPr>
                              <m:ctrlPr>
                                <a:rPr lang="en-AU" sz="2600" i="1">
                                  <a:solidFill>
                                    <a:srgbClr val="000000"/>
                                  </a:solidFill>
                                  <a:latin typeface="Cambria Math" panose="02040503050406030204" pitchFamily="18" charset="0"/>
                                </a:rPr>
                              </m:ctrlPr>
                            </m:eqArrPr>
                            <m:e>
                              <m:r>
                                <a:rPr lang="en-AU" sz="2600" i="1">
                                  <a:solidFill>
                                    <a:srgbClr val="000000"/>
                                  </a:solidFill>
                                  <a:latin typeface="Cambria Math" panose="02040503050406030204" pitchFamily="18" charset="0"/>
                                </a:rPr>
                                <m:t>&amp;</m:t>
                              </m:r>
                              <m:f>
                                <m:fPr>
                                  <m:ctrlPr>
                                    <a:rPr lang="en-AU" sz="2600" i="1">
                                      <a:solidFill>
                                        <a:srgbClr val="000000"/>
                                      </a:solidFill>
                                      <a:latin typeface="Cambria Math" panose="02040503050406030204" pitchFamily="18" charset="0"/>
                                    </a:rPr>
                                  </m:ctrlPr>
                                </m:fPr>
                                <m:num>
                                  <m:r>
                                    <a:rPr lang="en-AU" sz="2600" i="1">
                                      <a:solidFill>
                                        <a:srgbClr val="000000"/>
                                      </a:solidFill>
                                      <a:latin typeface="Cambria Math" panose="02040503050406030204" pitchFamily="18" charset="0"/>
                                    </a:rPr>
                                    <m:t>1</m:t>
                                  </m:r>
                                </m:num>
                                <m:den>
                                  <m:r>
                                    <a:rPr lang="en-AU" sz="2600" i="1">
                                      <a:solidFill>
                                        <a:srgbClr val="000000"/>
                                      </a:solidFill>
                                      <a:latin typeface="Cambria Math" panose="02040503050406030204" pitchFamily="18" charset="0"/>
                                    </a:rPr>
                                    <m:t>𝑑</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𝑐</m:t>
                                  </m:r>
                                </m:den>
                              </m:f>
                              <m:r>
                                <a:rPr lang="en-AU" sz="2600" i="1">
                                  <a:solidFill>
                                    <a:srgbClr val="000000"/>
                                  </a:solidFill>
                                  <a:latin typeface="Cambria Math" panose="02040503050406030204" pitchFamily="18" charset="0"/>
                                </a:rPr>
                                <m:t>      </m:t>
                              </m:r>
                              <m:r>
                                <m:rPr>
                                  <m:nor/>
                                </m:rPr>
                                <a:rPr lang="en-AU" sz="2600" i="0">
                                  <a:solidFill>
                                    <a:srgbClr val="000000"/>
                                  </a:solidFill>
                                  <a:latin typeface="Cambria Math" panose="02040503050406030204" pitchFamily="18" charset="0"/>
                                </a:rPr>
                                <m:t>for</m:t>
                              </m:r>
                              <m:r>
                                <a:rPr lang="en-AU" sz="2600" i="1">
                                  <a:solidFill>
                                    <a:srgbClr val="000000"/>
                                  </a:solidFill>
                                  <a:latin typeface="Cambria Math" panose="02040503050406030204" pitchFamily="18" charset="0"/>
                                </a:rPr>
                                <m:t> </m:t>
                              </m:r>
                              <m:r>
                                <a:rPr lang="en-AU" sz="2600" i="1">
                                  <a:solidFill>
                                    <a:srgbClr val="000000"/>
                                  </a:solidFill>
                                  <a:latin typeface="Cambria Math" panose="02040503050406030204" pitchFamily="18" charset="0"/>
                                </a:rPr>
                                <m:t>𝑐</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𝑥</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𝑑</m:t>
                              </m:r>
                            </m:e>
                            <m:e>
                              <m:r>
                                <a:rPr lang="en-AU" sz="2600" i="1">
                                  <a:solidFill>
                                    <a:srgbClr val="000000"/>
                                  </a:solidFill>
                                  <a:latin typeface="Cambria Math" panose="02040503050406030204" pitchFamily="18" charset="0"/>
                                </a:rPr>
                                <m:t>&amp;0            </m:t>
                              </m:r>
                              <m:r>
                                <m:rPr>
                                  <m:nor/>
                                </m:rPr>
                                <a:rPr lang="en-AU" sz="2600" i="0">
                                  <a:solidFill>
                                    <a:srgbClr val="000000"/>
                                  </a:solidFill>
                                  <a:latin typeface="Cambria Math" panose="02040503050406030204" pitchFamily="18" charset="0"/>
                                </a:rPr>
                                <m:t>otherwise</m:t>
                              </m:r>
                            </m:e>
                          </m:eqArr>
                        </m:e>
                      </m:d>
                      <m:r>
                        <a:rPr lang="en-AU" sz="2600" i="1">
                          <a:solidFill>
                            <a:srgbClr val="000000"/>
                          </a:solidFill>
                          <a:latin typeface="Cambria Math" panose="02040503050406030204" pitchFamily="18" charset="0"/>
                        </a:rPr>
                        <m:t>  </m:t>
                      </m:r>
                    </m:oMath>
                  </m:oMathPara>
                </a14:m>
                <a:endParaRPr lang="en-AU" sz="2600" dirty="0"/>
              </a:p>
            </p:txBody>
          </p:sp>
        </mc:Choice>
        <mc:Fallback xmlns="">
          <p:sp>
            <p:nvSpPr>
              <p:cNvPr id="10244" name="Object 3">
                <a:extLst>
                  <a:ext uri="{FF2B5EF4-FFF2-40B4-BE49-F238E27FC236}">
                    <a16:creationId xmlns:a16="http://schemas.microsoft.com/office/drawing/2014/main" id="{A73B8C77-320A-2755-F9EF-8D39E5B049C8}"/>
                  </a:ext>
                </a:extLst>
              </p:cNvPr>
              <p:cNvSpPr txBox="1">
                <a:spLocks noGrp="1" noRot="1" noChangeAspect="1" noMove="1" noResize="1" noEditPoints="1" noAdjustHandles="1" noChangeArrowheads="1" noChangeShapeType="1" noTextEdit="1"/>
              </p:cNvSpPr>
              <p:nvPr>
                <p:ph sz="half" idx="1"/>
              </p:nvPr>
            </p:nvSpPr>
            <p:spPr bwMode="auto">
              <a:xfrm>
                <a:off x="1087438" y="1610607"/>
                <a:ext cx="5096730" cy="1204912"/>
              </a:xfrm>
              <a:prstGeom prst="rect">
                <a:avLst/>
              </a:prstGeom>
              <a:blipFill>
                <a:blip r:embed="rId3"/>
                <a:stretch>
                  <a:fillRect b="-1010"/>
                </a:stretch>
              </a:blipFill>
              <a:ln>
                <a:noFill/>
              </a:ln>
              <a:effectLst/>
            </p:spPr>
            <p:txBody>
              <a:bodyPr/>
              <a:lstStyle/>
              <a:p>
                <a:r>
                  <a:rPr lang="en-AU">
                    <a:noFill/>
                  </a:rPr>
                  <a:t> </a:t>
                </a:r>
              </a:p>
            </p:txBody>
          </p:sp>
        </mc:Fallback>
      </mc:AlternateContent>
      <p:sp>
        <p:nvSpPr>
          <p:cNvPr id="260100" name="Rectangle 4">
            <a:extLst>
              <a:ext uri="{FF2B5EF4-FFF2-40B4-BE49-F238E27FC236}">
                <a16:creationId xmlns:a16="http://schemas.microsoft.com/office/drawing/2014/main" id="{D0CE2D17-01B1-8C7D-4973-E7A53EBF9C71}"/>
              </a:ext>
            </a:extLst>
          </p:cNvPr>
          <p:cNvSpPr>
            <a:spLocks noChangeArrowheads="1"/>
          </p:cNvSpPr>
          <p:nvPr/>
        </p:nvSpPr>
        <p:spPr bwMode="auto">
          <a:xfrm>
            <a:off x="1227139" y="445589"/>
            <a:ext cx="9386818"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spcBef>
                <a:spcPct val="50000"/>
              </a:spcBef>
              <a:defRPr/>
            </a:pPr>
            <a:r>
              <a:rPr lang="en-US" altLang="zh-CN" sz="2600" dirty="0">
                <a:latin typeface="Times New Roman" pitchFamily="18" charset="0"/>
              </a:rPr>
              <a:t>If </a:t>
            </a:r>
            <a:r>
              <a:rPr lang="en-US" altLang="zh-CN" sz="2600" i="1" dirty="0">
                <a:latin typeface="Times New Roman" pitchFamily="18" charset="0"/>
              </a:rPr>
              <a:t>c</a:t>
            </a:r>
            <a:r>
              <a:rPr lang="en-US" altLang="zh-CN" sz="2600" dirty="0">
                <a:latin typeface="Times New Roman" pitchFamily="18" charset="0"/>
              </a:rPr>
              <a:t> and </a:t>
            </a:r>
            <a:r>
              <a:rPr lang="en-US" altLang="zh-CN" sz="2600" i="1" dirty="0">
                <a:latin typeface="Times New Roman" pitchFamily="18" charset="0"/>
              </a:rPr>
              <a:t>d</a:t>
            </a:r>
            <a:r>
              <a:rPr lang="en-US" altLang="zh-CN" sz="2600" dirty="0">
                <a:latin typeface="Times New Roman" pitchFamily="18" charset="0"/>
              </a:rPr>
              <a:t> are numbers on the real line (</a:t>
            </a:r>
            <a:r>
              <a:rPr lang="en-US" altLang="zh-CN" sz="2600" i="1" dirty="0">
                <a:latin typeface="Times New Roman" pitchFamily="18" charset="0"/>
              </a:rPr>
              <a:t>c</a:t>
            </a:r>
            <a:r>
              <a:rPr lang="en-US" altLang="zh-CN" sz="2600" dirty="0">
                <a:latin typeface="Times New Roman" pitchFamily="18" charset="0"/>
              </a:rPr>
              <a:t> &lt; </a:t>
            </a:r>
            <a:r>
              <a:rPr lang="en-US" altLang="zh-CN" sz="2600" i="1" dirty="0">
                <a:latin typeface="Times New Roman" pitchFamily="18" charset="0"/>
              </a:rPr>
              <a:t>d </a:t>
            </a:r>
            <a:r>
              <a:rPr lang="en-US" altLang="zh-CN" sz="2600" dirty="0">
                <a:latin typeface="Times New Roman" pitchFamily="18" charset="0"/>
              </a:rPr>
              <a:t>), the probability curve describing the </a:t>
            </a:r>
            <a:r>
              <a:rPr lang="en-US" altLang="zh-CN" sz="2600" dirty="0">
                <a:solidFill>
                  <a:srgbClr val="FF3300"/>
                </a:solidFill>
                <a:latin typeface="Times New Roman" pitchFamily="18" charset="0"/>
              </a:rPr>
              <a:t>uniform distribution</a:t>
            </a:r>
            <a:r>
              <a:rPr lang="en-US" altLang="zh-CN" sz="2600" dirty="0">
                <a:latin typeface="Times New Roman" pitchFamily="18" charset="0"/>
              </a:rPr>
              <a:t> is</a:t>
            </a:r>
          </a:p>
        </p:txBody>
      </p:sp>
      <p:sp>
        <p:nvSpPr>
          <p:cNvPr id="260101" name="Rectangle 5">
            <a:extLst>
              <a:ext uri="{FF2B5EF4-FFF2-40B4-BE49-F238E27FC236}">
                <a16:creationId xmlns:a16="http://schemas.microsoft.com/office/drawing/2014/main" id="{833B65BF-7000-B976-B5C2-54CE0050D7CF}"/>
              </a:ext>
            </a:extLst>
          </p:cNvPr>
          <p:cNvSpPr>
            <a:spLocks noChangeArrowheads="1"/>
          </p:cNvSpPr>
          <p:nvPr/>
        </p:nvSpPr>
        <p:spPr bwMode="auto">
          <a:xfrm>
            <a:off x="1300162" y="3334518"/>
            <a:ext cx="9386819"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spcBef>
                <a:spcPct val="50000"/>
              </a:spcBef>
              <a:defRPr/>
            </a:pPr>
            <a:r>
              <a:rPr lang="en-US" altLang="zh-CN" sz="2600" dirty="0">
                <a:latin typeface="Times New Roman" pitchFamily="18" charset="0"/>
              </a:rPr>
              <a:t>The probability that </a:t>
            </a:r>
            <a:r>
              <a:rPr lang="en-US" altLang="zh-CN" sz="2600" i="1" dirty="0">
                <a:latin typeface="Times New Roman" pitchFamily="18" charset="0"/>
              </a:rPr>
              <a:t>x</a:t>
            </a:r>
            <a:r>
              <a:rPr lang="en-US" altLang="zh-CN" sz="2600" dirty="0">
                <a:latin typeface="Times New Roman" pitchFamily="18" charset="0"/>
              </a:rPr>
              <a:t> is any value between the given values </a:t>
            </a:r>
            <a:r>
              <a:rPr lang="en-US" altLang="zh-CN" sz="2600" i="1" dirty="0">
                <a:latin typeface="Times New Roman" pitchFamily="18" charset="0"/>
              </a:rPr>
              <a:t>a</a:t>
            </a:r>
            <a:r>
              <a:rPr lang="en-US" altLang="zh-CN" sz="2600" dirty="0">
                <a:latin typeface="Times New Roman" pitchFamily="18" charset="0"/>
              </a:rPr>
              <a:t> and </a:t>
            </a:r>
            <a:r>
              <a:rPr lang="en-US" altLang="zh-CN" sz="2600" i="1" dirty="0">
                <a:latin typeface="Times New Roman" pitchFamily="18" charset="0"/>
              </a:rPr>
              <a:t>b</a:t>
            </a:r>
            <a:r>
              <a:rPr lang="en-US" altLang="zh-CN" sz="2600" dirty="0">
                <a:latin typeface="Times New Roman" pitchFamily="18" charset="0"/>
              </a:rPr>
              <a:t> (</a:t>
            </a:r>
            <a:r>
              <a:rPr lang="en-US" altLang="zh-CN" sz="2600" i="1" dirty="0">
                <a:latin typeface="Times New Roman" pitchFamily="18" charset="0"/>
              </a:rPr>
              <a:t>a</a:t>
            </a:r>
            <a:r>
              <a:rPr lang="en-US" altLang="zh-CN" sz="2600" dirty="0">
                <a:latin typeface="Times New Roman" pitchFamily="18" charset="0"/>
              </a:rPr>
              <a:t> &lt; </a:t>
            </a:r>
            <a:r>
              <a:rPr lang="en-US" altLang="zh-CN" sz="2600" i="1" dirty="0">
                <a:latin typeface="Times New Roman" pitchFamily="18" charset="0"/>
              </a:rPr>
              <a:t>b</a:t>
            </a:r>
            <a:r>
              <a:rPr lang="en-US" altLang="zh-CN" sz="2600" dirty="0">
                <a:latin typeface="Times New Roman" pitchFamily="18" charset="0"/>
              </a:rPr>
              <a:t>) is</a:t>
            </a:r>
          </a:p>
        </p:txBody>
      </p:sp>
      <p:sp>
        <p:nvSpPr>
          <p:cNvPr id="260103" name="Text Box 7">
            <a:extLst>
              <a:ext uri="{FF2B5EF4-FFF2-40B4-BE49-F238E27FC236}">
                <a16:creationId xmlns:a16="http://schemas.microsoft.com/office/drawing/2014/main" id="{55A13B0F-DF62-3D4D-974E-D5A913ED842E}"/>
              </a:ext>
            </a:extLst>
          </p:cNvPr>
          <p:cNvSpPr txBox="1">
            <a:spLocks noChangeArrowheads="1"/>
          </p:cNvSpPr>
          <p:nvPr/>
        </p:nvSpPr>
        <p:spPr bwMode="auto">
          <a:xfrm>
            <a:off x="1400011" y="5393187"/>
            <a:ext cx="593341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lang="en-US" altLang="zh-CN" sz="2600" dirty="0">
                <a:solidFill>
                  <a:srgbClr val="990033"/>
                </a:solidFill>
                <a:latin typeface="Times New Roman" pitchFamily="18" charset="0"/>
              </a:rPr>
              <a:t>Note: </a:t>
            </a:r>
            <a:r>
              <a:rPr lang="en-US" altLang="zh-CN" sz="2600" dirty="0">
                <a:latin typeface="Times New Roman" pitchFamily="18" charset="0"/>
              </a:rPr>
              <a:t>The number ordering is </a:t>
            </a:r>
            <a:r>
              <a:rPr lang="en-US" altLang="zh-CN" sz="2600" i="1" dirty="0">
                <a:solidFill>
                  <a:srgbClr val="990033"/>
                </a:solidFill>
                <a:latin typeface="Times New Roman" pitchFamily="18" charset="0"/>
              </a:rPr>
              <a:t>c </a:t>
            </a:r>
            <a:r>
              <a:rPr lang="en-US" altLang="zh-CN" sz="2600" dirty="0">
                <a:solidFill>
                  <a:srgbClr val="990033"/>
                </a:solidFill>
                <a:latin typeface="Times New Roman" pitchFamily="18" charset="0"/>
              </a:rPr>
              <a:t>&lt; </a:t>
            </a:r>
            <a:r>
              <a:rPr lang="en-US" altLang="zh-CN" sz="2600" i="1" dirty="0">
                <a:solidFill>
                  <a:srgbClr val="990033"/>
                </a:solidFill>
                <a:latin typeface="Times New Roman" pitchFamily="18" charset="0"/>
              </a:rPr>
              <a:t>a</a:t>
            </a:r>
            <a:r>
              <a:rPr lang="en-US" altLang="zh-CN" sz="2600" dirty="0">
                <a:solidFill>
                  <a:srgbClr val="990033"/>
                </a:solidFill>
                <a:latin typeface="Times New Roman" pitchFamily="18" charset="0"/>
              </a:rPr>
              <a:t> &lt; </a:t>
            </a:r>
            <a:r>
              <a:rPr lang="en-US" altLang="zh-CN" sz="2600" i="1" dirty="0">
                <a:solidFill>
                  <a:srgbClr val="990033"/>
                </a:solidFill>
                <a:latin typeface="Times New Roman" pitchFamily="18" charset="0"/>
              </a:rPr>
              <a:t>b</a:t>
            </a:r>
            <a:r>
              <a:rPr lang="en-US" altLang="zh-CN" sz="2600" dirty="0">
                <a:solidFill>
                  <a:srgbClr val="990033"/>
                </a:solidFill>
                <a:latin typeface="Times New Roman" pitchFamily="18" charset="0"/>
              </a:rPr>
              <a:t> &lt; </a:t>
            </a:r>
            <a:r>
              <a:rPr lang="en-US" altLang="zh-CN" sz="2600" i="1" dirty="0">
                <a:solidFill>
                  <a:srgbClr val="990033"/>
                </a:solidFill>
                <a:latin typeface="Times New Roman" pitchFamily="18" charset="0"/>
              </a:rPr>
              <a:t>d</a:t>
            </a:r>
            <a:endParaRPr lang="en-US" altLang="zh-CN" sz="2600" dirty="0">
              <a:solidFill>
                <a:srgbClr val="990033"/>
              </a:solidFill>
              <a:latin typeface="Times New Roman" pitchFamily="18" charset="0"/>
            </a:endParaRPr>
          </a:p>
        </p:txBody>
      </p:sp>
      <p:sp>
        <p:nvSpPr>
          <p:cNvPr id="10249" name="Line 8">
            <a:extLst>
              <a:ext uri="{FF2B5EF4-FFF2-40B4-BE49-F238E27FC236}">
                <a16:creationId xmlns:a16="http://schemas.microsoft.com/office/drawing/2014/main" id="{ACA7FE73-39A0-8BEA-4987-82C68C258258}"/>
              </a:ext>
            </a:extLst>
          </p:cNvPr>
          <p:cNvSpPr>
            <a:spLocks noChangeShapeType="1"/>
          </p:cNvSpPr>
          <p:nvPr/>
        </p:nvSpPr>
        <p:spPr bwMode="auto">
          <a:xfrm>
            <a:off x="7212842" y="1679698"/>
            <a:ext cx="17462" cy="12573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dirty="0"/>
          </a:p>
        </p:txBody>
      </p:sp>
      <p:sp>
        <p:nvSpPr>
          <p:cNvPr id="10250" name="Line 9">
            <a:extLst>
              <a:ext uri="{FF2B5EF4-FFF2-40B4-BE49-F238E27FC236}">
                <a16:creationId xmlns:a16="http://schemas.microsoft.com/office/drawing/2014/main" id="{04C7BB72-2CA2-22D1-A45D-8FFDC208C540}"/>
              </a:ext>
            </a:extLst>
          </p:cNvPr>
          <p:cNvSpPr>
            <a:spLocks noChangeShapeType="1"/>
          </p:cNvSpPr>
          <p:nvPr/>
        </p:nvSpPr>
        <p:spPr bwMode="auto">
          <a:xfrm>
            <a:off x="7195380" y="2950663"/>
            <a:ext cx="2397125"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00"/>
          </a:p>
        </p:txBody>
      </p:sp>
      <p:sp>
        <p:nvSpPr>
          <p:cNvPr id="10251" name="Rectangle 10">
            <a:extLst>
              <a:ext uri="{FF2B5EF4-FFF2-40B4-BE49-F238E27FC236}">
                <a16:creationId xmlns:a16="http://schemas.microsoft.com/office/drawing/2014/main" id="{BE6C35CF-C6E7-316E-7D9D-5C46B68415A9}"/>
              </a:ext>
            </a:extLst>
          </p:cNvPr>
          <p:cNvSpPr>
            <a:spLocks noChangeArrowheads="1"/>
          </p:cNvSpPr>
          <p:nvPr/>
        </p:nvSpPr>
        <p:spPr bwMode="auto">
          <a:xfrm>
            <a:off x="8133593" y="2398213"/>
            <a:ext cx="973137" cy="534988"/>
          </a:xfrm>
          <a:prstGeom prst="rect">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2600">
              <a:solidFill>
                <a:srgbClr val="000099"/>
              </a:solidFill>
              <a:latin typeface="Times New Roman" panose="02020603050405020304" pitchFamily="18" charset="0"/>
            </a:endParaRPr>
          </a:p>
        </p:txBody>
      </p:sp>
      <p:sp>
        <p:nvSpPr>
          <p:cNvPr id="10252" name="Text Box 11">
            <a:extLst>
              <a:ext uri="{FF2B5EF4-FFF2-40B4-BE49-F238E27FC236}">
                <a16:creationId xmlns:a16="http://schemas.microsoft.com/office/drawing/2014/main" id="{6D937917-9A16-9293-F8EB-1AA63AEF590A}"/>
              </a:ext>
            </a:extLst>
          </p:cNvPr>
          <p:cNvSpPr txBox="1">
            <a:spLocks noChangeArrowheads="1"/>
          </p:cNvSpPr>
          <p:nvPr/>
        </p:nvSpPr>
        <p:spPr bwMode="auto">
          <a:xfrm>
            <a:off x="6889847" y="1215402"/>
            <a:ext cx="6463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600" i="1" dirty="0">
                <a:solidFill>
                  <a:srgbClr val="000099"/>
                </a:solidFill>
                <a:latin typeface="Times New Roman" panose="02020603050405020304" pitchFamily="18" charset="0"/>
              </a:rPr>
              <a:t>f</a:t>
            </a:r>
            <a:r>
              <a:rPr lang="en-US" altLang="zh-CN" sz="2600" dirty="0">
                <a:solidFill>
                  <a:srgbClr val="000099"/>
                </a:solidFill>
                <a:latin typeface="Times New Roman" panose="02020603050405020304" pitchFamily="18" charset="0"/>
              </a:rPr>
              <a:t>(</a:t>
            </a:r>
            <a:r>
              <a:rPr lang="en-US" altLang="zh-CN" sz="2600" i="1" dirty="0">
                <a:solidFill>
                  <a:srgbClr val="000099"/>
                </a:solidFill>
                <a:latin typeface="Times New Roman" panose="02020603050405020304" pitchFamily="18" charset="0"/>
              </a:rPr>
              <a:t>x</a:t>
            </a:r>
            <a:r>
              <a:rPr lang="en-US" altLang="zh-CN" sz="2600" dirty="0">
                <a:solidFill>
                  <a:srgbClr val="000099"/>
                </a:solidFill>
                <a:latin typeface="Times New Roman" panose="02020603050405020304" pitchFamily="18" charset="0"/>
              </a:rPr>
              <a:t>)</a:t>
            </a:r>
          </a:p>
        </p:txBody>
      </p:sp>
      <p:sp>
        <p:nvSpPr>
          <p:cNvPr id="10253" name="Text Box 12">
            <a:extLst>
              <a:ext uri="{FF2B5EF4-FFF2-40B4-BE49-F238E27FC236}">
                <a16:creationId xmlns:a16="http://schemas.microsoft.com/office/drawing/2014/main" id="{EE696FFB-9724-A678-B72F-9AC0A0A97C01}"/>
              </a:ext>
            </a:extLst>
          </p:cNvPr>
          <p:cNvSpPr txBox="1">
            <a:spLocks noChangeArrowheads="1"/>
          </p:cNvSpPr>
          <p:nvPr/>
        </p:nvSpPr>
        <p:spPr bwMode="auto">
          <a:xfrm>
            <a:off x="9703627" y="2691350"/>
            <a:ext cx="33214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600" i="1" dirty="0">
                <a:solidFill>
                  <a:srgbClr val="000099"/>
                </a:solidFill>
                <a:latin typeface="Times New Roman" panose="02020603050405020304" pitchFamily="18" charset="0"/>
              </a:rPr>
              <a:t>x</a:t>
            </a:r>
          </a:p>
        </p:txBody>
      </p:sp>
      <p:sp>
        <p:nvSpPr>
          <p:cNvPr id="10254" name="Text Box 13">
            <a:extLst>
              <a:ext uri="{FF2B5EF4-FFF2-40B4-BE49-F238E27FC236}">
                <a16:creationId xmlns:a16="http://schemas.microsoft.com/office/drawing/2014/main" id="{14C5D430-F9ED-0A90-FFA4-940307B35BA8}"/>
              </a:ext>
            </a:extLst>
          </p:cNvPr>
          <p:cNvSpPr txBox="1">
            <a:spLocks noChangeArrowheads="1"/>
          </p:cNvSpPr>
          <p:nvPr/>
        </p:nvSpPr>
        <p:spPr bwMode="auto">
          <a:xfrm>
            <a:off x="8022290" y="2867768"/>
            <a:ext cx="33214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600" i="1" dirty="0">
                <a:latin typeface="Times New Roman" panose="02020603050405020304" pitchFamily="18" charset="0"/>
                <a:cs typeface="Times New Roman" panose="02020603050405020304" pitchFamily="18" charset="0"/>
              </a:rPr>
              <a:t>c</a:t>
            </a:r>
          </a:p>
        </p:txBody>
      </p:sp>
      <p:sp>
        <p:nvSpPr>
          <p:cNvPr id="10255" name="Text Box 14">
            <a:extLst>
              <a:ext uri="{FF2B5EF4-FFF2-40B4-BE49-F238E27FC236}">
                <a16:creationId xmlns:a16="http://schemas.microsoft.com/office/drawing/2014/main" id="{701EA300-A98E-054F-6397-591D343F2A67}"/>
              </a:ext>
            </a:extLst>
          </p:cNvPr>
          <p:cNvSpPr txBox="1">
            <a:spLocks noChangeArrowheads="1"/>
          </p:cNvSpPr>
          <p:nvPr/>
        </p:nvSpPr>
        <p:spPr bwMode="auto">
          <a:xfrm>
            <a:off x="8881034" y="2885230"/>
            <a:ext cx="351379"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2600" i="1" dirty="0">
                <a:latin typeface="Times New Roman" panose="02020603050405020304" pitchFamily="18" charset="0"/>
                <a:cs typeface="Times New Roman" panose="02020603050405020304" pitchFamily="18" charset="0"/>
              </a:rPr>
              <a:t>d</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196427-1306-6FFC-71F3-581F01750303}"/>
                  </a:ext>
                </a:extLst>
              </p:cNvPr>
              <p:cNvSpPr txBox="1"/>
              <p:nvPr/>
            </p:nvSpPr>
            <p:spPr>
              <a:xfrm>
                <a:off x="2871720" y="4347317"/>
                <a:ext cx="4112039" cy="85222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sz="2600" i="1" smtClean="0">
                          <a:solidFill>
                            <a:srgbClr val="000000"/>
                          </a:solidFill>
                          <a:latin typeface="Cambria Math" panose="02040503050406030204" pitchFamily="18" charset="0"/>
                        </a:rPr>
                        <m:t>𝑃</m:t>
                      </m:r>
                      <m:d>
                        <m:dPr>
                          <m:ctrlPr>
                            <a:rPr lang="en-AU" sz="2600" i="1">
                              <a:solidFill>
                                <a:srgbClr val="000000"/>
                              </a:solidFill>
                              <a:latin typeface="Cambria Math" panose="02040503050406030204" pitchFamily="18" charset="0"/>
                            </a:rPr>
                          </m:ctrlPr>
                        </m:dPr>
                        <m:e>
                          <m:r>
                            <a:rPr lang="en-AU" sz="2600" i="1">
                              <a:solidFill>
                                <a:srgbClr val="000000"/>
                              </a:solidFill>
                              <a:latin typeface="Cambria Math" panose="02040503050406030204" pitchFamily="18" charset="0"/>
                            </a:rPr>
                            <m:t>𝑎</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𝑥</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𝑏</m:t>
                          </m:r>
                        </m:e>
                      </m:d>
                      <m:r>
                        <a:rPr lang="en-AU" sz="2600" i="1">
                          <a:solidFill>
                            <a:srgbClr val="000000"/>
                          </a:solidFill>
                          <a:latin typeface="Cambria Math" panose="02040503050406030204" pitchFamily="18" charset="0"/>
                        </a:rPr>
                        <m:t>=</m:t>
                      </m:r>
                      <m:f>
                        <m:fPr>
                          <m:ctrlPr>
                            <a:rPr lang="en-AU" sz="2600" i="1">
                              <a:solidFill>
                                <a:srgbClr val="000000"/>
                              </a:solidFill>
                              <a:latin typeface="Cambria Math" panose="02040503050406030204" pitchFamily="18" charset="0"/>
                            </a:rPr>
                          </m:ctrlPr>
                        </m:fPr>
                        <m:num>
                          <m:r>
                            <a:rPr lang="en-AU" sz="2600" i="1">
                              <a:solidFill>
                                <a:srgbClr val="000000"/>
                              </a:solidFill>
                              <a:latin typeface="Cambria Math" panose="02040503050406030204" pitchFamily="18" charset="0"/>
                            </a:rPr>
                            <m:t>𝑏</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𝑎</m:t>
                          </m:r>
                        </m:num>
                        <m:den>
                          <m:r>
                            <a:rPr lang="en-AU" sz="2600" i="1">
                              <a:solidFill>
                                <a:srgbClr val="000000"/>
                              </a:solidFill>
                              <a:latin typeface="Cambria Math" panose="02040503050406030204" pitchFamily="18" charset="0"/>
                            </a:rPr>
                            <m:t>𝑑</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𝑐</m:t>
                          </m:r>
                        </m:den>
                      </m:f>
                    </m:oMath>
                  </m:oMathPara>
                </a14:m>
                <a:endParaRPr lang="en-AU" sz="2600" dirty="0"/>
              </a:p>
            </p:txBody>
          </p:sp>
        </mc:Choice>
        <mc:Fallback xmlns="">
          <p:sp>
            <p:nvSpPr>
              <p:cNvPr id="5" name="TextBox 4">
                <a:extLst>
                  <a:ext uri="{FF2B5EF4-FFF2-40B4-BE49-F238E27FC236}">
                    <a16:creationId xmlns:a16="http://schemas.microsoft.com/office/drawing/2014/main" id="{9A196427-1306-6FFC-71F3-581F01750303}"/>
                  </a:ext>
                </a:extLst>
              </p:cNvPr>
              <p:cNvSpPr txBox="1">
                <a:spLocks noRot="1" noChangeAspect="1" noMove="1" noResize="1" noEditPoints="1" noAdjustHandles="1" noChangeArrowheads="1" noChangeShapeType="1" noTextEdit="1"/>
              </p:cNvSpPr>
              <p:nvPr/>
            </p:nvSpPr>
            <p:spPr>
              <a:xfrm>
                <a:off x="2871720" y="4347317"/>
                <a:ext cx="4112039" cy="852221"/>
              </a:xfrm>
              <a:prstGeom prst="rect">
                <a:avLst/>
              </a:prstGeom>
              <a:blipFill>
                <a:blip r:embed="rId4"/>
                <a:stretch>
                  <a:fillRect/>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D35A653D-059F-11A3-2D1F-12EAF72A53C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0611112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a16="http://schemas.microsoft.com/office/drawing/2014/main" id="{CA416F91-7A10-F948-ADD3-305E15E9F37E}"/>
              </a:ext>
            </a:extLst>
          </p:cNvPr>
          <p:cNvSpPr>
            <a:spLocks noGrp="1" noChangeArrowheads="1"/>
          </p:cNvSpPr>
          <p:nvPr>
            <p:ph type="title"/>
          </p:nvPr>
        </p:nvSpPr>
        <p:spPr>
          <a:xfrm>
            <a:off x="1433758" y="174004"/>
            <a:ext cx="5414303" cy="563563"/>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The Uniform Probability Curve</a:t>
            </a:r>
          </a:p>
        </p:txBody>
      </p:sp>
      <p:pic>
        <p:nvPicPr>
          <p:cNvPr id="6" name="Picture 5">
            <a:extLst>
              <a:ext uri="{FF2B5EF4-FFF2-40B4-BE49-F238E27FC236}">
                <a16:creationId xmlns:a16="http://schemas.microsoft.com/office/drawing/2014/main" id="{1DBDDB15-C441-DF24-7D74-F6B4F6ED3C0B}"/>
              </a:ext>
            </a:extLst>
          </p:cNvPr>
          <p:cNvPicPr>
            <a:picLocks noChangeAspect="1"/>
          </p:cNvPicPr>
          <p:nvPr/>
        </p:nvPicPr>
        <p:blipFill>
          <a:blip r:embed="rId3"/>
          <a:stretch>
            <a:fillRect/>
          </a:stretch>
        </p:blipFill>
        <p:spPr>
          <a:xfrm>
            <a:off x="1433758" y="846906"/>
            <a:ext cx="9171294" cy="5916603"/>
          </a:xfrm>
          <a:prstGeom prst="rect">
            <a:avLst/>
          </a:prstGeom>
        </p:spPr>
      </p:pic>
      <p:sp>
        <p:nvSpPr>
          <p:cNvPr id="2" name="灯片编号占位符 16">
            <a:extLst>
              <a:ext uri="{FF2B5EF4-FFF2-40B4-BE49-F238E27FC236}">
                <a16:creationId xmlns:a16="http://schemas.microsoft.com/office/drawing/2014/main" id="{A78237EB-1B48-B6E4-9660-FB9A1B26355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680936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2" name="Object 3">
                <a:extLst>
                  <a:ext uri="{FF2B5EF4-FFF2-40B4-BE49-F238E27FC236}">
                    <a16:creationId xmlns:a16="http://schemas.microsoft.com/office/drawing/2014/main" id="{6CE4338A-3766-5643-BE46-F6646CA2747D}"/>
                  </a:ext>
                </a:extLst>
              </p:cNvPr>
              <p:cNvSpPr txBox="1">
                <a:spLocks noGrp="1"/>
              </p:cNvSpPr>
              <p:nvPr>
                <p:ph sz="half" idx="1"/>
              </p:nvPr>
            </p:nvSpPr>
            <p:spPr bwMode="auto">
              <a:xfrm>
                <a:off x="2850840" y="2005565"/>
                <a:ext cx="6075362" cy="2172804"/>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sSub>
                        <m:sSubPr>
                          <m:ctrlPr>
                            <a:rPr lang="en-AU" i="1" smtClean="0">
                              <a:solidFill>
                                <a:srgbClr val="000000"/>
                              </a:solidFill>
                              <a:latin typeface="Cambria Math" panose="02040503050406030204" pitchFamily="18" charset="0"/>
                            </a:rPr>
                          </m:ctrlPr>
                        </m:sSubPr>
                        <m:e>
                          <m:r>
                            <a:rPr lang="en-AU" b="0" i="1" smtClean="0">
                              <a:solidFill>
                                <a:srgbClr val="000000"/>
                              </a:solidFill>
                              <a:latin typeface="Cambria Math" panose="02040503050406030204" pitchFamily="18" charset="0"/>
                            </a:rPr>
                            <m:t>  </m:t>
                          </m:r>
                          <m:r>
                            <a:rPr lang="en-AU" i="1">
                              <a:solidFill>
                                <a:srgbClr val="000000"/>
                              </a:solidFill>
                              <a:latin typeface="Cambria Math" panose="02040503050406030204" pitchFamily="18" charset="0"/>
                            </a:rPr>
                            <m:t>𝜇</m:t>
                          </m:r>
                        </m:e>
                        <m:sub>
                          <m:r>
                            <a:rPr lang="en-AU" b="0" i="1" smtClean="0">
                              <a:solidFill>
                                <a:srgbClr val="000000"/>
                              </a:solidFill>
                              <a:latin typeface="Cambria Math" panose="02040503050406030204" pitchFamily="18" charset="0"/>
                            </a:rPr>
                            <m:t>𝑥</m:t>
                          </m:r>
                        </m:sub>
                      </m:sSub>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𝑐</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𝑑</m:t>
                          </m:r>
                        </m:num>
                        <m:den>
                          <m:r>
                            <a:rPr lang="en-AU" i="1">
                              <a:solidFill>
                                <a:srgbClr val="000000"/>
                              </a:solidFill>
                              <a:latin typeface="Cambria Math" panose="02040503050406030204" pitchFamily="18" charset="0"/>
                            </a:rPr>
                            <m:t>2</m:t>
                          </m:r>
                        </m:den>
                      </m:f>
                    </m:oMath>
                  </m:oMathPara>
                </a14:m>
                <a:br>
                  <a:rPr lang="en-AU" i="1" dirty="0">
                    <a:solidFill>
                      <a:srgbClr val="000000"/>
                    </a:solidFill>
                    <a:latin typeface="Cambria Math" panose="02040503050406030204" pitchFamily="18" charset="0"/>
                  </a:rPr>
                </a:br>
                <a:br>
                  <a:rPr lang="en-AU"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en-AU" i="1">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𝜎</m:t>
                          </m:r>
                        </m:e>
                        <m:sub>
                          <m:r>
                            <a:rPr lang="en-AU" b="0" i="1" smtClean="0">
                              <a:solidFill>
                                <a:srgbClr val="000000"/>
                              </a:solidFill>
                              <a:latin typeface="Cambria Math" panose="02040503050406030204" pitchFamily="18" charset="0"/>
                            </a:rPr>
                            <m:t>𝑥</m:t>
                          </m:r>
                        </m:sub>
                      </m:sSub>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𝑑</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𝑐</m:t>
                          </m:r>
                        </m:num>
                        <m:den>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12</m:t>
                              </m:r>
                            </m:e>
                          </m:rad>
                        </m:den>
                      </m:f>
                    </m:oMath>
                  </m:oMathPara>
                </a14:m>
                <a:endParaRPr lang="en-AU" dirty="0"/>
              </a:p>
            </p:txBody>
          </p:sp>
        </mc:Choice>
        <mc:Fallback xmlns="">
          <p:sp>
            <p:nvSpPr>
              <p:cNvPr id="12292" name="Object 3">
                <a:extLst>
                  <a:ext uri="{FF2B5EF4-FFF2-40B4-BE49-F238E27FC236}">
                    <a16:creationId xmlns:a16="http://schemas.microsoft.com/office/drawing/2014/main" id="{6CE4338A-3766-5643-BE46-F6646CA2747D}"/>
                  </a:ext>
                </a:extLst>
              </p:cNvPr>
              <p:cNvSpPr txBox="1">
                <a:spLocks noGrp="1" noRot="1" noChangeAspect="1" noMove="1" noResize="1" noEditPoints="1" noAdjustHandles="1" noChangeArrowheads="1" noChangeShapeType="1" noTextEdit="1"/>
              </p:cNvSpPr>
              <p:nvPr>
                <p:ph sz="half" idx="1"/>
              </p:nvPr>
            </p:nvSpPr>
            <p:spPr bwMode="auto">
              <a:xfrm>
                <a:off x="2850840" y="2005565"/>
                <a:ext cx="6075362" cy="2172804"/>
              </a:xfrm>
              <a:prstGeom prst="rect">
                <a:avLst/>
              </a:prstGeom>
              <a:blipFill>
                <a:blip r:embed="rId3"/>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293" name="Rectangle 4">
                <a:extLst>
                  <a:ext uri="{FF2B5EF4-FFF2-40B4-BE49-F238E27FC236}">
                    <a16:creationId xmlns:a16="http://schemas.microsoft.com/office/drawing/2014/main" id="{4308E753-07C3-314C-8321-0DF980E13743}"/>
                  </a:ext>
                </a:extLst>
              </p:cNvPr>
              <p:cNvSpPr>
                <a:spLocks noChangeArrowheads="1"/>
              </p:cNvSpPr>
              <p:nvPr/>
            </p:nvSpPr>
            <p:spPr bwMode="auto">
              <a:xfrm>
                <a:off x="1281321" y="646666"/>
                <a:ext cx="10168557" cy="963612"/>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800" dirty="0">
                    <a:solidFill>
                      <a:srgbClr val="FF3300"/>
                    </a:solidFill>
                    <a:latin typeface="Times New Roman" panose="02020603050405020304" pitchFamily="18" charset="0"/>
                    <a:cs typeface="Times New Roman" panose="02020603050405020304" pitchFamily="18" charset="0"/>
                  </a:rPr>
                  <a:t>The mean</a:t>
                </a:r>
                <a:r>
                  <a:rPr lang="en-US" altLang="zh-CN"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𝜇</m:t>
                        </m:r>
                      </m:e>
                      <m:sub>
                        <m:r>
                          <a:rPr lang="en-AU" sz="2800" i="1">
                            <a:solidFill>
                              <a:srgbClr val="000000"/>
                            </a:solidFill>
                            <a:latin typeface="Cambria Math" panose="02040503050406030204" pitchFamily="18" charset="0"/>
                          </a:rPr>
                          <m:t>𝑥</m:t>
                        </m:r>
                      </m:sub>
                    </m:sSub>
                  </m:oMath>
                </a14:m>
                <a:r>
                  <a:rPr lang="en-US" altLang="zh-CN" sz="2800" baseline="-250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and </a:t>
                </a:r>
                <a:r>
                  <a:rPr lang="en-US" altLang="zh-CN" sz="2800" dirty="0">
                    <a:solidFill>
                      <a:srgbClr val="FF3300"/>
                    </a:solidFill>
                    <a:latin typeface="Times New Roman" panose="02020603050405020304" pitchFamily="18" charset="0"/>
                    <a:cs typeface="Times New Roman" panose="02020603050405020304" pitchFamily="18" charset="0"/>
                  </a:rPr>
                  <a:t>standard deviation</a:t>
                </a:r>
                <a:r>
                  <a:rPr lang="en-US" altLang="zh-CN" sz="2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𝜎</m:t>
                        </m:r>
                      </m:e>
                      <m:sub>
                        <m:r>
                          <a:rPr lang="en-AU" sz="2800" i="1">
                            <a:solidFill>
                              <a:srgbClr val="000000"/>
                            </a:solidFill>
                            <a:latin typeface="Cambria Math" panose="02040503050406030204" pitchFamily="18" charset="0"/>
                          </a:rPr>
                          <m:t>𝑥</m:t>
                        </m:r>
                      </m:sub>
                    </m:sSub>
                  </m:oMath>
                </a14:m>
                <a:r>
                  <a:rPr lang="en-US" altLang="zh-CN" sz="2800" dirty="0">
                    <a:latin typeface="Times New Roman" panose="02020603050405020304" pitchFamily="18" charset="0"/>
                    <a:cs typeface="Times New Roman" panose="02020603050405020304" pitchFamily="18" charset="0"/>
                  </a:rPr>
                  <a:t> of a </a:t>
                </a:r>
                <a:r>
                  <a:rPr lang="en-US" altLang="zh-CN" sz="2800" dirty="0">
                    <a:solidFill>
                      <a:srgbClr val="0000FF"/>
                    </a:solidFill>
                    <a:latin typeface="Times New Roman" panose="02020603050405020304" pitchFamily="18" charset="0"/>
                    <a:cs typeface="Times New Roman" panose="02020603050405020304" pitchFamily="18" charset="0"/>
                  </a:rPr>
                  <a:t>uniform</a:t>
                </a:r>
                <a:r>
                  <a:rPr lang="en-US" altLang="zh-CN" sz="2800" dirty="0">
                    <a:latin typeface="Times New Roman" panose="02020603050405020304" pitchFamily="18" charset="0"/>
                    <a:cs typeface="Times New Roman" panose="02020603050405020304" pitchFamily="18" charset="0"/>
                  </a:rPr>
                  <a:t> random variable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are</a:t>
                </a:r>
              </a:p>
            </p:txBody>
          </p:sp>
        </mc:Choice>
        <mc:Fallback xmlns="">
          <p:sp>
            <p:nvSpPr>
              <p:cNvPr id="12293" name="Rectangle 4">
                <a:extLst>
                  <a:ext uri="{FF2B5EF4-FFF2-40B4-BE49-F238E27FC236}">
                    <a16:creationId xmlns:a16="http://schemas.microsoft.com/office/drawing/2014/main" id="{4308E753-07C3-314C-8321-0DF980E13743}"/>
                  </a:ext>
                </a:extLst>
              </p:cNvPr>
              <p:cNvSpPr>
                <a:spLocks noRot="1" noChangeAspect="1" noMove="1" noResize="1" noEditPoints="1" noAdjustHandles="1" noChangeArrowheads="1" noChangeShapeType="1" noTextEdit="1"/>
              </p:cNvSpPr>
              <p:nvPr/>
            </p:nvSpPr>
            <p:spPr bwMode="auto">
              <a:xfrm>
                <a:off x="1281321" y="646666"/>
                <a:ext cx="10168557" cy="963612"/>
              </a:xfrm>
              <a:prstGeom prst="rect">
                <a:avLst/>
              </a:prstGeom>
              <a:blipFill>
                <a:blip r:embed="rId4"/>
                <a:stretch>
                  <a:fillRect l="-1199" t="-6962" r="-959" b="-1582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 name="Object 3">
                <a:extLst>
                  <a:ext uri="{FF2B5EF4-FFF2-40B4-BE49-F238E27FC236}">
                    <a16:creationId xmlns:a16="http://schemas.microsoft.com/office/drawing/2014/main" id="{1A850CB2-3D37-EE5E-FA7F-1B2248C345EF}"/>
                  </a:ext>
                </a:extLst>
              </p:cNvPr>
              <p:cNvSpPr txBox="1">
                <a:spLocks/>
              </p:cNvSpPr>
              <p:nvPr/>
            </p:nvSpPr>
            <p:spPr bwMode="auto">
              <a:xfrm>
                <a:off x="1627085" y="4605683"/>
                <a:ext cx="6075362" cy="701813"/>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AU" b="1"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Note: </a:t>
                </a:r>
                <a14:m>
                  <m:oMath xmlns:m="http://schemas.openxmlformats.org/officeDocument/2006/math">
                    <m:sSubSup>
                      <m:sSubSupPr>
                        <m:ctrlPr>
                          <a:rPr lang="en-AU" i="1" smtClean="0">
                            <a:latin typeface="Cambria Math" panose="02040503050406030204" pitchFamily="18" charset="0"/>
                            <a:ea typeface="Cambria Math" panose="02040503050406030204" pitchFamily="18" charset="0"/>
                          </a:rPr>
                        </m:ctrlPr>
                      </m:sSubSupPr>
                      <m:e>
                        <m:r>
                          <a:rPr lang="en-AU" i="1">
                            <a:latin typeface="Cambria Math" panose="02040503050406030204" pitchFamily="18" charset="0"/>
                            <a:ea typeface="Cambria Math" panose="02040503050406030204" pitchFamily="18" charset="0"/>
                          </a:rPr>
                          <m:t>𝜎</m:t>
                        </m:r>
                      </m:e>
                      <m:sub>
                        <m:r>
                          <a:rPr lang="en-AU" b="0" i="1" smtClean="0">
                            <a:latin typeface="Cambria Math" panose="02040503050406030204" pitchFamily="18" charset="0"/>
                            <a:ea typeface="Cambria Math" panose="02040503050406030204" pitchFamily="18" charset="0"/>
                          </a:rPr>
                          <m:t>𝑥</m:t>
                        </m:r>
                      </m:sub>
                      <m:sup>
                        <m:r>
                          <a:rPr lang="en-AU" b="0" i="1" smtClean="0">
                            <a:latin typeface="Cambria Math" panose="02040503050406030204" pitchFamily="18" charset="0"/>
                            <a:ea typeface="Cambria Math" panose="02040503050406030204" pitchFamily="18" charset="0"/>
                          </a:rPr>
                          <m:t>2</m:t>
                        </m:r>
                      </m:sup>
                    </m:sSubSup>
                    <m:r>
                      <a:rPr lang="en-AU" b="0" i="1" smtClean="0">
                        <a:latin typeface="Cambria Math" panose="02040503050406030204" pitchFamily="18" charset="0"/>
                        <a:ea typeface="Cambria Math" panose="02040503050406030204" pitchFamily="18" charset="0"/>
                      </a:rPr>
                      <m:t>=</m:t>
                    </m:r>
                    <m:nary>
                      <m:naryPr>
                        <m:ctrlPr>
                          <a:rPr lang="en-AU" b="0" i="1" smtClean="0">
                            <a:latin typeface="Cambria Math" panose="02040503050406030204" pitchFamily="18" charset="0"/>
                            <a:ea typeface="Cambria Math" panose="02040503050406030204" pitchFamily="18" charset="0"/>
                          </a:rPr>
                        </m:ctrlPr>
                      </m:naryPr>
                      <m:sub>
                        <m:r>
                          <m:rPr>
                            <m:brk m:alnAt="23"/>
                          </m:rPr>
                          <a:rPr lang="en-AU" b="0" i="1" smtClean="0">
                            <a:latin typeface="Cambria Math" panose="02040503050406030204" pitchFamily="18" charset="0"/>
                            <a:ea typeface="Cambria Math" panose="02040503050406030204" pitchFamily="18" charset="0"/>
                          </a:rPr>
                          <m:t>𝑐</m:t>
                        </m:r>
                      </m:sub>
                      <m:sup>
                        <m:r>
                          <a:rPr lang="en-AU" b="0" i="1" smtClean="0">
                            <a:latin typeface="Cambria Math" panose="02040503050406030204" pitchFamily="18" charset="0"/>
                            <a:ea typeface="Cambria Math" panose="02040503050406030204" pitchFamily="18" charset="0"/>
                          </a:rPr>
                          <m:t>𝑑</m:t>
                        </m:r>
                      </m:sup>
                      <m:e>
                        <m:sSup>
                          <m:sSupPr>
                            <m:ctrlPr>
                              <a:rPr lang="en-AU" b="0" i="1" smtClean="0">
                                <a:solidFill>
                                  <a:srgbClr val="000000"/>
                                </a:solidFill>
                                <a:latin typeface="Cambria Math" panose="02040503050406030204" pitchFamily="18" charset="0"/>
                              </a:rPr>
                            </m:ctrlPr>
                          </m:sSupPr>
                          <m:e>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𝑥</m:t>
                                </m:r>
                                <m:r>
                                  <a:rPr lang="en-AU" i="1">
                                    <a:latin typeface="Cambria Math" panose="02040503050406030204" pitchFamily="18" charset="0"/>
                                    <a:ea typeface="Cambria Math" panose="02040503050406030204" pitchFamily="18" charset="0"/>
                                  </a:rPr>
                                  <m:t>−</m:t>
                                </m:r>
                                <m:sSub>
                                  <m:sSubPr>
                                    <m:ctrlPr>
                                      <a:rPr lang="en-AU" i="1">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  </m:t>
                                    </m:r>
                                    <m:r>
                                      <a:rPr lang="en-AU" i="1">
                                        <a:solidFill>
                                          <a:srgbClr val="000000"/>
                                        </a:solidFill>
                                        <a:latin typeface="Cambria Math" panose="02040503050406030204" pitchFamily="18" charset="0"/>
                                      </a:rPr>
                                      <m:t>𝜇</m:t>
                                    </m:r>
                                  </m:e>
                                  <m:sub>
                                    <m:r>
                                      <a:rPr lang="en-AU" i="1">
                                        <a:solidFill>
                                          <a:srgbClr val="000000"/>
                                        </a:solidFill>
                                        <a:latin typeface="Cambria Math" panose="02040503050406030204" pitchFamily="18" charset="0"/>
                                      </a:rPr>
                                      <m:t>𝑥</m:t>
                                    </m:r>
                                  </m:sub>
                                </m:sSub>
                              </m:e>
                            </m:d>
                          </m:e>
                          <m:sup>
                            <m:r>
                              <a:rPr lang="en-AU" b="0" i="1" smtClean="0">
                                <a:solidFill>
                                  <a:srgbClr val="000000"/>
                                </a:solidFill>
                                <a:latin typeface="Cambria Math" panose="02040503050406030204" pitchFamily="18" charset="0"/>
                              </a:rPr>
                              <m:t>2</m:t>
                            </m:r>
                          </m:sup>
                        </m:sSup>
                        <m:r>
                          <a:rPr lang="en-AU" b="0" i="1" smtClean="0">
                            <a:solidFill>
                              <a:srgbClr val="000000"/>
                            </a:solidFill>
                            <a:latin typeface="Cambria Math" panose="02040503050406030204" pitchFamily="18" charset="0"/>
                          </a:rPr>
                          <m:t>𝑓</m:t>
                        </m:r>
                        <m:d>
                          <m:dPr>
                            <m:ctrlPr>
                              <a:rPr lang="en-AU" b="0" i="1" smtClean="0">
                                <a:solidFill>
                                  <a:srgbClr val="000000"/>
                                </a:solidFill>
                                <a:latin typeface="Cambria Math" panose="02040503050406030204" pitchFamily="18" charset="0"/>
                              </a:rPr>
                            </m:ctrlPr>
                          </m:dPr>
                          <m:e>
                            <m:r>
                              <a:rPr lang="en-AU" b="0" i="1" smtClean="0">
                                <a:solidFill>
                                  <a:srgbClr val="000000"/>
                                </a:solidFill>
                                <a:latin typeface="Cambria Math" panose="02040503050406030204" pitchFamily="18" charset="0"/>
                              </a:rPr>
                              <m:t>𝑥</m:t>
                            </m:r>
                          </m:e>
                        </m:d>
                        <m:r>
                          <a:rPr lang="en-AU" b="0" i="1" smtClean="0">
                            <a:solidFill>
                              <a:srgbClr val="000000"/>
                            </a:solidFill>
                            <a:latin typeface="Cambria Math" panose="02040503050406030204" pitchFamily="18" charset="0"/>
                          </a:rPr>
                          <m:t>𝑑𝑥</m:t>
                        </m:r>
                      </m:e>
                    </m:nary>
                  </m:oMath>
                </a14:m>
                <a:endParaRPr lang="en-AU" dirty="0"/>
              </a:p>
            </p:txBody>
          </p:sp>
        </mc:Choice>
        <mc:Fallback xmlns="">
          <p:sp>
            <p:nvSpPr>
              <p:cNvPr id="2" name="Object 3">
                <a:extLst>
                  <a:ext uri="{FF2B5EF4-FFF2-40B4-BE49-F238E27FC236}">
                    <a16:creationId xmlns:a16="http://schemas.microsoft.com/office/drawing/2014/main" id="{1A850CB2-3D37-EE5E-FA7F-1B2248C345EF}"/>
                  </a:ext>
                </a:extLst>
              </p:cNvPr>
              <p:cNvSpPr txBox="1">
                <a:spLocks noRot="1" noChangeAspect="1" noMove="1" noResize="1" noEditPoints="1" noAdjustHandles="1" noChangeArrowheads="1" noChangeShapeType="1" noTextEdit="1"/>
              </p:cNvSpPr>
              <p:nvPr/>
            </p:nvSpPr>
            <p:spPr bwMode="auto">
              <a:xfrm>
                <a:off x="1627085" y="4605683"/>
                <a:ext cx="6075362" cy="701813"/>
              </a:xfrm>
              <a:prstGeom prst="rect">
                <a:avLst/>
              </a:prstGeom>
              <a:blipFill>
                <a:blip r:embed="rId5"/>
                <a:stretch>
                  <a:fillRect l="-2106" t="-1739" b="-6087"/>
                </a:stretch>
              </a:blipFill>
              <a:ln>
                <a:noFill/>
              </a:ln>
              <a:effectLst/>
            </p:spPr>
            <p:txBody>
              <a:bodyPr/>
              <a:lstStyle/>
              <a:p>
                <a:r>
                  <a:rPr lang="en-AU">
                    <a:noFill/>
                  </a:rPr>
                  <a:t> </a:t>
                </a:r>
              </a:p>
            </p:txBody>
          </p:sp>
        </mc:Fallback>
      </mc:AlternateContent>
      <p:sp>
        <p:nvSpPr>
          <p:cNvPr id="3" name="灯片编号占位符 16">
            <a:extLst>
              <a:ext uri="{FF2B5EF4-FFF2-40B4-BE49-F238E27FC236}">
                <a16:creationId xmlns:a16="http://schemas.microsoft.com/office/drawing/2014/main" id="{749A188E-3E51-29AA-1A3C-3C3684955BC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19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2291819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315" name="Rectangle 2">
                <a:extLst>
                  <a:ext uri="{FF2B5EF4-FFF2-40B4-BE49-F238E27FC236}">
                    <a16:creationId xmlns:a16="http://schemas.microsoft.com/office/drawing/2014/main" id="{599D9C85-AD9F-3144-B95C-2D50C5A82F43}"/>
                  </a:ext>
                </a:extLst>
              </p:cNvPr>
              <p:cNvSpPr>
                <a:spLocks noGrp="1" noChangeArrowheads="1"/>
              </p:cNvSpPr>
              <p:nvPr>
                <p:ph type="body" sz="half" idx="1"/>
              </p:nvPr>
            </p:nvSpPr>
            <p:spPr>
              <a:xfrm>
                <a:off x="976184" y="952777"/>
                <a:ext cx="10096008" cy="5105400"/>
              </a:xfrm>
              <a:noFill/>
            </p:spPr>
            <p:txBody>
              <a:bodyPr>
                <a:normAutofit lnSpcReduction="10000"/>
              </a:bodyPr>
              <a:lstStyle/>
              <a:p>
                <a:pPr eaLnBrk="1" hangingPunct="1">
                  <a:lnSpc>
                    <a:spcPct val="100000"/>
                  </a:lnSpc>
                </a:pPr>
                <a:r>
                  <a:rPr lang="en-US" altLang="zh-CN" dirty="0">
                    <a:latin typeface="Times New Roman" panose="02020603050405020304" pitchFamily="18" charset="0"/>
                  </a:rPr>
                  <a:t>The uniform distribution is </a:t>
                </a:r>
                <a:r>
                  <a:rPr lang="en-US" altLang="zh-CN" dirty="0">
                    <a:solidFill>
                      <a:srgbClr val="FF3300"/>
                    </a:solidFill>
                    <a:latin typeface="Times New Roman" panose="02020603050405020304" pitchFamily="18" charset="0"/>
                  </a:rPr>
                  <a:t>symmetrical</a:t>
                </a:r>
              </a:p>
              <a:p>
                <a:pPr lvl="1">
                  <a:lnSpc>
                    <a:spcPct val="100000"/>
                  </a:lnSpc>
                </a:pPr>
                <a:r>
                  <a:rPr lang="en-US" altLang="zh-CN" sz="2800" dirty="0">
                    <a:latin typeface="Times New Roman" panose="02020603050405020304" pitchFamily="18" charset="0"/>
                  </a:rPr>
                  <a:t>Symmetrical about its center</a:t>
                </a:r>
                <a14:m>
                  <m:oMath xmlns:m="http://schemas.openxmlformats.org/officeDocument/2006/math">
                    <m:r>
                      <a:rPr lang="en-AU" sz="2800" b="0" i="0" smtClean="0">
                        <a:solidFill>
                          <a:srgbClr val="000000"/>
                        </a:solidFill>
                        <a:latin typeface="Cambria Math" panose="02040503050406030204" pitchFamily="18" charset="0"/>
                      </a:rPr>
                      <m:t> </m:t>
                    </m:r>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𝜇</m:t>
                        </m:r>
                      </m:e>
                      <m:sub>
                        <m:r>
                          <a:rPr lang="en-AU" sz="2800" b="0" i="1" smtClean="0">
                            <a:solidFill>
                              <a:srgbClr val="000000"/>
                            </a:solidFill>
                            <a:latin typeface="Cambria Math" panose="02040503050406030204" pitchFamily="18" charset="0"/>
                          </a:rPr>
                          <m:t>𝑥</m:t>
                        </m:r>
                      </m:sub>
                    </m:sSub>
                  </m:oMath>
                </a14:m>
                <a:endParaRPr lang="en-US" altLang="zh-CN" sz="2800" i="1" baseline="-25000" noProof="1">
                  <a:latin typeface="Times New Roman" panose="02020603050405020304" pitchFamily="18" charset="0"/>
                </a:endParaRPr>
              </a:p>
              <a:p>
                <a:pPr lvl="1">
                  <a:lnSpc>
                    <a:spcPct val="100000"/>
                  </a:lnSpc>
                </a:pPr>
                <a:r>
                  <a:rPr lang="en-US" altLang="zh-CN" sz="2800" i="1" baseline="-25000" dirty="0">
                    <a:latin typeface="Times New Roman" panose="02020603050405020304" pitchFamily="18" charset="0"/>
                  </a:rPr>
                  <a:t> </a:t>
                </a:r>
                <a14:m>
                  <m:oMath xmlns:m="http://schemas.openxmlformats.org/officeDocument/2006/math">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𝜇</m:t>
                        </m:r>
                      </m:e>
                      <m:sub>
                        <m:r>
                          <a:rPr lang="en-AU" sz="2800" i="1">
                            <a:solidFill>
                              <a:srgbClr val="000000"/>
                            </a:solidFill>
                            <a:latin typeface="Cambria Math" panose="02040503050406030204" pitchFamily="18" charset="0"/>
                          </a:rPr>
                          <m:t>𝑥</m:t>
                        </m:r>
                      </m:sub>
                    </m:sSub>
                    <m:r>
                      <a:rPr lang="en-AU" sz="2800" i="1">
                        <a:solidFill>
                          <a:srgbClr val="000000"/>
                        </a:solidFill>
                        <a:latin typeface="Cambria Math" panose="02040503050406030204" pitchFamily="18" charset="0"/>
                      </a:rPr>
                      <m:t> </m:t>
                    </m:r>
                  </m:oMath>
                </a14:m>
                <a:r>
                  <a:rPr lang="en-US" altLang="zh-CN" sz="2800" dirty="0">
                    <a:latin typeface="Times New Roman" panose="02020603050405020304" pitchFamily="18" charset="0"/>
                  </a:rPr>
                  <a:t>is the median. </a:t>
                </a:r>
              </a:p>
              <a:p>
                <a:pPr lvl="1" eaLnBrk="1" hangingPunct="1">
                  <a:lnSpc>
                    <a:spcPct val="100000"/>
                  </a:lnSpc>
                  <a:buFont typeface="Wingdings" pitchFamily="2" charset="2"/>
                  <a:buNone/>
                </a:pPr>
                <a:endParaRPr lang="en-US" altLang="zh-CN" sz="2800" i="1" baseline="-25000" dirty="0">
                  <a:latin typeface="Times New Roman" panose="02020603050405020304" pitchFamily="18" charset="0"/>
                </a:endParaRPr>
              </a:p>
              <a:p>
                <a:pPr eaLnBrk="1" hangingPunct="1">
                  <a:lnSpc>
                    <a:spcPct val="100000"/>
                  </a:lnSpc>
                </a:pPr>
                <a:r>
                  <a:rPr lang="en-US" altLang="zh-CN" dirty="0">
                    <a:latin typeface="Times New Roman" panose="02020603050405020304" pitchFamily="18" charset="0"/>
                  </a:rPr>
                  <a:t>The uniform distribution is </a:t>
                </a:r>
                <a:r>
                  <a:rPr lang="en-US" altLang="zh-CN" dirty="0">
                    <a:solidFill>
                      <a:srgbClr val="FF3300"/>
                    </a:solidFill>
                    <a:latin typeface="Times New Roman" panose="02020603050405020304" pitchFamily="18" charset="0"/>
                  </a:rPr>
                  <a:t>rectangular</a:t>
                </a:r>
              </a:p>
              <a:p>
                <a:pPr lvl="1" eaLnBrk="1" hangingPunct="1">
                  <a:lnSpc>
                    <a:spcPct val="100000"/>
                  </a:lnSpc>
                  <a:spcBef>
                    <a:spcPts val="1800"/>
                  </a:spcBef>
                </a:pPr>
                <a:r>
                  <a:rPr lang="en-US" altLang="zh-CN" sz="2800" dirty="0">
                    <a:latin typeface="Times New Roman" panose="02020603050405020304" pitchFamily="18" charset="0"/>
                  </a:rPr>
                  <a:t>For endpoints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and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&lt;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and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the width of the distribution is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and the height is </a:t>
                </a:r>
                <a14:m>
                  <m:oMath xmlns:m="http://schemas.openxmlformats.org/officeDocument/2006/math">
                    <m:r>
                      <a:rPr lang="en-AU" altLang="zh-CN" sz="2800" b="0" i="0" smtClean="0">
                        <a:latin typeface="Cambria Math" panose="02040503050406030204" pitchFamily="18" charset="0"/>
                      </a:rPr>
                      <m:t>1/(</m:t>
                    </m:r>
                    <m:r>
                      <a:rPr lang="en-AU" altLang="zh-CN" sz="2800" b="0" i="1" smtClean="0">
                        <a:latin typeface="Cambria Math" panose="02040503050406030204" pitchFamily="18" charset="0"/>
                      </a:rPr>
                      <m:t>𝑑</m:t>
                    </m:r>
                    <m:r>
                      <a:rPr lang="en-AU" altLang="zh-CN" sz="2800" b="0" i="0" smtClean="0">
                        <a:latin typeface="Cambria Math" panose="02040503050406030204" pitchFamily="18" charset="0"/>
                      </a:rPr>
                      <m:t>−</m:t>
                    </m:r>
                    <m:r>
                      <a:rPr lang="en-AU" altLang="zh-CN" sz="2800" b="0" i="1" smtClean="0">
                        <a:latin typeface="Cambria Math" panose="02040503050406030204" pitchFamily="18" charset="0"/>
                      </a:rPr>
                      <m:t>𝑐</m:t>
                    </m:r>
                    <m:r>
                      <a:rPr lang="en-AU" altLang="zh-CN" sz="2800" b="0" i="0" smtClean="0">
                        <a:latin typeface="Cambria Math" panose="02040503050406030204" pitchFamily="18" charset="0"/>
                      </a:rPr>
                      <m:t>)</m:t>
                    </m:r>
                  </m:oMath>
                </a14:m>
                <a:r>
                  <a:rPr lang="en-US" altLang="zh-CN" sz="2800" dirty="0">
                    <a:latin typeface="Times New Roman" panose="02020603050405020304" pitchFamily="18" charset="0"/>
                  </a:rPr>
                  <a:t>.</a:t>
                </a:r>
              </a:p>
              <a:p>
                <a:pPr lvl="1" eaLnBrk="1" hangingPunct="1">
                  <a:lnSpc>
                    <a:spcPct val="100000"/>
                  </a:lnSpc>
                  <a:spcBef>
                    <a:spcPts val="1800"/>
                  </a:spcBef>
                </a:pPr>
                <a:r>
                  <a:rPr lang="en-US" altLang="zh-CN" sz="2800" dirty="0">
                    <a:latin typeface="Times New Roman" panose="02020603050405020304" pitchFamily="18" charset="0"/>
                  </a:rPr>
                  <a:t>The area under the entire uniform distribution is 1</a:t>
                </a:r>
              </a:p>
              <a:p>
                <a:pPr lvl="2" eaLnBrk="1" hangingPunct="1">
                  <a:lnSpc>
                    <a:spcPct val="100000"/>
                  </a:lnSpc>
                </a:pPr>
                <a:r>
                  <a:rPr lang="en-US" altLang="zh-CN" sz="2800" dirty="0">
                    <a:latin typeface="Times New Roman" panose="02020603050405020304" pitchFamily="18" charset="0"/>
                  </a:rPr>
                  <a:t>Because width </a:t>
                </a:r>
                <a:r>
                  <a:rPr lang="en-US" altLang="zh-CN" sz="2800" i="1" dirty="0">
                    <a:latin typeface="Times New Roman" panose="02020603050405020304" pitchFamily="18" charset="0"/>
                  </a:rPr>
                  <a:t>x</a:t>
                </a:r>
                <a:r>
                  <a:rPr lang="en-US" altLang="zh-CN" sz="2800" dirty="0">
                    <a:latin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rPr>
                  <a:t>height =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itchFamily="2" charset="2"/>
                  </a:rPr>
                  <a:t></a:t>
                </a:r>
                <a:r>
                  <a:rPr lang="en-US" altLang="zh-CN" sz="2800" dirty="0">
                    <a:latin typeface="Times New Roman" panose="02020603050405020304" pitchFamily="18" charset="0"/>
                  </a:rPr>
                  <a:t> [1/(</a:t>
                </a:r>
                <a:r>
                  <a:rPr lang="en-US" altLang="zh-CN" sz="2800" i="1" dirty="0">
                    <a:latin typeface="Times New Roman" panose="02020603050405020304" pitchFamily="18" charset="0"/>
                  </a:rPr>
                  <a:t>d</a:t>
                </a:r>
                <a:r>
                  <a:rPr lang="en-US" altLang="zh-CN" sz="2800" dirty="0">
                    <a:latin typeface="Times New Roman" panose="02020603050405020304" pitchFamily="18" charset="0"/>
                  </a:rPr>
                  <a:t> – </a:t>
                </a:r>
                <a:r>
                  <a:rPr lang="en-US" altLang="zh-CN" sz="2800" i="1" dirty="0">
                    <a:latin typeface="Times New Roman" panose="02020603050405020304" pitchFamily="18" charset="0"/>
                  </a:rPr>
                  <a:t>c</a:t>
                </a:r>
                <a:r>
                  <a:rPr lang="en-US" altLang="zh-CN" sz="2800" dirty="0">
                    <a:latin typeface="Times New Roman" panose="02020603050405020304" pitchFamily="18" charset="0"/>
                  </a:rPr>
                  <a:t>)] = 1</a:t>
                </a:r>
              </a:p>
              <a:p>
                <a:pPr lvl="2" eaLnBrk="1" hangingPunct="1">
                  <a:lnSpc>
                    <a:spcPct val="100000"/>
                  </a:lnSpc>
                </a:pPr>
                <a:r>
                  <a:rPr lang="en-US" altLang="zh-CN" sz="2800" dirty="0">
                    <a:latin typeface="Times New Roman" panose="02020603050405020304" pitchFamily="18" charset="0"/>
                  </a:rPr>
                  <a:t>So </a:t>
                </a:r>
                <a:r>
                  <a:rPr lang="en-US" altLang="zh-CN" sz="2800" i="1" dirty="0">
                    <a:latin typeface="Times New Roman" panose="02020603050405020304" pitchFamily="18" charset="0"/>
                  </a:rPr>
                  <a:t>P</a:t>
                </a:r>
                <a:r>
                  <a:rPr lang="en-US" altLang="zh-CN" sz="2800" dirty="0">
                    <a:latin typeface="Times New Roman" panose="02020603050405020304" pitchFamily="18" charset="0"/>
                  </a:rPr>
                  <a:t>(</a:t>
                </a:r>
                <a:r>
                  <a:rPr lang="en-US" altLang="zh-CN" sz="2800" i="1" dirty="0">
                    <a:latin typeface="Times New Roman" panose="02020603050405020304" pitchFamily="18" charset="0"/>
                  </a:rPr>
                  <a:t>c</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itchFamily="2" charset="2"/>
                  </a:rPr>
                  <a:t></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a:t>
                </a:r>
                <a:r>
                  <a:rPr lang="en-US" altLang="zh-CN" sz="2800" dirty="0">
                    <a:latin typeface="Times New Roman" panose="02020603050405020304" pitchFamily="18" charset="0"/>
                    <a:sym typeface="Symbol" pitchFamily="2" charset="2"/>
                  </a:rPr>
                  <a:t></a:t>
                </a:r>
                <a:r>
                  <a:rPr lang="en-US" altLang="zh-CN" sz="2800" dirty="0">
                    <a:latin typeface="Times New Roman" panose="02020603050405020304" pitchFamily="18" charset="0"/>
                  </a:rPr>
                  <a:t> </a:t>
                </a:r>
                <a:r>
                  <a:rPr lang="en-US" altLang="zh-CN" sz="2800" i="1" dirty="0">
                    <a:latin typeface="Times New Roman" panose="02020603050405020304" pitchFamily="18" charset="0"/>
                  </a:rPr>
                  <a:t>d</a:t>
                </a:r>
                <a:r>
                  <a:rPr lang="en-US" altLang="zh-CN" sz="2800" dirty="0">
                    <a:latin typeface="Times New Roman" panose="02020603050405020304" pitchFamily="18" charset="0"/>
                  </a:rPr>
                  <a:t>) = 1.</a:t>
                </a:r>
                <a:endParaRPr lang="en-US" altLang="zh-CN" sz="2800" dirty="0"/>
              </a:p>
            </p:txBody>
          </p:sp>
        </mc:Choice>
        <mc:Fallback xmlns="">
          <p:sp>
            <p:nvSpPr>
              <p:cNvPr id="13315" name="Rectangle 2">
                <a:extLst>
                  <a:ext uri="{FF2B5EF4-FFF2-40B4-BE49-F238E27FC236}">
                    <a16:creationId xmlns:a16="http://schemas.microsoft.com/office/drawing/2014/main" id="{599D9C85-AD9F-3144-B95C-2D50C5A82F43}"/>
                  </a:ext>
                </a:extLst>
              </p:cNvPr>
              <p:cNvSpPr>
                <a:spLocks noGrp="1" noRot="1" noChangeAspect="1" noMove="1" noResize="1" noEditPoints="1" noAdjustHandles="1" noChangeArrowheads="1" noChangeShapeType="1" noTextEdit="1"/>
              </p:cNvSpPr>
              <p:nvPr>
                <p:ph type="body" sz="half" idx="1"/>
              </p:nvPr>
            </p:nvSpPr>
            <p:spPr>
              <a:xfrm>
                <a:off x="976184" y="952777"/>
                <a:ext cx="10096008" cy="5105400"/>
              </a:xfrm>
              <a:blipFill>
                <a:blip r:embed="rId2"/>
                <a:stretch>
                  <a:fillRect l="-1087" t="-2029"/>
                </a:stretch>
              </a:blipFill>
            </p:spPr>
            <p:txBody>
              <a:bodyPr/>
              <a:lstStyle/>
              <a:p>
                <a:r>
                  <a:rPr lang="en-AU">
                    <a:noFill/>
                  </a:rPr>
                  <a:t> </a:t>
                </a:r>
              </a:p>
            </p:txBody>
          </p:sp>
        </mc:Fallback>
      </mc:AlternateContent>
      <p:sp>
        <p:nvSpPr>
          <p:cNvPr id="13316" name="Rectangle 3">
            <a:extLst>
              <a:ext uri="{FF2B5EF4-FFF2-40B4-BE49-F238E27FC236}">
                <a16:creationId xmlns:a16="http://schemas.microsoft.com/office/drawing/2014/main" id="{14FB2DDC-24C8-4647-9CD2-6CE651B7603E}"/>
              </a:ext>
            </a:extLst>
          </p:cNvPr>
          <p:cNvSpPr>
            <a:spLocks noGrp="1" noChangeArrowheads="1"/>
          </p:cNvSpPr>
          <p:nvPr>
            <p:ph type="title"/>
          </p:nvPr>
        </p:nvSpPr>
        <p:spPr>
          <a:xfrm>
            <a:off x="808383" y="133661"/>
            <a:ext cx="6496878" cy="735977"/>
          </a:xfrm>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Notes on the Uniform Distribution</a:t>
            </a:r>
          </a:p>
        </p:txBody>
      </p:sp>
      <p:sp>
        <p:nvSpPr>
          <p:cNvPr id="2" name="灯片编号占位符 16">
            <a:extLst>
              <a:ext uri="{FF2B5EF4-FFF2-40B4-BE49-F238E27FC236}">
                <a16:creationId xmlns:a16="http://schemas.microsoft.com/office/drawing/2014/main" id="{FF86119C-3F59-C669-3AFE-39AF8F74F40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19061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0A6C39A4-51A6-6948-BCE5-D79FFA68E452}"/>
              </a:ext>
            </a:extLst>
          </p:cNvPr>
          <p:cNvSpPr>
            <a:spLocks noGrp="1" noChangeArrowheads="1"/>
          </p:cNvSpPr>
          <p:nvPr>
            <p:ph type="title"/>
          </p:nvPr>
        </p:nvSpPr>
        <p:spPr>
          <a:xfrm>
            <a:off x="601834" y="307014"/>
            <a:ext cx="6861589" cy="593725"/>
          </a:xfrm>
          <a:noFill/>
        </p:spPr>
        <p:txBody>
          <a:bodyPr>
            <a:normAutofit/>
          </a:bodyPr>
          <a:lstStyle/>
          <a:p>
            <a:r>
              <a:rPr lang="en-GB" altLang="zh-CN" sz="2800" b="1" dirty="0">
                <a:latin typeface="Times New Roman" pitchFamily="18" charset="0"/>
              </a:rPr>
              <a:t>Example 6.1: </a:t>
            </a:r>
            <a:r>
              <a:rPr lang="en-US" altLang="zh-CN" sz="2800" b="1" dirty="0">
                <a:solidFill>
                  <a:srgbClr val="0000FF"/>
                </a:solidFill>
                <a:latin typeface="Times New Roman" panose="02020603050405020304" pitchFamily="18" charset="0"/>
                <a:cs typeface="Times New Roman" panose="02020603050405020304" pitchFamily="18" charset="0"/>
              </a:rPr>
              <a:t>Elevator Waiting Time #1</a:t>
            </a:r>
          </a:p>
        </p:txBody>
      </p:sp>
      <p:sp>
        <p:nvSpPr>
          <p:cNvPr id="267267" name="Rectangle 3">
            <a:extLst>
              <a:ext uri="{FF2B5EF4-FFF2-40B4-BE49-F238E27FC236}">
                <a16:creationId xmlns:a16="http://schemas.microsoft.com/office/drawing/2014/main" id="{2C524CC2-A213-D94F-9329-9C2D3DDE1E01}"/>
              </a:ext>
            </a:extLst>
          </p:cNvPr>
          <p:cNvSpPr>
            <a:spLocks noGrp="1" noChangeArrowheads="1"/>
          </p:cNvSpPr>
          <p:nvPr>
            <p:ph type="body" sz="half" idx="1"/>
          </p:nvPr>
        </p:nvSpPr>
        <p:spPr>
          <a:xfrm>
            <a:off x="601834" y="1167607"/>
            <a:ext cx="10987192" cy="4878387"/>
          </a:xfrm>
        </p:spPr>
        <p:txBody>
          <a:bodyPr>
            <a:normAutofit/>
          </a:bodyPr>
          <a:lstStyle/>
          <a:p>
            <a:pPr algn="just" eaLnBrk="1" hangingPunct="1">
              <a:lnSpc>
                <a:spcPct val="100000"/>
              </a:lnSpc>
              <a:buClr>
                <a:schemeClr val="tx1"/>
              </a:buClr>
              <a:defRPr/>
            </a:pPr>
            <a:r>
              <a:rPr lang="en-US" altLang="zh-CN" dirty="0">
                <a:latin typeface="Times New Roman" pitchFamily="18" charset="0"/>
              </a:rPr>
              <a:t>The </a:t>
            </a:r>
            <a:r>
              <a:rPr lang="en-US" altLang="zh-CN" dirty="0">
                <a:solidFill>
                  <a:srgbClr val="FF0000"/>
                </a:solidFill>
                <a:latin typeface="Times New Roman" pitchFamily="18" charset="0"/>
              </a:rPr>
              <a:t>amount of time, </a:t>
            </a:r>
            <a:r>
              <a:rPr lang="en-US" altLang="zh-CN" i="1" dirty="0">
                <a:solidFill>
                  <a:srgbClr val="FF0000"/>
                </a:solidFill>
                <a:latin typeface="Times New Roman" pitchFamily="18" charset="0"/>
              </a:rPr>
              <a:t>x</a:t>
            </a:r>
            <a:r>
              <a:rPr lang="en-US" altLang="zh-CN" dirty="0">
                <a:latin typeface="Times New Roman" pitchFamily="18" charset="0"/>
              </a:rPr>
              <a:t>, that a randomly selected hotel patron spends </a:t>
            </a:r>
            <a:r>
              <a:rPr lang="en-US" altLang="zh-CN" dirty="0">
                <a:solidFill>
                  <a:srgbClr val="FF0000"/>
                </a:solidFill>
                <a:latin typeface="Times New Roman" pitchFamily="18" charset="0"/>
              </a:rPr>
              <a:t>waiting for the elevator </a:t>
            </a:r>
            <a:r>
              <a:rPr lang="en-US" altLang="zh-CN" dirty="0">
                <a:latin typeface="Times New Roman" pitchFamily="18" charset="0"/>
              </a:rPr>
              <a:t>at dinner time.</a:t>
            </a:r>
          </a:p>
          <a:p>
            <a:pPr algn="just" eaLnBrk="1" hangingPunct="1">
              <a:lnSpc>
                <a:spcPct val="100000"/>
              </a:lnSpc>
              <a:defRPr/>
            </a:pPr>
            <a:r>
              <a:rPr lang="en-US" altLang="zh-CN" dirty="0">
                <a:latin typeface="Times New Roman" pitchFamily="18" charset="0"/>
              </a:rPr>
              <a:t>Record suggests </a:t>
            </a:r>
            <a:r>
              <a:rPr lang="en-US" altLang="zh-CN" i="1" dirty="0">
                <a:latin typeface="Times New Roman" pitchFamily="18" charset="0"/>
              </a:rPr>
              <a:t>x</a:t>
            </a:r>
            <a:r>
              <a:rPr lang="en-US" altLang="zh-CN" dirty="0">
                <a:latin typeface="Times New Roman" pitchFamily="18" charset="0"/>
              </a:rPr>
              <a:t> is uniformly distributed between zero and 4 minutes</a:t>
            </a:r>
          </a:p>
          <a:p>
            <a:pPr lvl="1" algn="just" eaLnBrk="1" hangingPunct="1">
              <a:lnSpc>
                <a:spcPct val="100000"/>
              </a:lnSpc>
              <a:defRPr/>
            </a:pPr>
            <a:r>
              <a:rPr lang="en-US" altLang="zh-CN" sz="2800" dirty="0">
                <a:latin typeface="Times New Roman" pitchFamily="18" charset="0"/>
              </a:rPr>
              <a:t>So </a:t>
            </a:r>
            <a:r>
              <a:rPr lang="en-US" altLang="zh-CN" sz="2800" i="1" dirty="0">
                <a:latin typeface="Times New Roman" pitchFamily="18" charset="0"/>
              </a:rPr>
              <a:t>c</a:t>
            </a:r>
            <a:r>
              <a:rPr lang="en-US" altLang="zh-CN" sz="2800" dirty="0">
                <a:latin typeface="Times New Roman" pitchFamily="18" charset="0"/>
              </a:rPr>
              <a:t> = 0 and </a:t>
            </a:r>
            <a:r>
              <a:rPr lang="en-US" altLang="zh-CN" sz="2800" i="1" dirty="0">
                <a:latin typeface="Times New Roman" pitchFamily="18" charset="0"/>
              </a:rPr>
              <a:t>d</a:t>
            </a:r>
            <a:r>
              <a:rPr lang="en-US" altLang="zh-CN" sz="2800" dirty="0">
                <a:latin typeface="Times New Roman" pitchFamily="18" charset="0"/>
              </a:rPr>
              <a:t> = 4, </a:t>
            </a:r>
          </a:p>
          <a:p>
            <a:pPr lvl="1" algn="just" eaLnBrk="1" hangingPunct="1">
              <a:lnSpc>
                <a:spcPct val="100000"/>
              </a:lnSpc>
              <a:defRPr/>
            </a:pPr>
            <a:endParaRPr lang="en-US" altLang="zh-CN" sz="2800" dirty="0">
              <a:latin typeface="Times New Roman" pitchFamily="18" charset="0"/>
            </a:endParaRPr>
          </a:p>
        </p:txBody>
      </p:sp>
      <mc:AlternateContent xmlns:mc="http://schemas.openxmlformats.org/markup-compatibility/2006" xmlns:a14="http://schemas.microsoft.com/office/drawing/2010/main">
        <mc:Choice Requires="a14">
          <p:sp>
            <p:nvSpPr>
              <p:cNvPr id="14341" name="Object 4">
                <a:extLst>
                  <a:ext uri="{FF2B5EF4-FFF2-40B4-BE49-F238E27FC236}">
                    <a16:creationId xmlns:a16="http://schemas.microsoft.com/office/drawing/2014/main" id="{4DC70066-7A7B-604C-A1AD-2ADB72E91AB7}"/>
                  </a:ext>
                </a:extLst>
              </p:cNvPr>
              <p:cNvSpPr txBox="1">
                <a:spLocks noGrp="1"/>
              </p:cNvSpPr>
              <p:nvPr>
                <p:ph sz="quarter" idx="2"/>
              </p:nvPr>
            </p:nvSpPr>
            <p:spPr bwMode="auto">
              <a:xfrm>
                <a:off x="2323479" y="3596861"/>
                <a:ext cx="5534025" cy="1368425"/>
              </a:xfrm>
              <a:prstGeom prst="rect">
                <a:avLst/>
              </a:prstGeom>
              <a:noFill/>
              <a:ln>
                <a:noFill/>
              </a:ln>
              <a:effectLst/>
            </p:spPr>
            <p:txBody>
              <a:bodyPr>
                <a:normAutofit fontScale="92500"/>
              </a:bodyPr>
              <a:lstStyle/>
              <a:p>
                <a:pPr>
                  <a:spcBef>
                    <a:spcPts val="2400"/>
                  </a:spcBef>
                  <a:buNone/>
                </a:pPr>
                <a14:m>
                  <m:oMathPara xmlns:m="http://schemas.openxmlformats.org/officeDocument/2006/math">
                    <m:oMathParaPr>
                      <m:jc m:val="left"/>
                    </m:oMathParaPr>
                    <m:oMath xmlns:m="http://schemas.openxmlformats.org/officeDocument/2006/math">
                      <m:r>
                        <a:rPr lang="en-AU" i="1" smtClean="0">
                          <a:solidFill>
                            <a:srgbClr val="000000"/>
                          </a:solidFill>
                          <a:latin typeface="Cambria Math" panose="02040503050406030204" pitchFamily="18" charset="0"/>
                        </a:rPr>
                        <m:t>𝑓</m:t>
                      </m:r>
                      <m:d>
                        <m:dPr>
                          <m:ctrlPr>
                            <a:rPr lang="en-AU" i="1">
                              <a:solidFill>
                                <a:srgbClr val="000000"/>
                              </a:solidFill>
                              <a:latin typeface="Cambria Math" panose="02040503050406030204" pitchFamily="18" charset="0"/>
                            </a:rPr>
                          </m:ctrlPr>
                        </m:dPr>
                        <m:e>
                          <m:r>
                            <a:rPr lang="en-AU" i="1">
                              <a:solidFill>
                                <a:srgbClr val="000000"/>
                              </a:solidFill>
                              <a:latin typeface="Cambria Math" panose="02040503050406030204" pitchFamily="18" charset="0"/>
                            </a:rPr>
                            <m:t>𝑥</m:t>
                          </m:r>
                        </m:e>
                      </m:d>
                      <m:r>
                        <a:rPr lang="en-AU" i="1">
                          <a:solidFill>
                            <a:srgbClr val="000000"/>
                          </a:solidFill>
                          <a:latin typeface="Cambria Math" panose="02040503050406030204" pitchFamily="18" charset="0"/>
                        </a:rPr>
                        <m:t>=</m:t>
                      </m:r>
                      <m:d>
                        <m:dPr>
                          <m:begChr m:val="{"/>
                          <m:endChr m:val=""/>
                          <m:ctrlPr>
                            <a:rPr lang="en-AU" i="1">
                              <a:solidFill>
                                <a:srgbClr val="000000"/>
                              </a:solidFill>
                              <a:latin typeface="Cambria Math" panose="02040503050406030204" pitchFamily="18" charset="0"/>
                            </a:rPr>
                          </m:ctrlPr>
                        </m:dPr>
                        <m:e>
                          <m:eqArr>
                            <m:eqArrPr>
                              <m:ctrlPr>
                                <a:rPr lang="en-AU" i="1">
                                  <a:solidFill>
                                    <a:srgbClr val="000000"/>
                                  </a:solidFill>
                                  <a:latin typeface="Cambria Math" panose="02040503050406030204" pitchFamily="18" charset="0"/>
                                </a:rPr>
                              </m:ctrlPr>
                            </m:eqArrPr>
                            <m:e>
                              <m:r>
                                <a:rPr lang="en-AU" i="1">
                                  <a:solidFill>
                                    <a:srgbClr val="000000"/>
                                  </a:solidFill>
                                  <a:latin typeface="Cambria Math" panose="02040503050406030204" pitchFamily="18" charset="0"/>
                                </a:rPr>
                                <m:t>&amp;</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4−0</m:t>
                                  </m:r>
                                </m:den>
                              </m:f>
                              <m:r>
                                <a:rPr lang="en-AU" i="1">
                                  <a:solidFill>
                                    <a:srgbClr val="000000"/>
                                  </a:solidFill>
                                  <a:latin typeface="Cambria Math" panose="02040503050406030204" pitchFamily="18" charset="0"/>
                                </a:rPr>
                                <m:t> =</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4</m:t>
                                  </m:r>
                                </m:den>
                              </m:f>
                              <m:r>
                                <a:rPr lang="en-AU" i="1">
                                  <a:solidFill>
                                    <a:srgbClr val="000000"/>
                                  </a:solidFill>
                                  <a:latin typeface="Cambria Math" panose="02040503050406030204" pitchFamily="18" charset="0"/>
                                </a:rPr>
                                <m:t>     </m:t>
                              </m:r>
                              <m:r>
                                <m:rPr>
                                  <m:nor/>
                                </m:rPr>
                                <a:rPr lang="en-AU" i="0">
                                  <a:solidFill>
                                    <a:srgbClr val="000000"/>
                                  </a:solidFill>
                                  <a:latin typeface="Cambria Math" panose="02040503050406030204" pitchFamily="18" charset="0"/>
                                </a:rPr>
                                <m:t>for</m:t>
                              </m:r>
                              <m:r>
                                <a:rPr lang="en-AU" i="1">
                                  <a:solidFill>
                                    <a:srgbClr val="000000"/>
                                  </a:solidFill>
                                  <a:latin typeface="Cambria Math" panose="02040503050406030204" pitchFamily="18" charset="0"/>
                                </a:rPr>
                                <m:t> 0≤</m:t>
                              </m:r>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≤4</m:t>
                              </m:r>
                            </m:e>
                            <m:e>
                              <m:r>
                                <a:rPr lang="en-AU" i="1">
                                  <a:solidFill>
                                    <a:srgbClr val="000000"/>
                                  </a:solidFill>
                                  <a:latin typeface="Cambria Math" panose="02040503050406030204" pitchFamily="18" charset="0"/>
                                </a:rPr>
                                <m:t>&amp;0        </m:t>
                              </m:r>
                              <m:r>
                                <a:rPr lang="en-AU" b="0" i="1" smtClean="0">
                                  <a:solidFill>
                                    <a:srgbClr val="000000"/>
                                  </a:solidFill>
                                  <a:latin typeface="Cambria Math" panose="02040503050406030204" pitchFamily="18" charset="0"/>
                                </a:rPr>
                                <m:t>            </m:t>
                              </m:r>
                              <m:r>
                                <a:rPr lang="en-AU" i="1">
                                  <a:solidFill>
                                    <a:srgbClr val="000000"/>
                                  </a:solidFill>
                                  <a:latin typeface="Cambria Math" panose="02040503050406030204" pitchFamily="18" charset="0"/>
                                </a:rPr>
                                <m:t>    </m:t>
                              </m:r>
                              <m:r>
                                <m:rPr>
                                  <m:nor/>
                                </m:rPr>
                                <a:rPr lang="en-AU" i="0">
                                  <a:solidFill>
                                    <a:srgbClr val="000000"/>
                                  </a:solidFill>
                                  <a:latin typeface="Cambria Math" panose="02040503050406030204" pitchFamily="18" charset="0"/>
                                </a:rPr>
                                <m:t>otherwise</m:t>
                              </m:r>
                            </m:e>
                          </m:eqArr>
                        </m:e>
                      </m:d>
                      <m:r>
                        <a:rPr lang="en-AU" i="1">
                          <a:solidFill>
                            <a:srgbClr val="000000"/>
                          </a:solidFill>
                          <a:latin typeface="Cambria Math" panose="02040503050406030204" pitchFamily="18" charset="0"/>
                        </a:rPr>
                        <m:t>  </m:t>
                      </m:r>
                    </m:oMath>
                  </m:oMathPara>
                </a14:m>
                <a:endParaRPr lang="en-AU" dirty="0"/>
              </a:p>
            </p:txBody>
          </p:sp>
        </mc:Choice>
        <mc:Fallback xmlns="">
          <p:sp>
            <p:nvSpPr>
              <p:cNvPr id="14341" name="Object 4">
                <a:extLst>
                  <a:ext uri="{FF2B5EF4-FFF2-40B4-BE49-F238E27FC236}">
                    <a16:creationId xmlns:a16="http://schemas.microsoft.com/office/drawing/2014/main" id="{4DC70066-7A7B-604C-A1AD-2ADB72E91AB7}"/>
                  </a:ext>
                </a:extLst>
              </p:cNvPr>
              <p:cNvSpPr txBox="1">
                <a:spLocks noGrp="1" noRot="1" noChangeAspect="1" noMove="1" noResize="1" noEditPoints="1" noAdjustHandles="1" noChangeArrowheads="1" noChangeShapeType="1" noTextEdit="1"/>
              </p:cNvSpPr>
              <p:nvPr>
                <p:ph sz="quarter" idx="2"/>
              </p:nvPr>
            </p:nvSpPr>
            <p:spPr bwMode="auto">
              <a:xfrm>
                <a:off x="2323479" y="3596861"/>
                <a:ext cx="5534025" cy="1368425"/>
              </a:xfrm>
              <a:prstGeom prst="rect">
                <a:avLst/>
              </a:prstGeom>
              <a:blipFill>
                <a:blip r:embed="rId2"/>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4342" name="Object 5">
                <a:extLst>
                  <a:ext uri="{FF2B5EF4-FFF2-40B4-BE49-F238E27FC236}">
                    <a16:creationId xmlns:a16="http://schemas.microsoft.com/office/drawing/2014/main" id="{04D3B0BF-0836-684A-9B27-38A8AB6ECA10}"/>
                  </a:ext>
                </a:extLst>
              </p:cNvPr>
              <p:cNvSpPr txBox="1">
                <a:spLocks noGrp="1"/>
              </p:cNvSpPr>
              <p:nvPr>
                <p:ph sz="quarter" idx="3"/>
              </p:nvPr>
            </p:nvSpPr>
            <p:spPr bwMode="auto">
              <a:xfrm>
                <a:off x="2323479" y="5225465"/>
                <a:ext cx="6114842" cy="907255"/>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AU" sz="2600" i="1">
                          <a:solidFill>
                            <a:srgbClr val="000000"/>
                          </a:solidFill>
                          <a:latin typeface="Cambria Math" panose="02040503050406030204" pitchFamily="18" charset="0"/>
                        </a:rPr>
                        <m:t>𝑃</m:t>
                      </m:r>
                      <m:d>
                        <m:dPr>
                          <m:ctrlPr>
                            <a:rPr lang="en-AU" sz="2600" i="1">
                              <a:solidFill>
                                <a:srgbClr val="000000"/>
                              </a:solidFill>
                              <a:latin typeface="Cambria Math" panose="02040503050406030204" pitchFamily="18" charset="0"/>
                            </a:rPr>
                          </m:ctrlPr>
                        </m:dPr>
                        <m:e>
                          <m:r>
                            <a:rPr lang="en-AU" sz="2600" i="1">
                              <a:solidFill>
                                <a:srgbClr val="000000"/>
                              </a:solidFill>
                              <a:latin typeface="Cambria Math" panose="02040503050406030204" pitchFamily="18" charset="0"/>
                            </a:rPr>
                            <m:t>𝑎</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𝑥</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𝑏</m:t>
                          </m:r>
                        </m:e>
                      </m:d>
                      <m:r>
                        <a:rPr lang="en-AU" sz="2600" i="1">
                          <a:solidFill>
                            <a:srgbClr val="000000"/>
                          </a:solidFill>
                          <a:latin typeface="Cambria Math" panose="02040503050406030204" pitchFamily="18" charset="0"/>
                        </a:rPr>
                        <m:t>=</m:t>
                      </m:r>
                      <m:f>
                        <m:fPr>
                          <m:ctrlPr>
                            <a:rPr lang="en-AU" sz="2600" i="1">
                              <a:solidFill>
                                <a:srgbClr val="000000"/>
                              </a:solidFill>
                              <a:latin typeface="Cambria Math" panose="02040503050406030204" pitchFamily="18" charset="0"/>
                            </a:rPr>
                          </m:ctrlPr>
                        </m:fPr>
                        <m:num>
                          <m:r>
                            <a:rPr lang="en-AU" sz="2600" i="1">
                              <a:solidFill>
                                <a:srgbClr val="000000"/>
                              </a:solidFill>
                              <a:latin typeface="Cambria Math" panose="02040503050406030204" pitchFamily="18" charset="0"/>
                            </a:rPr>
                            <m:t>𝑏</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𝑎</m:t>
                          </m:r>
                        </m:num>
                        <m:den>
                          <m:r>
                            <a:rPr lang="en-AU" sz="2600" i="1">
                              <a:solidFill>
                                <a:srgbClr val="000000"/>
                              </a:solidFill>
                              <a:latin typeface="Cambria Math" panose="02040503050406030204" pitchFamily="18" charset="0"/>
                            </a:rPr>
                            <m:t>4−0</m:t>
                          </m:r>
                        </m:den>
                      </m:f>
                      <m:r>
                        <a:rPr lang="en-AU" sz="2600" i="1">
                          <a:solidFill>
                            <a:srgbClr val="000000"/>
                          </a:solidFill>
                          <a:latin typeface="Cambria Math" panose="02040503050406030204" pitchFamily="18" charset="0"/>
                        </a:rPr>
                        <m:t>=</m:t>
                      </m:r>
                      <m:f>
                        <m:fPr>
                          <m:ctrlPr>
                            <a:rPr lang="en-AU" sz="2600" i="1">
                              <a:solidFill>
                                <a:srgbClr val="000000"/>
                              </a:solidFill>
                              <a:latin typeface="Cambria Math" panose="02040503050406030204" pitchFamily="18" charset="0"/>
                            </a:rPr>
                          </m:ctrlPr>
                        </m:fPr>
                        <m:num>
                          <m:r>
                            <a:rPr lang="en-AU" sz="2600" i="1">
                              <a:solidFill>
                                <a:srgbClr val="000000"/>
                              </a:solidFill>
                              <a:latin typeface="Cambria Math" panose="02040503050406030204" pitchFamily="18" charset="0"/>
                            </a:rPr>
                            <m:t>𝑏</m:t>
                          </m:r>
                          <m:r>
                            <a:rPr lang="en-AU" sz="2600" i="1">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𝑎</m:t>
                          </m:r>
                        </m:num>
                        <m:den>
                          <m:r>
                            <a:rPr lang="en-AU" sz="2600" i="1">
                              <a:solidFill>
                                <a:srgbClr val="000000"/>
                              </a:solidFill>
                              <a:latin typeface="Cambria Math" panose="02040503050406030204" pitchFamily="18" charset="0"/>
                            </a:rPr>
                            <m:t>4</m:t>
                          </m:r>
                        </m:den>
                      </m:f>
                    </m:oMath>
                  </m:oMathPara>
                </a14:m>
                <a:endParaRPr lang="en-AU" sz="2600" dirty="0"/>
              </a:p>
            </p:txBody>
          </p:sp>
        </mc:Choice>
        <mc:Fallback xmlns="">
          <p:sp>
            <p:nvSpPr>
              <p:cNvPr id="14342" name="Object 5">
                <a:extLst>
                  <a:ext uri="{FF2B5EF4-FFF2-40B4-BE49-F238E27FC236}">
                    <a16:creationId xmlns:a16="http://schemas.microsoft.com/office/drawing/2014/main" id="{04D3B0BF-0836-684A-9B27-38A8AB6ECA10}"/>
                  </a:ext>
                </a:extLst>
              </p:cNvPr>
              <p:cNvSpPr txBox="1">
                <a:spLocks noGrp="1" noRot="1" noChangeAspect="1" noMove="1" noResize="1" noEditPoints="1" noAdjustHandles="1" noChangeArrowheads="1" noChangeShapeType="1" noTextEdit="1"/>
              </p:cNvSpPr>
              <p:nvPr>
                <p:ph sz="quarter" idx="3"/>
              </p:nvPr>
            </p:nvSpPr>
            <p:spPr bwMode="auto">
              <a:xfrm>
                <a:off x="2323479" y="5225465"/>
                <a:ext cx="6114842" cy="907255"/>
              </a:xfrm>
              <a:prstGeom prst="rect">
                <a:avLst/>
              </a:prstGeom>
              <a:blipFill>
                <a:blip r:embed="rId3"/>
                <a:stretch>
                  <a:fillRect/>
                </a:stretch>
              </a:blipFill>
              <a:ln>
                <a:noFill/>
              </a:ln>
              <a:effectLst/>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2412BEA9-13F0-1A19-2C14-2897FA704DE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04282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D72CF165-39EB-BC4A-A892-849F0754C768}"/>
              </a:ext>
            </a:extLst>
          </p:cNvPr>
          <p:cNvSpPr>
            <a:spLocks noGrp="1" noChangeArrowheads="1"/>
          </p:cNvSpPr>
          <p:nvPr>
            <p:ph type="title"/>
          </p:nvPr>
        </p:nvSpPr>
        <p:spPr>
          <a:xfrm>
            <a:off x="1631949" y="160340"/>
            <a:ext cx="8243887"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Elevator Waiting Time #2</a:t>
            </a:r>
          </a:p>
        </p:txBody>
      </p:sp>
      <p:sp>
        <p:nvSpPr>
          <p:cNvPr id="268291" name="Rectangle 3">
            <a:extLst>
              <a:ext uri="{FF2B5EF4-FFF2-40B4-BE49-F238E27FC236}">
                <a16:creationId xmlns:a16="http://schemas.microsoft.com/office/drawing/2014/main" id="{EB206AA6-4887-B848-B9F9-EE661791A005}"/>
              </a:ext>
            </a:extLst>
          </p:cNvPr>
          <p:cNvSpPr>
            <a:spLocks noGrp="1" noChangeArrowheads="1"/>
          </p:cNvSpPr>
          <p:nvPr>
            <p:ph type="body" sz="half" idx="1"/>
          </p:nvPr>
        </p:nvSpPr>
        <p:spPr>
          <a:xfrm>
            <a:off x="1631948" y="755445"/>
            <a:ext cx="11179591" cy="4269890"/>
          </a:xfrm>
        </p:spPr>
        <p:txBody>
          <a:bodyPr>
            <a:noAutofit/>
          </a:bodyPr>
          <a:lstStyle/>
          <a:p>
            <a:pPr eaLnBrk="1" hangingPunct="1">
              <a:lnSpc>
                <a:spcPct val="120000"/>
              </a:lnSpc>
              <a:spcBef>
                <a:spcPct val="35000"/>
              </a:spcBef>
              <a:defRPr/>
            </a:pPr>
            <a:r>
              <a:rPr lang="en-US" altLang="zh-CN" dirty="0">
                <a:solidFill>
                  <a:srgbClr val="FF0000"/>
                </a:solidFill>
                <a:latin typeface="Times New Roman" pitchFamily="18" charset="0"/>
              </a:rPr>
              <a:t>What is the probability </a:t>
            </a:r>
            <a:r>
              <a:rPr lang="en-US" altLang="zh-CN" dirty="0">
                <a:latin typeface="Times New Roman" pitchFamily="18" charset="0"/>
              </a:rPr>
              <a:t>that a randomly selected hotel patron </a:t>
            </a:r>
            <a:r>
              <a:rPr lang="en-US" altLang="zh-CN" dirty="0">
                <a:solidFill>
                  <a:srgbClr val="FF0000"/>
                </a:solidFill>
                <a:latin typeface="Times New Roman" pitchFamily="18" charset="0"/>
              </a:rPr>
              <a:t>waits at least 2.5 minutes </a:t>
            </a:r>
            <a:r>
              <a:rPr lang="en-US" altLang="zh-CN" dirty="0">
                <a:latin typeface="Times New Roman" pitchFamily="18" charset="0"/>
              </a:rPr>
              <a:t>for the elevator?</a:t>
            </a:r>
          </a:p>
          <a:p>
            <a:pPr lvl="1" eaLnBrk="1" hangingPunct="1">
              <a:lnSpc>
                <a:spcPct val="120000"/>
              </a:lnSpc>
              <a:spcBef>
                <a:spcPct val="35000"/>
              </a:spcBef>
              <a:defRPr/>
            </a:pPr>
            <a:r>
              <a:rPr lang="en-US" altLang="zh-CN" sz="2800" dirty="0">
                <a:latin typeface="Times New Roman" pitchFamily="18" charset="0"/>
              </a:rPr>
              <a:t>The probability is the area under the uniform distribution in the interval [2.5, 4] minutes</a:t>
            </a:r>
          </a:p>
          <a:p>
            <a:pPr lvl="2" eaLnBrk="1" hangingPunct="1">
              <a:lnSpc>
                <a:spcPct val="120000"/>
              </a:lnSpc>
              <a:spcBef>
                <a:spcPct val="35000"/>
              </a:spcBef>
              <a:defRPr/>
            </a:pPr>
            <a:r>
              <a:rPr lang="en-US" altLang="zh-CN" sz="2800" dirty="0">
                <a:latin typeface="Times New Roman" pitchFamily="18" charset="0"/>
              </a:rPr>
              <a:t>The probability is the area of a rectangle with height ¼ and base 4 – 2.5 = 1.5</a:t>
            </a:r>
          </a:p>
          <a:p>
            <a:pPr lvl="1" eaLnBrk="1" hangingPunct="1">
              <a:lnSpc>
                <a:spcPct val="105000"/>
              </a:lnSpc>
              <a:spcBef>
                <a:spcPct val="35000"/>
              </a:spcBef>
              <a:defRPr/>
            </a:pPr>
            <a:r>
              <a:rPr lang="en-US" altLang="zh-CN" sz="2800" i="1" dirty="0">
                <a:latin typeface="Times New Roman" pitchFamily="18" charset="0"/>
              </a:rPr>
              <a:t>P</a:t>
            </a:r>
            <a:r>
              <a:rPr lang="en-US" altLang="zh-CN" sz="2800" dirty="0">
                <a:latin typeface="Times New Roman" pitchFamily="18" charset="0"/>
              </a:rPr>
              <a:t>(</a:t>
            </a:r>
            <a:r>
              <a:rPr lang="en-US" altLang="zh-CN" sz="2800" i="1" dirty="0">
                <a:latin typeface="Times New Roman" pitchFamily="18" charset="0"/>
              </a:rPr>
              <a:t>x</a:t>
            </a:r>
            <a:r>
              <a:rPr lang="en-US" altLang="zh-CN" sz="2800" dirty="0">
                <a:latin typeface="Times New Roman" pitchFamily="18" charset="0"/>
              </a:rPr>
              <a:t> </a:t>
            </a:r>
            <a:r>
              <a:rPr lang="en-US" altLang="zh-CN" sz="2800" dirty="0">
                <a:latin typeface="Times New Roman" pitchFamily="18" charset="0"/>
                <a:cs typeface="Arial" charset="0"/>
              </a:rPr>
              <a:t>≥</a:t>
            </a:r>
            <a:r>
              <a:rPr lang="en-US" altLang="zh-CN" sz="2800" dirty="0">
                <a:latin typeface="Times New Roman" pitchFamily="18" charset="0"/>
              </a:rPr>
              <a:t> 2.5) = </a:t>
            </a:r>
            <a:r>
              <a:rPr lang="en-US" altLang="zh-CN" sz="2800" i="1" dirty="0">
                <a:latin typeface="Times New Roman" pitchFamily="18" charset="0"/>
              </a:rPr>
              <a:t>P</a:t>
            </a:r>
            <a:r>
              <a:rPr lang="en-US" altLang="zh-CN" sz="2800" dirty="0">
                <a:latin typeface="Times New Roman" pitchFamily="18" charset="0"/>
              </a:rPr>
              <a:t>(2.5 ≤ </a:t>
            </a:r>
            <a:r>
              <a:rPr lang="en-US" altLang="zh-CN" sz="2800" i="1" dirty="0">
                <a:latin typeface="Times New Roman" pitchFamily="18" charset="0"/>
              </a:rPr>
              <a:t>x</a:t>
            </a:r>
            <a:r>
              <a:rPr lang="en-US" altLang="zh-CN" sz="2800" dirty="0">
                <a:latin typeface="Times New Roman" pitchFamily="18" charset="0"/>
              </a:rPr>
              <a:t> ≤ 4) = ¼ </a:t>
            </a:r>
            <a:r>
              <a:rPr lang="en-US" altLang="zh-CN" sz="2800" dirty="0">
                <a:latin typeface="Times New Roman" pitchFamily="18" charset="0"/>
                <a:sym typeface="Symbol" pitchFamily="18" charset="2"/>
              </a:rPr>
              <a:t></a:t>
            </a:r>
            <a:r>
              <a:rPr lang="en-US" altLang="zh-CN" sz="2800" dirty="0">
                <a:latin typeface="Times New Roman" pitchFamily="18" charset="0"/>
              </a:rPr>
              <a:t> 1.5 = 0.375</a:t>
            </a:r>
          </a:p>
        </p:txBody>
      </p:sp>
      <p:sp>
        <p:nvSpPr>
          <p:cNvPr id="15365" name="Rectangle 4">
            <a:extLst>
              <a:ext uri="{FF2B5EF4-FFF2-40B4-BE49-F238E27FC236}">
                <a16:creationId xmlns:a16="http://schemas.microsoft.com/office/drawing/2014/main" id="{27DC21FD-9FFF-E445-B732-D8F8EEB8E4C6}"/>
              </a:ext>
            </a:extLst>
          </p:cNvPr>
          <p:cNvSpPr>
            <a:spLocks noChangeArrowheads="1"/>
          </p:cNvSpPr>
          <p:nvPr/>
        </p:nvSpPr>
        <p:spPr bwMode="auto">
          <a:xfrm>
            <a:off x="2063749" y="5025335"/>
            <a:ext cx="9445763"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669925" indent="-325438"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pPr>
            <a:r>
              <a:rPr lang="en-US" altLang="zh-CN" sz="2800" dirty="0">
                <a:solidFill>
                  <a:srgbClr val="FF3300"/>
                </a:solidFill>
                <a:latin typeface="Times New Roman" panose="02020603050405020304" pitchFamily="18" charset="0"/>
              </a:rPr>
              <a:t>What is the probability </a:t>
            </a:r>
            <a:r>
              <a:rPr lang="en-US" altLang="zh-CN" sz="2800" dirty="0">
                <a:latin typeface="Times New Roman" panose="02020603050405020304" pitchFamily="18" charset="0"/>
              </a:rPr>
              <a:t>that a randomly selected hotel patron </a:t>
            </a:r>
            <a:r>
              <a:rPr lang="en-US" altLang="zh-CN" sz="2800" dirty="0">
                <a:solidFill>
                  <a:srgbClr val="FF3300"/>
                </a:solidFill>
                <a:latin typeface="Times New Roman" panose="02020603050405020304" pitchFamily="18" charset="0"/>
              </a:rPr>
              <a:t>waits less than one minutes </a:t>
            </a:r>
            <a:r>
              <a:rPr lang="en-US" altLang="zh-CN" sz="2800" dirty="0">
                <a:latin typeface="Times New Roman" panose="02020603050405020304" pitchFamily="18" charset="0"/>
              </a:rPr>
              <a:t>for the elevator</a:t>
            </a:r>
            <a:r>
              <a:rPr lang="en-US" altLang="zh-CN" sz="2800" dirty="0">
                <a:solidFill>
                  <a:srgbClr val="FF3300"/>
                </a:solidFill>
                <a:latin typeface="Times New Roman" panose="02020603050405020304" pitchFamily="18" charset="0"/>
              </a:rPr>
              <a:t>?</a:t>
            </a:r>
          </a:p>
          <a:p>
            <a:pPr lvl="1" eaLnBrk="1" hangingPunct="1">
              <a:spcBef>
                <a:spcPct val="35000"/>
              </a:spcBef>
            </a:pPr>
            <a:r>
              <a:rPr lang="en-US" altLang="zh-CN" sz="2800" i="1" dirty="0">
                <a:latin typeface="Times New Roman" panose="02020603050405020304" pitchFamily="18" charset="0"/>
              </a:rPr>
              <a:t>P</a:t>
            </a:r>
            <a:r>
              <a:rPr lang="en-US" altLang="zh-CN" sz="2800" dirty="0">
                <a:latin typeface="Times New Roman" panose="02020603050405020304" pitchFamily="18" charset="0"/>
              </a:rPr>
              <a:t>(</a:t>
            </a:r>
            <a:r>
              <a:rPr lang="en-US" altLang="zh-CN" sz="2800" i="1" dirty="0">
                <a:latin typeface="Times New Roman" panose="02020603050405020304" pitchFamily="18" charset="0"/>
              </a:rPr>
              <a:t>x</a:t>
            </a:r>
            <a:r>
              <a:rPr lang="en-US" altLang="zh-CN" sz="2800" dirty="0">
                <a:latin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rPr>
              <a:t> 1) = </a:t>
            </a:r>
            <a:r>
              <a:rPr lang="en-US" altLang="zh-CN" sz="2800" i="1" dirty="0">
                <a:latin typeface="Times New Roman" panose="02020603050405020304" pitchFamily="18" charset="0"/>
              </a:rPr>
              <a:t>P</a:t>
            </a:r>
            <a:r>
              <a:rPr lang="en-US" altLang="zh-CN" sz="2800" dirty="0">
                <a:latin typeface="Times New Roman" panose="02020603050405020304" pitchFamily="18" charset="0"/>
              </a:rPr>
              <a:t>(0 ≤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 1) = ¼ </a:t>
            </a:r>
            <a:r>
              <a:rPr lang="en-US" altLang="zh-CN" sz="2800" dirty="0">
                <a:latin typeface="Times New Roman" panose="02020603050405020304" pitchFamily="18" charset="0"/>
                <a:sym typeface="Symbol" pitchFamily="2" charset="2"/>
              </a:rPr>
              <a:t></a:t>
            </a:r>
            <a:r>
              <a:rPr lang="en-US" altLang="zh-CN" sz="2800" dirty="0">
                <a:latin typeface="Times New Roman" panose="02020603050405020304" pitchFamily="18" charset="0"/>
              </a:rPr>
              <a:t> 1 = 0.25</a:t>
            </a:r>
          </a:p>
        </p:txBody>
      </p:sp>
      <p:sp>
        <p:nvSpPr>
          <p:cNvPr id="2" name="灯片编号占位符 16">
            <a:extLst>
              <a:ext uri="{FF2B5EF4-FFF2-40B4-BE49-F238E27FC236}">
                <a16:creationId xmlns:a16="http://schemas.microsoft.com/office/drawing/2014/main" id="{44BFFF19-39E0-CB85-586B-910D529C283D}"/>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17498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CA515D88-4A6C-D24D-B9DC-D7664198B74D}"/>
              </a:ext>
            </a:extLst>
          </p:cNvPr>
          <p:cNvSpPr>
            <a:spLocks noGrp="1" noChangeArrowheads="1"/>
          </p:cNvSpPr>
          <p:nvPr>
            <p:ph type="title"/>
          </p:nvPr>
        </p:nvSpPr>
        <p:spPr>
          <a:xfrm>
            <a:off x="1861344" y="271463"/>
            <a:ext cx="8243887"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Elevator Waiting Time #3</a:t>
            </a:r>
          </a:p>
        </p:txBody>
      </p:sp>
      <mc:AlternateContent xmlns:mc="http://schemas.openxmlformats.org/markup-compatibility/2006" xmlns:a14="http://schemas.microsoft.com/office/drawing/2010/main">
        <mc:Choice Requires="a14">
          <p:sp>
            <p:nvSpPr>
              <p:cNvPr id="269315" name="Rectangle 3">
                <a:extLst>
                  <a:ext uri="{FF2B5EF4-FFF2-40B4-BE49-F238E27FC236}">
                    <a16:creationId xmlns:a16="http://schemas.microsoft.com/office/drawing/2014/main" id="{FE77195B-C118-EB46-A4DA-5A6DA89542B1}"/>
                  </a:ext>
                </a:extLst>
              </p:cNvPr>
              <p:cNvSpPr>
                <a:spLocks noGrp="1" noChangeArrowheads="1"/>
              </p:cNvSpPr>
              <p:nvPr>
                <p:ph type="body" sz="half" idx="1"/>
              </p:nvPr>
            </p:nvSpPr>
            <p:spPr>
              <a:xfrm>
                <a:off x="1859206" y="1163637"/>
                <a:ext cx="7981950" cy="4530725"/>
              </a:xfrm>
            </p:spPr>
            <p:txBody>
              <a:bodyPr>
                <a:normAutofit/>
              </a:bodyPr>
              <a:lstStyle/>
              <a:p>
                <a:pPr>
                  <a:defRPr/>
                </a:pPr>
                <a:r>
                  <a:rPr lang="en-US" altLang="zh-CN" dirty="0">
                    <a:latin typeface="Times New Roman" pitchFamily="18" charset="0"/>
                  </a:rPr>
                  <a:t>Expect to wait the mean time</a:t>
                </a:r>
                <a:r>
                  <a:rPr lang="en-US" altLang="zh-CN" dirty="0"/>
                  <a:t> </a:t>
                </a:r>
                <a14:m>
                  <m:oMath xmlns:m="http://schemas.openxmlformats.org/officeDocument/2006/math">
                    <m:sSub>
                      <m:sSubPr>
                        <m:ctrlPr>
                          <a:rPr lang="en-AU" i="1">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𝜇</m:t>
                        </m:r>
                      </m:e>
                      <m:sub>
                        <m:r>
                          <a:rPr lang="en-AU" i="1">
                            <a:solidFill>
                              <a:srgbClr val="000000"/>
                            </a:solidFill>
                            <a:latin typeface="Cambria Math" panose="02040503050406030204" pitchFamily="18" charset="0"/>
                          </a:rPr>
                          <m:t>𝑥</m:t>
                        </m:r>
                      </m:sub>
                    </m:sSub>
                  </m:oMath>
                </a14:m>
                <a:endParaRPr lang="en-US" altLang="zh-CN" i="1" baseline="-25000" dirty="0"/>
              </a:p>
              <a:p>
                <a:pPr eaLnBrk="1" hangingPunct="1">
                  <a:defRPr/>
                </a:pPr>
                <a:endParaRPr lang="en-US" altLang="zh-CN" i="1" baseline="-25000" dirty="0"/>
              </a:p>
              <a:p>
                <a:pPr eaLnBrk="1" hangingPunct="1">
                  <a:defRPr/>
                </a:pPr>
                <a:endParaRPr lang="en-US" altLang="zh-CN" i="1" baseline="-25000" dirty="0"/>
              </a:p>
              <a:p>
                <a:pPr eaLnBrk="1" hangingPunct="1">
                  <a:defRPr/>
                </a:pPr>
                <a:endParaRPr lang="en-US" altLang="zh-CN" i="1" baseline="-25000" dirty="0"/>
              </a:p>
              <a:p>
                <a:pPr eaLnBrk="1" hangingPunct="1">
                  <a:defRPr/>
                </a:pPr>
                <a:endParaRPr lang="en-US" altLang="zh-CN" i="1" baseline="-25000" dirty="0"/>
              </a:p>
              <a:p>
                <a:pPr>
                  <a:defRPr/>
                </a:pPr>
                <a:r>
                  <a:rPr lang="en-US" altLang="zh-CN" dirty="0">
                    <a:latin typeface="Times New Roman" pitchFamily="18" charset="0"/>
                  </a:rPr>
                  <a:t>with a standard deviation</a:t>
                </a:r>
                <a:r>
                  <a:rPr lang="en-US" altLang="zh-CN" dirty="0"/>
                  <a:t> </a:t>
                </a:r>
                <a14:m>
                  <m:oMath xmlns:m="http://schemas.openxmlformats.org/officeDocument/2006/math">
                    <m:sSub>
                      <m:sSubPr>
                        <m:ctrlPr>
                          <a:rPr lang="en-AU" i="1">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𝜎</m:t>
                        </m:r>
                      </m:e>
                      <m:sub>
                        <m:r>
                          <a:rPr lang="en-AU" i="1">
                            <a:solidFill>
                              <a:srgbClr val="000000"/>
                            </a:solidFill>
                            <a:latin typeface="Cambria Math" panose="02040503050406030204" pitchFamily="18" charset="0"/>
                          </a:rPr>
                          <m:t>𝑥</m:t>
                        </m:r>
                      </m:sub>
                    </m:sSub>
                  </m:oMath>
                </a14:m>
                <a:r>
                  <a:rPr lang="en-US" altLang="zh-CN" dirty="0"/>
                  <a:t> </a:t>
                </a:r>
                <a:r>
                  <a:rPr lang="en-US" altLang="zh-CN" dirty="0">
                    <a:latin typeface="Times New Roman" pitchFamily="18" charset="0"/>
                  </a:rPr>
                  <a:t>of</a:t>
                </a:r>
              </a:p>
              <a:p>
                <a:pPr eaLnBrk="1" hangingPunct="1">
                  <a:defRPr/>
                </a:pPr>
                <a:endParaRPr lang="en-US" altLang="zh-CN" dirty="0"/>
              </a:p>
              <a:p>
                <a:pPr eaLnBrk="1" hangingPunct="1">
                  <a:defRPr/>
                </a:pPr>
                <a:endParaRPr lang="en-US" altLang="zh-CN" dirty="0"/>
              </a:p>
            </p:txBody>
          </p:sp>
        </mc:Choice>
        <mc:Fallback xmlns="">
          <p:sp>
            <p:nvSpPr>
              <p:cNvPr id="269315" name="Rectangle 3">
                <a:extLst>
                  <a:ext uri="{FF2B5EF4-FFF2-40B4-BE49-F238E27FC236}">
                    <a16:creationId xmlns:a16="http://schemas.microsoft.com/office/drawing/2014/main" id="{FE77195B-C118-EB46-A4DA-5A6DA89542B1}"/>
                  </a:ext>
                </a:extLst>
              </p:cNvPr>
              <p:cNvSpPr>
                <a:spLocks noGrp="1" noRot="1" noChangeAspect="1" noMove="1" noResize="1" noEditPoints="1" noAdjustHandles="1" noChangeArrowheads="1" noChangeShapeType="1" noTextEdit="1"/>
              </p:cNvSpPr>
              <p:nvPr>
                <p:ph type="body" sz="half" idx="1"/>
              </p:nvPr>
            </p:nvSpPr>
            <p:spPr>
              <a:xfrm>
                <a:off x="1859206" y="1163637"/>
                <a:ext cx="7981950" cy="4530725"/>
              </a:xfrm>
              <a:blipFill>
                <a:blip r:embed="rId2"/>
                <a:stretch>
                  <a:fillRect l="-1375" t="-255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389" name="Object 4">
                <a:extLst>
                  <a:ext uri="{FF2B5EF4-FFF2-40B4-BE49-F238E27FC236}">
                    <a16:creationId xmlns:a16="http://schemas.microsoft.com/office/drawing/2014/main" id="{84D05121-D9BF-BB4C-9477-4F8B3710F766}"/>
                  </a:ext>
                </a:extLst>
              </p:cNvPr>
              <p:cNvSpPr txBox="1">
                <a:spLocks noGrp="1"/>
              </p:cNvSpPr>
              <p:nvPr>
                <p:ph sz="quarter" idx="2"/>
              </p:nvPr>
            </p:nvSpPr>
            <p:spPr bwMode="auto">
              <a:xfrm>
                <a:off x="3370263" y="1996539"/>
                <a:ext cx="4392612" cy="915988"/>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sSub>
                        <m:sSubPr>
                          <m:ctrlPr>
                            <a:rPr lang="en-AU" i="1" smtClean="0">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𝜇</m:t>
                          </m:r>
                        </m:e>
                        <m:sub>
                          <m:r>
                            <a:rPr lang="en-AU" b="0" i="1" smtClean="0">
                              <a:solidFill>
                                <a:srgbClr val="000000"/>
                              </a:solidFill>
                              <a:latin typeface="Cambria Math" panose="02040503050406030204" pitchFamily="18" charset="0"/>
                            </a:rPr>
                            <m:t>𝑥</m:t>
                          </m:r>
                        </m:sub>
                      </m:sSub>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0+4</m:t>
                          </m:r>
                        </m:num>
                        <m:den>
                          <m:r>
                            <a:rPr lang="en-AU" i="1">
                              <a:solidFill>
                                <a:srgbClr val="000000"/>
                              </a:solidFill>
                              <a:latin typeface="Cambria Math" panose="02040503050406030204" pitchFamily="18" charset="0"/>
                            </a:rPr>
                            <m:t>2</m:t>
                          </m:r>
                        </m:den>
                      </m:f>
                      <m:r>
                        <a:rPr lang="en-AU" i="1">
                          <a:solidFill>
                            <a:srgbClr val="000000"/>
                          </a:solidFill>
                          <a:latin typeface="Cambria Math" panose="02040503050406030204" pitchFamily="18" charset="0"/>
                        </a:rPr>
                        <m:t>=2</m:t>
                      </m:r>
                      <m:r>
                        <m:rPr>
                          <m:nor/>
                        </m:rPr>
                        <a:rPr lang="en-AU" i="0">
                          <a:solidFill>
                            <a:srgbClr val="000000"/>
                          </a:solidFill>
                          <a:latin typeface="Cambria Math" panose="02040503050406030204" pitchFamily="18" charset="0"/>
                        </a:rPr>
                        <m:t> </m:t>
                      </m:r>
                      <m:r>
                        <m:rPr>
                          <m:nor/>
                        </m:rPr>
                        <a:rPr lang="en-AU" i="0">
                          <a:solidFill>
                            <a:srgbClr val="000000"/>
                          </a:solidFill>
                          <a:latin typeface="Cambria Math" panose="02040503050406030204" pitchFamily="18" charset="0"/>
                        </a:rPr>
                        <m:t>minutes</m:t>
                      </m:r>
                    </m:oMath>
                  </m:oMathPara>
                </a14:m>
                <a:endParaRPr lang="en-AU" dirty="0"/>
              </a:p>
            </p:txBody>
          </p:sp>
        </mc:Choice>
        <mc:Fallback xmlns="">
          <p:sp>
            <p:nvSpPr>
              <p:cNvPr id="16389" name="Object 4">
                <a:extLst>
                  <a:ext uri="{FF2B5EF4-FFF2-40B4-BE49-F238E27FC236}">
                    <a16:creationId xmlns:a16="http://schemas.microsoft.com/office/drawing/2014/main" id="{84D05121-D9BF-BB4C-9477-4F8B3710F766}"/>
                  </a:ext>
                </a:extLst>
              </p:cNvPr>
              <p:cNvSpPr txBox="1">
                <a:spLocks noGrp="1" noRot="1" noChangeAspect="1" noMove="1" noResize="1" noEditPoints="1" noAdjustHandles="1" noChangeArrowheads="1" noChangeShapeType="1" noTextEdit="1"/>
              </p:cNvSpPr>
              <p:nvPr>
                <p:ph sz="quarter" idx="2"/>
              </p:nvPr>
            </p:nvSpPr>
            <p:spPr bwMode="auto">
              <a:xfrm>
                <a:off x="3370263" y="1996539"/>
                <a:ext cx="4392612" cy="915988"/>
              </a:xfrm>
              <a:prstGeom prst="rect">
                <a:avLst/>
              </a:prstGeom>
              <a:blipFill>
                <a:blip r:embed="rId3"/>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390" name="Object 5">
                <a:extLst>
                  <a:ext uri="{FF2B5EF4-FFF2-40B4-BE49-F238E27FC236}">
                    <a16:creationId xmlns:a16="http://schemas.microsoft.com/office/drawing/2014/main" id="{475B2FE1-B918-D44B-9143-3D289897FCEA}"/>
                  </a:ext>
                </a:extLst>
              </p:cNvPr>
              <p:cNvSpPr txBox="1">
                <a:spLocks noGrp="1"/>
              </p:cNvSpPr>
              <p:nvPr>
                <p:ph sz="quarter" idx="3"/>
              </p:nvPr>
            </p:nvSpPr>
            <p:spPr bwMode="auto">
              <a:xfrm>
                <a:off x="3493710" y="3945474"/>
                <a:ext cx="4984368" cy="915989"/>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sSub>
                        <m:sSubPr>
                          <m:ctrlPr>
                            <a:rPr lang="en-AU" i="1" smtClean="0">
                              <a:solidFill>
                                <a:srgbClr val="000000"/>
                              </a:solidFill>
                              <a:latin typeface="Cambria Math" panose="02040503050406030204" pitchFamily="18" charset="0"/>
                            </a:rPr>
                          </m:ctrlPr>
                        </m:sSubPr>
                        <m:e>
                          <m:r>
                            <a:rPr lang="en-AU" i="1">
                              <a:solidFill>
                                <a:srgbClr val="000000"/>
                              </a:solidFill>
                              <a:latin typeface="Cambria Math" panose="02040503050406030204" pitchFamily="18" charset="0"/>
                            </a:rPr>
                            <m:t>𝜎</m:t>
                          </m:r>
                        </m:e>
                        <m:sub>
                          <m:r>
                            <a:rPr lang="en-AU" b="0" i="1" smtClean="0">
                              <a:solidFill>
                                <a:srgbClr val="000000"/>
                              </a:solidFill>
                              <a:latin typeface="Cambria Math" panose="02040503050406030204" pitchFamily="18" charset="0"/>
                            </a:rPr>
                            <m:t>𝑥</m:t>
                          </m:r>
                        </m:sub>
                      </m:sSub>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4−0</m:t>
                          </m:r>
                        </m:num>
                        <m:den>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12</m:t>
                              </m:r>
                            </m:e>
                          </m:rad>
                        </m:den>
                      </m:f>
                      <m:r>
                        <a:rPr lang="en-AU" i="1">
                          <a:solidFill>
                            <a:srgbClr val="000000"/>
                          </a:solidFill>
                          <a:latin typeface="Cambria Math" panose="02040503050406030204" pitchFamily="18" charset="0"/>
                        </a:rPr>
                        <m:t>=</m:t>
                      </m:r>
                      <m:r>
                        <m:rPr>
                          <m:nor/>
                        </m:rPr>
                        <a:rPr lang="en-AU" i="0">
                          <a:solidFill>
                            <a:srgbClr val="000000"/>
                          </a:solidFill>
                          <a:latin typeface="Cambria Math" panose="02040503050406030204" pitchFamily="18" charset="0"/>
                        </a:rPr>
                        <m:t>1.1547 </m:t>
                      </m:r>
                      <m:r>
                        <m:rPr>
                          <m:nor/>
                        </m:rPr>
                        <a:rPr lang="en-AU" i="0">
                          <a:solidFill>
                            <a:srgbClr val="000000"/>
                          </a:solidFill>
                          <a:latin typeface="Cambria Math" panose="02040503050406030204" pitchFamily="18" charset="0"/>
                        </a:rPr>
                        <m:t>minutes</m:t>
                      </m:r>
                    </m:oMath>
                  </m:oMathPara>
                </a14:m>
                <a:endParaRPr lang="en-AU" dirty="0"/>
              </a:p>
            </p:txBody>
          </p:sp>
        </mc:Choice>
        <mc:Fallback xmlns="">
          <p:sp>
            <p:nvSpPr>
              <p:cNvPr id="16390" name="Object 5">
                <a:extLst>
                  <a:ext uri="{FF2B5EF4-FFF2-40B4-BE49-F238E27FC236}">
                    <a16:creationId xmlns:a16="http://schemas.microsoft.com/office/drawing/2014/main" id="{475B2FE1-B918-D44B-9143-3D289897FCEA}"/>
                  </a:ext>
                </a:extLst>
              </p:cNvPr>
              <p:cNvSpPr txBox="1">
                <a:spLocks noGrp="1" noRot="1" noChangeAspect="1" noMove="1" noResize="1" noEditPoints="1" noAdjustHandles="1" noChangeArrowheads="1" noChangeShapeType="1" noTextEdit="1"/>
              </p:cNvSpPr>
              <p:nvPr>
                <p:ph sz="quarter" idx="3"/>
              </p:nvPr>
            </p:nvSpPr>
            <p:spPr bwMode="auto">
              <a:xfrm>
                <a:off x="3493710" y="3945474"/>
                <a:ext cx="4984368" cy="915989"/>
              </a:xfrm>
              <a:prstGeom prst="rect">
                <a:avLst/>
              </a:prstGeom>
              <a:blipFill>
                <a:blip r:embed="rId4"/>
                <a:stretch>
                  <a:fillRect/>
                </a:stretch>
              </a:blipFill>
              <a:ln>
                <a:noFill/>
              </a:ln>
              <a:effectLst/>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E120DE8B-F368-9354-72CF-6AE58923ED3D}"/>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51955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98406-8E43-1F1A-33D8-BA1F753A2133}"/>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4FD7EB3E-0B9B-7AA1-ACFD-E1CC5312B5F3}"/>
              </a:ext>
            </a:extLst>
          </p:cNvPr>
          <p:cNvSpPr>
            <a:spLocks noGrp="1" noChangeArrowheads="1"/>
          </p:cNvSpPr>
          <p:nvPr>
            <p:ph type="title"/>
          </p:nvPr>
        </p:nvSpPr>
        <p:spPr>
          <a:xfrm>
            <a:off x="459928" y="224898"/>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C9C164C1-EDD2-846B-6AF9-0543C7A5D16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311D466B-2D5B-01D4-46C1-1C4A00F05395}"/>
              </a:ext>
            </a:extLst>
          </p:cNvPr>
          <p:cNvSpPr txBox="1"/>
          <p:nvPr/>
        </p:nvSpPr>
        <p:spPr>
          <a:xfrm>
            <a:off x="459927" y="895026"/>
            <a:ext cx="11367637" cy="892552"/>
          </a:xfrm>
          <a:prstGeom prst="rect">
            <a:avLst/>
          </a:prstGeom>
          <a:noFill/>
        </p:spPr>
        <p:txBody>
          <a:bodyPr wrap="square">
            <a:spAutoFit/>
          </a:bodyPr>
          <a:lstStyle/>
          <a:p>
            <a:r>
              <a:rPr lang="en-AU" sz="2600" b="1" dirty="0">
                <a:solidFill>
                  <a:srgbClr val="FF0000"/>
                </a:solidFill>
                <a:latin typeface="Times New Roman" panose="02020603050405020304" pitchFamily="18" charset="0"/>
                <a:cs typeface="Times New Roman" panose="02020603050405020304" pitchFamily="18" charset="0"/>
              </a:rPr>
              <a:t>6.1 </a:t>
            </a:r>
            <a:r>
              <a:rPr lang="en-AU" sz="2600" dirty="0">
                <a:latin typeface="Times New Roman" panose="02020603050405020304" pitchFamily="18" charset="0"/>
                <a:cs typeface="Times New Roman" panose="02020603050405020304" pitchFamily="18" charset="0"/>
              </a:rPr>
              <a:t>A </a:t>
            </a:r>
            <a:r>
              <a:rPr lang="en-AU" sz="2600" dirty="0">
                <a:highlight>
                  <a:srgbClr val="FFFF00"/>
                </a:highlight>
                <a:latin typeface="Times New Roman" panose="02020603050405020304" pitchFamily="18" charset="0"/>
                <a:cs typeface="Times New Roman" panose="02020603050405020304" pitchFamily="18" charset="0"/>
              </a:rPr>
              <a:t>discrete</a:t>
            </a:r>
            <a:r>
              <a:rPr lang="en-AU" sz="2600" dirty="0">
                <a:latin typeface="Times New Roman" panose="02020603050405020304" pitchFamily="18" charset="0"/>
                <a:cs typeface="Times New Roman" panose="02020603050405020304" pitchFamily="18" charset="0"/>
              </a:rPr>
              <a:t> probability distribution assigns probabilities to </a:t>
            </a:r>
            <a:r>
              <a:rPr lang="en-AU" sz="2600" dirty="0">
                <a:highlight>
                  <a:srgbClr val="FFFF00"/>
                </a:highlight>
                <a:latin typeface="Times New Roman" panose="02020603050405020304" pitchFamily="18" charset="0"/>
                <a:cs typeface="Times New Roman" panose="02020603050405020304" pitchFamily="18" charset="0"/>
              </a:rPr>
              <a:t>individual values</a:t>
            </a:r>
            <a:r>
              <a:rPr lang="en-AU" sz="2600" dirty="0">
                <a:latin typeface="Times New Roman" panose="02020603050405020304" pitchFamily="18" charset="0"/>
                <a:cs typeface="Times New Roman" panose="02020603050405020304" pitchFamily="18" charset="0"/>
              </a:rPr>
              <a:t>. To what are probabilities assigned by a continuous probability distribution? </a:t>
            </a:r>
          </a:p>
        </p:txBody>
      </p:sp>
      <p:sp>
        <p:nvSpPr>
          <p:cNvPr id="3" name="Object 3">
            <a:extLst>
              <a:ext uri="{FF2B5EF4-FFF2-40B4-BE49-F238E27FC236}">
                <a16:creationId xmlns:a16="http://schemas.microsoft.com/office/drawing/2014/main" id="{69C48D70-302D-D9CD-FC7B-447B8DBA442A}"/>
              </a:ext>
            </a:extLst>
          </p:cNvPr>
          <p:cNvSpPr txBox="1">
            <a:spLocks/>
          </p:cNvSpPr>
          <p:nvPr/>
        </p:nvSpPr>
        <p:spPr bwMode="auto">
          <a:xfrm>
            <a:off x="459928" y="2252663"/>
            <a:ext cx="3098281" cy="440841"/>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AU" sz="2600" b="1" dirty="0">
                <a:solidFill>
                  <a:srgbClr val="0000FF"/>
                </a:solidFill>
                <a:latin typeface="Times New Roman" panose="02020603050405020304" pitchFamily="18" charset="0"/>
                <a:cs typeface="Times New Roman" panose="02020603050405020304" pitchFamily="18" charset="0"/>
              </a:rPr>
              <a:t>Answer</a:t>
            </a:r>
            <a:r>
              <a:rPr lang="en-AU" sz="2600" dirty="0">
                <a:solidFill>
                  <a:srgbClr val="000000"/>
                </a:solidFill>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96254B95-DFFD-8198-0411-12F6C954EED4}"/>
              </a:ext>
            </a:extLst>
          </p:cNvPr>
          <p:cNvSpPr txBox="1"/>
          <p:nvPr/>
        </p:nvSpPr>
        <p:spPr>
          <a:xfrm>
            <a:off x="459927" y="2981595"/>
            <a:ext cx="9161151" cy="1019253"/>
          </a:xfrm>
          <a:prstGeom prst="rect">
            <a:avLst/>
          </a:prstGeom>
          <a:noFill/>
        </p:spPr>
        <p:txBody>
          <a:bodyPr wrap="square">
            <a:spAutoFit/>
          </a:bodyPr>
          <a:lstStyle/>
          <a:p>
            <a:pPr>
              <a:lnSpc>
                <a:spcPct val="120000"/>
              </a:lnSpc>
              <a:buNone/>
            </a:pPr>
            <a:r>
              <a:rPr lang="en-US" altLang="zh-CN" sz="2600" dirty="0">
                <a:latin typeface="Times New Roman" panose="02020603050405020304" pitchFamily="18" charset="0"/>
                <a:cs typeface="Times New Roman" panose="02020603050405020304" pitchFamily="18" charset="0"/>
              </a:rPr>
              <a:t>The </a:t>
            </a:r>
            <a:r>
              <a:rPr lang="en-US" altLang="zh-CN" sz="2600" dirty="0">
                <a:highlight>
                  <a:srgbClr val="00FFFF"/>
                </a:highlight>
                <a:latin typeface="Times New Roman" panose="02020603050405020304" pitchFamily="18" charset="0"/>
                <a:cs typeface="Times New Roman" panose="02020603050405020304" pitchFamily="18" charset="0"/>
              </a:rPr>
              <a:t>continuous</a:t>
            </a:r>
            <a:r>
              <a:rPr lang="en-US" altLang="zh-CN" sz="2600"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probability distribution assigns probabilities to individual </a:t>
            </a:r>
            <a:r>
              <a:rPr lang="en-AU" sz="2600" dirty="0">
                <a:highlight>
                  <a:srgbClr val="00FFFF"/>
                </a:highlight>
                <a:latin typeface="Times New Roman" panose="02020603050405020304" pitchFamily="18" charset="0"/>
                <a:cs typeface="Times New Roman" panose="02020603050405020304" pitchFamily="18" charset="0"/>
              </a:rPr>
              <a:t>data regions.</a:t>
            </a:r>
            <a:endParaRPr lang="en-AU" sz="2600" dirty="0">
              <a:highlight>
                <a:srgbClr val="00FFFF"/>
              </a:highlight>
            </a:endParaRPr>
          </a:p>
        </p:txBody>
      </p:sp>
    </p:spTree>
    <p:extLst>
      <p:ext uri="{BB962C8B-B14F-4D97-AF65-F5344CB8AC3E}">
        <p14:creationId xmlns:p14="http://schemas.microsoft.com/office/powerpoint/2010/main" val="527452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BD1C-D374-EB00-7DFF-F884FE57C9B9}"/>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507344C3-69DE-6A51-C378-63A85234A112}"/>
              </a:ext>
            </a:extLst>
          </p:cNvPr>
          <p:cNvSpPr>
            <a:spLocks noGrp="1" noChangeArrowheads="1"/>
          </p:cNvSpPr>
          <p:nvPr>
            <p:ph type="title"/>
          </p:nvPr>
        </p:nvSpPr>
        <p:spPr>
          <a:xfrm>
            <a:off x="459928" y="224898"/>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39E21E00-CD7B-F823-8546-F4AC26168C6F}"/>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1CF90573-3759-C4F5-9605-93B951E2FF62}"/>
              </a:ext>
            </a:extLst>
          </p:cNvPr>
          <p:cNvSpPr txBox="1"/>
          <p:nvPr/>
        </p:nvSpPr>
        <p:spPr>
          <a:xfrm>
            <a:off x="459927" y="895026"/>
            <a:ext cx="11367637" cy="892552"/>
          </a:xfrm>
          <a:prstGeom prst="rect">
            <a:avLst/>
          </a:prstGeom>
          <a:noFill/>
        </p:spPr>
        <p:txBody>
          <a:bodyPr wrap="square">
            <a:spAutoFit/>
          </a:bodyPr>
          <a:lstStyle/>
          <a:p>
            <a:pPr>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6.2</a:t>
            </a:r>
            <a:r>
              <a:rPr lang="en-AU" sz="2600" dirty="0">
                <a:latin typeface="Times New Roman" panose="02020603050405020304" pitchFamily="18" charset="0"/>
                <a:cs typeface="Times New Roman" panose="02020603050405020304" pitchFamily="18" charset="0"/>
              </a:rPr>
              <a:t> How do we use the continuous probability distribution (or probability curve) of a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to find probabilities? Explain.</a:t>
            </a:r>
          </a:p>
        </p:txBody>
      </p:sp>
      <mc:AlternateContent xmlns:mc="http://schemas.openxmlformats.org/markup-compatibility/2006" xmlns:a14="http://schemas.microsoft.com/office/drawing/2010/main">
        <mc:Choice Requires="a14">
          <p:sp>
            <p:nvSpPr>
              <p:cNvPr id="3" name="Object 3">
                <a:extLst>
                  <a:ext uri="{FF2B5EF4-FFF2-40B4-BE49-F238E27FC236}">
                    <a16:creationId xmlns:a16="http://schemas.microsoft.com/office/drawing/2014/main" id="{60C95C11-E0DF-71EC-AC8F-F987940E90F7}"/>
                  </a:ext>
                </a:extLst>
              </p:cNvPr>
              <p:cNvSpPr txBox="1">
                <a:spLocks/>
              </p:cNvSpPr>
              <p:nvPr/>
            </p:nvSpPr>
            <p:spPr bwMode="auto">
              <a:xfrm>
                <a:off x="583992" y="2932356"/>
                <a:ext cx="4117217" cy="983661"/>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en-AU" sz="2600" b="0" i="1" smtClean="0">
                          <a:solidFill>
                            <a:srgbClr val="000000"/>
                          </a:solidFill>
                          <a:latin typeface="Cambria Math" panose="02040503050406030204" pitchFamily="18" charset="0"/>
                        </a:rPr>
                        <m:t>𝑃</m:t>
                      </m:r>
                      <m:d>
                        <m:dPr>
                          <m:ctrlPr>
                            <a:rPr lang="en-AU" sz="2600" i="1">
                              <a:solidFill>
                                <a:srgbClr val="000000"/>
                              </a:solidFill>
                              <a:latin typeface="Cambria Math" panose="02040503050406030204" pitchFamily="18" charset="0"/>
                            </a:rPr>
                          </m:ctrlPr>
                        </m:dPr>
                        <m:e>
                          <m:r>
                            <a:rPr lang="en-AU" sz="2600" b="0" i="1" smtClean="0">
                              <a:solidFill>
                                <a:srgbClr val="000000"/>
                              </a:solidFill>
                              <a:latin typeface="Cambria Math" panose="02040503050406030204" pitchFamily="18" charset="0"/>
                            </a:rPr>
                            <m:t>𝑎</m:t>
                          </m:r>
                          <m:r>
                            <a:rPr lang="en-AU" sz="2600" b="0" i="1" smtClean="0">
                              <a:solidFill>
                                <a:srgbClr val="000000"/>
                              </a:solidFill>
                              <a:latin typeface="Cambria Math" panose="02040503050406030204" pitchFamily="18" charset="0"/>
                            </a:rPr>
                            <m:t>≤</m:t>
                          </m:r>
                          <m:r>
                            <a:rPr lang="en-AU" sz="2600" i="1">
                              <a:solidFill>
                                <a:srgbClr val="000000"/>
                              </a:solidFill>
                              <a:latin typeface="Cambria Math" panose="02040503050406030204" pitchFamily="18" charset="0"/>
                            </a:rPr>
                            <m:t>𝑥</m:t>
                          </m:r>
                          <m:r>
                            <a:rPr lang="en-AU" sz="2600" b="0" i="1" smtClean="0">
                              <a:solidFill>
                                <a:srgbClr val="000000"/>
                              </a:solidFill>
                              <a:latin typeface="Cambria Math" panose="02040503050406030204" pitchFamily="18" charset="0"/>
                            </a:rPr>
                            <m:t>≤</m:t>
                          </m:r>
                          <m:r>
                            <a:rPr lang="en-AU" sz="2600" b="0" i="1" smtClean="0">
                              <a:solidFill>
                                <a:srgbClr val="000000"/>
                              </a:solidFill>
                              <a:latin typeface="Cambria Math" panose="02040503050406030204" pitchFamily="18" charset="0"/>
                            </a:rPr>
                            <m:t>𝑏</m:t>
                          </m:r>
                        </m:e>
                      </m:d>
                      <m:r>
                        <a:rPr lang="en-AU" sz="2600" i="1">
                          <a:solidFill>
                            <a:srgbClr val="000000"/>
                          </a:solidFill>
                          <a:latin typeface="Cambria Math" panose="02040503050406030204" pitchFamily="18" charset="0"/>
                        </a:rPr>
                        <m:t>=</m:t>
                      </m:r>
                      <m:nary>
                        <m:naryPr>
                          <m:ctrlPr>
                            <a:rPr lang="en-AU" sz="2600" i="1" smtClean="0">
                              <a:solidFill>
                                <a:srgbClr val="000000"/>
                              </a:solidFill>
                              <a:latin typeface="Cambria Math" panose="02040503050406030204" pitchFamily="18" charset="0"/>
                            </a:rPr>
                          </m:ctrlPr>
                        </m:naryPr>
                        <m:sub>
                          <m:r>
                            <m:rPr>
                              <m:brk m:alnAt="23"/>
                            </m:rPr>
                            <a:rPr lang="en-AU" sz="2600" b="0" i="1" smtClean="0">
                              <a:solidFill>
                                <a:srgbClr val="000000"/>
                              </a:solidFill>
                              <a:latin typeface="Cambria Math" panose="02040503050406030204" pitchFamily="18" charset="0"/>
                            </a:rPr>
                            <m:t>𝑎</m:t>
                          </m:r>
                        </m:sub>
                        <m:sup>
                          <m:r>
                            <a:rPr lang="en-AU" sz="2600" b="0" i="1" smtClean="0">
                              <a:solidFill>
                                <a:srgbClr val="000000"/>
                              </a:solidFill>
                              <a:latin typeface="Cambria Math" panose="02040503050406030204" pitchFamily="18" charset="0"/>
                            </a:rPr>
                            <m:t>𝑏</m:t>
                          </m:r>
                        </m:sup>
                        <m:e>
                          <m:r>
                            <a:rPr lang="en-AU" sz="2600" b="0" i="1" smtClean="0">
                              <a:solidFill>
                                <a:srgbClr val="000000"/>
                              </a:solidFill>
                              <a:latin typeface="Cambria Math" panose="02040503050406030204" pitchFamily="18" charset="0"/>
                            </a:rPr>
                            <m:t>𝑓</m:t>
                          </m:r>
                          <m:d>
                            <m:dPr>
                              <m:ctrlPr>
                                <a:rPr lang="en-AU" sz="2600" b="0" i="1" smtClean="0">
                                  <a:solidFill>
                                    <a:srgbClr val="000000"/>
                                  </a:solidFill>
                                  <a:latin typeface="Cambria Math" panose="02040503050406030204" pitchFamily="18" charset="0"/>
                                </a:rPr>
                              </m:ctrlPr>
                            </m:dPr>
                            <m:e>
                              <m:r>
                                <a:rPr lang="en-AU" sz="2600" b="0" i="1" smtClean="0">
                                  <a:solidFill>
                                    <a:srgbClr val="000000"/>
                                  </a:solidFill>
                                  <a:latin typeface="Cambria Math" panose="02040503050406030204" pitchFamily="18" charset="0"/>
                                </a:rPr>
                                <m:t>𝑥</m:t>
                              </m:r>
                            </m:e>
                          </m:d>
                          <m:r>
                            <a:rPr lang="en-AU" sz="2600" b="0" i="1" smtClean="0">
                              <a:solidFill>
                                <a:srgbClr val="000000"/>
                              </a:solidFill>
                              <a:latin typeface="Cambria Math" panose="02040503050406030204" pitchFamily="18" charset="0"/>
                            </a:rPr>
                            <m:t>𝑑𝑥</m:t>
                          </m:r>
                        </m:e>
                      </m:nary>
                    </m:oMath>
                  </m:oMathPara>
                </a14:m>
                <a:endParaRPr lang="en-AU" sz="2600" dirty="0"/>
              </a:p>
            </p:txBody>
          </p:sp>
        </mc:Choice>
        <mc:Fallback xmlns="">
          <p:sp>
            <p:nvSpPr>
              <p:cNvPr id="3" name="Object 3">
                <a:extLst>
                  <a:ext uri="{FF2B5EF4-FFF2-40B4-BE49-F238E27FC236}">
                    <a16:creationId xmlns:a16="http://schemas.microsoft.com/office/drawing/2014/main" id="{60C95C11-E0DF-71EC-AC8F-F987940E90F7}"/>
                  </a:ext>
                </a:extLst>
              </p:cNvPr>
              <p:cNvSpPr txBox="1">
                <a:spLocks noRot="1" noChangeAspect="1" noMove="1" noResize="1" noEditPoints="1" noAdjustHandles="1" noChangeArrowheads="1" noChangeShapeType="1" noTextEdit="1"/>
              </p:cNvSpPr>
              <p:nvPr/>
            </p:nvSpPr>
            <p:spPr bwMode="auto">
              <a:xfrm>
                <a:off x="583992" y="2932356"/>
                <a:ext cx="4117217" cy="983661"/>
              </a:xfrm>
              <a:prstGeom prst="rect">
                <a:avLst/>
              </a:prstGeom>
              <a:blipFill>
                <a:blip r:embed="rId2"/>
                <a:stretch>
                  <a:fillRect/>
                </a:stretch>
              </a:blipFill>
              <a:ln>
                <a:noFill/>
              </a:ln>
              <a:effectLst/>
            </p:spPr>
            <p:txBody>
              <a:bodyPr/>
              <a:lstStyle/>
              <a:p>
                <a:r>
                  <a:rPr lang="en-AU">
                    <a:noFill/>
                  </a:rPr>
                  <a:t> </a:t>
                </a:r>
              </a:p>
            </p:txBody>
          </p:sp>
        </mc:Fallback>
      </mc:AlternateContent>
      <p:sp>
        <p:nvSpPr>
          <p:cNvPr id="4" name="Object 3">
            <a:extLst>
              <a:ext uri="{FF2B5EF4-FFF2-40B4-BE49-F238E27FC236}">
                <a16:creationId xmlns:a16="http://schemas.microsoft.com/office/drawing/2014/main" id="{1B66A913-6CA5-D9A4-606F-E56E57E298F9}"/>
              </a:ext>
            </a:extLst>
          </p:cNvPr>
          <p:cNvSpPr txBox="1">
            <a:spLocks/>
          </p:cNvSpPr>
          <p:nvPr/>
        </p:nvSpPr>
        <p:spPr bwMode="auto">
          <a:xfrm>
            <a:off x="583992" y="2252663"/>
            <a:ext cx="2417625" cy="490537"/>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AU" sz="2600" b="1" dirty="0">
                <a:solidFill>
                  <a:srgbClr val="0000FF"/>
                </a:solidFill>
                <a:latin typeface="Times New Roman" panose="02020603050405020304" pitchFamily="18" charset="0"/>
                <a:cs typeface="Times New Roman" panose="02020603050405020304" pitchFamily="18" charset="0"/>
              </a:rPr>
              <a:t>Answer</a:t>
            </a:r>
            <a:r>
              <a:rPr lang="en-AU" sz="2600" dirty="0">
                <a:solidFill>
                  <a:srgbClr val="000000"/>
                </a:solidFill>
                <a:latin typeface="Times New Roman" panose="02020603050405020304" pitchFamily="18" charset="0"/>
                <a:cs typeface="Times New Roman" panose="02020603050405020304" pitchFamily="18" charset="0"/>
              </a:rPr>
              <a:t>:</a:t>
            </a:r>
            <a:endParaRPr lang="en-AU" sz="2600" dirty="0"/>
          </a:p>
        </p:txBody>
      </p:sp>
      <p:pic>
        <p:nvPicPr>
          <p:cNvPr id="5" name="Picture 4">
            <a:extLst>
              <a:ext uri="{FF2B5EF4-FFF2-40B4-BE49-F238E27FC236}">
                <a16:creationId xmlns:a16="http://schemas.microsoft.com/office/drawing/2014/main" id="{00DF132E-4C10-97F7-137A-46F1B758E4CD}"/>
              </a:ext>
            </a:extLst>
          </p:cNvPr>
          <p:cNvPicPr>
            <a:picLocks noChangeAspect="1"/>
          </p:cNvPicPr>
          <p:nvPr/>
        </p:nvPicPr>
        <p:blipFill>
          <a:blip r:embed="rId3"/>
          <a:stretch>
            <a:fillRect/>
          </a:stretch>
        </p:blipFill>
        <p:spPr>
          <a:xfrm>
            <a:off x="5088836" y="2202626"/>
            <a:ext cx="7005661" cy="3760348"/>
          </a:xfrm>
          <a:prstGeom prst="rect">
            <a:avLst/>
          </a:prstGeom>
        </p:spPr>
      </p:pic>
    </p:spTree>
    <p:extLst>
      <p:ext uri="{BB962C8B-B14F-4D97-AF65-F5344CB8AC3E}">
        <p14:creationId xmlns:p14="http://schemas.microsoft.com/office/powerpoint/2010/main" val="1512085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5D21E-3D7A-16BE-D664-311B8787A48C}"/>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F139E5DC-5717-7CCC-6988-BB462E95C5CC}"/>
              </a:ext>
            </a:extLst>
          </p:cNvPr>
          <p:cNvSpPr>
            <a:spLocks noGrp="1" noChangeArrowheads="1"/>
          </p:cNvSpPr>
          <p:nvPr>
            <p:ph type="title"/>
          </p:nvPr>
        </p:nvSpPr>
        <p:spPr>
          <a:xfrm>
            <a:off x="459928" y="224898"/>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274040FF-0EFA-84DD-820A-AB3D475C2F6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0BDCF9BE-A590-4273-23CC-2FF4D0C3EF9B}"/>
              </a:ext>
            </a:extLst>
          </p:cNvPr>
          <p:cNvSpPr txBox="1"/>
          <p:nvPr/>
        </p:nvSpPr>
        <p:spPr>
          <a:xfrm>
            <a:off x="459927" y="895026"/>
            <a:ext cx="11367637" cy="892552"/>
          </a:xfrm>
          <a:prstGeom prst="rect">
            <a:avLst/>
          </a:prstGeom>
          <a:noFill/>
        </p:spPr>
        <p:txBody>
          <a:bodyPr wrap="square">
            <a:spAutoFit/>
          </a:bodyPr>
          <a:lstStyle/>
          <a:p>
            <a:pPr>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6.3</a:t>
            </a:r>
            <a:r>
              <a:rPr lang="en-AU" sz="2600" dirty="0">
                <a:latin typeface="Times New Roman" panose="02020603050405020304" pitchFamily="18" charset="0"/>
                <a:cs typeface="Times New Roman" panose="02020603050405020304" pitchFamily="18" charset="0"/>
              </a:rPr>
              <a:t> What two properties must be satisfied by a continuous probability distribution (or probability curve)?</a:t>
            </a:r>
          </a:p>
        </p:txBody>
      </p:sp>
      <p:sp>
        <p:nvSpPr>
          <p:cNvPr id="4" name="TextBox 3">
            <a:extLst>
              <a:ext uri="{FF2B5EF4-FFF2-40B4-BE49-F238E27FC236}">
                <a16:creationId xmlns:a16="http://schemas.microsoft.com/office/drawing/2014/main" id="{6BD6E94D-1D8B-055B-22ED-B911238BB1DF}"/>
              </a:ext>
            </a:extLst>
          </p:cNvPr>
          <p:cNvSpPr txBox="1"/>
          <p:nvPr/>
        </p:nvSpPr>
        <p:spPr>
          <a:xfrm>
            <a:off x="459927" y="2155999"/>
            <a:ext cx="10383663" cy="1692771"/>
          </a:xfrm>
          <a:prstGeom prst="rect">
            <a:avLst/>
          </a:prstGeom>
          <a:noFill/>
        </p:spPr>
        <p:txBody>
          <a:bodyPr wrap="square">
            <a:spAutoFit/>
          </a:bodyPr>
          <a:lstStyle/>
          <a:p>
            <a:r>
              <a:rPr lang="en-AU" sz="2600" b="1" dirty="0">
                <a:solidFill>
                  <a:srgbClr val="0000FF"/>
                </a:solidFill>
                <a:latin typeface="Times New Roman" panose="02020603050405020304" pitchFamily="18" charset="0"/>
                <a:cs typeface="Times New Roman" panose="02020603050405020304" pitchFamily="18" charset="0"/>
              </a:rPr>
              <a:t>Answer</a:t>
            </a:r>
            <a:r>
              <a:rPr lang="en-AU" sz="2600" dirty="0">
                <a:latin typeface="Times New Roman" panose="02020603050405020304" pitchFamily="18" charset="0"/>
                <a:cs typeface="Times New Roman" panose="02020603050405020304" pitchFamily="18" charset="0"/>
              </a:rPr>
              <a:t>: </a:t>
            </a:r>
          </a:p>
          <a:p>
            <a:endParaRPr lang="en-AU" sz="2600" dirty="0">
              <a:latin typeface="Times New Roman" panose="02020603050405020304" pitchFamily="18" charset="0"/>
              <a:cs typeface="Times New Roman" panose="02020603050405020304" pitchFamily="18" charset="0"/>
            </a:endParaRPr>
          </a:p>
          <a:p>
            <a:pPr marL="514350" indent="-514350">
              <a:buAutoNum type="arabicPeriod"/>
            </a:pPr>
            <a:r>
              <a:rPr lang="en-AU" sz="2600" dirty="0">
                <a:latin typeface="Times New Roman" panose="02020603050405020304" pitchFamily="18" charset="0"/>
                <a:cs typeface="Times New Roman" panose="02020603050405020304" pitchFamily="18" charset="0"/>
              </a:rPr>
              <a:t>The probability density function </a:t>
            </a:r>
            <a:r>
              <a:rPr lang="en-AU" sz="2600" i="1" dirty="0">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higher then 0.</a:t>
            </a:r>
          </a:p>
          <a:p>
            <a:pPr marL="514350" indent="-514350">
              <a:buAutoNum type="arabicPeriod"/>
            </a:pPr>
            <a:r>
              <a:rPr lang="en-AU" sz="2600" dirty="0">
                <a:latin typeface="Times New Roman" panose="02020603050405020304" pitchFamily="18" charset="0"/>
                <a:cs typeface="Times New Roman" panose="02020603050405020304" pitchFamily="18" charset="0"/>
              </a:rPr>
              <a:t>The total area below the probability density function </a:t>
            </a:r>
            <a:r>
              <a:rPr lang="en-AU" sz="2600" i="1" dirty="0">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1.</a:t>
            </a:r>
            <a:endParaRPr lang="en-AU" sz="2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875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16B2-F75B-FA12-5D85-1044E8CD32EE}"/>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DD51682E-6234-EFEB-86B8-7AC726973DAE}"/>
              </a:ext>
            </a:extLst>
          </p:cNvPr>
          <p:cNvSpPr>
            <a:spLocks noGrp="1" noChangeArrowheads="1"/>
          </p:cNvSpPr>
          <p:nvPr>
            <p:ph type="title"/>
          </p:nvPr>
        </p:nvSpPr>
        <p:spPr>
          <a:xfrm>
            <a:off x="459928" y="224898"/>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C18D49B3-13A7-9F04-BF2F-FDDCE4E26BA7}"/>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2731C08E-1B91-6C6B-76E8-5AF53EEE4AD6}"/>
              </a:ext>
            </a:extLst>
          </p:cNvPr>
          <p:cNvSpPr txBox="1"/>
          <p:nvPr/>
        </p:nvSpPr>
        <p:spPr>
          <a:xfrm>
            <a:off x="459927" y="994417"/>
            <a:ext cx="11367637" cy="492443"/>
          </a:xfrm>
          <a:prstGeom prst="rect">
            <a:avLst/>
          </a:prstGeom>
          <a:noFill/>
        </p:spPr>
        <p:txBody>
          <a:bodyPr wrap="square">
            <a:spAutoFit/>
          </a:bodyPr>
          <a:lstStyle/>
          <a:p>
            <a:pPr>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6.4</a:t>
            </a:r>
            <a:r>
              <a:rPr lang="en-AU" sz="2600" dirty="0">
                <a:latin typeface="Times New Roman" panose="02020603050405020304" pitchFamily="18" charset="0"/>
                <a:cs typeface="Times New Roman" panose="02020603050405020304" pitchFamily="18" charset="0"/>
              </a:rPr>
              <a:t> Is the height of a probability curve over a given point a probability? Explain.</a:t>
            </a:r>
          </a:p>
        </p:txBody>
      </p:sp>
      <p:sp>
        <p:nvSpPr>
          <p:cNvPr id="3" name="TextBox 2">
            <a:extLst>
              <a:ext uri="{FF2B5EF4-FFF2-40B4-BE49-F238E27FC236}">
                <a16:creationId xmlns:a16="http://schemas.microsoft.com/office/drawing/2014/main" id="{0F4AC136-51D3-C264-ABA9-187FEC3DB681}"/>
              </a:ext>
            </a:extLst>
          </p:cNvPr>
          <p:cNvSpPr txBox="1"/>
          <p:nvPr/>
        </p:nvSpPr>
        <p:spPr>
          <a:xfrm>
            <a:off x="459927" y="2492072"/>
            <a:ext cx="11367637" cy="1046440"/>
          </a:xfrm>
          <a:prstGeom prst="rect">
            <a:avLst/>
          </a:prstGeom>
          <a:noFill/>
        </p:spPr>
        <p:txBody>
          <a:bodyPr wrap="square">
            <a:spAutoFit/>
          </a:bodyPr>
          <a:lstStyle/>
          <a:p>
            <a:pPr>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Answer:</a:t>
            </a:r>
          </a:p>
          <a:p>
            <a:pPr>
              <a:spcBef>
                <a:spcPts val="1200"/>
              </a:spcBef>
            </a:pPr>
            <a:r>
              <a:rPr lang="en-AU" sz="2600" dirty="0">
                <a:solidFill>
                  <a:srgbClr val="FF0000"/>
                </a:solidFill>
                <a:latin typeface="Times New Roman" panose="02020603050405020304" pitchFamily="18" charset="0"/>
                <a:cs typeface="Times New Roman" panose="02020603050405020304" pitchFamily="18" charset="0"/>
              </a:rPr>
              <a:t>No. </a:t>
            </a:r>
            <a:r>
              <a:rPr lang="en-AU" sz="2600" dirty="0">
                <a:latin typeface="Times New Roman" panose="02020603050405020304" pitchFamily="18" charset="0"/>
                <a:cs typeface="Times New Roman" panose="02020603050405020304" pitchFamily="18" charset="0"/>
              </a:rPr>
              <a:t>the height is the probability density, not the probability.</a:t>
            </a:r>
          </a:p>
        </p:txBody>
      </p:sp>
    </p:spTree>
    <p:extLst>
      <p:ext uri="{BB962C8B-B14F-4D97-AF65-F5344CB8AC3E}">
        <p14:creationId xmlns:p14="http://schemas.microsoft.com/office/powerpoint/2010/main" val="1677108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855B-C94D-C374-1DDE-28129A1B5627}"/>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18623D1A-05A0-2937-463F-B269CCCB3F80}"/>
              </a:ext>
            </a:extLst>
          </p:cNvPr>
          <p:cNvSpPr>
            <a:spLocks noGrp="1" noChangeArrowheads="1"/>
          </p:cNvSpPr>
          <p:nvPr>
            <p:ph type="title"/>
          </p:nvPr>
        </p:nvSpPr>
        <p:spPr>
          <a:xfrm>
            <a:off x="459928" y="224898"/>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98159514-6160-1066-46C8-4EA364CA81CE}"/>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126D2DD3-5FBB-C4CB-6F8F-4DA5038139E6}"/>
              </a:ext>
            </a:extLst>
          </p:cNvPr>
          <p:cNvSpPr txBox="1"/>
          <p:nvPr/>
        </p:nvSpPr>
        <p:spPr>
          <a:xfrm>
            <a:off x="459927" y="895026"/>
            <a:ext cx="11367637" cy="892552"/>
          </a:xfrm>
          <a:prstGeom prst="rect">
            <a:avLst/>
          </a:prstGeom>
          <a:noFill/>
        </p:spPr>
        <p:txBody>
          <a:bodyPr wrap="square">
            <a:spAutoFit/>
          </a:bodyPr>
          <a:lstStyle/>
          <a:p>
            <a:pPr>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6.5 </a:t>
            </a:r>
            <a:r>
              <a:rPr lang="en-AU" sz="2600" dirty="0">
                <a:latin typeface="Times New Roman" panose="02020603050405020304" pitchFamily="18" charset="0"/>
                <a:cs typeface="Times New Roman" panose="02020603050405020304" pitchFamily="18" charset="0"/>
              </a:rPr>
              <a:t>When is it appropriate to use the uniform distribution to describe a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DF0C1D4B-6E16-83C0-ADD6-70E4680046DC}"/>
              </a:ext>
            </a:extLst>
          </p:cNvPr>
          <p:cNvSpPr txBox="1"/>
          <p:nvPr/>
        </p:nvSpPr>
        <p:spPr>
          <a:xfrm>
            <a:off x="459928" y="2155999"/>
            <a:ext cx="6835394" cy="492443"/>
          </a:xfrm>
          <a:prstGeom prst="rect">
            <a:avLst/>
          </a:prstGeom>
          <a:noFill/>
        </p:spPr>
        <p:txBody>
          <a:bodyPr wrap="square">
            <a:spAutoFit/>
          </a:bodyPr>
          <a:lstStyle/>
          <a:p>
            <a:r>
              <a:rPr lang="en-AU" sz="2600" b="1" dirty="0">
                <a:solidFill>
                  <a:srgbClr val="0000FF"/>
                </a:solidFill>
                <a:latin typeface="Times New Roman" panose="02020603050405020304" pitchFamily="18" charset="0"/>
                <a:cs typeface="Times New Roman" panose="02020603050405020304" pitchFamily="18" charset="0"/>
              </a:rPr>
              <a:t>Answer</a:t>
            </a:r>
            <a:r>
              <a:rPr lang="en-AU" sz="2600" dirty="0">
                <a:latin typeface="Times New Roman" panose="02020603050405020304" pitchFamily="18" charset="0"/>
                <a:cs typeface="Times New Roman" panose="02020603050405020304" pitchFamily="18" charset="0"/>
              </a:rPr>
              <a:t>: The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uniformly distributed</a:t>
            </a:r>
            <a:endParaRPr lang="en-AU" sz="2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482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5D79-B79B-E4C8-AF0A-18443985684B}"/>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F5049713-9DC8-901F-3584-CCDC43B2FC40}"/>
              </a:ext>
            </a:extLst>
          </p:cNvPr>
          <p:cNvSpPr>
            <a:spLocks noGrp="1" noChangeArrowheads="1"/>
          </p:cNvSpPr>
          <p:nvPr>
            <p:ph type="title"/>
          </p:nvPr>
        </p:nvSpPr>
        <p:spPr>
          <a:xfrm>
            <a:off x="536714" y="191379"/>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38B5E26A-F0D1-D405-DA3F-5D5406C4761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29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E8EC333-D301-5451-CA8A-7644889BD68A}"/>
                  </a:ext>
                </a:extLst>
              </p:cNvPr>
              <p:cNvSpPr txBox="1"/>
              <p:nvPr/>
            </p:nvSpPr>
            <p:spPr>
              <a:xfrm>
                <a:off x="536714" y="895026"/>
                <a:ext cx="10714382" cy="4616648"/>
              </a:xfrm>
              <a:prstGeom prst="rect">
                <a:avLst/>
              </a:prstGeom>
              <a:noFill/>
            </p:spPr>
            <p:txBody>
              <a:bodyPr wrap="square">
                <a:spAutoFit/>
              </a:bodyPr>
              <a:lstStyle/>
              <a:p>
                <a:pPr algn="just">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6.6</a:t>
                </a:r>
                <a:r>
                  <a:rPr lang="en-AU" sz="2600" dirty="0">
                    <a:latin typeface="Times New Roman" panose="02020603050405020304" pitchFamily="18" charset="0"/>
                    <a:cs typeface="Times New Roman" panose="02020603050405020304" pitchFamily="18" charset="0"/>
                  </a:rPr>
                  <a:t> Suppose that the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has a uniform distribution with </a:t>
                </a:r>
                <a:r>
                  <a:rPr lang="en-AU" sz="2600" i="1" dirty="0">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 2 and </a:t>
                </a:r>
                <a:r>
                  <a:rPr lang="en-AU" sz="2600" i="1" dirty="0">
                    <a:latin typeface="Times New Roman" panose="02020603050405020304" pitchFamily="18" charset="0"/>
                    <a:cs typeface="Times New Roman" panose="02020603050405020304" pitchFamily="18" charset="0"/>
                  </a:rPr>
                  <a:t>d</a:t>
                </a:r>
                <a:r>
                  <a:rPr lang="en-AU" sz="2600" dirty="0">
                    <a:latin typeface="Times New Roman" panose="02020603050405020304" pitchFamily="18" charset="0"/>
                    <a:cs typeface="Times New Roman" panose="02020603050405020304" pitchFamily="18" charset="0"/>
                  </a:rPr>
                  <a:t> = 8.</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Write the formula for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Graph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Find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r>
                      <a:rPr lang="en-AU" sz="2600" b="0" i="1" smtClean="0">
                        <a:latin typeface="Cambria Math" panose="02040503050406030204" pitchFamily="18" charset="0"/>
                        <a:cs typeface="Times New Roman" panose="02020603050405020304" pitchFamily="18" charset="0"/>
                      </a:rPr>
                      <m:t>(3≤</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≤5)</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(d)</a:t>
                </a:r>
                <a:r>
                  <a:rPr lang="en-AU" sz="2600" dirty="0">
                    <a:latin typeface="Times New Roman" panose="02020603050405020304" pitchFamily="18" charset="0"/>
                    <a:cs typeface="Times New Roman" panose="02020603050405020304" pitchFamily="18" charset="0"/>
                  </a:rPr>
                  <a:t> Find</a:t>
                </a:r>
                <a:r>
                  <a:rPr lang="en-AU" sz="2600" dirty="0">
                    <a:cs typeface="Times New Roman" panose="02020603050405020304" pitchFamily="18" charset="0"/>
                  </a:rPr>
                  <a:t>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(1.5≤</m:t>
                    </m:r>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≤6.5)</m:t>
                    </m:r>
                  </m:oMath>
                </a14:m>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(e)</a:t>
                </a:r>
                <a:r>
                  <a:rPr lang="en-AU" sz="2600" dirty="0">
                    <a:latin typeface="Times New Roman" panose="02020603050405020304" pitchFamily="18" charset="0"/>
                    <a:cs typeface="Times New Roman" panose="02020603050405020304" pitchFamily="18" charset="0"/>
                  </a:rPr>
                  <a:t> Calculate the mean </a:t>
                </a:r>
                <a14:m>
                  <m:oMath xmlns:m="http://schemas.openxmlformats.org/officeDocument/2006/math">
                    <m:sSub>
                      <m:sSubPr>
                        <m:ctrlPr>
                          <a:rPr lang="en-AU" sz="2600" i="1" smtClean="0">
                            <a:latin typeface="Cambria Math" panose="02040503050406030204" pitchFamily="18" charset="0"/>
                            <a:cs typeface="Times New Roman" panose="02020603050405020304" pitchFamily="18" charset="0"/>
                          </a:rPr>
                        </m:ctrlPr>
                      </m:sSub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AU" sz="2600" b="0" i="1" smtClean="0">
                            <a:latin typeface="Cambria Math" panose="02040503050406030204" pitchFamily="18" charset="0"/>
                            <a:cs typeface="Times New Roman" panose="02020603050405020304" pitchFamily="18" charset="0"/>
                          </a:rPr>
                          <m:t>𝑥</m:t>
                        </m:r>
                      </m:sub>
                    </m:sSub>
                  </m:oMath>
                </a14:m>
                <a:r>
                  <a:rPr lang="en-AU" sz="2600" dirty="0">
                    <a:latin typeface="Times New Roman" panose="02020603050405020304" pitchFamily="18" charset="0"/>
                    <a:cs typeface="Times New Roman" panose="02020603050405020304" pitchFamily="18" charset="0"/>
                  </a:rPr>
                  <a:t>, variance </a:t>
                </a:r>
                <a14:m>
                  <m:oMath xmlns:m="http://schemas.openxmlformats.org/officeDocument/2006/math">
                    <m:sSubSup>
                      <m:sSubSupPr>
                        <m:ctrlPr>
                          <a:rPr lang="en-AU" sz="2600" i="1" smtClean="0">
                            <a:latin typeface="Cambria Math" panose="02040503050406030204" pitchFamily="18" charset="0"/>
                            <a:cs typeface="Times New Roman" panose="02020603050405020304" pitchFamily="18" charset="0"/>
                          </a:rPr>
                        </m:ctrlPr>
                      </m:sSubSup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up>
                        <m:r>
                          <a:rPr lang="en-AU" sz="2600" b="0" i="1" smtClean="0">
                            <a:latin typeface="Cambria Math" panose="02040503050406030204" pitchFamily="18" charset="0"/>
                            <a:cs typeface="Times New Roman" panose="02020603050405020304" pitchFamily="18" charset="0"/>
                          </a:rPr>
                          <m:t>2</m:t>
                        </m:r>
                      </m:sup>
                    </m:sSubSup>
                  </m:oMath>
                </a14:m>
                <a:r>
                  <a:rPr lang="en-AU" sz="2600" dirty="0">
                    <a:latin typeface="Times New Roman" panose="02020603050405020304" pitchFamily="18" charset="0"/>
                    <a:cs typeface="Times New Roman" panose="02020603050405020304" pitchFamily="18" charset="0"/>
                  </a:rPr>
                  <a:t>, and standard deviation </a:t>
                </a:r>
                <a14:m>
                  <m:oMath xmlns:m="http://schemas.openxmlformats.org/officeDocument/2006/math">
                    <m:sSub>
                      <m:sSubPr>
                        <m:ctrlPr>
                          <a:rPr lang="en-AU" sz="2600" i="1" smtClean="0">
                            <a:latin typeface="Cambria Math" panose="02040503050406030204" pitchFamily="18" charset="0"/>
                            <a:cs typeface="Times New Roman" panose="02020603050405020304" pitchFamily="18" charset="0"/>
                          </a:rPr>
                        </m:ctrlPr>
                      </m:sSub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Sub>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 Calculate the interval </a:t>
                </a:r>
                <a14:m>
                  <m:oMath xmlns:m="http://schemas.openxmlformats.org/officeDocument/2006/math">
                    <m:r>
                      <a:rPr lang="en-AU" sz="2600" b="0" i="0" smtClean="0">
                        <a:latin typeface="Cambria Math" panose="02040503050406030204" pitchFamily="18" charset="0"/>
                        <a:cs typeface="Times New Roman" panose="02020603050405020304" pitchFamily="18" charset="0"/>
                      </a:rPr>
                      <m:t>[</m:t>
                    </m:r>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AU" sz="2600" i="1">
                            <a:latin typeface="Cambria Math" panose="02040503050406030204" pitchFamily="18" charset="0"/>
                            <a:cs typeface="Times New Roman" panose="02020603050405020304" pitchFamily="18" charset="0"/>
                          </a:rPr>
                          <m:t>𝑥</m:t>
                        </m:r>
                      </m:sub>
                    </m:sSub>
                    <m:r>
                      <a:rPr lang="en-AU" sz="2600" b="0" i="1" smtClean="0">
                        <a:latin typeface="Cambria Math" panose="02040503050406030204" pitchFamily="18" charset="0"/>
                        <a:cs typeface="Times New Roman" panose="02020603050405020304" pitchFamily="18" charset="0"/>
                      </a:rPr>
                      <m:t>±</m:t>
                    </m:r>
                  </m:oMath>
                </a14:m>
                <a:r>
                  <a:rPr lang="en-AU" sz="2600" dirty="0">
                    <a:latin typeface="Times New Roman" panose="02020603050405020304" pitchFamily="18" charset="0"/>
                    <a:cs typeface="Times New Roman" panose="02020603050405020304" pitchFamily="18" charset="0"/>
                  </a:rPr>
                  <a:t>2</a:t>
                </a:r>
                <a14:m>
                  <m:oMath xmlns:m="http://schemas.openxmlformats.org/officeDocument/2006/math">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i="1">
                            <a:latin typeface="Cambria Math" panose="02040503050406030204" pitchFamily="18" charset="0"/>
                            <a:cs typeface="Times New Roman" panose="02020603050405020304" pitchFamily="18" charset="0"/>
                          </a:rPr>
                          <m:t>𝑥</m:t>
                        </m:r>
                      </m:sub>
                    </m:sSub>
                    <m:r>
                      <a:rPr lang="en-AU" sz="2600" b="0" i="1" smtClean="0">
                        <a:latin typeface="Cambria Math" panose="02040503050406030204" pitchFamily="18" charset="0"/>
                        <a:cs typeface="Times New Roman" panose="02020603050405020304" pitchFamily="18" charset="0"/>
                      </a:rPr>
                      <m:t>]</m:t>
                    </m:r>
                  </m:oMath>
                </a14:m>
                <a:r>
                  <a:rPr lang="en-AU" sz="2600" dirty="0">
                    <a:latin typeface="Times New Roman" panose="02020603050405020304" pitchFamily="18" charset="0"/>
                    <a:cs typeface="Times New Roman" panose="02020603050405020304" pitchFamily="18" charset="0"/>
                  </a:rPr>
                  <a:t>. What is the probability that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will be in this interval? </a:t>
                </a:r>
              </a:p>
            </p:txBody>
          </p:sp>
        </mc:Choice>
        <mc:Fallback xmlns="">
          <p:sp>
            <p:nvSpPr>
              <p:cNvPr id="10" name="TextBox 9">
                <a:extLst>
                  <a:ext uri="{FF2B5EF4-FFF2-40B4-BE49-F238E27FC236}">
                    <a16:creationId xmlns:a16="http://schemas.microsoft.com/office/drawing/2014/main" id="{1E8EC333-D301-5451-CA8A-7644889BD68A}"/>
                  </a:ext>
                </a:extLst>
              </p:cNvPr>
              <p:cNvSpPr txBox="1">
                <a:spLocks noRot="1" noChangeAspect="1" noMove="1" noResize="1" noEditPoints="1" noAdjustHandles="1" noChangeArrowheads="1" noChangeShapeType="1" noTextEdit="1"/>
              </p:cNvSpPr>
              <p:nvPr/>
            </p:nvSpPr>
            <p:spPr>
              <a:xfrm>
                <a:off x="536714" y="895026"/>
                <a:ext cx="10714382" cy="4616648"/>
              </a:xfrm>
              <a:prstGeom prst="rect">
                <a:avLst/>
              </a:prstGeom>
              <a:blipFill>
                <a:blip r:embed="rId2"/>
                <a:stretch>
                  <a:fillRect l="-1024" t="-1189" r="-1024" b="-2378"/>
                </a:stretch>
              </a:blipFill>
            </p:spPr>
            <p:txBody>
              <a:bodyPr/>
              <a:lstStyle/>
              <a:p>
                <a:r>
                  <a:rPr lang="en-AU">
                    <a:noFill/>
                  </a:rPr>
                  <a:t> </a:t>
                </a:r>
              </a:p>
            </p:txBody>
          </p:sp>
        </mc:Fallback>
      </mc:AlternateContent>
    </p:spTree>
    <p:extLst>
      <p:ext uri="{BB962C8B-B14F-4D97-AF65-F5344CB8AC3E}">
        <p14:creationId xmlns:p14="http://schemas.microsoft.com/office/powerpoint/2010/main" val="3942055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BEB6-B1BA-17B9-909A-75DAE36F6813}"/>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9F1D154F-FFEC-FAE2-E0FF-60A9078A24CE}"/>
              </a:ext>
            </a:extLst>
          </p:cNvPr>
          <p:cNvSpPr>
            <a:spLocks noGrp="1" noChangeArrowheads="1"/>
          </p:cNvSpPr>
          <p:nvPr>
            <p:ph type="title"/>
          </p:nvPr>
        </p:nvSpPr>
        <p:spPr>
          <a:xfrm>
            <a:off x="536714" y="191379"/>
            <a:ext cx="183873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Answer</a:t>
            </a:r>
            <a:endPar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AC6C6AAF-EA47-F86E-B414-36BD9517E8C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5DB7FC-8DB6-3E52-2032-E91AC6FB4E08}"/>
                  </a:ext>
                </a:extLst>
              </p:cNvPr>
              <p:cNvSpPr txBox="1"/>
              <p:nvPr/>
            </p:nvSpPr>
            <p:spPr>
              <a:xfrm>
                <a:off x="536714" y="895026"/>
                <a:ext cx="10714382" cy="4422108"/>
              </a:xfrm>
              <a:prstGeom prst="rect">
                <a:avLst/>
              </a:prstGeom>
              <a:noFill/>
            </p:spPr>
            <p:txBody>
              <a:bodyPr wrap="square">
                <a:spAutoFit/>
              </a:bodyPr>
              <a:lstStyle/>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𝑓</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𝑥</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𝑑</m:t>
                        </m:r>
                        <m:r>
                          <a:rPr lang="en-AU" sz="2600" b="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𝑐</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6</m:t>
                        </m:r>
                      </m:den>
                    </m:f>
                  </m:oMath>
                </a14:m>
                <a:r>
                  <a:rPr lang="en-AU" sz="2600" dirty="0">
                    <a:latin typeface="Times New Roman" panose="02020603050405020304" pitchFamily="18" charset="0"/>
                    <a:cs typeface="Times New Roman" panose="02020603050405020304" pitchFamily="18" charset="0"/>
                  </a:rPr>
                  <a:t> for </a:t>
                </a:r>
                <a14:m>
                  <m:oMath xmlns:m="http://schemas.openxmlformats.org/officeDocument/2006/math">
                    <m:r>
                      <a:rPr lang="en-AU" sz="2600" b="0" i="0" smtClean="0">
                        <a:latin typeface="Cambria Math" panose="02040503050406030204" pitchFamily="18" charset="0"/>
                        <a:cs typeface="Times New Roman" panose="02020603050405020304" pitchFamily="18" charset="0"/>
                      </a:rPr>
                      <m:t>2</m:t>
                    </m:r>
                    <m:r>
                      <a:rPr lang="en-AU" sz="2600" b="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≤8</m:t>
                    </m:r>
                  </m:oMath>
                </a14:m>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Graph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3≤</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≤5</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5−3</m:t>
                        </m:r>
                      </m:num>
                      <m:den>
                        <m:r>
                          <a:rPr lang="en-AU" sz="2600" b="0" i="1" smtClean="0">
                            <a:latin typeface="Cambria Math" panose="02040503050406030204" pitchFamily="18" charset="0"/>
                            <a:cs typeface="Times New Roman" panose="02020603050405020304" pitchFamily="18" charset="0"/>
                          </a:rPr>
                          <m:t>6</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3</m:t>
                        </m:r>
                      </m:den>
                    </m:f>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(d)</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1.5</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≤6.5</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6.5−1.5</m:t>
                        </m:r>
                      </m:num>
                      <m:den>
                        <m:r>
                          <a:rPr lang="en-AU" sz="2600" b="0" i="1" smtClean="0">
                            <a:latin typeface="Cambria Math" panose="02040503050406030204" pitchFamily="18" charset="0"/>
                            <a:cs typeface="Times New Roman" panose="02020603050405020304" pitchFamily="18" charset="0"/>
                          </a:rPr>
                          <m:t>6</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5</m:t>
                        </m:r>
                      </m:num>
                      <m:den>
                        <m:r>
                          <a:rPr lang="en-AU" sz="2600" b="0" i="1" smtClean="0">
                            <a:latin typeface="Cambria Math" panose="02040503050406030204" pitchFamily="18" charset="0"/>
                            <a:cs typeface="Times New Roman" panose="02020603050405020304" pitchFamily="18" charset="0"/>
                          </a:rPr>
                          <m:t>6</m:t>
                        </m:r>
                      </m:den>
                    </m:f>
                  </m:oMath>
                </a14:m>
                <a:r>
                  <a:rPr lang="en-AU" sz="2600" dirty="0">
                    <a:latin typeface="Times New Roman" panose="02020603050405020304" pitchFamily="18" charset="0"/>
                    <a:cs typeface="Times New Roman" panose="02020603050405020304" pitchFamily="18" charset="0"/>
                  </a:rPr>
                  <a:t>.</a:t>
                </a:r>
              </a:p>
              <a:p>
                <a:pPr>
                  <a:spcBef>
                    <a:spcPts val="1200"/>
                  </a:spcBef>
                </a:pPr>
                <a:r>
                  <a:rPr lang="en-AU" sz="2600" b="1" dirty="0">
                    <a:solidFill>
                      <a:srgbClr val="0000FF"/>
                    </a:solidFill>
                    <a:latin typeface="Times New Roman" panose="02020603050405020304" pitchFamily="18" charset="0"/>
                    <a:cs typeface="Times New Roman" panose="02020603050405020304" pitchFamily="18" charset="0"/>
                  </a:rPr>
                  <a:t>(e)</a:t>
                </a:r>
                <a14:m>
                  <m:oMath xmlns:m="http://schemas.openxmlformats.org/officeDocument/2006/math">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 </m:t>
                        </m:r>
                        <m:r>
                          <a:rPr lang="en-AU" sz="2800" i="1">
                            <a:solidFill>
                              <a:srgbClr val="000000"/>
                            </a:solidFill>
                            <a:latin typeface="Cambria Math" panose="02040503050406030204" pitchFamily="18" charset="0"/>
                          </a:rPr>
                          <m:t>𝜇</m:t>
                        </m:r>
                      </m:e>
                      <m:sub>
                        <m:r>
                          <a:rPr lang="en-AU" sz="2800" i="1">
                            <a:solidFill>
                              <a:srgbClr val="000000"/>
                            </a:solidFill>
                            <a:latin typeface="Cambria Math" panose="02040503050406030204" pitchFamily="18" charset="0"/>
                          </a:rPr>
                          <m:t>𝑥</m:t>
                        </m:r>
                      </m:sub>
                    </m:sSub>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𝑐</m:t>
                        </m:r>
                        <m:r>
                          <a:rPr lang="en-AU" sz="2800" i="1">
                            <a:solidFill>
                              <a:srgbClr val="000000"/>
                            </a:solidFill>
                            <a:latin typeface="Cambria Math" panose="02040503050406030204" pitchFamily="18" charset="0"/>
                          </a:rPr>
                          <m:t>+</m:t>
                        </m:r>
                        <m:r>
                          <a:rPr lang="en-AU" sz="2800" i="1">
                            <a:solidFill>
                              <a:srgbClr val="000000"/>
                            </a:solidFill>
                            <a:latin typeface="Cambria Math" panose="02040503050406030204" pitchFamily="18" charset="0"/>
                          </a:rPr>
                          <m:t>𝑑</m:t>
                        </m:r>
                      </m:num>
                      <m:den>
                        <m:r>
                          <a:rPr lang="en-AU" sz="2800" i="1">
                            <a:solidFill>
                              <a:srgbClr val="000000"/>
                            </a:solidFill>
                            <a:latin typeface="Cambria Math" panose="02040503050406030204" pitchFamily="18" charset="0"/>
                          </a:rPr>
                          <m:t>2</m:t>
                        </m:r>
                      </m:den>
                    </m:f>
                    <m:r>
                      <a:rPr lang="en-AU" sz="2800" b="0" i="1" smtClean="0">
                        <a:solidFill>
                          <a:srgbClr val="000000"/>
                        </a:solidFill>
                        <a:latin typeface="Cambria Math" panose="02040503050406030204" pitchFamily="18" charset="0"/>
                      </a:rPr>
                      <m:t>=5,</m:t>
                    </m:r>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𝜎</m:t>
                        </m:r>
                      </m:e>
                      <m:sub>
                        <m:r>
                          <a:rPr lang="en-AU" sz="2800" i="1">
                            <a:solidFill>
                              <a:srgbClr val="000000"/>
                            </a:solidFill>
                            <a:latin typeface="Cambria Math" panose="02040503050406030204" pitchFamily="18" charset="0"/>
                          </a:rPr>
                          <m:t>𝑥</m:t>
                        </m:r>
                      </m:sub>
                    </m:sSub>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𝑑</m:t>
                        </m:r>
                        <m:r>
                          <a:rPr lang="en-AU" sz="2800" i="1">
                            <a:solidFill>
                              <a:srgbClr val="000000"/>
                            </a:solidFill>
                            <a:latin typeface="Cambria Math" panose="02040503050406030204" pitchFamily="18" charset="0"/>
                          </a:rPr>
                          <m:t>−</m:t>
                        </m:r>
                        <m:r>
                          <a:rPr lang="en-AU" sz="2800" i="1">
                            <a:solidFill>
                              <a:srgbClr val="000000"/>
                            </a:solidFill>
                            <a:latin typeface="Cambria Math" panose="02040503050406030204" pitchFamily="18" charset="0"/>
                          </a:rPr>
                          <m:t>𝑐</m:t>
                        </m:r>
                      </m:num>
                      <m:den>
                        <m:rad>
                          <m:radPr>
                            <m:degHide m:val="on"/>
                            <m:ctrlPr>
                              <a:rPr lang="en-AU" sz="2800" i="1">
                                <a:solidFill>
                                  <a:srgbClr val="000000"/>
                                </a:solidFill>
                                <a:latin typeface="Cambria Math" panose="02040503050406030204" pitchFamily="18" charset="0"/>
                              </a:rPr>
                            </m:ctrlPr>
                          </m:radPr>
                          <m:deg/>
                          <m:e>
                            <m:r>
                              <a:rPr lang="en-AU" sz="2800" i="1">
                                <a:solidFill>
                                  <a:srgbClr val="000000"/>
                                </a:solidFill>
                                <a:latin typeface="Cambria Math" panose="02040503050406030204" pitchFamily="18" charset="0"/>
                              </a:rPr>
                              <m:t>12</m:t>
                            </m:r>
                          </m:e>
                        </m:rad>
                      </m:den>
                    </m:f>
                    <m:r>
                      <a:rPr lang="en-AU" sz="2800" b="0" i="1" smtClean="0">
                        <a:solidFill>
                          <a:srgbClr val="000000"/>
                        </a:solidFill>
                        <a:latin typeface="Cambria Math" panose="02040503050406030204" pitchFamily="18" charset="0"/>
                      </a:rPr>
                      <m:t>=</m:t>
                    </m:r>
                    <m:f>
                      <m:fPr>
                        <m:ctrlPr>
                          <a:rPr lang="en-AU" sz="2800" b="0" i="1" smtClean="0">
                            <a:solidFill>
                              <a:srgbClr val="000000"/>
                            </a:solidFill>
                            <a:latin typeface="Cambria Math" panose="02040503050406030204" pitchFamily="18" charset="0"/>
                          </a:rPr>
                        </m:ctrlPr>
                      </m:fPr>
                      <m:num>
                        <m:r>
                          <a:rPr lang="en-AU" sz="2800" b="0" i="1" smtClean="0">
                            <a:solidFill>
                              <a:srgbClr val="000000"/>
                            </a:solidFill>
                            <a:latin typeface="Cambria Math" panose="02040503050406030204" pitchFamily="18" charset="0"/>
                          </a:rPr>
                          <m:t>8−2</m:t>
                        </m:r>
                      </m:num>
                      <m:den>
                        <m:rad>
                          <m:radPr>
                            <m:degHide m:val="on"/>
                            <m:ctrlPr>
                              <a:rPr lang="en-AU" sz="2800" i="1">
                                <a:solidFill>
                                  <a:srgbClr val="000000"/>
                                </a:solidFill>
                                <a:latin typeface="Cambria Math" panose="02040503050406030204" pitchFamily="18" charset="0"/>
                              </a:rPr>
                            </m:ctrlPr>
                          </m:radPr>
                          <m:deg/>
                          <m:e>
                            <m:r>
                              <a:rPr lang="en-AU" sz="2800" i="1">
                                <a:solidFill>
                                  <a:srgbClr val="000000"/>
                                </a:solidFill>
                                <a:latin typeface="Cambria Math" panose="02040503050406030204" pitchFamily="18" charset="0"/>
                              </a:rPr>
                              <m:t>12</m:t>
                            </m:r>
                          </m:e>
                        </m:rad>
                      </m:den>
                    </m:f>
                    <m:r>
                      <a:rPr lang="en-AU" sz="2800" b="0" i="1" smtClean="0">
                        <a:solidFill>
                          <a:srgbClr val="000000"/>
                        </a:solidFill>
                        <a:latin typeface="Cambria Math" panose="02040503050406030204" pitchFamily="18" charset="0"/>
                      </a:rPr>
                      <m:t>=1.732</m:t>
                    </m:r>
                  </m:oMath>
                </a14:m>
                <a:r>
                  <a:rPr lang="en-AU" sz="26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AU" sz="2600" i="1" smtClean="0">
                            <a:latin typeface="Cambria Math" panose="02040503050406030204" pitchFamily="18" charset="0"/>
                            <a:cs typeface="Times New Roman" panose="02020603050405020304" pitchFamily="18" charset="0"/>
                          </a:rPr>
                        </m:ctrlPr>
                      </m:sSubSup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up>
                        <m:r>
                          <a:rPr lang="en-AU" sz="2600" b="0" i="1" smtClean="0">
                            <a:latin typeface="Cambria Math" panose="02040503050406030204" pitchFamily="18" charset="0"/>
                            <a:cs typeface="Times New Roman" panose="02020603050405020304" pitchFamily="18" charset="0"/>
                          </a:rPr>
                          <m:t>2</m:t>
                        </m:r>
                      </m:sup>
                    </m:sSubSup>
                    <m:r>
                      <a:rPr lang="en-AU" sz="2600" b="0" i="1" smtClean="0">
                        <a:latin typeface="Cambria Math" panose="02040503050406030204" pitchFamily="18" charset="0"/>
                        <a:cs typeface="Times New Roman" panose="02020603050405020304" pitchFamily="18" charset="0"/>
                      </a:rPr>
                      <m:t>=</m:t>
                    </m:r>
                    <m:sSup>
                      <m:sSupPr>
                        <m:ctrlPr>
                          <a:rPr lang="en-AU" sz="2600" b="0" i="1" smtClean="0">
                            <a:latin typeface="Cambria Math" panose="02040503050406030204" pitchFamily="18" charset="0"/>
                            <a:cs typeface="Times New Roman" panose="02020603050405020304" pitchFamily="18" charset="0"/>
                          </a:rPr>
                        </m:ctrlPr>
                      </m:sSupPr>
                      <m:e>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1.732</m:t>
                            </m:r>
                          </m:e>
                        </m:d>
                      </m:e>
                      <m:sup>
                        <m:r>
                          <a:rPr lang="en-AU" sz="2600" b="0" i="1" smtClean="0">
                            <a:latin typeface="Cambria Math" panose="02040503050406030204" pitchFamily="18" charset="0"/>
                            <a:cs typeface="Times New Roman" panose="02020603050405020304" pitchFamily="18" charset="0"/>
                          </a:rPr>
                          <m:t>2</m:t>
                        </m:r>
                      </m:sup>
                    </m:sSup>
                    <m:r>
                      <a:rPr lang="en-AU" sz="2600" b="0" i="1" smtClean="0">
                        <a:latin typeface="Cambria Math" panose="02040503050406030204" pitchFamily="18" charset="0"/>
                        <a:cs typeface="Times New Roman" panose="02020603050405020304" pitchFamily="18" charset="0"/>
                      </a:rPr>
                      <m:t>=3</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b="0" i="0" smtClean="0">
                        <a:latin typeface="Cambria Math" panose="02040503050406030204" pitchFamily="18" charset="0"/>
                        <a:cs typeface="Times New Roman" panose="02020603050405020304" pitchFamily="18" charset="0"/>
                      </a:rPr>
                      <m:t>[</m:t>
                    </m:r>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AU" sz="2600" i="1">
                            <a:latin typeface="Cambria Math" panose="02040503050406030204" pitchFamily="18" charset="0"/>
                            <a:cs typeface="Times New Roman" panose="02020603050405020304" pitchFamily="18" charset="0"/>
                          </a:rPr>
                          <m:t>𝑥</m:t>
                        </m:r>
                      </m:sub>
                    </m:sSub>
                    <m:r>
                      <a:rPr lang="en-AU" sz="2600" b="0" i="1" smtClean="0">
                        <a:latin typeface="Cambria Math" panose="02040503050406030204" pitchFamily="18" charset="0"/>
                        <a:cs typeface="Times New Roman" panose="02020603050405020304" pitchFamily="18" charset="0"/>
                      </a:rPr>
                      <m:t>±</m:t>
                    </m:r>
                  </m:oMath>
                </a14:m>
                <a:r>
                  <a:rPr lang="en-AU" sz="2600" dirty="0">
                    <a:latin typeface="Times New Roman" panose="02020603050405020304" pitchFamily="18" charset="0"/>
                    <a:cs typeface="Times New Roman" panose="02020603050405020304" pitchFamily="18" charset="0"/>
                  </a:rPr>
                  <a:t>2</a:t>
                </a:r>
                <a14:m>
                  <m:oMath xmlns:m="http://schemas.openxmlformats.org/officeDocument/2006/math">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i="1">
                            <a:latin typeface="Cambria Math" panose="02040503050406030204" pitchFamily="18" charset="0"/>
                            <a:cs typeface="Times New Roman" panose="02020603050405020304" pitchFamily="18" charset="0"/>
                          </a:rPr>
                          <m:t>𝑥</m:t>
                        </m:r>
                      </m:sub>
                    </m:sSub>
                    <m:r>
                      <a:rPr lang="en-AU" sz="2600" b="0" i="1" smtClean="0">
                        <a:latin typeface="Cambria Math" panose="02040503050406030204" pitchFamily="18" charset="0"/>
                        <a:cs typeface="Times New Roman" panose="02020603050405020304" pitchFamily="18" charset="0"/>
                      </a:rPr>
                      <m:t>]=</m:t>
                    </m:r>
                    <m:d>
                      <m:dPr>
                        <m:begChr m:val="["/>
                        <m:endChr m:val="]"/>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5±6</m:t>
                        </m:r>
                      </m:e>
                    </m:d>
                    <m:r>
                      <a:rPr lang="en-AU" sz="2600" b="0" i="1" smtClean="0">
                        <a:latin typeface="Cambria Math" panose="02040503050406030204" pitchFamily="18" charset="0"/>
                        <a:cs typeface="Times New Roman" panose="02020603050405020304" pitchFamily="18" charset="0"/>
                      </a:rPr>
                      <m:t>=[−1,11]</m:t>
                    </m:r>
                  </m:oMath>
                </a14:m>
                <a:r>
                  <a:rPr lang="en-AU" sz="2600" dirty="0">
                    <a:latin typeface="Times New Roman" panose="02020603050405020304" pitchFamily="18" charset="0"/>
                    <a:cs typeface="Times New Roman" panose="02020603050405020304" pitchFamily="18" charset="0"/>
                  </a:rPr>
                  <a:t>. The probability that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will be in this interval is 1. </a:t>
                </a:r>
              </a:p>
            </p:txBody>
          </p:sp>
        </mc:Choice>
        <mc:Fallback xmlns="">
          <p:sp>
            <p:nvSpPr>
              <p:cNvPr id="10" name="TextBox 9">
                <a:extLst>
                  <a:ext uri="{FF2B5EF4-FFF2-40B4-BE49-F238E27FC236}">
                    <a16:creationId xmlns:a16="http://schemas.microsoft.com/office/drawing/2014/main" id="{F55DB7FC-8DB6-3E52-2032-E91AC6FB4E08}"/>
                  </a:ext>
                </a:extLst>
              </p:cNvPr>
              <p:cNvSpPr txBox="1">
                <a:spLocks noRot="1" noChangeAspect="1" noMove="1" noResize="1" noEditPoints="1" noAdjustHandles="1" noChangeArrowheads="1" noChangeShapeType="1" noTextEdit="1"/>
              </p:cNvSpPr>
              <p:nvPr/>
            </p:nvSpPr>
            <p:spPr>
              <a:xfrm>
                <a:off x="536714" y="895026"/>
                <a:ext cx="10714382" cy="4422108"/>
              </a:xfrm>
              <a:prstGeom prst="rect">
                <a:avLst/>
              </a:prstGeom>
              <a:blipFill>
                <a:blip r:embed="rId2"/>
                <a:stretch>
                  <a:fillRect l="-1024" r="-1024" b="-2621"/>
                </a:stretch>
              </a:blipFill>
            </p:spPr>
            <p:txBody>
              <a:bodyPr/>
              <a:lstStyle/>
              <a:p>
                <a:r>
                  <a:rPr lang="en-AU">
                    <a:noFill/>
                  </a:rPr>
                  <a:t> </a:t>
                </a:r>
              </a:p>
            </p:txBody>
          </p:sp>
        </mc:Fallback>
      </mc:AlternateContent>
    </p:spTree>
    <p:extLst>
      <p:ext uri="{BB962C8B-B14F-4D97-AF65-F5344CB8AC3E}">
        <p14:creationId xmlns:p14="http://schemas.microsoft.com/office/powerpoint/2010/main" val="2354372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ED63F-5F69-609A-6A86-BDD25961F292}"/>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4417AE0A-3911-E96C-D2AB-89F0284ADF79}"/>
              </a:ext>
            </a:extLst>
          </p:cNvPr>
          <p:cNvSpPr>
            <a:spLocks noGrp="1" noChangeArrowheads="1"/>
          </p:cNvSpPr>
          <p:nvPr>
            <p:ph type="title"/>
          </p:nvPr>
        </p:nvSpPr>
        <p:spPr>
          <a:xfrm>
            <a:off x="536714" y="191379"/>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8B6A044C-3FE9-E0D3-CD36-C7979F8AAEC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51D6578-4071-34BF-3DB6-76D8E3CF23DF}"/>
                  </a:ext>
                </a:extLst>
              </p:cNvPr>
              <p:cNvSpPr txBox="1"/>
              <p:nvPr/>
            </p:nvSpPr>
            <p:spPr>
              <a:xfrm>
                <a:off x="536714" y="1004357"/>
                <a:ext cx="10714382" cy="2462213"/>
              </a:xfrm>
              <a:prstGeom prst="rect">
                <a:avLst/>
              </a:prstGeom>
              <a:noFill/>
            </p:spPr>
            <p:txBody>
              <a:bodyPr wrap="square">
                <a:spAutoFit/>
              </a:bodyPr>
              <a:lstStyle/>
              <a:p>
                <a:pPr algn="just">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6.9</a:t>
                </a:r>
                <a:r>
                  <a:rPr lang="en-AU" sz="2600" dirty="0">
                    <a:latin typeface="Times New Roman" panose="02020603050405020304" pitchFamily="18" charset="0"/>
                    <a:cs typeface="Times New Roman" panose="02020603050405020304" pitchFamily="18" charset="0"/>
                  </a:rPr>
                  <a:t> Assume that the waiting time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for an elevator is uniformly distributed between zero and six minutes..</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Calculate the mean </a:t>
                </a:r>
                <a14:m>
                  <m:oMath xmlns:m="http://schemas.openxmlformats.org/officeDocument/2006/math">
                    <m:sSub>
                      <m:sSubPr>
                        <m:ctrlPr>
                          <a:rPr lang="en-AU" sz="2600" i="1" smtClean="0">
                            <a:latin typeface="Cambria Math" panose="02040503050406030204" pitchFamily="18" charset="0"/>
                            <a:cs typeface="Times New Roman" panose="02020603050405020304" pitchFamily="18" charset="0"/>
                          </a:rPr>
                        </m:ctrlPr>
                      </m:sSub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𝜇</m:t>
                        </m:r>
                      </m:e>
                      <m:sub>
                        <m:r>
                          <a:rPr lang="en-AU" sz="2600" b="0" i="1" smtClean="0">
                            <a:latin typeface="Cambria Math" panose="02040503050406030204" pitchFamily="18" charset="0"/>
                            <a:cs typeface="Times New Roman" panose="02020603050405020304" pitchFamily="18" charset="0"/>
                          </a:rPr>
                          <m:t>𝑥</m:t>
                        </m:r>
                      </m:sub>
                    </m:sSub>
                  </m:oMath>
                </a14:m>
                <a:r>
                  <a:rPr lang="en-AU" sz="2600" dirty="0">
                    <a:latin typeface="Times New Roman" panose="02020603050405020304" pitchFamily="18" charset="0"/>
                    <a:cs typeface="Times New Roman" panose="02020603050405020304" pitchFamily="18" charset="0"/>
                  </a:rPr>
                  <a:t>, variance </a:t>
                </a:r>
                <a14:m>
                  <m:oMath xmlns:m="http://schemas.openxmlformats.org/officeDocument/2006/math">
                    <m:sSubSup>
                      <m:sSubSupPr>
                        <m:ctrlPr>
                          <a:rPr lang="en-AU" sz="2600" i="1" smtClean="0">
                            <a:latin typeface="Cambria Math" panose="02040503050406030204" pitchFamily="18" charset="0"/>
                            <a:cs typeface="Times New Roman" panose="02020603050405020304" pitchFamily="18" charset="0"/>
                          </a:rPr>
                        </m:ctrlPr>
                      </m:sSubSup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up>
                        <m:r>
                          <a:rPr lang="en-AU" sz="2600" b="0" i="1" smtClean="0">
                            <a:latin typeface="Cambria Math" panose="02040503050406030204" pitchFamily="18" charset="0"/>
                            <a:cs typeface="Times New Roman" panose="02020603050405020304" pitchFamily="18" charset="0"/>
                          </a:rPr>
                          <m:t>2</m:t>
                        </m:r>
                      </m:sup>
                    </m:sSubSup>
                  </m:oMath>
                </a14:m>
                <a:r>
                  <a:rPr lang="en-AU" sz="2600" dirty="0">
                    <a:latin typeface="Times New Roman" panose="02020603050405020304" pitchFamily="18" charset="0"/>
                    <a:cs typeface="Times New Roman" panose="02020603050405020304" pitchFamily="18" charset="0"/>
                  </a:rPr>
                  <a:t>, and standard deviation </a:t>
                </a:r>
                <a14:m>
                  <m:oMath xmlns:m="http://schemas.openxmlformats.org/officeDocument/2006/math">
                    <m:sSub>
                      <m:sSubPr>
                        <m:ctrlPr>
                          <a:rPr lang="en-AU" sz="2600" i="1" smtClean="0">
                            <a:latin typeface="Cambria Math" panose="02040503050406030204" pitchFamily="18" charset="0"/>
                            <a:cs typeface="Times New Roman" panose="02020603050405020304" pitchFamily="18" charset="0"/>
                          </a:rPr>
                        </m:ctrlPr>
                      </m:sSub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Sub>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Find the probability that the waiting time of a randomly selected patron will be within one standard deviation of the mean. </a:t>
                </a:r>
              </a:p>
            </p:txBody>
          </p:sp>
        </mc:Choice>
        <mc:Fallback xmlns="">
          <p:sp>
            <p:nvSpPr>
              <p:cNvPr id="3" name="TextBox 2">
                <a:extLst>
                  <a:ext uri="{FF2B5EF4-FFF2-40B4-BE49-F238E27FC236}">
                    <a16:creationId xmlns:a16="http://schemas.microsoft.com/office/drawing/2014/main" id="{451D6578-4071-34BF-3DB6-76D8E3CF23DF}"/>
                  </a:ext>
                </a:extLst>
              </p:cNvPr>
              <p:cNvSpPr txBox="1">
                <a:spLocks noRot="1" noChangeAspect="1" noMove="1" noResize="1" noEditPoints="1" noAdjustHandles="1" noChangeArrowheads="1" noChangeShapeType="1" noTextEdit="1"/>
              </p:cNvSpPr>
              <p:nvPr/>
            </p:nvSpPr>
            <p:spPr>
              <a:xfrm>
                <a:off x="536714" y="1004357"/>
                <a:ext cx="10714382" cy="2462213"/>
              </a:xfrm>
              <a:prstGeom prst="rect">
                <a:avLst/>
              </a:prstGeom>
              <a:blipFill>
                <a:blip r:embed="rId2"/>
                <a:stretch>
                  <a:fillRect l="-1024" t="-2228" r="-1024" b="-272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57A3C0C-80FE-E2C7-0175-BA07F82F76E9}"/>
                  </a:ext>
                </a:extLst>
              </p:cNvPr>
              <p:cNvSpPr txBox="1"/>
              <p:nvPr/>
            </p:nvSpPr>
            <p:spPr>
              <a:xfrm>
                <a:off x="606287" y="4185877"/>
                <a:ext cx="10942983" cy="1450077"/>
              </a:xfrm>
              <a:prstGeom prst="rect">
                <a:avLst/>
              </a:prstGeom>
              <a:noFill/>
            </p:spPr>
            <p:txBody>
              <a:bodyPr wrap="square">
                <a:spAutoFit/>
              </a:bodyPr>
              <a:lstStyle/>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 </m:t>
                        </m:r>
                        <m:r>
                          <a:rPr lang="en-AU" sz="2800" i="1">
                            <a:solidFill>
                              <a:srgbClr val="000000"/>
                            </a:solidFill>
                            <a:latin typeface="Cambria Math" panose="02040503050406030204" pitchFamily="18" charset="0"/>
                          </a:rPr>
                          <m:t>𝜇</m:t>
                        </m:r>
                      </m:e>
                      <m:sub>
                        <m:r>
                          <a:rPr lang="en-AU" sz="2800" i="1">
                            <a:solidFill>
                              <a:srgbClr val="000000"/>
                            </a:solidFill>
                            <a:latin typeface="Cambria Math" panose="02040503050406030204" pitchFamily="18" charset="0"/>
                          </a:rPr>
                          <m:t>𝑥</m:t>
                        </m:r>
                      </m:sub>
                    </m:sSub>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b="0" i="1" smtClean="0">
                            <a:solidFill>
                              <a:srgbClr val="000000"/>
                            </a:solidFill>
                            <a:latin typeface="Cambria Math" panose="02040503050406030204" pitchFamily="18" charset="0"/>
                          </a:rPr>
                          <m:t>0</m:t>
                        </m:r>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6</m:t>
                        </m:r>
                      </m:num>
                      <m:den>
                        <m:r>
                          <a:rPr lang="en-AU" sz="2800" i="1">
                            <a:solidFill>
                              <a:srgbClr val="000000"/>
                            </a:solidFill>
                            <a:latin typeface="Cambria Math" panose="02040503050406030204" pitchFamily="18" charset="0"/>
                          </a:rPr>
                          <m:t>2</m:t>
                        </m:r>
                      </m:den>
                    </m:f>
                    <m:r>
                      <a:rPr lang="en-AU" sz="2800" b="0" i="1" smtClean="0">
                        <a:solidFill>
                          <a:srgbClr val="000000"/>
                        </a:solidFill>
                        <a:latin typeface="Cambria Math" panose="02040503050406030204" pitchFamily="18" charset="0"/>
                      </a:rPr>
                      <m:t>=3,</m:t>
                    </m:r>
                    <m:sSub>
                      <m:sSubPr>
                        <m:ctrlPr>
                          <a:rPr lang="en-AU" sz="2800" i="1">
                            <a:solidFill>
                              <a:srgbClr val="000000"/>
                            </a:solidFill>
                            <a:latin typeface="Cambria Math" panose="02040503050406030204" pitchFamily="18" charset="0"/>
                          </a:rPr>
                        </m:ctrlPr>
                      </m:sSubPr>
                      <m:e>
                        <m:r>
                          <a:rPr lang="en-AU" sz="2800" i="1">
                            <a:solidFill>
                              <a:srgbClr val="000000"/>
                            </a:solidFill>
                            <a:latin typeface="Cambria Math" panose="02040503050406030204" pitchFamily="18" charset="0"/>
                          </a:rPr>
                          <m:t>𝜎</m:t>
                        </m:r>
                      </m:e>
                      <m:sub>
                        <m:r>
                          <a:rPr lang="en-AU" sz="2800" i="1">
                            <a:solidFill>
                              <a:srgbClr val="000000"/>
                            </a:solidFill>
                            <a:latin typeface="Cambria Math" panose="02040503050406030204" pitchFamily="18" charset="0"/>
                          </a:rPr>
                          <m:t>𝑥</m:t>
                        </m:r>
                      </m:sub>
                    </m:sSub>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b="0" i="1" smtClean="0">
                            <a:solidFill>
                              <a:srgbClr val="000000"/>
                            </a:solidFill>
                            <a:latin typeface="Cambria Math" panose="02040503050406030204" pitchFamily="18" charset="0"/>
                          </a:rPr>
                          <m:t>6</m:t>
                        </m:r>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0</m:t>
                        </m:r>
                      </m:num>
                      <m:den>
                        <m:rad>
                          <m:radPr>
                            <m:degHide m:val="on"/>
                            <m:ctrlPr>
                              <a:rPr lang="en-AU" sz="2800" i="1">
                                <a:solidFill>
                                  <a:srgbClr val="000000"/>
                                </a:solidFill>
                                <a:latin typeface="Cambria Math" panose="02040503050406030204" pitchFamily="18" charset="0"/>
                              </a:rPr>
                            </m:ctrlPr>
                          </m:radPr>
                          <m:deg/>
                          <m:e>
                            <m:r>
                              <a:rPr lang="en-AU" sz="2800" i="1">
                                <a:solidFill>
                                  <a:srgbClr val="000000"/>
                                </a:solidFill>
                                <a:latin typeface="Cambria Math" panose="02040503050406030204" pitchFamily="18" charset="0"/>
                              </a:rPr>
                              <m:t>12</m:t>
                            </m:r>
                          </m:e>
                        </m:rad>
                      </m:den>
                    </m:f>
                    <m:r>
                      <a:rPr lang="en-AU" sz="2800" b="0" i="1" smtClean="0">
                        <a:solidFill>
                          <a:srgbClr val="000000"/>
                        </a:solidFill>
                        <a:latin typeface="Cambria Math" panose="02040503050406030204" pitchFamily="18" charset="0"/>
                      </a:rPr>
                      <m:t>=1.7321</m:t>
                    </m:r>
                  </m:oMath>
                </a14:m>
                <a:r>
                  <a:rPr lang="en-AU" sz="2600" dirty="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AU" sz="2600" i="1" smtClean="0">
                            <a:latin typeface="Cambria Math" panose="02040503050406030204" pitchFamily="18" charset="0"/>
                            <a:cs typeface="Times New Roman" panose="02020603050405020304" pitchFamily="18" charset="0"/>
                          </a:rPr>
                        </m:ctrlPr>
                      </m:sSubSupPr>
                      <m:e>
                        <m:r>
                          <a:rPr lang="en-AU" sz="26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b="0" i="1" smtClean="0">
                            <a:latin typeface="Cambria Math" panose="02040503050406030204" pitchFamily="18" charset="0"/>
                            <a:cs typeface="Times New Roman" panose="02020603050405020304" pitchFamily="18" charset="0"/>
                          </a:rPr>
                          <m:t>𝑥</m:t>
                        </m:r>
                      </m:sub>
                      <m:sup>
                        <m:r>
                          <a:rPr lang="en-AU" sz="2600" b="0" i="1" smtClean="0">
                            <a:latin typeface="Cambria Math" panose="02040503050406030204" pitchFamily="18" charset="0"/>
                            <a:cs typeface="Times New Roman" panose="02020603050405020304" pitchFamily="18" charset="0"/>
                          </a:rPr>
                          <m:t>2</m:t>
                        </m:r>
                      </m:sup>
                    </m:sSubSup>
                    <m:r>
                      <a:rPr lang="en-AU" sz="2600" b="0" i="1" smtClean="0">
                        <a:latin typeface="Cambria Math" panose="02040503050406030204" pitchFamily="18" charset="0"/>
                        <a:cs typeface="Times New Roman" panose="02020603050405020304" pitchFamily="18" charset="0"/>
                      </a:rPr>
                      <m:t>=</m:t>
                    </m:r>
                    <m:sSup>
                      <m:sSupPr>
                        <m:ctrlPr>
                          <a:rPr lang="en-AU" sz="2600" b="0" i="1" smtClean="0">
                            <a:latin typeface="Cambria Math" panose="02040503050406030204" pitchFamily="18" charset="0"/>
                            <a:cs typeface="Times New Roman" panose="02020603050405020304" pitchFamily="18" charset="0"/>
                          </a:rPr>
                        </m:ctrlPr>
                      </m:sSupPr>
                      <m:e>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1.7321</m:t>
                            </m:r>
                          </m:e>
                        </m:d>
                      </m:e>
                      <m:sup>
                        <m:r>
                          <a:rPr lang="en-AU" sz="2600" b="0" i="1" smtClean="0">
                            <a:latin typeface="Cambria Math" panose="02040503050406030204" pitchFamily="18" charset="0"/>
                            <a:cs typeface="Times New Roman" panose="02020603050405020304" pitchFamily="18" charset="0"/>
                          </a:rPr>
                          <m:t>2</m:t>
                        </m:r>
                      </m:sup>
                    </m:sSup>
                    <m:r>
                      <a:rPr lang="en-AU" sz="2600" b="0" i="1" smtClean="0">
                        <a:latin typeface="Cambria Math" panose="02040503050406030204" pitchFamily="18" charset="0"/>
                        <a:cs typeface="Times New Roman" panose="02020603050405020304" pitchFamily="18" charset="0"/>
                      </a:rPr>
                      <m:t>=3</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AU" sz="2600" b="0" i="1" smtClean="0">
                            <a:latin typeface="Cambria Math" panose="02040503050406030204" pitchFamily="18" charset="0"/>
                            <a:cs typeface="Times New Roman" panose="02020603050405020304" pitchFamily="18" charset="0"/>
                          </a:rPr>
                        </m:ctrlPr>
                      </m:dPr>
                      <m:e>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𝜇</m:t>
                            </m:r>
                          </m:e>
                          <m:sub>
                            <m:r>
                              <a:rPr lang="en-AU" sz="2600" i="1">
                                <a:latin typeface="Cambria Math" panose="02040503050406030204" pitchFamily="18" charset="0"/>
                                <a:cs typeface="Times New Roman" panose="02020603050405020304" pitchFamily="18" charset="0"/>
                              </a:rPr>
                              <m:t>𝑥</m:t>
                            </m:r>
                          </m:sub>
                        </m:sSub>
                        <m:r>
                          <a:rPr lang="en-AU" sz="2600" b="0" i="1" smtClean="0">
                            <a:latin typeface="Cambria Math" panose="02040503050406030204" pitchFamily="18" charset="0"/>
                            <a:cs typeface="Times New Roman" panose="02020603050405020304" pitchFamily="18" charset="0"/>
                          </a:rPr>
                          <m:t>±</m:t>
                        </m:r>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ea typeface="Cambria Math" panose="02040503050406030204" pitchFamily="18" charset="0"/>
                                <a:cs typeface="Times New Roman" panose="02020603050405020304" pitchFamily="18" charset="0"/>
                              </a:rPr>
                              <m:t>𝜎</m:t>
                            </m:r>
                          </m:e>
                          <m:sub>
                            <m:r>
                              <a:rPr lang="en-AU" sz="2600" i="1">
                                <a:latin typeface="Cambria Math" panose="02040503050406030204" pitchFamily="18" charset="0"/>
                                <a:cs typeface="Times New Roman" panose="02020603050405020304" pitchFamily="18" charset="0"/>
                              </a:rPr>
                              <m:t>𝑥</m:t>
                            </m:r>
                          </m:sub>
                        </m:sSub>
                      </m:e>
                    </m:d>
                    <m:r>
                      <a:rPr lang="en-AU" sz="2600" i="1">
                        <a:latin typeface="Cambria Math" panose="02040503050406030204" pitchFamily="18" charset="0"/>
                        <a:cs typeface="Times New Roman" panose="02020603050405020304" pitchFamily="18" charset="0"/>
                      </a:rPr>
                      <m:t>=</m:t>
                    </m:r>
                    <m:d>
                      <m:dPr>
                        <m:begChr m:val="["/>
                        <m:endChr m:val="]"/>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3±1.7321</m:t>
                        </m:r>
                      </m:e>
                    </m:d>
                    <m:r>
                      <a:rPr lang="en-AU" sz="2600" i="1">
                        <a:latin typeface="Cambria Math" panose="02040503050406030204" pitchFamily="18" charset="0"/>
                        <a:cs typeface="Times New Roman" panose="02020603050405020304" pitchFamily="18" charset="0"/>
                      </a:rPr>
                      <m:t>=</m:t>
                    </m:r>
                    <m:d>
                      <m:dPr>
                        <m:begChr m:val="["/>
                        <m:endChr m:val="]"/>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1.2679, 4.</m:t>
                        </m:r>
                        <m:r>
                          <a:rPr lang="en-AU" sz="2600" i="1">
                            <a:latin typeface="Cambria Math" panose="02040503050406030204" pitchFamily="18" charset="0"/>
                            <a:cs typeface="Times New Roman" panose="02020603050405020304" pitchFamily="18" charset="0"/>
                          </a:rPr>
                          <m:t>7321</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4.7321−1.2679</m:t>
                        </m:r>
                      </m:num>
                      <m:den>
                        <m:r>
                          <a:rPr lang="en-AU" sz="2600" b="0" i="1" smtClean="0">
                            <a:latin typeface="Cambria Math" panose="02040503050406030204" pitchFamily="18" charset="0"/>
                            <a:cs typeface="Times New Roman" panose="02020603050405020304" pitchFamily="18" charset="0"/>
                          </a:rPr>
                          <m:t>6</m:t>
                        </m:r>
                      </m:den>
                    </m:f>
                    <m:r>
                      <a:rPr lang="en-AU" sz="2600" b="0" i="1" smtClean="0">
                        <a:latin typeface="Cambria Math" panose="02040503050406030204" pitchFamily="18" charset="0"/>
                        <a:cs typeface="Times New Roman" panose="02020603050405020304" pitchFamily="18" charset="0"/>
                      </a:rPr>
                      <m:t>=</m:t>
                    </m:r>
                  </m:oMath>
                </a14:m>
                <a:r>
                  <a:rPr lang="en-AU" sz="2600" dirty="0">
                    <a:latin typeface="Times New Roman" panose="02020603050405020304" pitchFamily="18" charset="0"/>
                    <a:cs typeface="Times New Roman" panose="02020603050405020304" pitchFamily="18" charset="0"/>
                  </a:rPr>
                  <a:t>0.57733. </a:t>
                </a:r>
              </a:p>
            </p:txBody>
          </p:sp>
        </mc:Choice>
        <mc:Fallback xmlns="">
          <p:sp>
            <p:nvSpPr>
              <p:cNvPr id="7" name="TextBox 6">
                <a:extLst>
                  <a:ext uri="{FF2B5EF4-FFF2-40B4-BE49-F238E27FC236}">
                    <a16:creationId xmlns:a16="http://schemas.microsoft.com/office/drawing/2014/main" id="{457A3C0C-80FE-E2C7-0175-BA07F82F76E9}"/>
                  </a:ext>
                </a:extLst>
              </p:cNvPr>
              <p:cNvSpPr txBox="1">
                <a:spLocks noRot="1" noChangeAspect="1" noMove="1" noResize="1" noEditPoints="1" noAdjustHandles="1" noChangeArrowheads="1" noChangeShapeType="1" noTextEdit="1"/>
              </p:cNvSpPr>
              <p:nvPr/>
            </p:nvSpPr>
            <p:spPr>
              <a:xfrm>
                <a:off x="606287" y="4185877"/>
                <a:ext cx="10942983" cy="1450077"/>
              </a:xfrm>
              <a:prstGeom prst="rect">
                <a:avLst/>
              </a:prstGeom>
              <a:blipFill>
                <a:blip r:embed="rId3"/>
                <a:stretch>
                  <a:fillRect l="-1002" b="-3361"/>
                </a:stretch>
              </a:blipFill>
            </p:spPr>
            <p:txBody>
              <a:bodyPr/>
              <a:lstStyle/>
              <a:p>
                <a:r>
                  <a:rPr lang="en-AU">
                    <a:noFill/>
                  </a:rPr>
                  <a:t> </a:t>
                </a:r>
              </a:p>
            </p:txBody>
          </p:sp>
        </mc:Fallback>
      </mc:AlternateContent>
      <p:sp>
        <p:nvSpPr>
          <p:cNvPr id="8" name="Rectangle 2">
            <a:extLst>
              <a:ext uri="{FF2B5EF4-FFF2-40B4-BE49-F238E27FC236}">
                <a16:creationId xmlns:a16="http://schemas.microsoft.com/office/drawing/2014/main" id="{1336C97A-ACFD-A502-4FF4-A9839F916AFF}"/>
              </a:ext>
            </a:extLst>
          </p:cNvPr>
          <p:cNvSpPr txBox="1">
            <a:spLocks noChangeArrowheads="1"/>
          </p:cNvSpPr>
          <p:nvPr/>
        </p:nvSpPr>
        <p:spPr>
          <a:xfrm>
            <a:off x="606288" y="3647929"/>
            <a:ext cx="1838738" cy="52228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dirty="0">
                <a:solidFill>
                  <a:srgbClr val="0000FF"/>
                </a:solidFill>
                <a:latin typeface="Times New Roman" panose="02020603050405020304" pitchFamily="18" charset="0"/>
                <a:cs typeface="Times New Roman" panose="02020603050405020304" pitchFamily="18" charset="0"/>
              </a:rPr>
              <a:t>Answer</a:t>
            </a:r>
            <a:endPar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51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CBF71-EA1A-3909-03E0-63698B3738F8}"/>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3A9910C6-D9C5-8772-1B1B-F86C13D8B498}"/>
              </a:ext>
            </a:extLst>
          </p:cNvPr>
          <p:cNvSpPr>
            <a:spLocks noGrp="1" noChangeArrowheads="1"/>
          </p:cNvSpPr>
          <p:nvPr>
            <p:ph type="title"/>
          </p:nvPr>
        </p:nvSpPr>
        <p:spPr>
          <a:xfrm>
            <a:off x="536714" y="191379"/>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DB0E811C-36D2-3750-6B90-9AB171948526}"/>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2C63B3-0204-C6B1-D1B2-A36F69FD17EC}"/>
                  </a:ext>
                </a:extLst>
              </p:cNvPr>
              <p:cNvSpPr txBox="1"/>
              <p:nvPr/>
            </p:nvSpPr>
            <p:spPr>
              <a:xfrm>
                <a:off x="536714" y="895026"/>
                <a:ext cx="7374834" cy="3676006"/>
              </a:xfrm>
              <a:prstGeom prst="rect">
                <a:avLst/>
              </a:prstGeom>
              <a:noFill/>
            </p:spPr>
            <p:txBody>
              <a:bodyPr wrap="square">
                <a:spAutoFit/>
              </a:bodyPr>
              <a:lstStyle/>
              <a:p>
                <a:pPr algn="just">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6.7</a:t>
                </a:r>
                <a:r>
                  <a:rPr lang="en-AU" sz="2600" dirty="0">
                    <a:latin typeface="Times New Roman" panose="02020603050405020304" pitchFamily="18" charset="0"/>
                    <a:cs typeface="Times New Roman" panose="02020603050405020304" pitchFamily="18" charset="0"/>
                  </a:rPr>
                  <a:t> Consider the figure given in the margin. Find the value </a:t>
                </a:r>
                <a:r>
                  <a:rPr lang="en-AU" sz="2600" i="1" dirty="0">
                    <a:latin typeface="Times New Roman" panose="02020603050405020304" pitchFamily="18" charset="0"/>
                    <a:cs typeface="Times New Roman" panose="02020603050405020304" pitchFamily="18" charset="0"/>
                  </a:rPr>
                  <a:t>h</a:t>
                </a:r>
                <a:r>
                  <a:rPr lang="en-AU" sz="2600" dirty="0">
                    <a:latin typeface="Times New Roman" panose="02020603050405020304" pitchFamily="18" charset="0"/>
                    <a:cs typeface="Times New Roman" panose="02020603050405020304" pitchFamily="18" charset="0"/>
                  </a:rPr>
                  <a:t> that makes the function </a:t>
                </a:r>
                <a:r>
                  <a:rPr lang="en-AU" sz="2600" i="1" dirty="0">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a valid continuous probability distribution.</a:t>
                </a:r>
              </a:p>
              <a:p>
                <a:pPr algn="just">
                  <a:spcBef>
                    <a:spcPts val="1200"/>
                  </a:spcBef>
                </a:pPr>
                <a:endParaRPr lang="en-AU" sz="2600" b="1" dirty="0">
                  <a:solidFill>
                    <a:srgbClr val="0000FF"/>
                  </a:solidFill>
                  <a:latin typeface="Times New Roman" panose="02020603050405020304" pitchFamily="18" charset="0"/>
                  <a:cs typeface="Times New Roman" panose="02020603050405020304" pitchFamily="18" charset="0"/>
                </a:endParaRP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Answer:</a:t>
                </a:r>
                <a:endParaRPr lang="en-AU" sz="2600" dirty="0">
                  <a:latin typeface="Times New Roman" panose="02020603050405020304" pitchFamily="18" charset="0"/>
                  <a:cs typeface="Times New Roman" panose="02020603050405020304" pitchFamily="18" charset="0"/>
                </a:endParaRPr>
              </a:p>
              <a:p>
                <a:pPr algn="just">
                  <a:spcBef>
                    <a:spcPts val="1200"/>
                  </a:spcBef>
                </a:pPr>
                <a14:m>
                  <m:oMath xmlns:m="http://schemas.openxmlformats.org/officeDocument/2006/math">
                    <m:r>
                      <a:rPr lang="en-AU" sz="2600" b="0" i="1" smtClean="0">
                        <a:latin typeface="Cambria Math" panose="02040503050406030204" pitchFamily="18" charset="0"/>
                        <a:cs typeface="Times New Roman" panose="02020603050405020304" pitchFamily="18" charset="0"/>
                      </a:rPr>
                      <m:t>h</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AU"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175−50</m:t>
                        </m:r>
                      </m:e>
                    </m:d>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14:m>
                  <m:oMath xmlns:m="http://schemas.openxmlformats.org/officeDocument/2006/math">
                    <m:r>
                      <a:rPr lang="en-AU" sz="2600" i="1">
                        <a:latin typeface="Cambria Math" panose="02040503050406030204" pitchFamily="18" charset="0"/>
                        <a:cs typeface="Times New Roman" panose="02020603050405020304" pitchFamily="18" charset="0"/>
                      </a:rPr>
                      <m:t>h</m:t>
                    </m:r>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175−50</m:t>
                        </m:r>
                      </m:den>
                    </m:f>
                    <m:r>
                      <a:rPr lang="en-AU" sz="2600" i="1">
                        <a:latin typeface="Cambria Math" panose="02040503050406030204" pitchFamily="18" charset="0"/>
                        <a:ea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125</m:t>
                        </m:r>
                      </m:den>
                    </m:f>
                    <m:r>
                      <a:rPr lang="en-AU" sz="2600" b="0" i="1" smtClean="0">
                        <a:latin typeface="Cambria Math" panose="02040503050406030204" pitchFamily="18" charset="0"/>
                        <a:ea typeface="Cambria Math" panose="02040503050406030204" pitchFamily="18" charset="0"/>
                        <a:cs typeface="Times New Roman" panose="02020603050405020304" pitchFamily="18" charset="0"/>
                      </a:rPr>
                      <m:t>=0.008</m:t>
                    </m:r>
                  </m:oMath>
                </a14:m>
                <a:r>
                  <a:rPr lang="en-AU" sz="2600" dirty="0">
                    <a:latin typeface="Times New Roman" panose="02020603050405020304" pitchFamily="18" charset="0"/>
                    <a:cs typeface="Times New Roman" panose="02020603050405020304" pitchFamily="18" charset="0"/>
                  </a:rPr>
                  <a:t>. </a:t>
                </a:r>
              </a:p>
            </p:txBody>
          </p:sp>
        </mc:Choice>
        <mc:Fallback xmlns="">
          <p:sp>
            <p:nvSpPr>
              <p:cNvPr id="10" name="TextBox 9">
                <a:extLst>
                  <a:ext uri="{FF2B5EF4-FFF2-40B4-BE49-F238E27FC236}">
                    <a16:creationId xmlns:a16="http://schemas.microsoft.com/office/drawing/2014/main" id="{7D2C63B3-0204-C6B1-D1B2-A36F69FD17EC}"/>
                  </a:ext>
                </a:extLst>
              </p:cNvPr>
              <p:cNvSpPr txBox="1">
                <a:spLocks noRot="1" noChangeAspect="1" noMove="1" noResize="1" noEditPoints="1" noAdjustHandles="1" noChangeArrowheads="1" noChangeShapeType="1" noTextEdit="1"/>
              </p:cNvSpPr>
              <p:nvPr/>
            </p:nvSpPr>
            <p:spPr>
              <a:xfrm>
                <a:off x="536714" y="895026"/>
                <a:ext cx="7374834" cy="3676006"/>
              </a:xfrm>
              <a:prstGeom prst="rect">
                <a:avLst/>
              </a:prstGeom>
              <a:blipFill>
                <a:blip r:embed="rId2"/>
                <a:stretch>
                  <a:fillRect l="-1488" t="-1493" r="-1488" b="-829"/>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CE7BDD62-948E-AD58-B5C3-304571F2CDE0}"/>
              </a:ext>
            </a:extLst>
          </p:cNvPr>
          <p:cNvPicPr>
            <a:picLocks noChangeAspect="1"/>
          </p:cNvPicPr>
          <p:nvPr/>
        </p:nvPicPr>
        <p:blipFill>
          <a:blip r:embed="rId3"/>
          <a:stretch>
            <a:fillRect/>
          </a:stretch>
        </p:blipFill>
        <p:spPr>
          <a:xfrm>
            <a:off x="8140203" y="452523"/>
            <a:ext cx="3655737" cy="2543121"/>
          </a:xfrm>
          <a:prstGeom prst="rect">
            <a:avLst/>
          </a:prstGeom>
        </p:spPr>
      </p:pic>
    </p:spTree>
    <p:extLst>
      <p:ext uri="{BB962C8B-B14F-4D97-AF65-F5344CB8AC3E}">
        <p14:creationId xmlns:p14="http://schemas.microsoft.com/office/powerpoint/2010/main" val="1887479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BBFAE-59FC-CC5F-4FB1-C1ECB1A5D91A}"/>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A21BA1FA-EBF3-E480-C51C-332220288D7A}"/>
              </a:ext>
            </a:extLst>
          </p:cNvPr>
          <p:cNvSpPr>
            <a:spLocks noGrp="1" noChangeArrowheads="1"/>
          </p:cNvSpPr>
          <p:nvPr>
            <p:ph type="title"/>
          </p:nvPr>
        </p:nvSpPr>
        <p:spPr>
          <a:xfrm>
            <a:off x="536714" y="191379"/>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F6C7E483-6027-A2A9-0C4E-A2B3A8178740}"/>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78BF6C8-1556-A923-9FB5-F5624F85FB1A}"/>
                  </a:ext>
                </a:extLst>
              </p:cNvPr>
              <p:cNvSpPr txBox="1"/>
              <p:nvPr/>
            </p:nvSpPr>
            <p:spPr>
              <a:xfrm>
                <a:off x="536714" y="895026"/>
                <a:ext cx="7374834" cy="3841693"/>
              </a:xfrm>
              <a:prstGeom prst="rect">
                <a:avLst/>
              </a:prstGeom>
              <a:noFill/>
            </p:spPr>
            <p:txBody>
              <a:bodyPr wrap="square">
                <a:spAutoFit/>
              </a:bodyPr>
              <a:lstStyle/>
              <a:p>
                <a:pPr algn="just">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6.10</a:t>
                </a:r>
                <a:r>
                  <a:rPr lang="en-AU" sz="2600" dirty="0">
                    <a:latin typeface="Times New Roman" panose="02020603050405020304" pitchFamily="18" charset="0"/>
                    <a:cs typeface="Times New Roman" panose="02020603050405020304" pitchFamily="18" charset="0"/>
                  </a:rPr>
                  <a:t> Consider the figure given in the margin. Find the value </a:t>
                </a:r>
                <a:r>
                  <a:rPr lang="en-AU" sz="2600" i="1" dirty="0">
                    <a:latin typeface="Times New Roman" panose="02020603050405020304" pitchFamily="18" charset="0"/>
                    <a:cs typeface="Times New Roman" panose="02020603050405020304" pitchFamily="18" charset="0"/>
                  </a:rPr>
                  <a:t>h</a:t>
                </a:r>
                <a:r>
                  <a:rPr lang="en-AU" sz="2600" dirty="0">
                    <a:latin typeface="Times New Roman" panose="02020603050405020304" pitchFamily="18" charset="0"/>
                    <a:cs typeface="Times New Roman" panose="02020603050405020304" pitchFamily="18" charset="0"/>
                  </a:rPr>
                  <a:t> that makes the function </a:t>
                </a:r>
                <a:r>
                  <a:rPr lang="en-AU" sz="2600" i="1" dirty="0">
                    <a:latin typeface="Times New Roman" panose="02020603050405020304" pitchFamily="18" charset="0"/>
                    <a:cs typeface="Times New Roman" panose="02020603050405020304" pitchFamily="18" charset="0"/>
                  </a:rPr>
                  <a:t>f</a:t>
                </a:r>
                <a:r>
                  <a:rPr lang="en-AU" sz="2600" dirty="0">
                    <a:latin typeface="Times New Roman" panose="02020603050405020304" pitchFamily="18" charset="0"/>
                    <a:cs typeface="Times New Roman" panose="02020603050405020304" pitchFamily="18" charset="0"/>
                  </a:rPr>
                  <a:t>(</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a valid continuous probability distribution.</a:t>
                </a:r>
              </a:p>
              <a:p>
                <a:pPr algn="just">
                  <a:spcBef>
                    <a:spcPts val="1200"/>
                  </a:spcBef>
                </a:pPr>
                <a:endParaRPr lang="en-AU" sz="2600" b="1" dirty="0">
                  <a:solidFill>
                    <a:srgbClr val="0000FF"/>
                  </a:solidFill>
                  <a:latin typeface="Times New Roman" panose="02020603050405020304" pitchFamily="18" charset="0"/>
                  <a:cs typeface="Times New Roman" panose="02020603050405020304" pitchFamily="18" charset="0"/>
                </a:endParaRP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Answer:</a:t>
                </a:r>
                <a:endParaRPr lang="en-AU" sz="2600" dirty="0">
                  <a:latin typeface="Times New Roman" panose="02020603050405020304" pitchFamily="18" charset="0"/>
                  <a:cs typeface="Times New Roman" panose="02020603050405020304" pitchFamily="18" charset="0"/>
                </a:endParaRPr>
              </a:p>
              <a:p>
                <a:pPr algn="just">
                  <a:spcBef>
                    <a:spcPts val="1200"/>
                  </a:spcBef>
                </a:pPr>
                <a14:m>
                  <m:oMath xmlns:m="http://schemas.openxmlformats.org/officeDocument/2006/math">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2</m:t>
                        </m:r>
                      </m:den>
                    </m:f>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AU" sz="2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ea typeface="Cambria Math" panose="02040503050406030204" pitchFamily="18" charset="0"/>
                            <a:cs typeface="Times New Roman" panose="02020603050405020304" pitchFamily="18" charset="0"/>
                          </a:rPr>
                          <m:t>5−0</m:t>
                        </m:r>
                      </m:e>
                    </m:d>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14:m>
                  <m:oMath xmlns:m="http://schemas.openxmlformats.org/officeDocument/2006/math">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2</m:t>
                        </m:r>
                      </m:num>
                      <m:den>
                        <m:r>
                          <a:rPr lang="en-AU" sz="2600" b="0" i="1" smtClean="0">
                            <a:latin typeface="Cambria Math" panose="02040503050406030204" pitchFamily="18" charset="0"/>
                            <a:cs typeface="Times New Roman" panose="02020603050405020304" pitchFamily="18" charset="0"/>
                          </a:rPr>
                          <m:t>5</m:t>
                        </m:r>
                      </m:den>
                    </m:f>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0.4</m:t>
                    </m:r>
                  </m:oMath>
                </a14:m>
                <a:r>
                  <a:rPr lang="en-AU" sz="2600" dirty="0">
                    <a:latin typeface="Times New Roman" panose="02020603050405020304" pitchFamily="18" charset="0"/>
                    <a:cs typeface="Times New Roman" panose="02020603050405020304" pitchFamily="18" charset="0"/>
                  </a:rPr>
                  <a:t>. </a:t>
                </a:r>
              </a:p>
            </p:txBody>
          </p:sp>
        </mc:Choice>
        <mc:Fallback xmlns="">
          <p:sp>
            <p:nvSpPr>
              <p:cNvPr id="10" name="TextBox 9">
                <a:extLst>
                  <a:ext uri="{FF2B5EF4-FFF2-40B4-BE49-F238E27FC236}">
                    <a16:creationId xmlns:a16="http://schemas.microsoft.com/office/drawing/2014/main" id="{B78BF6C8-1556-A923-9FB5-F5624F85FB1A}"/>
                  </a:ext>
                </a:extLst>
              </p:cNvPr>
              <p:cNvSpPr txBox="1">
                <a:spLocks noRot="1" noChangeAspect="1" noMove="1" noResize="1" noEditPoints="1" noAdjustHandles="1" noChangeArrowheads="1" noChangeShapeType="1" noTextEdit="1"/>
              </p:cNvSpPr>
              <p:nvPr/>
            </p:nvSpPr>
            <p:spPr>
              <a:xfrm>
                <a:off x="536714" y="895026"/>
                <a:ext cx="7374834" cy="3841693"/>
              </a:xfrm>
              <a:prstGeom prst="rect">
                <a:avLst/>
              </a:prstGeom>
              <a:blipFill>
                <a:blip r:embed="rId2"/>
                <a:stretch>
                  <a:fillRect l="-1488" t="-1429" r="-1488" b="-635"/>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62D571F3-199C-2405-31D1-2C1B6A396BAB}"/>
              </a:ext>
            </a:extLst>
          </p:cNvPr>
          <p:cNvPicPr>
            <a:picLocks noChangeAspect="1"/>
          </p:cNvPicPr>
          <p:nvPr/>
        </p:nvPicPr>
        <p:blipFill>
          <a:blip r:embed="rId3"/>
          <a:stretch>
            <a:fillRect/>
          </a:stretch>
        </p:blipFill>
        <p:spPr>
          <a:xfrm>
            <a:off x="8240781" y="713667"/>
            <a:ext cx="3353612" cy="1927363"/>
          </a:xfrm>
          <a:prstGeom prst="rect">
            <a:avLst/>
          </a:prstGeom>
        </p:spPr>
      </p:pic>
    </p:spTree>
    <p:extLst>
      <p:ext uri="{BB962C8B-B14F-4D97-AF65-F5344CB8AC3E}">
        <p14:creationId xmlns:p14="http://schemas.microsoft.com/office/powerpoint/2010/main" val="1270621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C6E3A-ED4F-C085-BF14-C0073522D3A2}"/>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A6622CA3-130A-C71D-E06D-9FB95213414A}"/>
              </a:ext>
            </a:extLst>
          </p:cNvPr>
          <p:cNvSpPr>
            <a:spLocks noGrp="1" noChangeArrowheads="1"/>
          </p:cNvSpPr>
          <p:nvPr>
            <p:ph type="title"/>
          </p:nvPr>
        </p:nvSpPr>
        <p:spPr>
          <a:xfrm>
            <a:off x="536714" y="191379"/>
            <a:ext cx="462890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Exercises </a:t>
            </a:r>
            <a:r>
              <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rPr>
              <a:t>(if time permits)</a:t>
            </a:r>
          </a:p>
        </p:txBody>
      </p:sp>
      <p:sp>
        <p:nvSpPr>
          <p:cNvPr id="2" name="灯片编号占位符 16">
            <a:extLst>
              <a:ext uri="{FF2B5EF4-FFF2-40B4-BE49-F238E27FC236}">
                <a16:creationId xmlns:a16="http://schemas.microsoft.com/office/drawing/2014/main" id="{36892D98-C8F0-3977-2EA8-F075CDF3CC4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50B801-AEA9-2C53-F148-C11DE8B83834}"/>
                  </a:ext>
                </a:extLst>
              </p:cNvPr>
              <p:cNvSpPr txBox="1"/>
              <p:nvPr/>
            </p:nvSpPr>
            <p:spPr>
              <a:xfrm>
                <a:off x="536714" y="895026"/>
                <a:ext cx="10714382" cy="4370427"/>
              </a:xfrm>
              <a:prstGeom prst="rect">
                <a:avLst/>
              </a:prstGeom>
              <a:noFill/>
            </p:spPr>
            <p:txBody>
              <a:bodyPr wrap="square">
                <a:spAutoFit/>
              </a:bodyPr>
              <a:lstStyle/>
              <a:p>
                <a:pPr algn="just">
                  <a:spcBef>
                    <a:spcPts val="1200"/>
                  </a:spcBef>
                </a:pPr>
                <a:r>
                  <a:rPr lang="en-AU" sz="2600" b="1" dirty="0">
                    <a:solidFill>
                      <a:srgbClr val="FF0000"/>
                    </a:solidFill>
                    <a:latin typeface="Times New Roman" panose="02020603050405020304" pitchFamily="18" charset="0"/>
                    <a:cs typeface="Times New Roman" panose="02020603050405020304" pitchFamily="18" charset="0"/>
                  </a:rPr>
                  <a:t>6.11</a:t>
                </a:r>
                <a:r>
                  <a:rPr lang="en-AU" sz="2600" dirty="0">
                    <a:latin typeface="Times New Roman" panose="02020603050405020304" pitchFamily="18" charset="0"/>
                    <a:cs typeface="Times New Roman" panose="02020603050405020304" pitchFamily="18" charset="0"/>
                  </a:rPr>
                  <a:t> Suppose that an airline quotes a flight time of 2 hours, 10 minutes between two cities. Furthermore, suppose that historical flight records indicate that the actual flight time between the two cities,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a:t>
                </a:r>
                <a:r>
                  <a:rPr lang="en-AU" sz="2600" dirty="0">
                    <a:highlight>
                      <a:srgbClr val="FFFF00"/>
                    </a:highlight>
                    <a:latin typeface="Times New Roman" panose="02020603050405020304" pitchFamily="18" charset="0"/>
                    <a:cs typeface="Times New Roman" panose="02020603050405020304" pitchFamily="18" charset="0"/>
                  </a:rPr>
                  <a:t>uniformly distributed between 2 hours and 2 hours, 20 minutes</a:t>
                </a:r>
                <a:r>
                  <a:rPr lang="en-AU" sz="2600" dirty="0">
                    <a:latin typeface="Times New Roman" panose="02020603050405020304" pitchFamily="18" charset="0"/>
                    <a:cs typeface="Times New Roman" panose="02020603050405020304" pitchFamily="18" charset="0"/>
                  </a:rPr>
                  <a:t>. Letting the time unit be one minute.</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Write the formula for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Graph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Find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r>
                      <a:rPr lang="en-AU" sz="2600" b="0" i="1" smtClean="0">
                        <a:latin typeface="Cambria Math" panose="02040503050406030204" pitchFamily="18" charset="0"/>
                        <a:cs typeface="Times New Roman" panose="02020603050405020304" pitchFamily="18" charset="0"/>
                      </a:rPr>
                      <m:t>(125≤</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≤135)</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(d)</a:t>
                </a:r>
                <a:r>
                  <a:rPr lang="en-AU" sz="2600" dirty="0">
                    <a:latin typeface="Times New Roman" panose="02020603050405020304" pitchFamily="18" charset="0"/>
                    <a:cs typeface="Times New Roman" panose="02020603050405020304" pitchFamily="18" charset="0"/>
                  </a:rPr>
                  <a:t> Find the probability that a randomly selected flight between the two cities will be at least five minutes late. </a:t>
                </a:r>
              </a:p>
            </p:txBody>
          </p:sp>
        </mc:Choice>
        <mc:Fallback xmlns="">
          <p:sp>
            <p:nvSpPr>
              <p:cNvPr id="10" name="TextBox 9">
                <a:extLst>
                  <a:ext uri="{FF2B5EF4-FFF2-40B4-BE49-F238E27FC236}">
                    <a16:creationId xmlns:a16="http://schemas.microsoft.com/office/drawing/2014/main" id="{6350B801-AEA9-2C53-F148-C11DE8B83834}"/>
                  </a:ext>
                </a:extLst>
              </p:cNvPr>
              <p:cNvSpPr txBox="1">
                <a:spLocks noRot="1" noChangeAspect="1" noMove="1" noResize="1" noEditPoints="1" noAdjustHandles="1" noChangeArrowheads="1" noChangeShapeType="1" noTextEdit="1"/>
              </p:cNvSpPr>
              <p:nvPr/>
            </p:nvSpPr>
            <p:spPr>
              <a:xfrm>
                <a:off x="536714" y="895026"/>
                <a:ext cx="10714382" cy="4370427"/>
              </a:xfrm>
              <a:prstGeom prst="rect">
                <a:avLst/>
              </a:prstGeom>
              <a:blipFill>
                <a:blip r:embed="rId2"/>
                <a:stretch>
                  <a:fillRect l="-1024" t="-1255" r="-1820" b="-1116"/>
                </a:stretch>
              </a:blipFill>
            </p:spPr>
            <p:txBody>
              <a:bodyPr/>
              <a:lstStyle/>
              <a:p>
                <a:r>
                  <a:rPr lang="en-AU">
                    <a:noFill/>
                  </a:rPr>
                  <a:t> </a:t>
                </a:r>
              </a:p>
            </p:txBody>
          </p:sp>
        </mc:Fallback>
      </mc:AlternateContent>
    </p:spTree>
    <p:extLst>
      <p:ext uri="{BB962C8B-B14F-4D97-AF65-F5344CB8AC3E}">
        <p14:creationId xmlns:p14="http://schemas.microsoft.com/office/powerpoint/2010/main" val="30803356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7935-4761-995E-F1FD-397FAED7DB8E}"/>
            </a:ext>
          </a:extLst>
        </p:cNvPr>
        <p:cNvGrpSpPr/>
        <p:nvPr/>
      </p:nvGrpSpPr>
      <p:grpSpPr>
        <a:xfrm>
          <a:off x="0" y="0"/>
          <a:ext cx="0" cy="0"/>
          <a:chOff x="0" y="0"/>
          <a:chExt cx="0" cy="0"/>
        </a:xfrm>
      </p:grpSpPr>
      <p:sp>
        <p:nvSpPr>
          <p:cNvPr id="16387" name="Rectangle 2">
            <a:extLst>
              <a:ext uri="{FF2B5EF4-FFF2-40B4-BE49-F238E27FC236}">
                <a16:creationId xmlns:a16="http://schemas.microsoft.com/office/drawing/2014/main" id="{2A5415B4-8831-5018-D3DD-D0909E3728CB}"/>
              </a:ext>
            </a:extLst>
          </p:cNvPr>
          <p:cNvSpPr>
            <a:spLocks noGrp="1" noChangeArrowheads="1"/>
          </p:cNvSpPr>
          <p:nvPr>
            <p:ph type="title"/>
          </p:nvPr>
        </p:nvSpPr>
        <p:spPr>
          <a:xfrm>
            <a:off x="536714" y="191379"/>
            <a:ext cx="1838738" cy="522288"/>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Answer</a:t>
            </a:r>
            <a:endParaRPr lang="en-US" altLang="zh-CN" sz="2800" b="1" dirty="0">
              <a:solidFill>
                <a:srgbClr val="0000FF"/>
              </a:solidFill>
              <a:highlight>
                <a:srgbClr val="FFFF00"/>
              </a:highlight>
              <a:latin typeface="Times New Roman" panose="02020603050405020304" pitchFamily="18"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08225FE2-97B6-832C-73FB-72C33FA4B0B0}"/>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90B1346-DB62-2031-8E36-AF0B9EF27CAE}"/>
                  </a:ext>
                </a:extLst>
              </p:cNvPr>
              <p:cNvSpPr txBox="1"/>
              <p:nvPr/>
            </p:nvSpPr>
            <p:spPr>
              <a:xfrm>
                <a:off x="536714" y="895026"/>
                <a:ext cx="10714382" cy="2669577"/>
              </a:xfrm>
              <a:prstGeom prst="rect">
                <a:avLst/>
              </a:prstGeom>
              <a:noFill/>
            </p:spPr>
            <p:txBody>
              <a:bodyPr wrap="square">
                <a:spAutoFit/>
              </a:bodyPr>
              <a:lstStyle/>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𝑓</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𝑥</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𝑑</m:t>
                        </m:r>
                        <m:r>
                          <a:rPr lang="en-AU" sz="2600" b="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𝑐</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m:t>
                        </m:r>
                      </m:num>
                      <m:den>
                        <m:r>
                          <a:rPr lang="en-AU" sz="2600" b="0" i="1" smtClean="0">
                            <a:latin typeface="Cambria Math" panose="02040503050406030204" pitchFamily="18" charset="0"/>
                            <a:cs typeface="Times New Roman" panose="02020603050405020304" pitchFamily="18" charset="0"/>
                          </a:rPr>
                          <m:t>140−120</m:t>
                        </m:r>
                      </m:den>
                    </m:f>
                    <m:r>
                      <a:rPr lang="en-AU" sz="2600" b="0" i="1" smtClean="0">
                        <a:latin typeface="Cambria Math" panose="02040503050406030204" pitchFamily="18" charset="0"/>
                        <a:cs typeface="Times New Roman" panose="02020603050405020304" pitchFamily="18" charset="0"/>
                      </a:rPr>
                      <m:t>=0.05</m:t>
                    </m:r>
                  </m:oMath>
                </a14:m>
                <a:r>
                  <a:rPr lang="en-AU" sz="2600" dirty="0">
                    <a:latin typeface="Times New Roman" panose="02020603050405020304" pitchFamily="18" charset="0"/>
                    <a:cs typeface="Times New Roman" panose="02020603050405020304" pitchFamily="18" charset="0"/>
                  </a:rPr>
                  <a:t> for </a:t>
                </a:r>
                <a14:m>
                  <m:oMath xmlns:m="http://schemas.openxmlformats.org/officeDocument/2006/math">
                    <m:r>
                      <a:rPr lang="en-AU" sz="2600" b="0" i="0" smtClean="0">
                        <a:latin typeface="Cambria Math" panose="02040503050406030204" pitchFamily="18" charset="0"/>
                        <a:cs typeface="Times New Roman" panose="02020603050405020304" pitchFamily="18" charset="0"/>
                      </a:rPr>
                      <m:t>1</m:t>
                    </m:r>
                    <m:r>
                      <a:rPr lang="en-AU" sz="2600">
                        <a:latin typeface="Cambria Math" panose="02040503050406030204" pitchFamily="18" charset="0"/>
                        <a:cs typeface="Times New Roman" panose="02020603050405020304" pitchFamily="18" charset="0"/>
                      </a:rPr>
                      <m:t>2</m:t>
                    </m:r>
                    <m:r>
                      <a:rPr lang="en-AU" sz="2600" b="0" i="0" smtClean="0">
                        <a:latin typeface="Cambria Math" panose="02040503050406030204" pitchFamily="18" charset="0"/>
                        <a:cs typeface="Times New Roman" panose="02020603050405020304" pitchFamily="18" charset="0"/>
                      </a:rPr>
                      <m:t>0</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≤140</m:t>
                    </m:r>
                  </m:oMath>
                </a14:m>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(b)</a:t>
                </a:r>
                <a:r>
                  <a:rPr lang="en-AU" sz="2600" dirty="0">
                    <a:latin typeface="Times New Roman" panose="02020603050405020304" pitchFamily="18" charset="0"/>
                    <a:cs typeface="Times New Roman" panose="02020603050405020304" pitchFamily="18" charset="0"/>
                  </a:rPr>
                  <a:t> Graph the probability curve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125≤</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≤135</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135−125</m:t>
                        </m:r>
                      </m:num>
                      <m:den>
                        <m:r>
                          <a:rPr lang="en-AU" sz="2600" b="0" i="1" smtClean="0">
                            <a:latin typeface="Cambria Math" panose="02040503050406030204" pitchFamily="18" charset="0"/>
                            <a:cs typeface="Times New Roman" panose="02020603050405020304" pitchFamily="18" charset="0"/>
                          </a:rPr>
                          <m:t>20</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10</m:t>
                        </m:r>
                      </m:num>
                      <m:den>
                        <m:r>
                          <a:rPr lang="en-AU" sz="2600" b="0" i="1" smtClean="0">
                            <a:latin typeface="Cambria Math" panose="02040503050406030204" pitchFamily="18" charset="0"/>
                            <a:cs typeface="Times New Roman" panose="02020603050405020304" pitchFamily="18" charset="0"/>
                          </a:rPr>
                          <m:t>20</m:t>
                        </m:r>
                      </m:den>
                    </m:f>
                    <m:r>
                      <a:rPr lang="en-AU" sz="2600" b="0" i="1" smtClean="0">
                        <a:latin typeface="Cambria Math" panose="02040503050406030204" pitchFamily="18" charset="0"/>
                        <a:cs typeface="Times New Roman" panose="02020603050405020304" pitchFamily="18" charset="0"/>
                      </a:rPr>
                      <m:t>=0.5</m:t>
                    </m:r>
                  </m:oMath>
                </a14:m>
                <a:r>
                  <a:rPr lang="en-AU" sz="2600" dirty="0">
                    <a:latin typeface="Times New Roman" panose="02020603050405020304" pitchFamily="18" charset="0"/>
                    <a:cs typeface="Times New Roman" panose="02020603050405020304" pitchFamily="18" charset="0"/>
                  </a:rPr>
                  <a:t>. </a:t>
                </a:r>
              </a:p>
              <a:p>
                <a:pPr algn="just">
                  <a:spcBef>
                    <a:spcPts val="1200"/>
                  </a:spcBef>
                </a:pPr>
                <a:r>
                  <a:rPr lang="en-AU" sz="2600" b="1" dirty="0">
                    <a:solidFill>
                      <a:srgbClr val="0000FF"/>
                    </a:solidFill>
                    <a:latin typeface="Times New Roman" panose="02020603050405020304" pitchFamily="18" charset="0"/>
                    <a:cs typeface="Times New Roman" panose="02020603050405020304" pitchFamily="18" charset="0"/>
                  </a:rPr>
                  <a:t>(d)</a:t>
                </a:r>
                <a:r>
                  <a:rPr lang="en-AU" sz="2600" dirty="0">
                    <a:latin typeface="Times New Roman" panose="02020603050405020304" pitchFamily="18" charset="0"/>
                    <a:cs typeface="Times New Roman" panose="02020603050405020304" pitchFamily="18" charset="0"/>
                  </a:rPr>
                  <a:t> </a:t>
                </a:r>
                <a14:m>
                  <m:oMath xmlns:m="http://schemas.openxmlformats.org/officeDocument/2006/math">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≥130</m:t>
                        </m:r>
                      </m:e>
                    </m:d>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140−(130+5)</m:t>
                        </m:r>
                      </m:num>
                      <m:den>
                        <m:r>
                          <a:rPr lang="en-AU" sz="2600" b="0" i="1" smtClean="0">
                            <a:latin typeface="Cambria Math" panose="02040503050406030204" pitchFamily="18" charset="0"/>
                            <a:cs typeface="Times New Roman" panose="02020603050405020304" pitchFamily="18" charset="0"/>
                          </a:rPr>
                          <m:t>140−120</m:t>
                        </m:r>
                      </m:den>
                    </m:f>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5</m:t>
                        </m:r>
                      </m:num>
                      <m:den>
                        <m:r>
                          <a:rPr lang="en-AU" sz="2600" b="0" i="1" smtClean="0">
                            <a:latin typeface="Cambria Math" panose="02040503050406030204" pitchFamily="18" charset="0"/>
                            <a:cs typeface="Times New Roman" panose="02020603050405020304" pitchFamily="18" charset="0"/>
                          </a:rPr>
                          <m:t>20</m:t>
                        </m:r>
                      </m:den>
                    </m:f>
                    <m:r>
                      <a:rPr lang="en-AU" sz="2600" b="0" i="1" smtClean="0">
                        <a:latin typeface="Cambria Math" panose="02040503050406030204" pitchFamily="18" charset="0"/>
                        <a:cs typeface="Times New Roman" panose="02020603050405020304" pitchFamily="18" charset="0"/>
                      </a:rPr>
                      <m:t>=0.25</m:t>
                    </m:r>
                  </m:oMath>
                </a14:m>
                <a:r>
                  <a:rPr lang="en-AU" sz="2600" dirty="0">
                    <a:latin typeface="Times New Roman" panose="02020603050405020304" pitchFamily="18" charset="0"/>
                    <a:cs typeface="Times New Roman" panose="02020603050405020304" pitchFamily="18" charset="0"/>
                  </a:rPr>
                  <a:t>.</a:t>
                </a:r>
              </a:p>
            </p:txBody>
          </p:sp>
        </mc:Choice>
        <mc:Fallback xmlns="">
          <p:sp>
            <p:nvSpPr>
              <p:cNvPr id="10" name="TextBox 9">
                <a:extLst>
                  <a:ext uri="{FF2B5EF4-FFF2-40B4-BE49-F238E27FC236}">
                    <a16:creationId xmlns:a16="http://schemas.microsoft.com/office/drawing/2014/main" id="{490B1346-DB62-2031-8E36-AF0B9EF27CAE}"/>
                  </a:ext>
                </a:extLst>
              </p:cNvPr>
              <p:cNvSpPr txBox="1">
                <a:spLocks noRot="1" noChangeAspect="1" noMove="1" noResize="1" noEditPoints="1" noAdjustHandles="1" noChangeArrowheads="1" noChangeShapeType="1" noTextEdit="1"/>
              </p:cNvSpPr>
              <p:nvPr/>
            </p:nvSpPr>
            <p:spPr>
              <a:xfrm>
                <a:off x="536714" y="895026"/>
                <a:ext cx="10714382" cy="2669577"/>
              </a:xfrm>
              <a:prstGeom prst="rect">
                <a:avLst/>
              </a:prstGeom>
              <a:blipFill>
                <a:blip r:embed="rId2"/>
                <a:stretch>
                  <a:fillRect l="-1024" b="-1826"/>
                </a:stretch>
              </a:blipFill>
            </p:spPr>
            <p:txBody>
              <a:bodyPr/>
              <a:lstStyle/>
              <a:p>
                <a:r>
                  <a:rPr lang="en-AU">
                    <a:noFill/>
                  </a:rPr>
                  <a:t> </a:t>
                </a:r>
              </a:p>
            </p:txBody>
          </p:sp>
        </mc:Fallback>
      </mc:AlternateContent>
    </p:spTree>
    <p:extLst>
      <p:ext uri="{BB962C8B-B14F-4D97-AF65-F5344CB8AC3E}">
        <p14:creationId xmlns:p14="http://schemas.microsoft.com/office/powerpoint/2010/main" val="1557716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278187DB-5754-AB49-A9C5-CBF1CA159903}"/>
              </a:ext>
            </a:extLst>
          </p:cNvPr>
          <p:cNvSpPr>
            <a:spLocks noGrp="1" noChangeArrowheads="1"/>
          </p:cNvSpPr>
          <p:nvPr>
            <p:ph type="title"/>
          </p:nvPr>
        </p:nvSpPr>
        <p:spPr>
          <a:xfrm>
            <a:off x="1974358" y="1421296"/>
            <a:ext cx="7040433" cy="874643"/>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pPr algn="ctr">
              <a:lnSpc>
                <a:spcPct val="100000"/>
              </a:lnSpc>
            </a:pPr>
            <a:r>
              <a:rPr lang="en-US" altLang="en-US" sz="4000" b="1" dirty="0">
                <a:solidFill>
                  <a:srgbClr val="FF0000"/>
                </a:solidFill>
                <a:latin typeface="Times New Roman" panose="02020603050405020304" pitchFamily="18" charset="0"/>
                <a:cs typeface="Times New Roman" panose="02020603050405020304" pitchFamily="18" charset="0"/>
              </a:rPr>
              <a:t>End of Lecture 10</a:t>
            </a:r>
            <a:endParaRPr lang="en-US" altLang="zh-CN" sz="4000" b="1" dirty="0">
              <a:latin typeface="Times New Roman" panose="02020603050405020304" pitchFamily="18"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0786DA35-5D3F-8F17-9BE6-726B0527AE8E}"/>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6531115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51FC-8005-6F33-FBF5-F5F28B0A736C}"/>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93C9FCAC-1E42-ADCB-3CD9-3A85F6F6B57A}"/>
              </a:ext>
            </a:extLst>
          </p:cNvPr>
          <p:cNvSpPr>
            <a:spLocks noGrp="1" noChangeArrowheads="1"/>
          </p:cNvSpPr>
          <p:nvPr>
            <p:ph type="title"/>
          </p:nvPr>
        </p:nvSpPr>
        <p:spPr>
          <a:xfrm>
            <a:off x="1974358" y="1421296"/>
            <a:ext cx="7040433" cy="2315817"/>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r>
              <a:rPr lang="en-US" altLang="en-US" sz="3200" b="1" dirty="0">
                <a:solidFill>
                  <a:srgbClr val="FF0000"/>
                </a:solidFill>
                <a:latin typeface="Times New Roman" panose="02020603050405020304" pitchFamily="18" charset="0"/>
                <a:cs typeface="Times New Roman" panose="02020603050405020304" pitchFamily="18" charset="0"/>
              </a:rPr>
              <a:t>Section </a:t>
            </a:r>
            <a:r>
              <a:rPr lang="en-US" altLang="zh-CN" sz="3200" b="1" dirty="0">
                <a:solidFill>
                  <a:srgbClr val="FF0000"/>
                </a:solidFill>
                <a:latin typeface="Times New Roman" panose="02020603050405020304" pitchFamily="18" charset="0"/>
                <a:cs typeface="Times New Roman" panose="02020603050405020304" pitchFamily="18" charset="0"/>
              </a:rPr>
              <a:t>6.3</a:t>
            </a:r>
            <a:r>
              <a:rPr lang="en-US" altLang="zh-CN" sz="3200" b="1" dirty="0">
                <a:latin typeface="Times New Roman" panose="02020603050405020304" pitchFamily="18" charset="0"/>
                <a:cs typeface="Times New Roman" panose="02020603050405020304" pitchFamily="18" charset="0"/>
              </a:rPr>
              <a:t> </a:t>
            </a:r>
            <a:br>
              <a:rPr lang="en-US" altLang="zh-CN" sz="3200" b="1" dirty="0">
                <a:latin typeface="Times New Roman" panose="02020603050405020304" pitchFamily="18" charset="0"/>
                <a:cs typeface="Times New Roman" panose="02020603050405020304" pitchFamily="18" charset="0"/>
              </a:rPr>
            </a:br>
            <a:br>
              <a:rPr lang="en-US" altLang="zh-CN" sz="3200" b="1" dirty="0">
                <a:latin typeface="Times New Roman" panose="02020603050405020304" pitchFamily="18" charset="0"/>
                <a:cs typeface="Times New Roman" panose="02020603050405020304" pitchFamily="18" charset="0"/>
              </a:rPr>
            </a:br>
            <a:br>
              <a:rPr lang="en-US" altLang="zh-CN" sz="3200" b="1" dirty="0">
                <a:latin typeface="Times New Roman" panose="02020603050405020304" pitchFamily="18" charset="0"/>
                <a:cs typeface="Times New Roman" panose="02020603050405020304" pitchFamily="18" charset="0"/>
              </a:rPr>
            </a:br>
            <a:r>
              <a:rPr lang="en-US" altLang="zh-CN" sz="3200" b="1" dirty="0">
                <a:latin typeface="Times New Roman" panose="02020603050405020304" pitchFamily="18" charset="0"/>
                <a:cs typeface="Times New Roman" panose="02020603050405020304" pitchFamily="18" charset="0"/>
              </a:rPr>
              <a:t>The Normal Distribution</a:t>
            </a:r>
          </a:p>
        </p:txBody>
      </p:sp>
      <p:sp>
        <p:nvSpPr>
          <p:cNvPr id="2" name="灯片编号占位符 16">
            <a:extLst>
              <a:ext uri="{FF2B5EF4-FFF2-40B4-BE49-F238E27FC236}">
                <a16:creationId xmlns:a16="http://schemas.microsoft.com/office/drawing/2014/main" id="{85249FC5-C492-48B2-09C3-5E7AF16B2C0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2989694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BB96A-B80D-6AC0-4FCD-862835D11CA7}"/>
            </a:ext>
          </a:extLst>
        </p:cNvPr>
        <p:cNvGrpSpPr/>
        <p:nvPr/>
      </p:nvGrpSpPr>
      <p:grpSpPr>
        <a:xfrm>
          <a:off x="0" y="0"/>
          <a:ext cx="0" cy="0"/>
          <a:chOff x="0" y="0"/>
          <a:chExt cx="0" cy="0"/>
        </a:xfrm>
      </p:grpSpPr>
      <p:sp>
        <p:nvSpPr>
          <p:cNvPr id="270339" name="Rectangle 3">
            <a:extLst>
              <a:ext uri="{FF2B5EF4-FFF2-40B4-BE49-F238E27FC236}">
                <a16:creationId xmlns:a16="http://schemas.microsoft.com/office/drawing/2014/main" id="{FFABC49A-6108-C075-94B4-36D0015B1C58}"/>
              </a:ext>
            </a:extLst>
          </p:cNvPr>
          <p:cNvSpPr>
            <a:spLocks noChangeArrowheads="1"/>
          </p:cNvSpPr>
          <p:nvPr/>
        </p:nvSpPr>
        <p:spPr bwMode="auto">
          <a:xfrm>
            <a:off x="308168" y="524648"/>
            <a:ext cx="6482641" cy="3054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The </a:t>
            </a:r>
            <a:r>
              <a:rPr lang="en-US" altLang="zh-CN" sz="2800" dirty="0">
                <a:solidFill>
                  <a:srgbClr val="FF3300"/>
                </a:solidFill>
                <a:latin typeface="Times New Roman" pitchFamily="18" charset="0"/>
              </a:rPr>
              <a:t>normal probability distribution</a:t>
            </a:r>
            <a:r>
              <a:rPr lang="en-US" altLang="zh-CN" sz="2800" dirty="0">
                <a:latin typeface="Times New Roman" pitchFamily="18" charset="0"/>
              </a:rPr>
              <a:t> is </a:t>
            </a:r>
            <a:r>
              <a:rPr lang="en-US" altLang="zh-CN" sz="2800" dirty="0">
                <a:solidFill>
                  <a:srgbClr val="0000FF"/>
                </a:solidFill>
                <a:latin typeface="Times New Roman" pitchFamily="18" charset="0"/>
              </a:rPr>
              <a:t>defined</a:t>
            </a:r>
            <a:r>
              <a:rPr lang="en-US" altLang="zh-CN" sz="2800" dirty="0">
                <a:latin typeface="Times New Roman" pitchFamily="18" charset="0"/>
              </a:rPr>
              <a:t> by the equation</a:t>
            </a:r>
          </a:p>
        </p:txBody>
      </p:sp>
      <mc:AlternateContent xmlns:mc="http://schemas.openxmlformats.org/markup-compatibility/2006" xmlns:a14="http://schemas.microsoft.com/office/drawing/2010/main">
        <mc:Choice Requires="a14">
          <p:sp>
            <p:nvSpPr>
              <p:cNvPr id="17413" name="Rectangle 4">
                <a:extLst>
                  <a:ext uri="{FF2B5EF4-FFF2-40B4-BE49-F238E27FC236}">
                    <a16:creationId xmlns:a16="http://schemas.microsoft.com/office/drawing/2014/main" id="{BF579C64-C204-6094-65FD-3EE501A4E6D2}"/>
                  </a:ext>
                </a:extLst>
              </p:cNvPr>
              <p:cNvSpPr>
                <a:spLocks noChangeArrowheads="1"/>
              </p:cNvSpPr>
              <p:nvPr/>
            </p:nvSpPr>
            <p:spPr bwMode="auto">
              <a:xfrm>
                <a:off x="607666" y="3684412"/>
                <a:ext cx="7524701" cy="1666505"/>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ClrTx/>
                  <a:buSzTx/>
                  <a:buNone/>
                </a:pPr>
                <a14:m>
                  <m:oMath xmlns:m="http://schemas.openxmlformats.org/officeDocument/2006/math">
                    <m:r>
                      <a:rPr lang="en-AU" sz="2600" b="0" i="1" smtClean="0">
                        <a:solidFill>
                          <a:srgbClr val="000000"/>
                        </a:solidFill>
                        <a:latin typeface="Cambria Math" panose="02040503050406030204" pitchFamily="18" charset="0"/>
                      </a:rPr>
                      <m:t>𝜇</m:t>
                    </m:r>
                    <m:r>
                      <a:rPr lang="en-AU" sz="2600" b="0" i="1" smtClean="0">
                        <a:solidFill>
                          <a:srgbClr val="000000"/>
                        </a:solidFill>
                        <a:latin typeface="Cambria Math" panose="02040503050406030204" pitchFamily="18" charset="0"/>
                      </a:rPr>
                      <m:t> </m:t>
                    </m:r>
                  </m:oMath>
                </a14:m>
                <a:r>
                  <a:rPr lang="en-US" altLang="zh-CN" sz="2600" dirty="0">
                    <a:latin typeface="Times New Roman" panose="02020603050405020304" pitchFamily="18" charset="0"/>
                    <a:cs typeface="Times New Roman" panose="02020603050405020304" pitchFamily="18" charset="0"/>
                    <a:sym typeface="Symbol" pitchFamily="2" charset="2"/>
                  </a:rPr>
                  <a:t>is the</a:t>
                </a:r>
                <a:r>
                  <a:rPr lang="en-US" altLang="zh-CN" sz="2600" dirty="0">
                    <a:solidFill>
                      <a:srgbClr val="990033"/>
                    </a:solidFill>
                    <a:latin typeface="Times New Roman" panose="02020603050405020304" pitchFamily="18" charset="0"/>
                    <a:cs typeface="Times New Roman" panose="02020603050405020304" pitchFamily="18" charset="0"/>
                    <a:sym typeface="Symbol" pitchFamily="2" charset="2"/>
                  </a:rPr>
                  <a:t> </a:t>
                </a:r>
                <a:r>
                  <a:rPr lang="en-US" altLang="zh-CN" sz="2600" dirty="0">
                    <a:solidFill>
                      <a:srgbClr val="0000FF"/>
                    </a:solidFill>
                    <a:latin typeface="Times New Roman" panose="02020603050405020304" pitchFamily="18" charset="0"/>
                    <a:cs typeface="Times New Roman" panose="02020603050405020304" pitchFamily="18" charset="0"/>
                    <a:sym typeface="Symbol" pitchFamily="2" charset="2"/>
                  </a:rPr>
                  <a:t>mean</a:t>
                </a:r>
                <a:r>
                  <a:rPr lang="en-US" altLang="zh-CN" sz="2600" dirty="0">
                    <a:latin typeface="Times New Roman" panose="02020603050405020304" pitchFamily="18" charset="0"/>
                    <a:cs typeface="Times New Roman" panose="02020603050405020304" pitchFamily="18" charset="0"/>
                    <a:sym typeface="Symbol" pitchFamily="2" charset="2"/>
                  </a:rPr>
                  <a:t> and  is the </a:t>
                </a:r>
                <a:r>
                  <a:rPr lang="en-US" altLang="zh-CN" sz="2600" dirty="0">
                    <a:solidFill>
                      <a:srgbClr val="0000FF"/>
                    </a:solidFill>
                    <a:latin typeface="Times New Roman" panose="02020603050405020304" pitchFamily="18" charset="0"/>
                    <a:cs typeface="Times New Roman" panose="02020603050405020304" pitchFamily="18" charset="0"/>
                    <a:sym typeface="Symbol" pitchFamily="2" charset="2"/>
                  </a:rPr>
                  <a:t>standard deviation</a:t>
                </a:r>
                <a:r>
                  <a:rPr lang="en-US" altLang="zh-CN" sz="2600" dirty="0">
                    <a:latin typeface="Times New Roman" panose="02020603050405020304" pitchFamily="18" charset="0"/>
                    <a:cs typeface="Times New Roman" panose="02020603050405020304" pitchFamily="18" charset="0"/>
                    <a:sym typeface="Symbol" pitchFamily="2" charset="2"/>
                  </a:rPr>
                  <a:t>, </a:t>
                </a:r>
              </a:p>
              <a:p>
                <a:pPr>
                  <a:lnSpc>
                    <a:spcPct val="120000"/>
                  </a:lnSpc>
                  <a:spcBef>
                    <a:spcPct val="0"/>
                  </a:spcBef>
                  <a:buClrTx/>
                  <a:buSzTx/>
                  <a:buNone/>
                </a:pPr>
                <a14:m>
                  <m:oMath xmlns:m="http://schemas.openxmlformats.org/officeDocument/2006/math">
                    <m:r>
                      <a:rPr lang="zh-CN" altLang="en-US" sz="2600" b="0" i="1" smtClean="0">
                        <a:latin typeface="Cambria Math" panose="02040503050406030204" pitchFamily="18" charset="0"/>
                        <a:sym typeface="Symbol" pitchFamily="2" charset="2"/>
                      </a:rPr>
                      <m:t>𝜋</m:t>
                    </m:r>
                    <m:r>
                      <a:rPr lang="en-AU" altLang="zh-CN" sz="2600" b="0" i="1" smtClean="0">
                        <a:latin typeface="Cambria Math" panose="02040503050406030204" pitchFamily="18" charset="0"/>
                        <a:sym typeface="Symbol" pitchFamily="2" charset="2"/>
                      </a:rPr>
                      <m:t>=3.141592654</m:t>
                    </m:r>
                  </m:oMath>
                </a14:m>
                <a:r>
                  <a:rPr lang="en-US" altLang="zh-CN" sz="2600" dirty="0">
                    <a:latin typeface="Times New Roman" panose="02020603050405020304" pitchFamily="18" charset="0"/>
                    <a:cs typeface="Times New Roman" panose="02020603050405020304" pitchFamily="18" charset="0"/>
                    <a:sym typeface="Symbol" pitchFamily="2" charset="2"/>
                  </a:rPr>
                  <a:t>,</a:t>
                </a:r>
              </a:p>
              <a:p>
                <a:pPr>
                  <a:lnSpc>
                    <a:spcPct val="120000"/>
                  </a:lnSpc>
                  <a:spcBef>
                    <a:spcPct val="0"/>
                  </a:spcBef>
                  <a:buClrTx/>
                  <a:buSzTx/>
                  <a:buNone/>
                </a:pPr>
                <a:r>
                  <a:rPr lang="en-US" altLang="zh-CN" sz="2600" i="1" dirty="0">
                    <a:latin typeface="Times New Roman" panose="02020603050405020304" pitchFamily="18" charset="0"/>
                    <a:cs typeface="Times New Roman" panose="02020603050405020304" pitchFamily="18" charset="0"/>
                    <a:sym typeface="Symbol" pitchFamily="2" charset="2"/>
                  </a:rPr>
                  <a:t>e</a:t>
                </a:r>
                <a:r>
                  <a:rPr lang="en-US" altLang="zh-CN" sz="2600" dirty="0">
                    <a:latin typeface="Times New Roman" panose="02020603050405020304" pitchFamily="18" charset="0"/>
                    <a:cs typeface="Times New Roman" panose="02020603050405020304" pitchFamily="18" charset="0"/>
                    <a:sym typeface="Symbol" pitchFamily="2" charset="2"/>
                  </a:rPr>
                  <a:t> = </a:t>
                </a:r>
                <a:r>
                  <a:rPr lang="en-AU" sz="2600" dirty="0">
                    <a:latin typeface="Times New Roman" panose="02020603050405020304" pitchFamily="18" charset="0"/>
                    <a:cs typeface="Times New Roman" panose="02020603050405020304" pitchFamily="18" charset="0"/>
                  </a:rPr>
                  <a:t> 2.718281828</a:t>
                </a:r>
                <a:r>
                  <a:rPr lang="en-US" altLang="zh-CN" sz="2600" dirty="0">
                    <a:latin typeface="Times New Roman" panose="02020603050405020304" pitchFamily="18" charset="0"/>
                    <a:cs typeface="Times New Roman" panose="02020603050405020304" pitchFamily="18" charset="0"/>
                    <a:sym typeface="Symbol" pitchFamily="2" charset="2"/>
                  </a:rPr>
                  <a:t> is the base of natural logarithms.</a:t>
                </a:r>
              </a:p>
            </p:txBody>
          </p:sp>
        </mc:Choice>
        <mc:Fallback xmlns="">
          <p:sp>
            <p:nvSpPr>
              <p:cNvPr id="17413" name="Rectangle 4">
                <a:extLst>
                  <a:ext uri="{FF2B5EF4-FFF2-40B4-BE49-F238E27FC236}">
                    <a16:creationId xmlns:a16="http://schemas.microsoft.com/office/drawing/2014/main" id="{BF579C64-C204-6094-65FD-3EE501A4E6D2}"/>
                  </a:ext>
                </a:extLst>
              </p:cNvPr>
              <p:cNvSpPr>
                <a:spLocks noRot="1" noChangeAspect="1" noMove="1" noResize="1" noEditPoints="1" noAdjustHandles="1" noChangeArrowheads="1" noChangeShapeType="1" noTextEdit="1"/>
              </p:cNvSpPr>
              <p:nvPr/>
            </p:nvSpPr>
            <p:spPr bwMode="auto">
              <a:xfrm>
                <a:off x="607666" y="3684412"/>
                <a:ext cx="7524701" cy="1666505"/>
              </a:xfrm>
              <a:prstGeom prst="rect">
                <a:avLst/>
              </a:prstGeom>
              <a:blipFill>
                <a:blip r:embed="rId3"/>
                <a:stretch>
                  <a:fillRect l="-1459" t="-10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7414" name="Object 5">
                <a:extLst>
                  <a:ext uri="{FF2B5EF4-FFF2-40B4-BE49-F238E27FC236}">
                    <a16:creationId xmlns:a16="http://schemas.microsoft.com/office/drawing/2014/main" id="{B46FE2B6-68C1-E914-7CEF-AE086A00DEF0}"/>
                  </a:ext>
                </a:extLst>
              </p:cNvPr>
              <p:cNvSpPr txBox="1">
                <a:spLocks noGrp="1"/>
              </p:cNvSpPr>
              <p:nvPr>
                <p:ph idx="1"/>
              </p:nvPr>
            </p:nvSpPr>
            <p:spPr bwMode="auto">
              <a:xfrm>
                <a:off x="1065232" y="1778986"/>
                <a:ext cx="4706938" cy="1228725"/>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AU" i="1">
                          <a:solidFill>
                            <a:srgbClr val="000000"/>
                          </a:solidFill>
                          <a:latin typeface="Cambria Math" panose="02040503050406030204" pitchFamily="18" charset="0"/>
                        </a:rPr>
                        <m:t>𝑓</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0">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𝜎</m:t>
                          </m:r>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2</m:t>
                              </m:r>
                              <m:r>
                                <m:rPr>
                                  <m:sty m:val="p"/>
                                </m:rPr>
                                <a:rPr lang="en-AU" i="1">
                                  <a:solidFill>
                                    <a:srgbClr val="000000"/>
                                  </a:solidFill>
                                  <a:latin typeface="Cambria Math" panose="02040503050406030204" pitchFamily="18" charset="0"/>
                                </a:rPr>
                                <m:t>π</m:t>
                              </m:r>
                            </m:e>
                          </m:rad>
                        </m:den>
                      </m:f>
                      <m:sSup>
                        <m:sSupPr>
                          <m:ctrlPr>
                            <a:rPr lang="en-AU" i="1">
                              <a:solidFill>
                                <a:srgbClr val="000000"/>
                              </a:solidFill>
                              <a:latin typeface="Cambria Math" panose="02040503050406030204" pitchFamily="18" charset="0"/>
                            </a:rPr>
                          </m:ctrlPr>
                        </m:sSupPr>
                        <m:e>
                          <m:r>
                            <a:rPr lang="en-AU" i="1">
                              <a:solidFill>
                                <a:srgbClr val="000000"/>
                              </a:solidFill>
                              <a:latin typeface="Cambria Math" panose="02040503050406030204" pitchFamily="18" charset="0"/>
                            </a:rPr>
                            <m:t>𝑒</m:t>
                          </m:r>
                        </m:e>
                        <m:sup>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2</m:t>
                              </m:r>
                            </m:den>
                          </m:f>
                          <m:sSup>
                            <m:sSupPr>
                              <m:ctrlPr>
                                <a:rPr lang="en-AU" i="1">
                                  <a:solidFill>
                                    <a:srgbClr val="000000"/>
                                  </a:solidFill>
                                  <a:latin typeface="Cambria Math" panose="02040503050406030204" pitchFamily="18" charset="0"/>
                                </a:rPr>
                              </m:ctrlPr>
                            </m:sSupPr>
                            <m:e>
                              <m:d>
                                <m:dPr>
                                  <m:ctrlPr>
                                    <a:rPr lang="en-AU" i="1">
                                      <a:solidFill>
                                        <a:srgbClr val="000000"/>
                                      </a:solidFill>
                                      <a:latin typeface="Cambria Math" panose="02040503050406030204" pitchFamily="18" charset="0"/>
                                    </a:rPr>
                                  </m:ctrlPr>
                                </m:dPr>
                                <m:e>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𝜇</m:t>
                                      </m:r>
                                    </m:num>
                                    <m:den>
                                      <m:r>
                                        <a:rPr lang="en-AU" i="1">
                                          <a:solidFill>
                                            <a:srgbClr val="000000"/>
                                          </a:solidFill>
                                          <a:latin typeface="Cambria Math" panose="02040503050406030204" pitchFamily="18" charset="0"/>
                                        </a:rPr>
                                        <m:t>𝜎</m:t>
                                      </m:r>
                                    </m:den>
                                  </m:f>
                                </m:e>
                              </m:d>
                            </m:e>
                            <m:sup>
                              <m:r>
                                <a:rPr lang="en-AU" i="1">
                                  <a:solidFill>
                                    <a:srgbClr val="000000"/>
                                  </a:solidFill>
                                  <a:latin typeface="Cambria Math" panose="02040503050406030204" pitchFamily="18" charset="0"/>
                                </a:rPr>
                                <m:t>2</m:t>
                              </m:r>
                            </m:sup>
                          </m:sSup>
                        </m:sup>
                      </m:sSup>
                      <m:r>
                        <a:rPr lang="en-AU" i="1">
                          <a:solidFill>
                            <a:srgbClr val="000000"/>
                          </a:solidFill>
                          <a:latin typeface="Cambria Math" panose="02040503050406030204" pitchFamily="18" charset="0"/>
                        </a:rPr>
                        <m:t>    </m:t>
                      </m:r>
                      <m:r>
                        <a:rPr lang="en-AU" i="0">
                          <a:solidFill>
                            <a:srgbClr val="000000"/>
                          </a:solidFill>
                          <a:latin typeface="Cambria Math" panose="02040503050406030204" pitchFamily="18" charset="0"/>
                        </a:rPr>
                        <m:t> </m:t>
                      </m:r>
                    </m:oMath>
                  </m:oMathPara>
                </a14:m>
                <a:endParaRPr lang="en-AU" dirty="0"/>
              </a:p>
            </p:txBody>
          </p:sp>
        </mc:Choice>
        <mc:Fallback xmlns="">
          <p:sp>
            <p:nvSpPr>
              <p:cNvPr id="17414" name="Object 5">
                <a:extLst>
                  <a:ext uri="{FF2B5EF4-FFF2-40B4-BE49-F238E27FC236}">
                    <a16:creationId xmlns:a16="http://schemas.microsoft.com/office/drawing/2014/main" id="{B46FE2B6-68C1-E914-7CEF-AE086A00DEF0}"/>
                  </a:ext>
                </a:extLst>
              </p:cNvPr>
              <p:cNvSpPr txBox="1">
                <a:spLocks noGrp="1" noRot="1" noChangeAspect="1" noMove="1" noResize="1" noEditPoints="1" noAdjustHandles="1" noChangeArrowheads="1" noChangeShapeType="1" noTextEdit="1"/>
              </p:cNvSpPr>
              <p:nvPr>
                <p:ph idx="1"/>
              </p:nvPr>
            </p:nvSpPr>
            <p:spPr bwMode="auto">
              <a:xfrm>
                <a:off x="1065232" y="1778986"/>
                <a:ext cx="4706938" cy="1228725"/>
              </a:xfrm>
              <a:prstGeom prst="rect">
                <a:avLst/>
              </a:prstGeom>
              <a:blipFill>
                <a:blip r:embed="rId4"/>
                <a:stretch>
                  <a:fillRect/>
                </a:stretch>
              </a:blipFill>
              <a:ln>
                <a:noFill/>
              </a:ln>
              <a:effectLst/>
            </p:spPr>
            <p:txBody>
              <a:bodyPr/>
              <a:lstStyle/>
              <a:p>
                <a:r>
                  <a:rPr lang="en-AU">
                    <a:noFill/>
                  </a:rPr>
                  <a:t> </a:t>
                </a:r>
              </a:p>
            </p:txBody>
          </p:sp>
        </mc:Fallback>
      </mc:AlternateContent>
      <p:grpSp>
        <p:nvGrpSpPr>
          <p:cNvPr id="17415" name="Group 6">
            <a:extLst>
              <a:ext uri="{FF2B5EF4-FFF2-40B4-BE49-F238E27FC236}">
                <a16:creationId xmlns:a16="http://schemas.microsoft.com/office/drawing/2014/main" id="{AD5A3A13-1399-1EC0-0314-1857D84CC319}"/>
              </a:ext>
            </a:extLst>
          </p:cNvPr>
          <p:cNvGrpSpPr>
            <a:grpSpLocks/>
          </p:cNvGrpSpPr>
          <p:nvPr/>
        </p:nvGrpSpPr>
        <p:grpSpPr bwMode="auto">
          <a:xfrm>
            <a:off x="7804888" y="1446702"/>
            <a:ext cx="4194312" cy="3491666"/>
            <a:chOff x="1095" y="901"/>
            <a:chExt cx="3686" cy="3051"/>
          </a:xfrm>
        </p:grpSpPr>
        <p:sp>
          <p:nvSpPr>
            <p:cNvPr id="17416" name="Freeform 7">
              <a:extLst>
                <a:ext uri="{FF2B5EF4-FFF2-40B4-BE49-F238E27FC236}">
                  <a16:creationId xmlns:a16="http://schemas.microsoft.com/office/drawing/2014/main" id="{AE588550-94A6-E8B3-89DB-95BF3C40DBB6}"/>
                </a:ext>
              </a:extLst>
            </p:cNvPr>
            <p:cNvSpPr>
              <a:spLocks/>
            </p:cNvSpPr>
            <p:nvPr/>
          </p:nvSpPr>
          <p:spPr bwMode="auto">
            <a:xfrm>
              <a:off x="1415" y="1468"/>
              <a:ext cx="2856" cy="1928"/>
            </a:xfrm>
            <a:custGeom>
              <a:avLst/>
              <a:gdLst>
                <a:gd name="T0" fmla="*/ 1364 w 2848"/>
                <a:gd name="T1" fmla="*/ 14 h 1928"/>
                <a:gd name="T2" fmla="*/ 1272 w 2848"/>
                <a:gd name="T3" fmla="*/ 102 h 1928"/>
                <a:gd name="T4" fmla="*/ 1208 w 2848"/>
                <a:gd name="T5" fmla="*/ 202 h 1928"/>
                <a:gd name="T6" fmla="*/ 1150 w 2848"/>
                <a:gd name="T7" fmla="*/ 310 h 1928"/>
                <a:gd name="T8" fmla="*/ 1106 w 2848"/>
                <a:gd name="T9" fmla="*/ 412 h 1928"/>
                <a:gd name="T10" fmla="*/ 1066 w 2848"/>
                <a:gd name="T11" fmla="*/ 514 h 1928"/>
                <a:gd name="T12" fmla="*/ 1028 w 2848"/>
                <a:gd name="T13" fmla="*/ 620 h 1928"/>
                <a:gd name="T14" fmla="*/ 991 w 2848"/>
                <a:gd name="T15" fmla="*/ 746 h 1928"/>
                <a:gd name="T16" fmla="*/ 959 w 2848"/>
                <a:gd name="T17" fmla="*/ 860 h 1928"/>
                <a:gd name="T18" fmla="*/ 929 w 2848"/>
                <a:gd name="T19" fmla="*/ 970 h 1928"/>
                <a:gd name="T20" fmla="*/ 891 w 2848"/>
                <a:gd name="T21" fmla="*/ 1082 h 1928"/>
                <a:gd name="T22" fmla="*/ 853 w 2848"/>
                <a:gd name="T23" fmla="*/ 1194 h 1928"/>
                <a:gd name="T24" fmla="*/ 811 w 2848"/>
                <a:gd name="T25" fmla="*/ 1294 h 1928"/>
                <a:gd name="T26" fmla="*/ 758 w 2848"/>
                <a:gd name="T27" fmla="*/ 1404 h 1928"/>
                <a:gd name="T28" fmla="*/ 695 w 2848"/>
                <a:gd name="T29" fmla="*/ 1508 h 1928"/>
                <a:gd name="T30" fmla="*/ 608 w 2848"/>
                <a:gd name="T31" fmla="*/ 1614 h 1928"/>
                <a:gd name="T32" fmla="*/ 510 w 2848"/>
                <a:gd name="T33" fmla="*/ 1686 h 1928"/>
                <a:gd name="T34" fmla="*/ 402 w 2848"/>
                <a:gd name="T35" fmla="*/ 1746 h 1928"/>
                <a:gd name="T36" fmla="*/ 308 w 2848"/>
                <a:gd name="T37" fmla="*/ 1786 h 1928"/>
                <a:gd name="T38" fmla="*/ 200 w 2848"/>
                <a:gd name="T39" fmla="*/ 1822 h 1928"/>
                <a:gd name="T40" fmla="*/ 76 w 2848"/>
                <a:gd name="T41" fmla="*/ 1860 h 1928"/>
                <a:gd name="T42" fmla="*/ 2 w 2848"/>
                <a:gd name="T43" fmla="*/ 1886 h 1928"/>
                <a:gd name="T44" fmla="*/ 2864 w 2848"/>
                <a:gd name="T45" fmla="*/ 1928 h 1928"/>
                <a:gd name="T46" fmla="*/ 2808 w 2848"/>
                <a:gd name="T47" fmla="*/ 1866 h 1928"/>
                <a:gd name="T48" fmla="*/ 2708 w 2848"/>
                <a:gd name="T49" fmla="*/ 1838 h 1928"/>
                <a:gd name="T50" fmla="*/ 2593 w 2848"/>
                <a:gd name="T51" fmla="*/ 1800 h 1928"/>
                <a:gd name="T52" fmla="*/ 2478 w 2848"/>
                <a:gd name="T53" fmla="*/ 1754 h 1928"/>
                <a:gd name="T54" fmla="*/ 2347 w 2848"/>
                <a:gd name="T55" fmla="*/ 1686 h 1928"/>
                <a:gd name="T56" fmla="*/ 2301 w 2848"/>
                <a:gd name="T57" fmla="*/ 1660 h 1928"/>
                <a:gd name="T58" fmla="*/ 2210 w 2848"/>
                <a:gd name="T59" fmla="*/ 1588 h 1928"/>
                <a:gd name="T60" fmla="*/ 2128 w 2848"/>
                <a:gd name="T61" fmla="*/ 1480 h 1928"/>
                <a:gd name="T62" fmla="*/ 2070 w 2848"/>
                <a:gd name="T63" fmla="*/ 1382 h 1928"/>
                <a:gd name="T64" fmla="*/ 2030 w 2848"/>
                <a:gd name="T65" fmla="*/ 1298 h 1928"/>
                <a:gd name="T66" fmla="*/ 1985 w 2848"/>
                <a:gd name="T67" fmla="*/ 1194 h 1928"/>
                <a:gd name="T68" fmla="*/ 1951 w 2848"/>
                <a:gd name="T69" fmla="*/ 1106 h 1928"/>
                <a:gd name="T70" fmla="*/ 1924 w 2848"/>
                <a:gd name="T71" fmla="*/ 1018 h 1928"/>
                <a:gd name="T72" fmla="*/ 1886 w 2848"/>
                <a:gd name="T73" fmla="*/ 890 h 1928"/>
                <a:gd name="T74" fmla="*/ 1855 w 2848"/>
                <a:gd name="T75" fmla="*/ 778 h 1928"/>
                <a:gd name="T76" fmla="*/ 1817 w 2848"/>
                <a:gd name="T77" fmla="*/ 647 h 1928"/>
                <a:gd name="T78" fmla="*/ 1772 w 2848"/>
                <a:gd name="T79" fmla="*/ 524 h 1928"/>
                <a:gd name="T80" fmla="*/ 1726 w 2848"/>
                <a:gd name="T81" fmla="*/ 402 h 1928"/>
                <a:gd name="T82" fmla="*/ 1694 w 2848"/>
                <a:gd name="T83" fmla="*/ 330 h 1928"/>
                <a:gd name="T84" fmla="*/ 1642 w 2848"/>
                <a:gd name="T85" fmla="*/ 224 h 1928"/>
                <a:gd name="T86" fmla="*/ 1614 w 2848"/>
                <a:gd name="T87" fmla="*/ 174 h 1928"/>
                <a:gd name="T88" fmla="*/ 1599 w 2848"/>
                <a:gd name="T89" fmla="*/ 156 h 1928"/>
                <a:gd name="T90" fmla="*/ 1596 w 2848"/>
                <a:gd name="T91" fmla="*/ 150 h 1928"/>
                <a:gd name="T92" fmla="*/ 1516 w 2848"/>
                <a:gd name="T93" fmla="*/ 46 h 1928"/>
                <a:gd name="T94" fmla="*/ 1452 w 2848"/>
                <a:gd name="T95" fmla="*/ 6 h 19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48" h="1928">
                  <a:moveTo>
                    <a:pt x="1422" y="0"/>
                  </a:moveTo>
                  <a:lnTo>
                    <a:pt x="1388" y="2"/>
                  </a:lnTo>
                  <a:lnTo>
                    <a:pt x="1356" y="14"/>
                  </a:lnTo>
                  <a:lnTo>
                    <a:pt x="1320" y="38"/>
                  </a:lnTo>
                  <a:lnTo>
                    <a:pt x="1294" y="66"/>
                  </a:lnTo>
                  <a:lnTo>
                    <a:pt x="1264" y="102"/>
                  </a:lnTo>
                  <a:lnTo>
                    <a:pt x="1240" y="138"/>
                  </a:lnTo>
                  <a:lnTo>
                    <a:pt x="1222" y="168"/>
                  </a:lnTo>
                  <a:lnTo>
                    <a:pt x="1202" y="202"/>
                  </a:lnTo>
                  <a:lnTo>
                    <a:pt x="1180" y="240"/>
                  </a:lnTo>
                  <a:lnTo>
                    <a:pt x="1160" y="282"/>
                  </a:lnTo>
                  <a:lnTo>
                    <a:pt x="1144" y="310"/>
                  </a:lnTo>
                  <a:lnTo>
                    <a:pt x="1130" y="342"/>
                  </a:lnTo>
                  <a:lnTo>
                    <a:pt x="1115" y="376"/>
                  </a:lnTo>
                  <a:lnTo>
                    <a:pt x="1100" y="412"/>
                  </a:lnTo>
                  <a:lnTo>
                    <a:pt x="1084" y="446"/>
                  </a:lnTo>
                  <a:lnTo>
                    <a:pt x="1072" y="478"/>
                  </a:lnTo>
                  <a:lnTo>
                    <a:pt x="1060" y="514"/>
                  </a:lnTo>
                  <a:lnTo>
                    <a:pt x="1046" y="552"/>
                  </a:lnTo>
                  <a:lnTo>
                    <a:pt x="1033" y="584"/>
                  </a:lnTo>
                  <a:lnTo>
                    <a:pt x="1022" y="620"/>
                  </a:lnTo>
                  <a:lnTo>
                    <a:pt x="1009" y="662"/>
                  </a:lnTo>
                  <a:lnTo>
                    <a:pt x="997" y="704"/>
                  </a:lnTo>
                  <a:lnTo>
                    <a:pt x="985" y="746"/>
                  </a:lnTo>
                  <a:lnTo>
                    <a:pt x="973" y="782"/>
                  </a:lnTo>
                  <a:lnTo>
                    <a:pt x="963" y="818"/>
                  </a:lnTo>
                  <a:lnTo>
                    <a:pt x="953" y="860"/>
                  </a:lnTo>
                  <a:lnTo>
                    <a:pt x="941" y="902"/>
                  </a:lnTo>
                  <a:lnTo>
                    <a:pt x="933" y="934"/>
                  </a:lnTo>
                  <a:lnTo>
                    <a:pt x="923" y="970"/>
                  </a:lnTo>
                  <a:lnTo>
                    <a:pt x="913" y="1001"/>
                  </a:lnTo>
                  <a:lnTo>
                    <a:pt x="899" y="1044"/>
                  </a:lnTo>
                  <a:lnTo>
                    <a:pt x="887" y="1082"/>
                  </a:lnTo>
                  <a:lnTo>
                    <a:pt x="875" y="1120"/>
                  </a:lnTo>
                  <a:lnTo>
                    <a:pt x="861" y="1164"/>
                  </a:lnTo>
                  <a:lnTo>
                    <a:pt x="849" y="1194"/>
                  </a:lnTo>
                  <a:lnTo>
                    <a:pt x="839" y="1224"/>
                  </a:lnTo>
                  <a:lnTo>
                    <a:pt x="823" y="1258"/>
                  </a:lnTo>
                  <a:lnTo>
                    <a:pt x="807" y="1294"/>
                  </a:lnTo>
                  <a:lnTo>
                    <a:pt x="790" y="1328"/>
                  </a:lnTo>
                  <a:lnTo>
                    <a:pt x="772" y="1364"/>
                  </a:lnTo>
                  <a:lnTo>
                    <a:pt x="754" y="1404"/>
                  </a:lnTo>
                  <a:lnTo>
                    <a:pt x="733" y="1439"/>
                  </a:lnTo>
                  <a:lnTo>
                    <a:pt x="713" y="1474"/>
                  </a:lnTo>
                  <a:lnTo>
                    <a:pt x="691" y="1508"/>
                  </a:lnTo>
                  <a:lnTo>
                    <a:pt x="664" y="1546"/>
                  </a:lnTo>
                  <a:lnTo>
                    <a:pt x="640" y="1578"/>
                  </a:lnTo>
                  <a:lnTo>
                    <a:pt x="604" y="1614"/>
                  </a:lnTo>
                  <a:lnTo>
                    <a:pt x="582" y="1636"/>
                  </a:lnTo>
                  <a:lnTo>
                    <a:pt x="550" y="1656"/>
                  </a:lnTo>
                  <a:lnTo>
                    <a:pt x="508" y="1686"/>
                  </a:lnTo>
                  <a:lnTo>
                    <a:pt x="460" y="1714"/>
                  </a:lnTo>
                  <a:lnTo>
                    <a:pt x="428" y="1730"/>
                  </a:lnTo>
                  <a:lnTo>
                    <a:pt x="400" y="1746"/>
                  </a:lnTo>
                  <a:lnTo>
                    <a:pt x="367" y="1760"/>
                  </a:lnTo>
                  <a:lnTo>
                    <a:pt x="338" y="1772"/>
                  </a:lnTo>
                  <a:lnTo>
                    <a:pt x="306" y="1786"/>
                  </a:lnTo>
                  <a:lnTo>
                    <a:pt x="278" y="1794"/>
                  </a:lnTo>
                  <a:lnTo>
                    <a:pt x="250" y="1806"/>
                  </a:lnTo>
                  <a:lnTo>
                    <a:pt x="198" y="1822"/>
                  </a:lnTo>
                  <a:lnTo>
                    <a:pt x="160" y="1836"/>
                  </a:lnTo>
                  <a:lnTo>
                    <a:pt x="116" y="1850"/>
                  </a:lnTo>
                  <a:lnTo>
                    <a:pt x="76" y="1860"/>
                  </a:lnTo>
                  <a:lnTo>
                    <a:pt x="46" y="1872"/>
                  </a:lnTo>
                  <a:lnTo>
                    <a:pt x="26" y="1876"/>
                  </a:lnTo>
                  <a:lnTo>
                    <a:pt x="2" y="1886"/>
                  </a:lnTo>
                  <a:lnTo>
                    <a:pt x="0" y="1904"/>
                  </a:lnTo>
                  <a:lnTo>
                    <a:pt x="2" y="1926"/>
                  </a:lnTo>
                  <a:lnTo>
                    <a:pt x="2848" y="1928"/>
                  </a:lnTo>
                  <a:lnTo>
                    <a:pt x="2848" y="1884"/>
                  </a:lnTo>
                  <a:lnTo>
                    <a:pt x="2822" y="1876"/>
                  </a:lnTo>
                  <a:lnTo>
                    <a:pt x="2792" y="1866"/>
                  </a:lnTo>
                  <a:lnTo>
                    <a:pt x="2752" y="1856"/>
                  </a:lnTo>
                  <a:lnTo>
                    <a:pt x="2716" y="1846"/>
                  </a:lnTo>
                  <a:lnTo>
                    <a:pt x="2692" y="1838"/>
                  </a:lnTo>
                  <a:lnTo>
                    <a:pt x="2661" y="1828"/>
                  </a:lnTo>
                  <a:lnTo>
                    <a:pt x="2623" y="1818"/>
                  </a:lnTo>
                  <a:lnTo>
                    <a:pt x="2579" y="1800"/>
                  </a:lnTo>
                  <a:lnTo>
                    <a:pt x="2537" y="1784"/>
                  </a:lnTo>
                  <a:lnTo>
                    <a:pt x="2506" y="1772"/>
                  </a:lnTo>
                  <a:lnTo>
                    <a:pt x="2464" y="1754"/>
                  </a:lnTo>
                  <a:lnTo>
                    <a:pt x="2428" y="1736"/>
                  </a:lnTo>
                  <a:lnTo>
                    <a:pt x="2375" y="1710"/>
                  </a:lnTo>
                  <a:lnTo>
                    <a:pt x="2333" y="1686"/>
                  </a:lnTo>
                  <a:lnTo>
                    <a:pt x="2309" y="1674"/>
                  </a:lnTo>
                  <a:lnTo>
                    <a:pt x="2297" y="1666"/>
                  </a:lnTo>
                  <a:lnTo>
                    <a:pt x="2289" y="1660"/>
                  </a:lnTo>
                  <a:lnTo>
                    <a:pt x="2259" y="1640"/>
                  </a:lnTo>
                  <a:lnTo>
                    <a:pt x="2232" y="1616"/>
                  </a:lnTo>
                  <a:lnTo>
                    <a:pt x="2198" y="1588"/>
                  </a:lnTo>
                  <a:lnTo>
                    <a:pt x="2170" y="1556"/>
                  </a:lnTo>
                  <a:lnTo>
                    <a:pt x="2142" y="1520"/>
                  </a:lnTo>
                  <a:lnTo>
                    <a:pt x="2116" y="1480"/>
                  </a:lnTo>
                  <a:lnTo>
                    <a:pt x="2090" y="1444"/>
                  </a:lnTo>
                  <a:lnTo>
                    <a:pt x="2074" y="1412"/>
                  </a:lnTo>
                  <a:lnTo>
                    <a:pt x="2058" y="1382"/>
                  </a:lnTo>
                  <a:lnTo>
                    <a:pt x="2044" y="1354"/>
                  </a:lnTo>
                  <a:lnTo>
                    <a:pt x="2030" y="1324"/>
                  </a:lnTo>
                  <a:lnTo>
                    <a:pt x="2018" y="1298"/>
                  </a:lnTo>
                  <a:lnTo>
                    <a:pt x="2006" y="1268"/>
                  </a:lnTo>
                  <a:lnTo>
                    <a:pt x="1987" y="1228"/>
                  </a:lnTo>
                  <a:lnTo>
                    <a:pt x="1973" y="1194"/>
                  </a:lnTo>
                  <a:lnTo>
                    <a:pt x="1962" y="1166"/>
                  </a:lnTo>
                  <a:lnTo>
                    <a:pt x="1952" y="1134"/>
                  </a:lnTo>
                  <a:lnTo>
                    <a:pt x="1941" y="1106"/>
                  </a:lnTo>
                  <a:lnTo>
                    <a:pt x="1933" y="1080"/>
                  </a:lnTo>
                  <a:lnTo>
                    <a:pt x="1923" y="1050"/>
                  </a:lnTo>
                  <a:lnTo>
                    <a:pt x="1914" y="1018"/>
                  </a:lnTo>
                  <a:lnTo>
                    <a:pt x="1900" y="974"/>
                  </a:lnTo>
                  <a:lnTo>
                    <a:pt x="1888" y="929"/>
                  </a:lnTo>
                  <a:lnTo>
                    <a:pt x="1876" y="890"/>
                  </a:lnTo>
                  <a:lnTo>
                    <a:pt x="1865" y="852"/>
                  </a:lnTo>
                  <a:lnTo>
                    <a:pt x="1855" y="814"/>
                  </a:lnTo>
                  <a:lnTo>
                    <a:pt x="1845" y="778"/>
                  </a:lnTo>
                  <a:lnTo>
                    <a:pt x="1834" y="734"/>
                  </a:lnTo>
                  <a:lnTo>
                    <a:pt x="1822" y="692"/>
                  </a:lnTo>
                  <a:lnTo>
                    <a:pt x="1807" y="647"/>
                  </a:lnTo>
                  <a:lnTo>
                    <a:pt x="1791" y="602"/>
                  </a:lnTo>
                  <a:lnTo>
                    <a:pt x="1774" y="554"/>
                  </a:lnTo>
                  <a:lnTo>
                    <a:pt x="1762" y="524"/>
                  </a:lnTo>
                  <a:lnTo>
                    <a:pt x="1750" y="488"/>
                  </a:lnTo>
                  <a:lnTo>
                    <a:pt x="1734" y="448"/>
                  </a:lnTo>
                  <a:lnTo>
                    <a:pt x="1716" y="402"/>
                  </a:lnTo>
                  <a:lnTo>
                    <a:pt x="1704" y="374"/>
                  </a:lnTo>
                  <a:lnTo>
                    <a:pt x="1692" y="352"/>
                  </a:lnTo>
                  <a:lnTo>
                    <a:pt x="1684" y="330"/>
                  </a:lnTo>
                  <a:lnTo>
                    <a:pt x="1666" y="294"/>
                  </a:lnTo>
                  <a:lnTo>
                    <a:pt x="1648" y="258"/>
                  </a:lnTo>
                  <a:lnTo>
                    <a:pt x="1632" y="224"/>
                  </a:lnTo>
                  <a:lnTo>
                    <a:pt x="1621" y="206"/>
                  </a:lnTo>
                  <a:lnTo>
                    <a:pt x="1614" y="192"/>
                  </a:lnTo>
                  <a:lnTo>
                    <a:pt x="1604" y="174"/>
                  </a:lnTo>
                  <a:lnTo>
                    <a:pt x="1578" y="136"/>
                  </a:lnTo>
                  <a:lnTo>
                    <a:pt x="1569" y="126"/>
                  </a:lnTo>
                  <a:lnTo>
                    <a:pt x="1591" y="156"/>
                  </a:lnTo>
                  <a:lnTo>
                    <a:pt x="1599" y="168"/>
                  </a:lnTo>
                  <a:lnTo>
                    <a:pt x="1591" y="158"/>
                  </a:lnTo>
                  <a:lnTo>
                    <a:pt x="1588" y="150"/>
                  </a:lnTo>
                  <a:lnTo>
                    <a:pt x="1554" y="106"/>
                  </a:lnTo>
                  <a:lnTo>
                    <a:pt x="1534" y="80"/>
                  </a:lnTo>
                  <a:lnTo>
                    <a:pt x="1508" y="46"/>
                  </a:lnTo>
                  <a:lnTo>
                    <a:pt x="1492" y="30"/>
                  </a:lnTo>
                  <a:lnTo>
                    <a:pt x="1468" y="16"/>
                  </a:lnTo>
                  <a:lnTo>
                    <a:pt x="1444" y="6"/>
                  </a:lnTo>
                  <a:lnTo>
                    <a:pt x="1420" y="2"/>
                  </a:lnTo>
                </a:path>
              </a:pathLst>
            </a:custGeom>
            <a:gradFill rotWithShape="0">
              <a:gsLst>
                <a:gs pos="0">
                  <a:srgbClr val="33CCCC"/>
                </a:gs>
                <a:gs pos="50000">
                  <a:srgbClr val="185E5E"/>
                </a:gs>
                <a:gs pos="100000">
                  <a:srgbClr val="33CCCC"/>
                </a:gs>
              </a:gsLst>
              <a:lin ang="0" scaled="1"/>
            </a:gradFill>
            <a:ln>
              <a:noFill/>
            </a:ln>
            <a:effectLst/>
            <a:extLst>
              <a:ext uri="{91240B29-F687-4F45-9708-019B960494DF}">
                <a14:hiddenLine xmlns:a14="http://schemas.microsoft.com/office/drawing/2010/main" w="19050" cap="rnd" cmpd="sng">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7" name="Line 8">
              <a:extLst>
                <a:ext uri="{FF2B5EF4-FFF2-40B4-BE49-F238E27FC236}">
                  <a16:creationId xmlns:a16="http://schemas.microsoft.com/office/drawing/2014/main" id="{88B62444-CD24-ACFE-D3C5-4C1603F58ED2}"/>
                </a:ext>
              </a:extLst>
            </p:cNvPr>
            <p:cNvSpPr>
              <a:spLocks noChangeShapeType="1"/>
            </p:cNvSpPr>
            <p:nvPr/>
          </p:nvSpPr>
          <p:spPr bwMode="auto">
            <a:xfrm>
              <a:off x="1270" y="3395"/>
              <a:ext cx="3151" cy="0"/>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7418" name="Freeform 9">
              <a:extLst>
                <a:ext uri="{FF2B5EF4-FFF2-40B4-BE49-F238E27FC236}">
                  <a16:creationId xmlns:a16="http://schemas.microsoft.com/office/drawing/2014/main" id="{05DD93C2-4BDE-934E-65DE-6FCC2695F79E}"/>
                </a:ext>
              </a:extLst>
            </p:cNvPr>
            <p:cNvSpPr>
              <a:spLocks noChangeArrowheads="1"/>
            </p:cNvSpPr>
            <p:nvPr/>
          </p:nvSpPr>
          <p:spPr bwMode="auto">
            <a:xfrm>
              <a:off x="2853" y="3354"/>
              <a:ext cx="1" cy="113"/>
            </a:xfrm>
            <a:custGeom>
              <a:avLst/>
              <a:gdLst>
                <a:gd name="T0" fmla="*/ 0 w 1"/>
                <a:gd name="T1" fmla="*/ 0 h 113"/>
                <a:gd name="T2" fmla="*/ 0 w 1"/>
                <a:gd name="T3" fmla="*/ 113 h 113"/>
                <a:gd name="T4" fmla="*/ 0 60000 65536"/>
                <a:gd name="T5" fmla="*/ 0 60000 65536"/>
              </a:gdLst>
              <a:ahLst/>
              <a:cxnLst>
                <a:cxn ang="T4">
                  <a:pos x="T0" y="T1"/>
                </a:cxn>
                <a:cxn ang="T5">
                  <a:pos x="T2" y="T3"/>
                </a:cxn>
              </a:cxnLst>
              <a:rect l="0" t="0" r="r" b="b"/>
              <a:pathLst>
                <a:path w="1" h="113">
                  <a:moveTo>
                    <a:pt x="0" y="0"/>
                  </a:moveTo>
                  <a:lnTo>
                    <a:pt x="0" y="113"/>
                  </a:lnTo>
                </a:path>
              </a:pathLst>
            </a:cu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419" name="Rectangle 10">
              <a:extLst>
                <a:ext uri="{FF2B5EF4-FFF2-40B4-BE49-F238E27FC236}">
                  <a16:creationId xmlns:a16="http://schemas.microsoft.com/office/drawing/2014/main" id="{E4757284-BFE2-5786-F648-0CBF93C3F73C}"/>
                </a:ext>
              </a:extLst>
            </p:cNvPr>
            <p:cNvSpPr>
              <a:spLocks noChangeArrowheads="1"/>
            </p:cNvSpPr>
            <p:nvPr/>
          </p:nvSpPr>
          <p:spPr bwMode="auto">
            <a:xfrm>
              <a:off x="1453" y="2570"/>
              <a:ext cx="445" cy="28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270347" name="Rectangle 11">
              <a:extLst>
                <a:ext uri="{FF2B5EF4-FFF2-40B4-BE49-F238E27FC236}">
                  <a16:creationId xmlns:a16="http://schemas.microsoft.com/office/drawing/2014/main" id="{AA1CCB3E-9763-23FD-C167-A600354C050D}"/>
                </a:ext>
              </a:extLst>
            </p:cNvPr>
            <p:cNvSpPr>
              <a:spLocks noChangeArrowheads="1"/>
            </p:cNvSpPr>
            <p:nvPr/>
          </p:nvSpPr>
          <p:spPr bwMode="auto">
            <a:xfrm>
              <a:off x="2717" y="3423"/>
              <a:ext cx="369"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Symbol" pitchFamily="18" charset="2"/>
                </a:rPr>
                <a:t></a:t>
              </a:r>
            </a:p>
          </p:txBody>
        </p:sp>
        <p:sp>
          <p:nvSpPr>
            <p:cNvPr id="270348" name="Rectangle 12">
              <a:extLst>
                <a:ext uri="{FF2B5EF4-FFF2-40B4-BE49-F238E27FC236}">
                  <a16:creationId xmlns:a16="http://schemas.microsoft.com/office/drawing/2014/main" id="{DD3327EC-A003-19B0-5CEA-C8FA38458CA5}"/>
                </a:ext>
              </a:extLst>
            </p:cNvPr>
            <p:cNvSpPr>
              <a:spLocks noChangeArrowheads="1"/>
            </p:cNvSpPr>
            <p:nvPr/>
          </p:nvSpPr>
          <p:spPr bwMode="auto">
            <a:xfrm>
              <a:off x="4437" y="3146"/>
              <a:ext cx="344"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x</a:t>
              </a:r>
            </a:p>
          </p:txBody>
        </p:sp>
        <p:sp>
          <p:nvSpPr>
            <p:cNvPr id="17422" name="Line 13">
              <a:extLst>
                <a:ext uri="{FF2B5EF4-FFF2-40B4-BE49-F238E27FC236}">
                  <a16:creationId xmlns:a16="http://schemas.microsoft.com/office/drawing/2014/main" id="{1A977626-1DF1-1DA3-9ACD-B57409146490}"/>
                </a:ext>
              </a:extLst>
            </p:cNvPr>
            <p:cNvSpPr>
              <a:spLocks noChangeShapeType="1"/>
            </p:cNvSpPr>
            <p:nvPr/>
          </p:nvSpPr>
          <p:spPr bwMode="auto">
            <a:xfrm flipV="1">
              <a:off x="1265" y="1422"/>
              <a:ext cx="0" cy="1976"/>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70350" name="Rectangle 14">
              <a:extLst>
                <a:ext uri="{FF2B5EF4-FFF2-40B4-BE49-F238E27FC236}">
                  <a16:creationId xmlns:a16="http://schemas.microsoft.com/office/drawing/2014/main" id="{4A37DDCC-8068-A14C-6C9E-0488FABDA53A}"/>
                </a:ext>
              </a:extLst>
            </p:cNvPr>
            <p:cNvSpPr>
              <a:spLocks noChangeArrowheads="1"/>
            </p:cNvSpPr>
            <p:nvPr/>
          </p:nvSpPr>
          <p:spPr bwMode="auto">
            <a:xfrm>
              <a:off x="1095" y="901"/>
              <a:ext cx="640"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f</a:t>
              </a:r>
              <a:r>
                <a:rPr lang="en-US" altLang="zh-CN" sz="2400" dirty="0">
                  <a:latin typeface="Book Antiqua" pitchFamily="18" charset="0"/>
                </a:rPr>
                <a:t>(</a:t>
              </a:r>
              <a:r>
                <a:rPr lang="en-US" altLang="zh-CN" sz="2400" i="1" dirty="0">
                  <a:latin typeface="Book Antiqua" pitchFamily="18" charset="0"/>
                </a:rPr>
                <a:t>x</a:t>
              </a:r>
              <a:r>
                <a:rPr lang="en-US" altLang="zh-CN" sz="2400" dirty="0">
                  <a:latin typeface="Book Antiqua" pitchFamily="18" charset="0"/>
                </a:rPr>
                <a:t>)</a:t>
              </a:r>
            </a:p>
          </p:txBody>
        </p:sp>
        <p:sp>
          <p:nvSpPr>
            <p:cNvPr id="17424" name="Arc 15">
              <a:extLst>
                <a:ext uri="{FF2B5EF4-FFF2-40B4-BE49-F238E27FC236}">
                  <a16:creationId xmlns:a16="http://schemas.microsoft.com/office/drawing/2014/main" id="{181A4FFF-4FBE-E3A8-B078-C2B372D85B3E}"/>
                </a:ext>
              </a:extLst>
            </p:cNvPr>
            <p:cNvSpPr>
              <a:spLocks/>
            </p:cNvSpPr>
            <p:nvPr/>
          </p:nvSpPr>
          <p:spPr bwMode="auto">
            <a:xfrm rot="4601066">
              <a:off x="3122" y="2548"/>
              <a:ext cx="790" cy="284"/>
            </a:xfrm>
            <a:custGeom>
              <a:avLst/>
              <a:gdLst>
                <a:gd name="T0" fmla="*/ 32 w 19428"/>
                <a:gd name="T1" fmla="*/ 2 h 21600"/>
                <a:gd name="T2" fmla="*/ 0 w 19428"/>
                <a:gd name="T3" fmla="*/ 4 h 21600"/>
                <a:gd name="T4" fmla="*/ 0 w 19428"/>
                <a:gd name="T5" fmla="*/ 0 h 21600"/>
                <a:gd name="T6" fmla="*/ 0 60000 65536"/>
                <a:gd name="T7" fmla="*/ 0 60000 65536"/>
                <a:gd name="T8" fmla="*/ 0 60000 65536"/>
              </a:gdLst>
              <a:ahLst/>
              <a:cxnLst>
                <a:cxn ang="T6">
                  <a:pos x="T0" y="T1"/>
                </a:cxn>
                <a:cxn ang="T7">
                  <a:pos x="T2" y="T3"/>
                </a:cxn>
                <a:cxn ang="T8">
                  <a:pos x="T4" y="T5"/>
                </a:cxn>
              </a:cxnLst>
              <a:rect l="0" t="0" r="r" b="b"/>
              <a:pathLst>
                <a:path w="19428" h="21600" fill="none" extrusionOk="0">
                  <a:moveTo>
                    <a:pt x="19427" y="9439"/>
                  </a:moveTo>
                  <a:cubicBezTo>
                    <a:pt x="15813" y="16878"/>
                    <a:pt x="8269" y="21599"/>
                    <a:pt x="0" y="21600"/>
                  </a:cubicBezTo>
                </a:path>
                <a:path w="19428" h="21600" stroke="0" extrusionOk="0">
                  <a:moveTo>
                    <a:pt x="19427" y="9439"/>
                  </a:moveTo>
                  <a:cubicBezTo>
                    <a:pt x="15813" y="16878"/>
                    <a:pt x="8269" y="21599"/>
                    <a:pt x="0" y="21600"/>
                  </a:cubicBezTo>
                  <a:lnTo>
                    <a:pt x="0" y="0"/>
                  </a:lnTo>
                  <a:lnTo>
                    <a:pt x="19427" y="9439"/>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7425" name="Arc 16">
              <a:extLst>
                <a:ext uri="{FF2B5EF4-FFF2-40B4-BE49-F238E27FC236}">
                  <a16:creationId xmlns:a16="http://schemas.microsoft.com/office/drawing/2014/main" id="{6DDD77D5-E43F-05EE-6087-BAE447647E0E}"/>
                </a:ext>
              </a:extLst>
            </p:cNvPr>
            <p:cNvSpPr>
              <a:spLocks/>
            </p:cNvSpPr>
            <p:nvPr/>
          </p:nvSpPr>
          <p:spPr bwMode="auto">
            <a:xfrm rot="6300000">
              <a:off x="2113" y="1793"/>
              <a:ext cx="956" cy="224"/>
            </a:xfrm>
            <a:custGeom>
              <a:avLst/>
              <a:gdLst>
                <a:gd name="T0" fmla="*/ 42 w 21600"/>
                <a:gd name="T1" fmla="*/ 2 h 21600"/>
                <a:gd name="T2" fmla="*/ 0 w 21600"/>
                <a:gd name="T3" fmla="*/ 0 h 21600"/>
                <a:gd name="T4" fmla="*/ 42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7426" name="Arc 17">
              <a:extLst>
                <a:ext uri="{FF2B5EF4-FFF2-40B4-BE49-F238E27FC236}">
                  <a16:creationId xmlns:a16="http://schemas.microsoft.com/office/drawing/2014/main" id="{BE39EF89-412E-998C-7013-0A61532ABDE7}"/>
                </a:ext>
              </a:extLst>
            </p:cNvPr>
            <p:cNvSpPr>
              <a:spLocks/>
            </p:cNvSpPr>
            <p:nvPr/>
          </p:nvSpPr>
          <p:spPr bwMode="auto">
            <a:xfrm rot="-4620000">
              <a:off x="1737" y="2548"/>
              <a:ext cx="790" cy="284"/>
            </a:xfrm>
            <a:custGeom>
              <a:avLst/>
              <a:gdLst>
                <a:gd name="T0" fmla="*/ 32 w 19433"/>
                <a:gd name="T1" fmla="*/ 4 h 21600"/>
                <a:gd name="T2" fmla="*/ 0 w 19433"/>
                <a:gd name="T3" fmla="*/ 2 h 21600"/>
                <a:gd name="T4" fmla="*/ 32 w 19433"/>
                <a:gd name="T5" fmla="*/ 0 h 21600"/>
                <a:gd name="T6" fmla="*/ 0 60000 65536"/>
                <a:gd name="T7" fmla="*/ 0 60000 65536"/>
                <a:gd name="T8" fmla="*/ 0 60000 65536"/>
              </a:gdLst>
              <a:ahLst/>
              <a:cxnLst>
                <a:cxn ang="T6">
                  <a:pos x="T0" y="T1"/>
                </a:cxn>
                <a:cxn ang="T7">
                  <a:pos x="T2" y="T3"/>
                </a:cxn>
                <a:cxn ang="T8">
                  <a:pos x="T4" y="T5"/>
                </a:cxn>
              </a:cxnLst>
              <a:rect l="0" t="0" r="r" b="b"/>
              <a:pathLst>
                <a:path w="19433" h="21600" fill="none" extrusionOk="0">
                  <a:moveTo>
                    <a:pt x="19433" y="21600"/>
                  </a:moveTo>
                  <a:cubicBezTo>
                    <a:pt x="11159" y="21600"/>
                    <a:pt x="3612" y="16873"/>
                    <a:pt x="0" y="9429"/>
                  </a:cubicBezTo>
                </a:path>
                <a:path w="19433" h="21600" stroke="0" extrusionOk="0">
                  <a:moveTo>
                    <a:pt x="19433" y="21600"/>
                  </a:moveTo>
                  <a:cubicBezTo>
                    <a:pt x="11159" y="21600"/>
                    <a:pt x="3612" y="16873"/>
                    <a:pt x="0" y="9429"/>
                  </a:cubicBezTo>
                  <a:lnTo>
                    <a:pt x="19433" y="0"/>
                  </a:lnTo>
                  <a:lnTo>
                    <a:pt x="19433"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7427" name="Arc 18">
              <a:extLst>
                <a:ext uri="{FF2B5EF4-FFF2-40B4-BE49-F238E27FC236}">
                  <a16:creationId xmlns:a16="http://schemas.microsoft.com/office/drawing/2014/main" id="{A71F7180-1E02-F0FF-9841-5E2563675D5C}"/>
                </a:ext>
              </a:extLst>
            </p:cNvPr>
            <p:cNvSpPr>
              <a:spLocks/>
            </p:cNvSpPr>
            <p:nvPr/>
          </p:nvSpPr>
          <p:spPr bwMode="auto">
            <a:xfrm rot="-6300000">
              <a:off x="2577" y="1795"/>
              <a:ext cx="957" cy="225"/>
            </a:xfrm>
            <a:custGeom>
              <a:avLst/>
              <a:gdLst>
                <a:gd name="T0" fmla="*/ 42 w 21600"/>
                <a:gd name="T1" fmla="*/ 0 h 21696"/>
                <a:gd name="T2" fmla="*/ 0 w 21600"/>
                <a:gd name="T3" fmla="*/ 2 h 21696"/>
                <a:gd name="T4" fmla="*/ 0 w 21600"/>
                <a:gd name="T5" fmla="*/ 0 h 21696"/>
                <a:gd name="T6" fmla="*/ 0 60000 65536"/>
                <a:gd name="T7" fmla="*/ 0 60000 65536"/>
                <a:gd name="T8" fmla="*/ 0 60000 65536"/>
              </a:gdLst>
              <a:ahLst/>
              <a:cxnLst>
                <a:cxn ang="T6">
                  <a:pos x="T0" y="T1"/>
                </a:cxn>
                <a:cxn ang="T7">
                  <a:pos x="T2" y="T3"/>
                </a:cxn>
                <a:cxn ang="T8">
                  <a:pos x="T4" y="T5"/>
                </a:cxn>
              </a:cxnLst>
              <a:rect l="0" t="0" r="r" b="b"/>
              <a:pathLst>
                <a:path w="21600" h="21696" fill="none" extrusionOk="0">
                  <a:moveTo>
                    <a:pt x="21599" y="0"/>
                  </a:moveTo>
                  <a:cubicBezTo>
                    <a:pt x="21599" y="32"/>
                    <a:pt x="21600" y="64"/>
                    <a:pt x="21600" y="96"/>
                  </a:cubicBezTo>
                  <a:cubicBezTo>
                    <a:pt x="21600" y="12025"/>
                    <a:pt x="11929" y="21695"/>
                    <a:pt x="0" y="21696"/>
                  </a:cubicBezTo>
                </a:path>
                <a:path w="21600" h="21696" stroke="0" extrusionOk="0">
                  <a:moveTo>
                    <a:pt x="21599" y="0"/>
                  </a:moveTo>
                  <a:cubicBezTo>
                    <a:pt x="21599" y="32"/>
                    <a:pt x="21600" y="64"/>
                    <a:pt x="21600" y="96"/>
                  </a:cubicBezTo>
                  <a:cubicBezTo>
                    <a:pt x="21600" y="12025"/>
                    <a:pt x="11929" y="21695"/>
                    <a:pt x="0" y="21696"/>
                  </a:cubicBezTo>
                  <a:lnTo>
                    <a:pt x="0" y="96"/>
                  </a:lnTo>
                  <a:lnTo>
                    <a:pt x="21599" y="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7428" name="Arc 19">
              <a:extLst>
                <a:ext uri="{FF2B5EF4-FFF2-40B4-BE49-F238E27FC236}">
                  <a16:creationId xmlns:a16="http://schemas.microsoft.com/office/drawing/2014/main" id="{3274A73B-860F-E113-1F13-D5277139D1BC}"/>
                </a:ext>
              </a:extLst>
            </p:cNvPr>
            <p:cNvSpPr>
              <a:spLocks/>
            </p:cNvSpPr>
            <p:nvPr/>
          </p:nvSpPr>
          <p:spPr bwMode="auto">
            <a:xfrm rot="-900000">
              <a:off x="1353" y="3110"/>
              <a:ext cx="697" cy="164"/>
            </a:xfrm>
            <a:custGeom>
              <a:avLst/>
              <a:gdLst>
                <a:gd name="T0" fmla="*/ 23 w 20693"/>
                <a:gd name="T1" fmla="*/ 0 h 21576"/>
                <a:gd name="T2" fmla="*/ 1 w 20693"/>
                <a:gd name="T3" fmla="*/ 1 h 21576"/>
                <a:gd name="T4" fmla="*/ 0 w 20693"/>
                <a:gd name="T5" fmla="*/ 0 h 21576"/>
                <a:gd name="T6" fmla="*/ 0 60000 65536"/>
                <a:gd name="T7" fmla="*/ 0 60000 65536"/>
                <a:gd name="T8" fmla="*/ 0 60000 65536"/>
              </a:gdLst>
              <a:ahLst/>
              <a:cxnLst>
                <a:cxn ang="T6">
                  <a:pos x="T0" y="T1"/>
                </a:cxn>
                <a:cxn ang="T7">
                  <a:pos x="T2" y="T3"/>
                </a:cxn>
                <a:cxn ang="T8">
                  <a:pos x="T4" y="T5"/>
                </a:cxn>
              </a:cxnLst>
              <a:rect l="0" t="0" r="r" b="b"/>
              <a:pathLst>
                <a:path w="20693" h="21576" fill="none" extrusionOk="0">
                  <a:moveTo>
                    <a:pt x="20692" y="6193"/>
                  </a:moveTo>
                  <a:cubicBezTo>
                    <a:pt x="18063" y="14978"/>
                    <a:pt x="10173" y="21145"/>
                    <a:pt x="1014" y="21576"/>
                  </a:cubicBezTo>
                </a:path>
                <a:path w="20693" h="21576" stroke="0" extrusionOk="0">
                  <a:moveTo>
                    <a:pt x="20692" y="6193"/>
                  </a:moveTo>
                  <a:cubicBezTo>
                    <a:pt x="18063" y="14978"/>
                    <a:pt x="10173" y="21145"/>
                    <a:pt x="1014" y="21576"/>
                  </a:cubicBezTo>
                  <a:lnTo>
                    <a:pt x="0" y="0"/>
                  </a:lnTo>
                  <a:lnTo>
                    <a:pt x="20692" y="6193"/>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7429" name="Arc 20">
              <a:extLst>
                <a:ext uri="{FF2B5EF4-FFF2-40B4-BE49-F238E27FC236}">
                  <a16:creationId xmlns:a16="http://schemas.microsoft.com/office/drawing/2014/main" id="{BE19104A-9C0B-F52B-8B60-B07F3416D1C1}"/>
                </a:ext>
              </a:extLst>
            </p:cNvPr>
            <p:cNvSpPr>
              <a:spLocks/>
            </p:cNvSpPr>
            <p:nvPr/>
          </p:nvSpPr>
          <p:spPr bwMode="auto">
            <a:xfrm rot="962667">
              <a:off x="3605" y="3095"/>
              <a:ext cx="702" cy="164"/>
            </a:xfrm>
            <a:custGeom>
              <a:avLst/>
              <a:gdLst>
                <a:gd name="T0" fmla="*/ 24 w 20846"/>
                <a:gd name="T1" fmla="*/ 1 h 21600"/>
                <a:gd name="T2" fmla="*/ 0 w 20846"/>
                <a:gd name="T3" fmla="*/ 1 h 21600"/>
                <a:gd name="T4" fmla="*/ 22 w 20846"/>
                <a:gd name="T5" fmla="*/ 0 h 21600"/>
                <a:gd name="T6" fmla="*/ 0 60000 65536"/>
                <a:gd name="T7" fmla="*/ 0 60000 65536"/>
                <a:gd name="T8" fmla="*/ 0 60000 65536"/>
              </a:gdLst>
              <a:ahLst/>
              <a:cxnLst>
                <a:cxn ang="T6">
                  <a:pos x="T0" y="T1"/>
                </a:cxn>
                <a:cxn ang="T7">
                  <a:pos x="T2" y="T3"/>
                </a:cxn>
                <a:cxn ang="T8">
                  <a:pos x="T4" y="T5"/>
                </a:cxn>
              </a:cxnLst>
              <a:rect l="0" t="0" r="r" b="b"/>
              <a:pathLst>
                <a:path w="20846" h="21600" fill="none" extrusionOk="0">
                  <a:moveTo>
                    <a:pt x="20845" y="21570"/>
                  </a:moveTo>
                  <a:cubicBezTo>
                    <a:pt x="20472" y="21590"/>
                    <a:pt x="20098" y="21599"/>
                    <a:pt x="19724" y="21600"/>
                  </a:cubicBezTo>
                  <a:cubicBezTo>
                    <a:pt x="11200" y="21600"/>
                    <a:pt x="3473" y="16587"/>
                    <a:pt x="-1" y="8804"/>
                  </a:cubicBezTo>
                </a:path>
                <a:path w="20846" h="21600" stroke="0" extrusionOk="0">
                  <a:moveTo>
                    <a:pt x="20845" y="21570"/>
                  </a:moveTo>
                  <a:cubicBezTo>
                    <a:pt x="20472" y="21590"/>
                    <a:pt x="20098" y="21599"/>
                    <a:pt x="19724" y="21600"/>
                  </a:cubicBezTo>
                  <a:cubicBezTo>
                    <a:pt x="11200" y="21600"/>
                    <a:pt x="3473" y="16587"/>
                    <a:pt x="-1" y="8804"/>
                  </a:cubicBezTo>
                  <a:lnTo>
                    <a:pt x="19724" y="0"/>
                  </a:lnTo>
                  <a:lnTo>
                    <a:pt x="20845" y="2157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grpSp>
      <p:sp>
        <p:nvSpPr>
          <p:cNvPr id="4" name="Rectangle 3">
            <a:extLst>
              <a:ext uri="{FF2B5EF4-FFF2-40B4-BE49-F238E27FC236}">
                <a16:creationId xmlns:a16="http://schemas.microsoft.com/office/drawing/2014/main" id="{F261D406-DF45-AE41-0439-DEC6A73F2A2E}"/>
              </a:ext>
            </a:extLst>
          </p:cNvPr>
          <p:cNvSpPr>
            <a:spLocks noChangeArrowheads="1"/>
          </p:cNvSpPr>
          <p:nvPr/>
        </p:nvSpPr>
        <p:spPr bwMode="auto">
          <a:xfrm>
            <a:off x="441278" y="2896050"/>
            <a:ext cx="6899417" cy="95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for all values </a:t>
            </a:r>
            <a:r>
              <a:rPr lang="en-US" altLang="zh-CN" sz="2800" i="1" dirty="0">
                <a:latin typeface="Times New Roman" pitchFamily="18" charset="0"/>
              </a:rPr>
              <a:t>x</a:t>
            </a:r>
            <a:r>
              <a:rPr lang="en-US" altLang="zh-CN" sz="2800" dirty="0">
                <a:latin typeface="Times New Roman" pitchFamily="18" charset="0"/>
              </a:rPr>
              <a:t> on the real number line, where </a:t>
            </a:r>
          </a:p>
        </p:txBody>
      </p:sp>
      <p:sp>
        <p:nvSpPr>
          <p:cNvPr id="2" name="灯片编号占位符 16">
            <a:extLst>
              <a:ext uri="{FF2B5EF4-FFF2-40B4-BE49-F238E27FC236}">
                <a16:creationId xmlns:a16="http://schemas.microsoft.com/office/drawing/2014/main" id="{F21B541C-C5CB-3F46-BFF9-75E8FC621EC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1350670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6846E30A-37AE-5DD6-3F45-67E4BA5E220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39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B027216F-4785-6B52-50D2-0EEF3A60A876}"/>
              </a:ext>
            </a:extLst>
          </p:cNvPr>
          <p:cNvPicPr>
            <a:picLocks noChangeAspect="1"/>
          </p:cNvPicPr>
          <p:nvPr/>
        </p:nvPicPr>
        <p:blipFill>
          <a:blip r:embed="rId3"/>
          <a:stretch>
            <a:fillRect/>
          </a:stretch>
        </p:blipFill>
        <p:spPr>
          <a:xfrm>
            <a:off x="2777573" y="647700"/>
            <a:ext cx="6457950" cy="55626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10">
            <a:extLst>
              <a:ext uri="{FF2B5EF4-FFF2-40B4-BE49-F238E27FC236}">
                <a16:creationId xmlns:a16="http://schemas.microsoft.com/office/drawing/2014/main" id="{325D7F91-D292-4C45-E1E6-C9F7F9EEE1F0}"/>
              </a:ext>
            </a:extLst>
          </p:cNvPr>
          <p:cNvSpPr>
            <a:spLocks noGrp="1" noChangeArrowheads="1"/>
          </p:cNvSpPr>
          <p:nvPr>
            <p:ph type="title"/>
          </p:nvPr>
        </p:nvSpPr>
        <p:spPr>
          <a:xfrm>
            <a:off x="339671" y="304594"/>
            <a:ext cx="6458694" cy="1345302"/>
          </a:xfrm>
        </p:spPr>
        <p:txBody>
          <a:bodyPr>
            <a:normAutofit/>
          </a:bodyPr>
          <a:lstStyle/>
          <a:p>
            <a:pPr eaLnBrk="1" hangingPunct="1"/>
            <a:r>
              <a:rPr lang="en-US" altLang="en-US" sz="2800" b="1" dirty="0">
                <a:solidFill>
                  <a:srgbClr val="0000FF"/>
                </a:solidFill>
                <a:latin typeface="Times New Roman" panose="02020603050405020304" pitchFamily="18" charset="0"/>
                <a:cs typeface="Times New Roman" panose="02020603050405020304" pitchFamily="18" charset="0"/>
              </a:rPr>
              <a:t>Properties of the Normal Distribution</a:t>
            </a:r>
          </a:p>
        </p:txBody>
      </p:sp>
      <p:sp>
        <p:nvSpPr>
          <p:cNvPr id="26627" name="Rectangle 11">
            <a:extLst>
              <a:ext uri="{FF2B5EF4-FFF2-40B4-BE49-F238E27FC236}">
                <a16:creationId xmlns:a16="http://schemas.microsoft.com/office/drawing/2014/main" id="{26E20587-BA90-3910-12F5-0C7FB87670BE}"/>
              </a:ext>
            </a:extLst>
          </p:cNvPr>
          <p:cNvSpPr>
            <a:spLocks noGrp="1" noChangeArrowheads="1"/>
          </p:cNvSpPr>
          <p:nvPr>
            <p:ph idx="1"/>
          </p:nvPr>
        </p:nvSpPr>
        <p:spPr>
          <a:xfrm>
            <a:off x="251791" y="1679919"/>
            <a:ext cx="7292009" cy="3528185"/>
          </a:xfrm>
        </p:spPr>
        <p:txBody>
          <a:bodyPr>
            <a:noAutofit/>
          </a:bodyPr>
          <a:lstStyle/>
          <a:p>
            <a:pPr marL="0" indent="0">
              <a:lnSpc>
                <a:spcPct val="150000"/>
              </a:lnSpc>
              <a:spcBef>
                <a:spcPts val="0"/>
              </a:spcBef>
              <a:buNone/>
            </a:pPr>
            <a:r>
              <a:rPr lang="en-US" altLang="en-US" b="1" dirty="0">
                <a:solidFill>
                  <a:srgbClr val="FF0000"/>
                </a:solidFill>
                <a:latin typeface="Times New Roman" panose="02020603050405020304" pitchFamily="18" charset="0"/>
                <a:cs typeface="Times New Roman" panose="02020603050405020304" pitchFamily="18" charset="0"/>
              </a:rPr>
              <a:t>1. </a:t>
            </a:r>
            <a:r>
              <a:rPr lang="en-US" altLang="en-US" dirty="0">
                <a:latin typeface="Times New Roman" panose="02020603050405020304" pitchFamily="18" charset="0"/>
                <a:cs typeface="Times New Roman" panose="02020603050405020304" pitchFamily="18" charset="0"/>
              </a:rPr>
              <a:t>There are an infinite number of normal curves</a:t>
            </a:r>
          </a:p>
          <a:p>
            <a:pPr marL="952500" lvl="1" indent="-495300">
              <a:lnSpc>
                <a:spcPct val="100000"/>
              </a:lnSpc>
              <a:spcBef>
                <a:spcPts val="0"/>
              </a:spcBef>
            </a:pPr>
            <a:r>
              <a:rPr lang="en-US" altLang="en-US" sz="2800" dirty="0">
                <a:latin typeface="Times New Roman" panose="02020603050405020304" pitchFamily="18" charset="0"/>
                <a:cs typeface="Times New Roman" panose="02020603050405020304" pitchFamily="18" charset="0"/>
              </a:rPr>
              <a:t>The shape of any individual normal curve depends on its specific mean and standard deviation.</a:t>
            </a:r>
          </a:p>
          <a:p>
            <a:pPr marL="0" indent="0">
              <a:lnSpc>
                <a:spcPct val="150000"/>
              </a:lnSpc>
              <a:spcBef>
                <a:spcPts val="0"/>
              </a:spcBef>
              <a:buNone/>
            </a:pPr>
            <a:r>
              <a:rPr lang="en-US" altLang="en-US" b="1" dirty="0">
                <a:solidFill>
                  <a:srgbClr val="FF0000"/>
                </a:solidFill>
                <a:latin typeface="Times New Roman" panose="02020603050405020304" pitchFamily="18" charset="0"/>
                <a:cs typeface="Times New Roman" panose="02020603050405020304" pitchFamily="18" charset="0"/>
              </a:rPr>
              <a:t>2. </a:t>
            </a:r>
            <a:r>
              <a:rPr lang="en-US" altLang="en-US" dirty="0">
                <a:latin typeface="Times New Roman" panose="02020603050405020304" pitchFamily="18" charset="0"/>
                <a:cs typeface="Times New Roman" panose="02020603050405020304" pitchFamily="18" charset="0"/>
              </a:rPr>
              <a:t>The highest point is over the </a:t>
            </a:r>
            <a:r>
              <a:rPr lang="en-US" altLang="en-US" dirty="0">
                <a:highlight>
                  <a:srgbClr val="FFFF00"/>
                </a:highlight>
                <a:latin typeface="Times New Roman" panose="02020603050405020304" pitchFamily="18" charset="0"/>
                <a:cs typeface="Times New Roman" panose="02020603050405020304" pitchFamily="18" charset="0"/>
              </a:rPr>
              <a:t>mean</a:t>
            </a:r>
            <a:r>
              <a:rPr lang="en-US" altLang="en-US" dirty="0">
                <a:latin typeface="Times New Roman" panose="02020603050405020304" pitchFamily="18" charset="0"/>
                <a:cs typeface="Times New Roman" panose="02020603050405020304" pitchFamily="18" charset="0"/>
              </a:rPr>
              <a:t>, </a:t>
            </a:r>
          </a:p>
          <a:p>
            <a:pPr marL="952500" lvl="1" indent="-495300">
              <a:lnSpc>
                <a:spcPct val="150000"/>
              </a:lnSpc>
              <a:spcBef>
                <a:spcPts val="0"/>
              </a:spcBef>
            </a:pPr>
            <a:r>
              <a:rPr lang="en-US" altLang="en-US" sz="2800" dirty="0">
                <a:latin typeface="Times New Roman" panose="02020603050405020304" pitchFamily="18" charset="0"/>
                <a:cs typeface="Times New Roman" panose="02020603050405020304" pitchFamily="18" charset="0"/>
              </a:rPr>
              <a:t>Also the </a:t>
            </a:r>
            <a:r>
              <a:rPr lang="en-US" altLang="en-US" sz="2800" dirty="0">
                <a:highlight>
                  <a:srgbClr val="FFFF00"/>
                </a:highlight>
                <a:latin typeface="Times New Roman" panose="02020603050405020304" pitchFamily="18" charset="0"/>
                <a:cs typeface="Times New Roman" panose="02020603050405020304" pitchFamily="18" charset="0"/>
              </a:rPr>
              <a:t>median</a:t>
            </a:r>
            <a:r>
              <a:rPr lang="en-US" altLang="en-US" sz="2800" dirty="0">
                <a:latin typeface="Times New Roman" panose="02020603050405020304" pitchFamily="18" charset="0"/>
                <a:cs typeface="Times New Roman" panose="02020603050405020304" pitchFamily="18" charset="0"/>
              </a:rPr>
              <a:t> and </a:t>
            </a:r>
            <a:r>
              <a:rPr lang="en-US" altLang="en-US" sz="2800" dirty="0">
                <a:highlight>
                  <a:srgbClr val="FFFF00"/>
                </a:highlight>
                <a:latin typeface="Times New Roman" panose="02020603050405020304" pitchFamily="18" charset="0"/>
                <a:cs typeface="Times New Roman" panose="02020603050405020304" pitchFamily="18" charset="0"/>
              </a:rPr>
              <a:t>mode</a:t>
            </a:r>
            <a:r>
              <a:rPr lang="en-US" altLang="en-US" sz="2800" dirty="0">
                <a:latin typeface="Times New Roman" panose="02020603050405020304" pitchFamily="18" charset="0"/>
                <a:cs typeface="Times New Roman" panose="02020603050405020304" pitchFamily="18" charset="0"/>
              </a:rPr>
              <a:t>.</a:t>
            </a:r>
          </a:p>
        </p:txBody>
      </p:sp>
      <p:grpSp>
        <p:nvGrpSpPr>
          <p:cNvPr id="2" name="Group 6">
            <a:extLst>
              <a:ext uri="{FF2B5EF4-FFF2-40B4-BE49-F238E27FC236}">
                <a16:creationId xmlns:a16="http://schemas.microsoft.com/office/drawing/2014/main" id="{8697D496-93F5-A73A-C363-75ABD2EEE0C2}"/>
              </a:ext>
            </a:extLst>
          </p:cNvPr>
          <p:cNvGrpSpPr>
            <a:grpSpLocks/>
          </p:cNvGrpSpPr>
          <p:nvPr/>
        </p:nvGrpSpPr>
        <p:grpSpPr bwMode="auto">
          <a:xfrm>
            <a:off x="7802220" y="1564755"/>
            <a:ext cx="4194312" cy="3491666"/>
            <a:chOff x="1095" y="901"/>
            <a:chExt cx="3686" cy="3051"/>
          </a:xfrm>
        </p:grpSpPr>
        <p:sp>
          <p:nvSpPr>
            <p:cNvPr id="3" name="Freeform 7">
              <a:extLst>
                <a:ext uri="{FF2B5EF4-FFF2-40B4-BE49-F238E27FC236}">
                  <a16:creationId xmlns:a16="http://schemas.microsoft.com/office/drawing/2014/main" id="{DEE18D17-7B92-7413-8696-B948E82E8784}"/>
                </a:ext>
              </a:extLst>
            </p:cNvPr>
            <p:cNvSpPr>
              <a:spLocks/>
            </p:cNvSpPr>
            <p:nvPr/>
          </p:nvSpPr>
          <p:spPr bwMode="auto">
            <a:xfrm>
              <a:off x="1415" y="1468"/>
              <a:ext cx="2856" cy="1928"/>
            </a:xfrm>
            <a:custGeom>
              <a:avLst/>
              <a:gdLst>
                <a:gd name="T0" fmla="*/ 1364 w 2848"/>
                <a:gd name="T1" fmla="*/ 14 h 1928"/>
                <a:gd name="T2" fmla="*/ 1272 w 2848"/>
                <a:gd name="T3" fmla="*/ 102 h 1928"/>
                <a:gd name="T4" fmla="*/ 1208 w 2848"/>
                <a:gd name="T5" fmla="*/ 202 h 1928"/>
                <a:gd name="T6" fmla="*/ 1150 w 2848"/>
                <a:gd name="T7" fmla="*/ 310 h 1928"/>
                <a:gd name="T8" fmla="*/ 1106 w 2848"/>
                <a:gd name="T9" fmla="*/ 412 h 1928"/>
                <a:gd name="T10" fmla="*/ 1066 w 2848"/>
                <a:gd name="T11" fmla="*/ 514 h 1928"/>
                <a:gd name="T12" fmla="*/ 1028 w 2848"/>
                <a:gd name="T13" fmla="*/ 620 h 1928"/>
                <a:gd name="T14" fmla="*/ 991 w 2848"/>
                <a:gd name="T15" fmla="*/ 746 h 1928"/>
                <a:gd name="T16" fmla="*/ 959 w 2848"/>
                <a:gd name="T17" fmla="*/ 860 h 1928"/>
                <a:gd name="T18" fmla="*/ 929 w 2848"/>
                <a:gd name="T19" fmla="*/ 970 h 1928"/>
                <a:gd name="T20" fmla="*/ 891 w 2848"/>
                <a:gd name="T21" fmla="*/ 1082 h 1928"/>
                <a:gd name="T22" fmla="*/ 853 w 2848"/>
                <a:gd name="T23" fmla="*/ 1194 h 1928"/>
                <a:gd name="T24" fmla="*/ 811 w 2848"/>
                <a:gd name="T25" fmla="*/ 1294 h 1928"/>
                <a:gd name="T26" fmla="*/ 758 w 2848"/>
                <a:gd name="T27" fmla="*/ 1404 h 1928"/>
                <a:gd name="T28" fmla="*/ 695 w 2848"/>
                <a:gd name="T29" fmla="*/ 1508 h 1928"/>
                <a:gd name="T30" fmla="*/ 608 w 2848"/>
                <a:gd name="T31" fmla="*/ 1614 h 1928"/>
                <a:gd name="T32" fmla="*/ 510 w 2848"/>
                <a:gd name="T33" fmla="*/ 1686 h 1928"/>
                <a:gd name="T34" fmla="*/ 402 w 2848"/>
                <a:gd name="T35" fmla="*/ 1746 h 1928"/>
                <a:gd name="T36" fmla="*/ 308 w 2848"/>
                <a:gd name="T37" fmla="*/ 1786 h 1928"/>
                <a:gd name="T38" fmla="*/ 200 w 2848"/>
                <a:gd name="T39" fmla="*/ 1822 h 1928"/>
                <a:gd name="T40" fmla="*/ 76 w 2848"/>
                <a:gd name="T41" fmla="*/ 1860 h 1928"/>
                <a:gd name="T42" fmla="*/ 2 w 2848"/>
                <a:gd name="T43" fmla="*/ 1886 h 1928"/>
                <a:gd name="T44" fmla="*/ 2864 w 2848"/>
                <a:gd name="T45" fmla="*/ 1928 h 1928"/>
                <a:gd name="T46" fmla="*/ 2808 w 2848"/>
                <a:gd name="T47" fmla="*/ 1866 h 1928"/>
                <a:gd name="T48" fmla="*/ 2708 w 2848"/>
                <a:gd name="T49" fmla="*/ 1838 h 1928"/>
                <a:gd name="T50" fmla="*/ 2593 w 2848"/>
                <a:gd name="T51" fmla="*/ 1800 h 1928"/>
                <a:gd name="T52" fmla="*/ 2478 w 2848"/>
                <a:gd name="T53" fmla="*/ 1754 h 1928"/>
                <a:gd name="T54" fmla="*/ 2347 w 2848"/>
                <a:gd name="T55" fmla="*/ 1686 h 1928"/>
                <a:gd name="T56" fmla="*/ 2301 w 2848"/>
                <a:gd name="T57" fmla="*/ 1660 h 1928"/>
                <a:gd name="T58" fmla="*/ 2210 w 2848"/>
                <a:gd name="T59" fmla="*/ 1588 h 1928"/>
                <a:gd name="T60" fmla="*/ 2128 w 2848"/>
                <a:gd name="T61" fmla="*/ 1480 h 1928"/>
                <a:gd name="T62" fmla="*/ 2070 w 2848"/>
                <a:gd name="T63" fmla="*/ 1382 h 1928"/>
                <a:gd name="T64" fmla="*/ 2030 w 2848"/>
                <a:gd name="T65" fmla="*/ 1298 h 1928"/>
                <a:gd name="T66" fmla="*/ 1985 w 2848"/>
                <a:gd name="T67" fmla="*/ 1194 h 1928"/>
                <a:gd name="T68" fmla="*/ 1951 w 2848"/>
                <a:gd name="T69" fmla="*/ 1106 h 1928"/>
                <a:gd name="T70" fmla="*/ 1924 w 2848"/>
                <a:gd name="T71" fmla="*/ 1018 h 1928"/>
                <a:gd name="T72" fmla="*/ 1886 w 2848"/>
                <a:gd name="T73" fmla="*/ 890 h 1928"/>
                <a:gd name="T74" fmla="*/ 1855 w 2848"/>
                <a:gd name="T75" fmla="*/ 778 h 1928"/>
                <a:gd name="T76" fmla="*/ 1817 w 2848"/>
                <a:gd name="T77" fmla="*/ 647 h 1928"/>
                <a:gd name="T78" fmla="*/ 1772 w 2848"/>
                <a:gd name="T79" fmla="*/ 524 h 1928"/>
                <a:gd name="T80" fmla="*/ 1726 w 2848"/>
                <a:gd name="T81" fmla="*/ 402 h 1928"/>
                <a:gd name="T82" fmla="*/ 1694 w 2848"/>
                <a:gd name="T83" fmla="*/ 330 h 1928"/>
                <a:gd name="T84" fmla="*/ 1642 w 2848"/>
                <a:gd name="T85" fmla="*/ 224 h 1928"/>
                <a:gd name="T86" fmla="*/ 1614 w 2848"/>
                <a:gd name="T87" fmla="*/ 174 h 1928"/>
                <a:gd name="T88" fmla="*/ 1599 w 2848"/>
                <a:gd name="T89" fmla="*/ 156 h 1928"/>
                <a:gd name="T90" fmla="*/ 1596 w 2848"/>
                <a:gd name="T91" fmla="*/ 150 h 1928"/>
                <a:gd name="T92" fmla="*/ 1516 w 2848"/>
                <a:gd name="T93" fmla="*/ 46 h 1928"/>
                <a:gd name="T94" fmla="*/ 1452 w 2848"/>
                <a:gd name="T95" fmla="*/ 6 h 19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48" h="1928">
                  <a:moveTo>
                    <a:pt x="1422" y="0"/>
                  </a:moveTo>
                  <a:lnTo>
                    <a:pt x="1388" y="2"/>
                  </a:lnTo>
                  <a:lnTo>
                    <a:pt x="1356" y="14"/>
                  </a:lnTo>
                  <a:lnTo>
                    <a:pt x="1320" y="38"/>
                  </a:lnTo>
                  <a:lnTo>
                    <a:pt x="1294" y="66"/>
                  </a:lnTo>
                  <a:lnTo>
                    <a:pt x="1264" y="102"/>
                  </a:lnTo>
                  <a:lnTo>
                    <a:pt x="1240" y="138"/>
                  </a:lnTo>
                  <a:lnTo>
                    <a:pt x="1222" y="168"/>
                  </a:lnTo>
                  <a:lnTo>
                    <a:pt x="1202" y="202"/>
                  </a:lnTo>
                  <a:lnTo>
                    <a:pt x="1180" y="240"/>
                  </a:lnTo>
                  <a:lnTo>
                    <a:pt x="1160" y="282"/>
                  </a:lnTo>
                  <a:lnTo>
                    <a:pt x="1144" y="310"/>
                  </a:lnTo>
                  <a:lnTo>
                    <a:pt x="1130" y="342"/>
                  </a:lnTo>
                  <a:lnTo>
                    <a:pt x="1115" y="376"/>
                  </a:lnTo>
                  <a:lnTo>
                    <a:pt x="1100" y="412"/>
                  </a:lnTo>
                  <a:lnTo>
                    <a:pt x="1084" y="446"/>
                  </a:lnTo>
                  <a:lnTo>
                    <a:pt x="1072" y="478"/>
                  </a:lnTo>
                  <a:lnTo>
                    <a:pt x="1060" y="514"/>
                  </a:lnTo>
                  <a:lnTo>
                    <a:pt x="1046" y="552"/>
                  </a:lnTo>
                  <a:lnTo>
                    <a:pt x="1033" y="584"/>
                  </a:lnTo>
                  <a:lnTo>
                    <a:pt x="1022" y="620"/>
                  </a:lnTo>
                  <a:lnTo>
                    <a:pt x="1009" y="662"/>
                  </a:lnTo>
                  <a:lnTo>
                    <a:pt x="997" y="704"/>
                  </a:lnTo>
                  <a:lnTo>
                    <a:pt x="985" y="746"/>
                  </a:lnTo>
                  <a:lnTo>
                    <a:pt x="973" y="782"/>
                  </a:lnTo>
                  <a:lnTo>
                    <a:pt x="963" y="818"/>
                  </a:lnTo>
                  <a:lnTo>
                    <a:pt x="953" y="860"/>
                  </a:lnTo>
                  <a:lnTo>
                    <a:pt x="941" y="902"/>
                  </a:lnTo>
                  <a:lnTo>
                    <a:pt x="933" y="934"/>
                  </a:lnTo>
                  <a:lnTo>
                    <a:pt x="923" y="970"/>
                  </a:lnTo>
                  <a:lnTo>
                    <a:pt x="913" y="1001"/>
                  </a:lnTo>
                  <a:lnTo>
                    <a:pt x="899" y="1044"/>
                  </a:lnTo>
                  <a:lnTo>
                    <a:pt x="887" y="1082"/>
                  </a:lnTo>
                  <a:lnTo>
                    <a:pt x="875" y="1120"/>
                  </a:lnTo>
                  <a:lnTo>
                    <a:pt x="861" y="1164"/>
                  </a:lnTo>
                  <a:lnTo>
                    <a:pt x="849" y="1194"/>
                  </a:lnTo>
                  <a:lnTo>
                    <a:pt x="839" y="1224"/>
                  </a:lnTo>
                  <a:lnTo>
                    <a:pt x="823" y="1258"/>
                  </a:lnTo>
                  <a:lnTo>
                    <a:pt x="807" y="1294"/>
                  </a:lnTo>
                  <a:lnTo>
                    <a:pt x="790" y="1328"/>
                  </a:lnTo>
                  <a:lnTo>
                    <a:pt x="772" y="1364"/>
                  </a:lnTo>
                  <a:lnTo>
                    <a:pt x="754" y="1404"/>
                  </a:lnTo>
                  <a:lnTo>
                    <a:pt x="733" y="1439"/>
                  </a:lnTo>
                  <a:lnTo>
                    <a:pt x="713" y="1474"/>
                  </a:lnTo>
                  <a:lnTo>
                    <a:pt x="691" y="1508"/>
                  </a:lnTo>
                  <a:lnTo>
                    <a:pt x="664" y="1546"/>
                  </a:lnTo>
                  <a:lnTo>
                    <a:pt x="640" y="1578"/>
                  </a:lnTo>
                  <a:lnTo>
                    <a:pt x="604" y="1614"/>
                  </a:lnTo>
                  <a:lnTo>
                    <a:pt x="582" y="1636"/>
                  </a:lnTo>
                  <a:lnTo>
                    <a:pt x="550" y="1656"/>
                  </a:lnTo>
                  <a:lnTo>
                    <a:pt x="508" y="1686"/>
                  </a:lnTo>
                  <a:lnTo>
                    <a:pt x="460" y="1714"/>
                  </a:lnTo>
                  <a:lnTo>
                    <a:pt x="428" y="1730"/>
                  </a:lnTo>
                  <a:lnTo>
                    <a:pt x="400" y="1746"/>
                  </a:lnTo>
                  <a:lnTo>
                    <a:pt x="367" y="1760"/>
                  </a:lnTo>
                  <a:lnTo>
                    <a:pt x="338" y="1772"/>
                  </a:lnTo>
                  <a:lnTo>
                    <a:pt x="306" y="1786"/>
                  </a:lnTo>
                  <a:lnTo>
                    <a:pt x="278" y="1794"/>
                  </a:lnTo>
                  <a:lnTo>
                    <a:pt x="250" y="1806"/>
                  </a:lnTo>
                  <a:lnTo>
                    <a:pt x="198" y="1822"/>
                  </a:lnTo>
                  <a:lnTo>
                    <a:pt x="160" y="1836"/>
                  </a:lnTo>
                  <a:lnTo>
                    <a:pt x="116" y="1850"/>
                  </a:lnTo>
                  <a:lnTo>
                    <a:pt x="76" y="1860"/>
                  </a:lnTo>
                  <a:lnTo>
                    <a:pt x="46" y="1872"/>
                  </a:lnTo>
                  <a:lnTo>
                    <a:pt x="26" y="1876"/>
                  </a:lnTo>
                  <a:lnTo>
                    <a:pt x="2" y="1886"/>
                  </a:lnTo>
                  <a:lnTo>
                    <a:pt x="0" y="1904"/>
                  </a:lnTo>
                  <a:lnTo>
                    <a:pt x="2" y="1926"/>
                  </a:lnTo>
                  <a:lnTo>
                    <a:pt x="2848" y="1928"/>
                  </a:lnTo>
                  <a:lnTo>
                    <a:pt x="2848" y="1884"/>
                  </a:lnTo>
                  <a:lnTo>
                    <a:pt x="2822" y="1876"/>
                  </a:lnTo>
                  <a:lnTo>
                    <a:pt x="2792" y="1866"/>
                  </a:lnTo>
                  <a:lnTo>
                    <a:pt x="2752" y="1856"/>
                  </a:lnTo>
                  <a:lnTo>
                    <a:pt x="2716" y="1846"/>
                  </a:lnTo>
                  <a:lnTo>
                    <a:pt x="2692" y="1838"/>
                  </a:lnTo>
                  <a:lnTo>
                    <a:pt x="2661" y="1828"/>
                  </a:lnTo>
                  <a:lnTo>
                    <a:pt x="2623" y="1818"/>
                  </a:lnTo>
                  <a:lnTo>
                    <a:pt x="2579" y="1800"/>
                  </a:lnTo>
                  <a:lnTo>
                    <a:pt x="2537" y="1784"/>
                  </a:lnTo>
                  <a:lnTo>
                    <a:pt x="2506" y="1772"/>
                  </a:lnTo>
                  <a:lnTo>
                    <a:pt x="2464" y="1754"/>
                  </a:lnTo>
                  <a:lnTo>
                    <a:pt x="2428" y="1736"/>
                  </a:lnTo>
                  <a:lnTo>
                    <a:pt x="2375" y="1710"/>
                  </a:lnTo>
                  <a:lnTo>
                    <a:pt x="2333" y="1686"/>
                  </a:lnTo>
                  <a:lnTo>
                    <a:pt x="2309" y="1674"/>
                  </a:lnTo>
                  <a:lnTo>
                    <a:pt x="2297" y="1666"/>
                  </a:lnTo>
                  <a:lnTo>
                    <a:pt x="2289" y="1660"/>
                  </a:lnTo>
                  <a:lnTo>
                    <a:pt x="2259" y="1640"/>
                  </a:lnTo>
                  <a:lnTo>
                    <a:pt x="2232" y="1616"/>
                  </a:lnTo>
                  <a:lnTo>
                    <a:pt x="2198" y="1588"/>
                  </a:lnTo>
                  <a:lnTo>
                    <a:pt x="2170" y="1556"/>
                  </a:lnTo>
                  <a:lnTo>
                    <a:pt x="2142" y="1520"/>
                  </a:lnTo>
                  <a:lnTo>
                    <a:pt x="2116" y="1480"/>
                  </a:lnTo>
                  <a:lnTo>
                    <a:pt x="2090" y="1444"/>
                  </a:lnTo>
                  <a:lnTo>
                    <a:pt x="2074" y="1412"/>
                  </a:lnTo>
                  <a:lnTo>
                    <a:pt x="2058" y="1382"/>
                  </a:lnTo>
                  <a:lnTo>
                    <a:pt x="2044" y="1354"/>
                  </a:lnTo>
                  <a:lnTo>
                    <a:pt x="2030" y="1324"/>
                  </a:lnTo>
                  <a:lnTo>
                    <a:pt x="2018" y="1298"/>
                  </a:lnTo>
                  <a:lnTo>
                    <a:pt x="2006" y="1268"/>
                  </a:lnTo>
                  <a:lnTo>
                    <a:pt x="1987" y="1228"/>
                  </a:lnTo>
                  <a:lnTo>
                    <a:pt x="1973" y="1194"/>
                  </a:lnTo>
                  <a:lnTo>
                    <a:pt x="1962" y="1166"/>
                  </a:lnTo>
                  <a:lnTo>
                    <a:pt x="1952" y="1134"/>
                  </a:lnTo>
                  <a:lnTo>
                    <a:pt x="1941" y="1106"/>
                  </a:lnTo>
                  <a:lnTo>
                    <a:pt x="1933" y="1080"/>
                  </a:lnTo>
                  <a:lnTo>
                    <a:pt x="1923" y="1050"/>
                  </a:lnTo>
                  <a:lnTo>
                    <a:pt x="1914" y="1018"/>
                  </a:lnTo>
                  <a:lnTo>
                    <a:pt x="1900" y="974"/>
                  </a:lnTo>
                  <a:lnTo>
                    <a:pt x="1888" y="929"/>
                  </a:lnTo>
                  <a:lnTo>
                    <a:pt x="1876" y="890"/>
                  </a:lnTo>
                  <a:lnTo>
                    <a:pt x="1865" y="852"/>
                  </a:lnTo>
                  <a:lnTo>
                    <a:pt x="1855" y="814"/>
                  </a:lnTo>
                  <a:lnTo>
                    <a:pt x="1845" y="778"/>
                  </a:lnTo>
                  <a:lnTo>
                    <a:pt x="1834" y="734"/>
                  </a:lnTo>
                  <a:lnTo>
                    <a:pt x="1822" y="692"/>
                  </a:lnTo>
                  <a:lnTo>
                    <a:pt x="1807" y="647"/>
                  </a:lnTo>
                  <a:lnTo>
                    <a:pt x="1791" y="602"/>
                  </a:lnTo>
                  <a:lnTo>
                    <a:pt x="1774" y="554"/>
                  </a:lnTo>
                  <a:lnTo>
                    <a:pt x="1762" y="524"/>
                  </a:lnTo>
                  <a:lnTo>
                    <a:pt x="1750" y="488"/>
                  </a:lnTo>
                  <a:lnTo>
                    <a:pt x="1734" y="448"/>
                  </a:lnTo>
                  <a:lnTo>
                    <a:pt x="1716" y="402"/>
                  </a:lnTo>
                  <a:lnTo>
                    <a:pt x="1704" y="374"/>
                  </a:lnTo>
                  <a:lnTo>
                    <a:pt x="1692" y="352"/>
                  </a:lnTo>
                  <a:lnTo>
                    <a:pt x="1684" y="330"/>
                  </a:lnTo>
                  <a:lnTo>
                    <a:pt x="1666" y="294"/>
                  </a:lnTo>
                  <a:lnTo>
                    <a:pt x="1648" y="258"/>
                  </a:lnTo>
                  <a:lnTo>
                    <a:pt x="1632" y="224"/>
                  </a:lnTo>
                  <a:lnTo>
                    <a:pt x="1621" y="206"/>
                  </a:lnTo>
                  <a:lnTo>
                    <a:pt x="1614" y="192"/>
                  </a:lnTo>
                  <a:lnTo>
                    <a:pt x="1604" y="174"/>
                  </a:lnTo>
                  <a:lnTo>
                    <a:pt x="1578" y="136"/>
                  </a:lnTo>
                  <a:lnTo>
                    <a:pt x="1569" y="126"/>
                  </a:lnTo>
                  <a:lnTo>
                    <a:pt x="1591" y="156"/>
                  </a:lnTo>
                  <a:lnTo>
                    <a:pt x="1599" y="168"/>
                  </a:lnTo>
                  <a:lnTo>
                    <a:pt x="1591" y="158"/>
                  </a:lnTo>
                  <a:lnTo>
                    <a:pt x="1588" y="150"/>
                  </a:lnTo>
                  <a:lnTo>
                    <a:pt x="1554" y="106"/>
                  </a:lnTo>
                  <a:lnTo>
                    <a:pt x="1534" y="80"/>
                  </a:lnTo>
                  <a:lnTo>
                    <a:pt x="1508" y="46"/>
                  </a:lnTo>
                  <a:lnTo>
                    <a:pt x="1492" y="30"/>
                  </a:lnTo>
                  <a:lnTo>
                    <a:pt x="1468" y="16"/>
                  </a:lnTo>
                  <a:lnTo>
                    <a:pt x="1444" y="6"/>
                  </a:lnTo>
                  <a:lnTo>
                    <a:pt x="1420" y="2"/>
                  </a:lnTo>
                </a:path>
              </a:pathLst>
            </a:custGeom>
            <a:gradFill rotWithShape="0">
              <a:gsLst>
                <a:gs pos="0">
                  <a:srgbClr val="33CCCC"/>
                </a:gs>
                <a:gs pos="50000">
                  <a:srgbClr val="185E5E"/>
                </a:gs>
                <a:gs pos="100000">
                  <a:srgbClr val="33CCCC"/>
                </a:gs>
              </a:gsLst>
              <a:lin ang="0" scaled="1"/>
            </a:gradFill>
            <a:ln>
              <a:noFill/>
            </a:ln>
            <a:effectLst/>
            <a:extLst>
              <a:ext uri="{91240B29-F687-4F45-9708-019B960494DF}">
                <a14:hiddenLine xmlns:a14="http://schemas.microsoft.com/office/drawing/2010/main" w="19050" cap="rnd" cmpd="sng">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Line 8">
              <a:extLst>
                <a:ext uri="{FF2B5EF4-FFF2-40B4-BE49-F238E27FC236}">
                  <a16:creationId xmlns:a16="http://schemas.microsoft.com/office/drawing/2014/main" id="{5EB0CC4D-583D-3CAA-4A4D-08F4D2E9D02E}"/>
                </a:ext>
              </a:extLst>
            </p:cNvPr>
            <p:cNvSpPr>
              <a:spLocks noChangeShapeType="1"/>
            </p:cNvSpPr>
            <p:nvPr/>
          </p:nvSpPr>
          <p:spPr bwMode="auto">
            <a:xfrm>
              <a:off x="1270" y="3395"/>
              <a:ext cx="3151" cy="0"/>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Freeform 9">
              <a:extLst>
                <a:ext uri="{FF2B5EF4-FFF2-40B4-BE49-F238E27FC236}">
                  <a16:creationId xmlns:a16="http://schemas.microsoft.com/office/drawing/2014/main" id="{BC124D27-A3EF-D289-F2DF-87E85F90E496}"/>
                </a:ext>
              </a:extLst>
            </p:cNvPr>
            <p:cNvSpPr>
              <a:spLocks noChangeArrowheads="1"/>
            </p:cNvSpPr>
            <p:nvPr/>
          </p:nvSpPr>
          <p:spPr bwMode="auto">
            <a:xfrm>
              <a:off x="2853" y="3354"/>
              <a:ext cx="1" cy="113"/>
            </a:xfrm>
            <a:custGeom>
              <a:avLst/>
              <a:gdLst>
                <a:gd name="T0" fmla="*/ 0 w 1"/>
                <a:gd name="T1" fmla="*/ 0 h 113"/>
                <a:gd name="T2" fmla="*/ 0 w 1"/>
                <a:gd name="T3" fmla="*/ 113 h 113"/>
                <a:gd name="T4" fmla="*/ 0 60000 65536"/>
                <a:gd name="T5" fmla="*/ 0 60000 65536"/>
              </a:gdLst>
              <a:ahLst/>
              <a:cxnLst>
                <a:cxn ang="T4">
                  <a:pos x="T0" y="T1"/>
                </a:cxn>
                <a:cxn ang="T5">
                  <a:pos x="T2" y="T3"/>
                </a:cxn>
              </a:cxnLst>
              <a:rect l="0" t="0" r="r" b="b"/>
              <a:pathLst>
                <a:path w="1" h="113">
                  <a:moveTo>
                    <a:pt x="0" y="0"/>
                  </a:moveTo>
                  <a:lnTo>
                    <a:pt x="0" y="113"/>
                  </a:lnTo>
                </a:path>
              </a:pathLst>
            </a:cu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 name="Rectangle 10">
              <a:extLst>
                <a:ext uri="{FF2B5EF4-FFF2-40B4-BE49-F238E27FC236}">
                  <a16:creationId xmlns:a16="http://schemas.microsoft.com/office/drawing/2014/main" id="{4CE5BE3A-5D60-88DD-FC71-E014998AE6BF}"/>
                </a:ext>
              </a:extLst>
            </p:cNvPr>
            <p:cNvSpPr>
              <a:spLocks noChangeArrowheads="1"/>
            </p:cNvSpPr>
            <p:nvPr/>
          </p:nvSpPr>
          <p:spPr bwMode="auto">
            <a:xfrm>
              <a:off x="1453" y="2570"/>
              <a:ext cx="445" cy="28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11">
              <a:extLst>
                <a:ext uri="{FF2B5EF4-FFF2-40B4-BE49-F238E27FC236}">
                  <a16:creationId xmlns:a16="http://schemas.microsoft.com/office/drawing/2014/main" id="{9552695A-047A-8056-6CB1-1E71DEDD8CE7}"/>
                </a:ext>
              </a:extLst>
            </p:cNvPr>
            <p:cNvSpPr>
              <a:spLocks noChangeArrowheads="1"/>
            </p:cNvSpPr>
            <p:nvPr/>
          </p:nvSpPr>
          <p:spPr bwMode="auto">
            <a:xfrm>
              <a:off x="2717" y="3423"/>
              <a:ext cx="369"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Symbol" pitchFamily="18" charset="2"/>
                </a:rPr>
                <a:t></a:t>
              </a:r>
            </a:p>
          </p:txBody>
        </p:sp>
        <p:sp>
          <p:nvSpPr>
            <p:cNvPr id="8" name="Rectangle 12">
              <a:extLst>
                <a:ext uri="{FF2B5EF4-FFF2-40B4-BE49-F238E27FC236}">
                  <a16:creationId xmlns:a16="http://schemas.microsoft.com/office/drawing/2014/main" id="{FE1ECE16-D2FC-5D25-2BF8-F1F684D81042}"/>
                </a:ext>
              </a:extLst>
            </p:cNvPr>
            <p:cNvSpPr>
              <a:spLocks noChangeArrowheads="1"/>
            </p:cNvSpPr>
            <p:nvPr/>
          </p:nvSpPr>
          <p:spPr bwMode="auto">
            <a:xfrm>
              <a:off x="4437" y="3146"/>
              <a:ext cx="344"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x</a:t>
              </a:r>
            </a:p>
          </p:txBody>
        </p:sp>
        <p:sp>
          <p:nvSpPr>
            <p:cNvPr id="9" name="Line 13">
              <a:extLst>
                <a:ext uri="{FF2B5EF4-FFF2-40B4-BE49-F238E27FC236}">
                  <a16:creationId xmlns:a16="http://schemas.microsoft.com/office/drawing/2014/main" id="{F56A2C3A-72A5-AACC-4B00-C85B7B31DB45}"/>
                </a:ext>
              </a:extLst>
            </p:cNvPr>
            <p:cNvSpPr>
              <a:spLocks noChangeShapeType="1"/>
            </p:cNvSpPr>
            <p:nvPr/>
          </p:nvSpPr>
          <p:spPr bwMode="auto">
            <a:xfrm flipV="1">
              <a:off x="1265" y="1422"/>
              <a:ext cx="0" cy="1976"/>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Rectangle 14">
              <a:extLst>
                <a:ext uri="{FF2B5EF4-FFF2-40B4-BE49-F238E27FC236}">
                  <a16:creationId xmlns:a16="http://schemas.microsoft.com/office/drawing/2014/main" id="{99A095E5-43DD-00FE-6968-1B301CA33B30}"/>
                </a:ext>
              </a:extLst>
            </p:cNvPr>
            <p:cNvSpPr>
              <a:spLocks noChangeArrowheads="1"/>
            </p:cNvSpPr>
            <p:nvPr/>
          </p:nvSpPr>
          <p:spPr bwMode="auto">
            <a:xfrm>
              <a:off x="1095" y="901"/>
              <a:ext cx="640"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f</a:t>
              </a:r>
              <a:r>
                <a:rPr lang="en-US" altLang="zh-CN" sz="2400" dirty="0">
                  <a:latin typeface="Book Antiqua" pitchFamily="18" charset="0"/>
                </a:rPr>
                <a:t>(</a:t>
              </a:r>
              <a:r>
                <a:rPr lang="en-US" altLang="zh-CN" sz="2400" i="1" dirty="0">
                  <a:latin typeface="Book Antiqua" pitchFamily="18" charset="0"/>
                </a:rPr>
                <a:t>x</a:t>
              </a:r>
              <a:r>
                <a:rPr lang="en-US" altLang="zh-CN" sz="2400" dirty="0">
                  <a:latin typeface="Book Antiqua" pitchFamily="18" charset="0"/>
                </a:rPr>
                <a:t>)</a:t>
              </a:r>
            </a:p>
          </p:txBody>
        </p:sp>
        <p:sp>
          <p:nvSpPr>
            <p:cNvPr id="11" name="Arc 15">
              <a:extLst>
                <a:ext uri="{FF2B5EF4-FFF2-40B4-BE49-F238E27FC236}">
                  <a16:creationId xmlns:a16="http://schemas.microsoft.com/office/drawing/2014/main" id="{9877F91D-5F36-A3AD-9E3A-D1C1C252EC28}"/>
                </a:ext>
              </a:extLst>
            </p:cNvPr>
            <p:cNvSpPr>
              <a:spLocks/>
            </p:cNvSpPr>
            <p:nvPr/>
          </p:nvSpPr>
          <p:spPr bwMode="auto">
            <a:xfrm rot="4601066">
              <a:off x="3122" y="2548"/>
              <a:ext cx="790" cy="284"/>
            </a:xfrm>
            <a:custGeom>
              <a:avLst/>
              <a:gdLst>
                <a:gd name="T0" fmla="*/ 32 w 19428"/>
                <a:gd name="T1" fmla="*/ 2 h 21600"/>
                <a:gd name="T2" fmla="*/ 0 w 19428"/>
                <a:gd name="T3" fmla="*/ 4 h 21600"/>
                <a:gd name="T4" fmla="*/ 0 w 19428"/>
                <a:gd name="T5" fmla="*/ 0 h 21600"/>
                <a:gd name="T6" fmla="*/ 0 60000 65536"/>
                <a:gd name="T7" fmla="*/ 0 60000 65536"/>
                <a:gd name="T8" fmla="*/ 0 60000 65536"/>
              </a:gdLst>
              <a:ahLst/>
              <a:cxnLst>
                <a:cxn ang="T6">
                  <a:pos x="T0" y="T1"/>
                </a:cxn>
                <a:cxn ang="T7">
                  <a:pos x="T2" y="T3"/>
                </a:cxn>
                <a:cxn ang="T8">
                  <a:pos x="T4" y="T5"/>
                </a:cxn>
              </a:cxnLst>
              <a:rect l="0" t="0" r="r" b="b"/>
              <a:pathLst>
                <a:path w="19428" h="21600" fill="none" extrusionOk="0">
                  <a:moveTo>
                    <a:pt x="19427" y="9439"/>
                  </a:moveTo>
                  <a:cubicBezTo>
                    <a:pt x="15813" y="16878"/>
                    <a:pt x="8269" y="21599"/>
                    <a:pt x="0" y="21600"/>
                  </a:cubicBezTo>
                </a:path>
                <a:path w="19428" h="21600" stroke="0" extrusionOk="0">
                  <a:moveTo>
                    <a:pt x="19427" y="9439"/>
                  </a:moveTo>
                  <a:cubicBezTo>
                    <a:pt x="15813" y="16878"/>
                    <a:pt x="8269" y="21599"/>
                    <a:pt x="0" y="21600"/>
                  </a:cubicBezTo>
                  <a:lnTo>
                    <a:pt x="0" y="0"/>
                  </a:lnTo>
                  <a:lnTo>
                    <a:pt x="19427" y="9439"/>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2" name="Arc 16">
              <a:extLst>
                <a:ext uri="{FF2B5EF4-FFF2-40B4-BE49-F238E27FC236}">
                  <a16:creationId xmlns:a16="http://schemas.microsoft.com/office/drawing/2014/main" id="{F1FD975D-31FD-C70E-38EA-2892CB4B1EC0}"/>
                </a:ext>
              </a:extLst>
            </p:cNvPr>
            <p:cNvSpPr>
              <a:spLocks/>
            </p:cNvSpPr>
            <p:nvPr/>
          </p:nvSpPr>
          <p:spPr bwMode="auto">
            <a:xfrm rot="6300000">
              <a:off x="2113" y="1793"/>
              <a:ext cx="956" cy="224"/>
            </a:xfrm>
            <a:custGeom>
              <a:avLst/>
              <a:gdLst>
                <a:gd name="T0" fmla="*/ 42 w 21600"/>
                <a:gd name="T1" fmla="*/ 2 h 21600"/>
                <a:gd name="T2" fmla="*/ 0 w 21600"/>
                <a:gd name="T3" fmla="*/ 0 h 21600"/>
                <a:gd name="T4" fmla="*/ 42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3" name="Arc 17">
              <a:extLst>
                <a:ext uri="{FF2B5EF4-FFF2-40B4-BE49-F238E27FC236}">
                  <a16:creationId xmlns:a16="http://schemas.microsoft.com/office/drawing/2014/main" id="{E0145FAE-E0F4-C43C-9D34-99E75E85207F}"/>
                </a:ext>
              </a:extLst>
            </p:cNvPr>
            <p:cNvSpPr>
              <a:spLocks/>
            </p:cNvSpPr>
            <p:nvPr/>
          </p:nvSpPr>
          <p:spPr bwMode="auto">
            <a:xfrm rot="-4620000">
              <a:off x="1737" y="2548"/>
              <a:ext cx="790" cy="284"/>
            </a:xfrm>
            <a:custGeom>
              <a:avLst/>
              <a:gdLst>
                <a:gd name="T0" fmla="*/ 32 w 19433"/>
                <a:gd name="T1" fmla="*/ 4 h 21600"/>
                <a:gd name="T2" fmla="*/ 0 w 19433"/>
                <a:gd name="T3" fmla="*/ 2 h 21600"/>
                <a:gd name="T4" fmla="*/ 32 w 19433"/>
                <a:gd name="T5" fmla="*/ 0 h 21600"/>
                <a:gd name="T6" fmla="*/ 0 60000 65536"/>
                <a:gd name="T7" fmla="*/ 0 60000 65536"/>
                <a:gd name="T8" fmla="*/ 0 60000 65536"/>
              </a:gdLst>
              <a:ahLst/>
              <a:cxnLst>
                <a:cxn ang="T6">
                  <a:pos x="T0" y="T1"/>
                </a:cxn>
                <a:cxn ang="T7">
                  <a:pos x="T2" y="T3"/>
                </a:cxn>
                <a:cxn ang="T8">
                  <a:pos x="T4" y="T5"/>
                </a:cxn>
              </a:cxnLst>
              <a:rect l="0" t="0" r="r" b="b"/>
              <a:pathLst>
                <a:path w="19433" h="21600" fill="none" extrusionOk="0">
                  <a:moveTo>
                    <a:pt x="19433" y="21600"/>
                  </a:moveTo>
                  <a:cubicBezTo>
                    <a:pt x="11159" y="21600"/>
                    <a:pt x="3612" y="16873"/>
                    <a:pt x="0" y="9429"/>
                  </a:cubicBezTo>
                </a:path>
                <a:path w="19433" h="21600" stroke="0" extrusionOk="0">
                  <a:moveTo>
                    <a:pt x="19433" y="21600"/>
                  </a:moveTo>
                  <a:cubicBezTo>
                    <a:pt x="11159" y="21600"/>
                    <a:pt x="3612" y="16873"/>
                    <a:pt x="0" y="9429"/>
                  </a:cubicBezTo>
                  <a:lnTo>
                    <a:pt x="19433" y="0"/>
                  </a:lnTo>
                  <a:lnTo>
                    <a:pt x="19433"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4" name="Arc 18">
              <a:extLst>
                <a:ext uri="{FF2B5EF4-FFF2-40B4-BE49-F238E27FC236}">
                  <a16:creationId xmlns:a16="http://schemas.microsoft.com/office/drawing/2014/main" id="{C44D13C4-44AE-F7B5-4377-82E1B8DF5932}"/>
                </a:ext>
              </a:extLst>
            </p:cNvPr>
            <p:cNvSpPr>
              <a:spLocks/>
            </p:cNvSpPr>
            <p:nvPr/>
          </p:nvSpPr>
          <p:spPr bwMode="auto">
            <a:xfrm rot="-6300000">
              <a:off x="2577" y="1795"/>
              <a:ext cx="957" cy="225"/>
            </a:xfrm>
            <a:custGeom>
              <a:avLst/>
              <a:gdLst>
                <a:gd name="T0" fmla="*/ 42 w 21600"/>
                <a:gd name="T1" fmla="*/ 0 h 21696"/>
                <a:gd name="T2" fmla="*/ 0 w 21600"/>
                <a:gd name="T3" fmla="*/ 2 h 21696"/>
                <a:gd name="T4" fmla="*/ 0 w 21600"/>
                <a:gd name="T5" fmla="*/ 0 h 21696"/>
                <a:gd name="T6" fmla="*/ 0 60000 65536"/>
                <a:gd name="T7" fmla="*/ 0 60000 65536"/>
                <a:gd name="T8" fmla="*/ 0 60000 65536"/>
              </a:gdLst>
              <a:ahLst/>
              <a:cxnLst>
                <a:cxn ang="T6">
                  <a:pos x="T0" y="T1"/>
                </a:cxn>
                <a:cxn ang="T7">
                  <a:pos x="T2" y="T3"/>
                </a:cxn>
                <a:cxn ang="T8">
                  <a:pos x="T4" y="T5"/>
                </a:cxn>
              </a:cxnLst>
              <a:rect l="0" t="0" r="r" b="b"/>
              <a:pathLst>
                <a:path w="21600" h="21696" fill="none" extrusionOk="0">
                  <a:moveTo>
                    <a:pt x="21599" y="0"/>
                  </a:moveTo>
                  <a:cubicBezTo>
                    <a:pt x="21599" y="32"/>
                    <a:pt x="21600" y="64"/>
                    <a:pt x="21600" y="96"/>
                  </a:cubicBezTo>
                  <a:cubicBezTo>
                    <a:pt x="21600" y="12025"/>
                    <a:pt x="11929" y="21695"/>
                    <a:pt x="0" y="21696"/>
                  </a:cubicBezTo>
                </a:path>
                <a:path w="21600" h="21696" stroke="0" extrusionOk="0">
                  <a:moveTo>
                    <a:pt x="21599" y="0"/>
                  </a:moveTo>
                  <a:cubicBezTo>
                    <a:pt x="21599" y="32"/>
                    <a:pt x="21600" y="64"/>
                    <a:pt x="21600" y="96"/>
                  </a:cubicBezTo>
                  <a:cubicBezTo>
                    <a:pt x="21600" y="12025"/>
                    <a:pt x="11929" y="21695"/>
                    <a:pt x="0" y="21696"/>
                  </a:cubicBezTo>
                  <a:lnTo>
                    <a:pt x="0" y="96"/>
                  </a:lnTo>
                  <a:lnTo>
                    <a:pt x="21599" y="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5" name="Arc 19">
              <a:extLst>
                <a:ext uri="{FF2B5EF4-FFF2-40B4-BE49-F238E27FC236}">
                  <a16:creationId xmlns:a16="http://schemas.microsoft.com/office/drawing/2014/main" id="{F7D86D78-51D5-F1FF-864A-CEDB849152B0}"/>
                </a:ext>
              </a:extLst>
            </p:cNvPr>
            <p:cNvSpPr>
              <a:spLocks/>
            </p:cNvSpPr>
            <p:nvPr/>
          </p:nvSpPr>
          <p:spPr bwMode="auto">
            <a:xfrm rot="-900000">
              <a:off x="1353" y="3110"/>
              <a:ext cx="697" cy="164"/>
            </a:xfrm>
            <a:custGeom>
              <a:avLst/>
              <a:gdLst>
                <a:gd name="T0" fmla="*/ 23 w 20693"/>
                <a:gd name="T1" fmla="*/ 0 h 21576"/>
                <a:gd name="T2" fmla="*/ 1 w 20693"/>
                <a:gd name="T3" fmla="*/ 1 h 21576"/>
                <a:gd name="T4" fmla="*/ 0 w 20693"/>
                <a:gd name="T5" fmla="*/ 0 h 21576"/>
                <a:gd name="T6" fmla="*/ 0 60000 65536"/>
                <a:gd name="T7" fmla="*/ 0 60000 65536"/>
                <a:gd name="T8" fmla="*/ 0 60000 65536"/>
              </a:gdLst>
              <a:ahLst/>
              <a:cxnLst>
                <a:cxn ang="T6">
                  <a:pos x="T0" y="T1"/>
                </a:cxn>
                <a:cxn ang="T7">
                  <a:pos x="T2" y="T3"/>
                </a:cxn>
                <a:cxn ang="T8">
                  <a:pos x="T4" y="T5"/>
                </a:cxn>
              </a:cxnLst>
              <a:rect l="0" t="0" r="r" b="b"/>
              <a:pathLst>
                <a:path w="20693" h="21576" fill="none" extrusionOk="0">
                  <a:moveTo>
                    <a:pt x="20692" y="6193"/>
                  </a:moveTo>
                  <a:cubicBezTo>
                    <a:pt x="18063" y="14978"/>
                    <a:pt x="10173" y="21145"/>
                    <a:pt x="1014" y="21576"/>
                  </a:cubicBezTo>
                </a:path>
                <a:path w="20693" h="21576" stroke="0" extrusionOk="0">
                  <a:moveTo>
                    <a:pt x="20692" y="6193"/>
                  </a:moveTo>
                  <a:cubicBezTo>
                    <a:pt x="18063" y="14978"/>
                    <a:pt x="10173" y="21145"/>
                    <a:pt x="1014" y="21576"/>
                  </a:cubicBezTo>
                  <a:lnTo>
                    <a:pt x="0" y="0"/>
                  </a:lnTo>
                  <a:lnTo>
                    <a:pt x="20692" y="6193"/>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6" name="Arc 20">
              <a:extLst>
                <a:ext uri="{FF2B5EF4-FFF2-40B4-BE49-F238E27FC236}">
                  <a16:creationId xmlns:a16="http://schemas.microsoft.com/office/drawing/2014/main" id="{8DE89AF9-33BE-45EB-AC35-9E8F21E4DA6A}"/>
                </a:ext>
              </a:extLst>
            </p:cNvPr>
            <p:cNvSpPr>
              <a:spLocks/>
            </p:cNvSpPr>
            <p:nvPr/>
          </p:nvSpPr>
          <p:spPr bwMode="auto">
            <a:xfrm rot="962667">
              <a:off x="3605" y="3095"/>
              <a:ext cx="702" cy="164"/>
            </a:xfrm>
            <a:custGeom>
              <a:avLst/>
              <a:gdLst>
                <a:gd name="T0" fmla="*/ 24 w 20846"/>
                <a:gd name="T1" fmla="*/ 1 h 21600"/>
                <a:gd name="T2" fmla="*/ 0 w 20846"/>
                <a:gd name="T3" fmla="*/ 1 h 21600"/>
                <a:gd name="T4" fmla="*/ 22 w 20846"/>
                <a:gd name="T5" fmla="*/ 0 h 21600"/>
                <a:gd name="T6" fmla="*/ 0 60000 65536"/>
                <a:gd name="T7" fmla="*/ 0 60000 65536"/>
                <a:gd name="T8" fmla="*/ 0 60000 65536"/>
              </a:gdLst>
              <a:ahLst/>
              <a:cxnLst>
                <a:cxn ang="T6">
                  <a:pos x="T0" y="T1"/>
                </a:cxn>
                <a:cxn ang="T7">
                  <a:pos x="T2" y="T3"/>
                </a:cxn>
                <a:cxn ang="T8">
                  <a:pos x="T4" y="T5"/>
                </a:cxn>
              </a:cxnLst>
              <a:rect l="0" t="0" r="r" b="b"/>
              <a:pathLst>
                <a:path w="20846" h="21600" fill="none" extrusionOk="0">
                  <a:moveTo>
                    <a:pt x="20845" y="21570"/>
                  </a:moveTo>
                  <a:cubicBezTo>
                    <a:pt x="20472" y="21590"/>
                    <a:pt x="20098" y="21599"/>
                    <a:pt x="19724" y="21600"/>
                  </a:cubicBezTo>
                  <a:cubicBezTo>
                    <a:pt x="11200" y="21600"/>
                    <a:pt x="3473" y="16587"/>
                    <a:pt x="-1" y="8804"/>
                  </a:cubicBezTo>
                </a:path>
                <a:path w="20846" h="21600" stroke="0" extrusionOk="0">
                  <a:moveTo>
                    <a:pt x="20845" y="21570"/>
                  </a:moveTo>
                  <a:cubicBezTo>
                    <a:pt x="20472" y="21590"/>
                    <a:pt x="20098" y="21599"/>
                    <a:pt x="19724" y="21600"/>
                  </a:cubicBezTo>
                  <a:cubicBezTo>
                    <a:pt x="11200" y="21600"/>
                    <a:pt x="3473" y="16587"/>
                    <a:pt x="-1" y="8804"/>
                  </a:cubicBezTo>
                  <a:lnTo>
                    <a:pt x="19724" y="0"/>
                  </a:lnTo>
                  <a:lnTo>
                    <a:pt x="20845" y="2157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grpSp>
      <p:sp>
        <p:nvSpPr>
          <p:cNvPr id="17" name="灯片编号占位符 16">
            <a:extLst>
              <a:ext uri="{FF2B5EF4-FFF2-40B4-BE49-F238E27FC236}">
                <a16:creationId xmlns:a16="http://schemas.microsoft.com/office/drawing/2014/main" id="{3FE0E8A9-3ABD-78F8-8922-B09573FED310}"/>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12">
            <a:extLst>
              <a:ext uri="{FF2B5EF4-FFF2-40B4-BE49-F238E27FC236}">
                <a16:creationId xmlns:a16="http://schemas.microsoft.com/office/drawing/2014/main" id="{1D170CB2-33DA-8832-134C-582B964B2C4B}"/>
              </a:ext>
            </a:extLst>
          </p:cNvPr>
          <p:cNvSpPr>
            <a:spLocks noGrp="1" noChangeArrowheads="1"/>
          </p:cNvSpPr>
          <p:nvPr>
            <p:ph idx="1"/>
          </p:nvPr>
        </p:nvSpPr>
        <p:spPr>
          <a:xfrm>
            <a:off x="266321" y="500430"/>
            <a:ext cx="7222075" cy="5194353"/>
          </a:xfrm>
        </p:spPr>
        <p:txBody>
          <a:bodyPr>
            <a:noAutofit/>
          </a:bodyPr>
          <a:lstStyle/>
          <a:p>
            <a:pPr marL="0" indent="0">
              <a:lnSpc>
                <a:spcPct val="100000"/>
              </a:lnSpc>
              <a:spcBef>
                <a:spcPts val="0"/>
              </a:spcBef>
              <a:buNone/>
            </a:pPr>
            <a:r>
              <a:rPr lang="en-US" altLang="en-US" b="1" dirty="0">
                <a:solidFill>
                  <a:srgbClr val="FF0000"/>
                </a:solidFill>
                <a:latin typeface="Times New Roman" panose="02020603050405020304" pitchFamily="18" charset="0"/>
                <a:cs typeface="Times New Roman" panose="02020603050405020304" pitchFamily="18" charset="0"/>
              </a:rPr>
              <a:t>3. </a:t>
            </a:r>
            <a:r>
              <a:rPr lang="en-US" altLang="en-US" dirty="0">
                <a:latin typeface="Times New Roman" panose="02020603050405020304" pitchFamily="18" charset="0"/>
                <a:cs typeface="Times New Roman" panose="02020603050405020304" pitchFamily="18" charset="0"/>
              </a:rPr>
              <a:t>The curve is symmetrical about its mean</a:t>
            </a:r>
          </a:p>
          <a:p>
            <a:pPr marL="952500" lvl="1" indent="-495300">
              <a:lnSpc>
                <a:spcPct val="100000"/>
              </a:lnSpc>
              <a:spcBef>
                <a:spcPts val="0"/>
              </a:spcBef>
            </a:pPr>
            <a:r>
              <a:rPr lang="en-US" altLang="en-US" sz="2800" dirty="0">
                <a:latin typeface="Times New Roman" panose="02020603050405020304" pitchFamily="18" charset="0"/>
                <a:cs typeface="Times New Roman" panose="02020603050405020304" pitchFamily="18" charset="0"/>
              </a:rPr>
              <a:t>The left and right halves of the curve are mirror images of each other.</a:t>
            </a:r>
          </a:p>
          <a:p>
            <a:pPr marL="0" indent="0">
              <a:lnSpc>
                <a:spcPct val="100000"/>
              </a:lnSpc>
              <a:spcBef>
                <a:spcPts val="1200"/>
              </a:spcBef>
              <a:buNone/>
            </a:pPr>
            <a:r>
              <a:rPr lang="en-US" altLang="en-US" b="1" dirty="0">
                <a:solidFill>
                  <a:srgbClr val="FF0000"/>
                </a:solidFill>
                <a:latin typeface="Times New Roman" panose="02020603050405020304" pitchFamily="18" charset="0"/>
                <a:cs typeface="Times New Roman" panose="02020603050405020304" pitchFamily="18" charset="0"/>
              </a:rPr>
              <a:t>4. </a:t>
            </a:r>
            <a:r>
              <a:rPr lang="en-US" altLang="en-US" dirty="0">
                <a:solidFill>
                  <a:srgbClr val="0000FF"/>
                </a:solidFill>
                <a:latin typeface="Times New Roman" panose="02020603050405020304" pitchFamily="18" charset="0"/>
                <a:cs typeface="Times New Roman" panose="02020603050405020304" pitchFamily="18" charset="0"/>
              </a:rPr>
              <a:t>The tails of the normal extend to infinity in both directions</a:t>
            </a:r>
          </a:p>
          <a:p>
            <a:pPr marL="952500" lvl="1" indent="-495300">
              <a:lnSpc>
                <a:spcPct val="100000"/>
              </a:lnSpc>
              <a:spcBef>
                <a:spcPts val="0"/>
              </a:spcBef>
            </a:pPr>
            <a:r>
              <a:rPr lang="en-US" altLang="en-US" sz="2800" dirty="0">
                <a:solidFill>
                  <a:srgbClr val="0000FF"/>
                </a:solidFill>
                <a:latin typeface="Times New Roman" panose="02020603050405020304" pitchFamily="18" charset="0"/>
                <a:cs typeface="Times New Roman" panose="02020603050405020304" pitchFamily="18" charset="0"/>
              </a:rPr>
              <a:t>The tails get closer to the horizontal axis but never touch it.</a:t>
            </a:r>
          </a:p>
          <a:p>
            <a:pPr marL="0" indent="0">
              <a:lnSpc>
                <a:spcPct val="100000"/>
              </a:lnSpc>
              <a:spcBef>
                <a:spcPts val="1200"/>
              </a:spcBef>
              <a:buNone/>
            </a:pPr>
            <a:r>
              <a:rPr lang="en-US" altLang="en-US" b="1" dirty="0">
                <a:solidFill>
                  <a:srgbClr val="FF0000"/>
                </a:solidFill>
                <a:latin typeface="Times New Roman" panose="02020603050405020304" pitchFamily="18" charset="0"/>
                <a:cs typeface="Times New Roman" panose="02020603050405020304" pitchFamily="18" charset="0"/>
              </a:rPr>
              <a:t>5. </a:t>
            </a:r>
            <a:r>
              <a:rPr lang="en-US" altLang="en-US" dirty="0">
                <a:latin typeface="Times New Roman" panose="02020603050405020304" pitchFamily="18" charset="0"/>
                <a:cs typeface="Times New Roman" panose="02020603050405020304" pitchFamily="18" charset="0"/>
              </a:rPr>
              <a:t>The area under the normal curve to the right of the mean equals the area under the normal to the left of the mean</a:t>
            </a:r>
          </a:p>
          <a:p>
            <a:pPr marL="952500" lvl="1" indent="-495300">
              <a:lnSpc>
                <a:spcPct val="100000"/>
              </a:lnSpc>
              <a:spcBef>
                <a:spcPts val="0"/>
              </a:spcBef>
            </a:pPr>
            <a:r>
              <a:rPr lang="en-US" altLang="en-US" sz="2800" dirty="0">
                <a:latin typeface="Times New Roman" panose="02020603050405020304" pitchFamily="18" charset="0"/>
                <a:cs typeface="Times New Roman" panose="02020603050405020304" pitchFamily="18" charset="0"/>
              </a:rPr>
              <a:t>The area under each half is 0.5.</a:t>
            </a:r>
          </a:p>
        </p:txBody>
      </p:sp>
      <p:grpSp>
        <p:nvGrpSpPr>
          <p:cNvPr id="2" name="Group 6">
            <a:extLst>
              <a:ext uri="{FF2B5EF4-FFF2-40B4-BE49-F238E27FC236}">
                <a16:creationId xmlns:a16="http://schemas.microsoft.com/office/drawing/2014/main" id="{3C61D081-222C-BA4D-77B4-6D0235D3FC9A}"/>
              </a:ext>
            </a:extLst>
          </p:cNvPr>
          <p:cNvGrpSpPr>
            <a:grpSpLocks/>
          </p:cNvGrpSpPr>
          <p:nvPr/>
        </p:nvGrpSpPr>
        <p:grpSpPr bwMode="auto">
          <a:xfrm>
            <a:off x="7802220" y="1564755"/>
            <a:ext cx="4194312" cy="3491666"/>
            <a:chOff x="1095" y="901"/>
            <a:chExt cx="3686" cy="3051"/>
          </a:xfrm>
        </p:grpSpPr>
        <p:sp>
          <p:nvSpPr>
            <p:cNvPr id="3" name="Freeform 7">
              <a:extLst>
                <a:ext uri="{FF2B5EF4-FFF2-40B4-BE49-F238E27FC236}">
                  <a16:creationId xmlns:a16="http://schemas.microsoft.com/office/drawing/2014/main" id="{AFD15D18-543B-CF98-CE04-C6D62B02C98D}"/>
                </a:ext>
              </a:extLst>
            </p:cNvPr>
            <p:cNvSpPr>
              <a:spLocks/>
            </p:cNvSpPr>
            <p:nvPr/>
          </p:nvSpPr>
          <p:spPr bwMode="auto">
            <a:xfrm>
              <a:off x="1415" y="1468"/>
              <a:ext cx="2856" cy="1928"/>
            </a:xfrm>
            <a:custGeom>
              <a:avLst/>
              <a:gdLst>
                <a:gd name="T0" fmla="*/ 1364 w 2848"/>
                <a:gd name="T1" fmla="*/ 14 h 1928"/>
                <a:gd name="T2" fmla="*/ 1272 w 2848"/>
                <a:gd name="T3" fmla="*/ 102 h 1928"/>
                <a:gd name="T4" fmla="*/ 1208 w 2848"/>
                <a:gd name="T5" fmla="*/ 202 h 1928"/>
                <a:gd name="T6" fmla="*/ 1150 w 2848"/>
                <a:gd name="T7" fmla="*/ 310 h 1928"/>
                <a:gd name="T8" fmla="*/ 1106 w 2848"/>
                <a:gd name="T9" fmla="*/ 412 h 1928"/>
                <a:gd name="T10" fmla="*/ 1066 w 2848"/>
                <a:gd name="T11" fmla="*/ 514 h 1928"/>
                <a:gd name="T12" fmla="*/ 1028 w 2848"/>
                <a:gd name="T13" fmla="*/ 620 h 1928"/>
                <a:gd name="T14" fmla="*/ 991 w 2848"/>
                <a:gd name="T15" fmla="*/ 746 h 1928"/>
                <a:gd name="T16" fmla="*/ 959 w 2848"/>
                <a:gd name="T17" fmla="*/ 860 h 1928"/>
                <a:gd name="T18" fmla="*/ 929 w 2848"/>
                <a:gd name="T19" fmla="*/ 970 h 1928"/>
                <a:gd name="T20" fmla="*/ 891 w 2848"/>
                <a:gd name="T21" fmla="*/ 1082 h 1928"/>
                <a:gd name="T22" fmla="*/ 853 w 2848"/>
                <a:gd name="T23" fmla="*/ 1194 h 1928"/>
                <a:gd name="T24" fmla="*/ 811 w 2848"/>
                <a:gd name="T25" fmla="*/ 1294 h 1928"/>
                <a:gd name="T26" fmla="*/ 758 w 2848"/>
                <a:gd name="T27" fmla="*/ 1404 h 1928"/>
                <a:gd name="T28" fmla="*/ 695 w 2848"/>
                <a:gd name="T29" fmla="*/ 1508 h 1928"/>
                <a:gd name="T30" fmla="*/ 608 w 2848"/>
                <a:gd name="T31" fmla="*/ 1614 h 1928"/>
                <a:gd name="T32" fmla="*/ 510 w 2848"/>
                <a:gd name="T33" fmla="*/ 1686 h 1928"/>
                <a:gd name="T34" fmla="*/ 402 w 2848"/>
                <a:gd name="T35" fmla="*/ 1746 h 1928"/>
                <a:gd name="T36" fmla="*/ 308 w 2848"/>
                <a:gd name="T37" fmla="*/ 1786 h 1928"/>
                <a:gd name="T38" fmla="*/ 200 w 2848"/>
                <a:gd name="T39" fmla="*/ 1822 h 1928"/>
                <a:gd name="T40" fmla="*/ 76 w 2848"/>
                <a:gd name="T41" fmla="*/ 1860 h 1928"/>
                <a:gd name="T42" fmla="*/ 2 w 2848"/>
                <a:gd name="T43" fmla="*/ 1886 h 1928"/>
                <a:gd name="T44" fmla="*/ 2864 w 2848"/>
                <a:gd name="T45" fmla="*/ 1928 h 1928"/>
                <a:gd name="T46" fmla="*/ 2808 w 2848"/>
                <a:gd name="T47" fmla="*/ 1866 h 1928"/>
                <a:gd name="T48" fmla="*/ 2708 w 2848"/>
                <a:gd name="T49" fmla="*/ 1838 h 1928"/>
                <a:gd name="T50" fmla="*/ 2593 w 2848"/>
                <a:gd name="T51" fmla="*/ 1800 h 1928"/>
                <a:gd name="T52" fmla="*/ 2478 w 2848"/>
                <a:gd name="T53" fmla="*/ 1754 h 1928"/>
                <a:gd name="T54" fmla="*/ 2347 w 2848"/>
                <a:gd name="T55" fmla="*/ 1686 h 1928"/>
                <a:gd name="T56" fmla="*/ 2301 w 2848"/>
                <a:gd name="T57" fmla="*/ 1660 h 1928"/>
                <a:gd name="T58" fmla="*/ 2210 w 2848"/>
                <a:gd name="T59" fmla="*/ 1588 h 1928"/>
                <a:gd name="T60" fmla="*/ 2128 w 2848"/>
                <a:gd name="T61" fmla="*/ 1480 h 1928"/>
                <a:gd name="T62" fmla="*/ 2070 w 2848"/>
                <a:gd name="T63" fmla="*/ 1382 h 1928"/>
                <a:gd name="T64" fmla="*/ 2030 w 2848"/>
                <a:gd name="T65" fmla="*/ 1298 h 1928"/>
                <a:gd name="T66" fmla="*/ 1985 w 2848"/>
                <a:gd name="T67" fmla="*/ 1194 h 1928"/>
                <a:gd name="T68" fmla="*/ 1951 w 2848"/>
                <a:gd name="T69" fmla="*/ 1106 h 1928"/>
                <a:gd name="T70" fmla="*/ 1924 w 2848"/>
                <a:gd name="T71" fmla="*/ 1018 h 1928"/>
                <a:gd name="T72" fmla="*/ 1886 w 2848"/>
                <a:gd name="T73" fmla="*/ 890 h 1928"/>
                <a:gd name="T74" fmla="*/ 1855 w 2848"/>
                <a:gd name="T75" fmla="*/ 778 h 1928"/>
                <a:gd name="T76" fmla="*/ 1817 w 2848"/>
                <a:gd name="T77" fmla="*/ 647 h 1928"/>
                <a:gd name="T78" fmla="*/ 1772 w 2848"/>
                <a:gd name="T79" fmla="*/ 524 h 1928"/>
                <a:gd name="T80" fmla="*/ 1726 w 2848"/>
                <a:gd name="T81" fmla="*/ 402 h 1928"/>
                <a:gd name="T82" fmla="*/ 1694 w 2848"/>
                <a:gd name="T83" fmla="*/ 330 h 1928"/>
                <a:gd name="T84" fmla="*/ 1642 w 2848"/>
                <a:gd name="T85" fmla="*/ 224 h 1928"/>
                <a:gd name="T86" fmla="*/ 1614 w 2848"/>
                <a:gd name="T87" fmla="*/ 174 h 1928"/>
                <a:gd name="T88" fmla="*/ 1599 w 2848"/>
                <a:gd name="T89" fmla="*/ 156 h 1928"/>
                <a:gd name="T90" fmla="*/ 1596 w 2848"/>
                <a:gd name="T91" fmla="*/ 150 h 1928"/>
                <a:gd name="T92" fmla="*/ 1516 w 2848"/>
                <a:gd name="T93" fmla="*/ 46 h 1928"/>
                <a:gd name="T94" fmla="*/ 1452 w 2848"/>
                <a:gd name="T95" fmla="*/ 6 h 192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48" h="1928">
                  <a:moveTo>
                    <a:pt x="1422" y="0"/>
                  </a:moveTo>
                  <a:lnTo>
                    <a:pt x="1388" y="2"/>
                  </a:lnTo>
                  <a:lnTo>
                    <a:pt x="1356" y="14"/>
                  </a:lnTo>
                  <a:lnTo>
                    <a:pt x="1320" y="38"/>
                  </a:lnTo>
                  <a:lnTo>
                    <a:pt x="1294" y="66"/>
                  </a:lnTo>
                  <a:lnTo>
                    <a:pt x="1264" y="102"/>
                  </a:lnTo>
                  <a:lnTo>
                    <a:pt x="1240" y="138"/>
                  </a:lnTo>
                  <a:lnTo>
                    <a:pt x="1222" y="168"/>
                  </a:lnTo>
                  <a:lnTo>
                    <a:pt x="1202" y="202"/>
                  </a:lnTo>
                  <a:lnTo>
                    <a:pt x="1180" y="240"/>
                  </a:lnTo>
                  <a:lnTo>
                    <a:pt x="1160" y="282"/>
                  </a:lnTo>
                  <a:lnTo>
                    <a:pt x="1144" y="310"/>
                  </a:lnTo>
                  <a:lnTo>
                    <a:pt x="1130" y="342"/>
                  </a:lnTo>
                  <a:lnTo>
                    <a:pt x="1115" y="376"/>
                  </a:lnTo>
                  <a:lnTo>
                    <a:pt x="1100" y="412"/>
                  </a:lnTo>
                  <a:lnTo>
                    <a:pt x="1084" y="446"/>
                  </a:lnTo>
                  <a:lnTo>
                    <a:pt x="1072" y="478"/>
                  </a:lnTo>
                  <a:lnTo>
                    <a:pt x="1060" y="514"/>
                  </a:lnTo>
                  <a:lnTo>
                    <a:pt x="1046" y="552"/>
                  </a:lnTo>
                  <a:lnTo>
                    <a:pt x="1033" y="584"/>
                  </a:lnTo>
                  <a:lnTo>
                    <a:pt x="1022" y="620"/>
                  </a:lnTo>
                  <a:lnTo>
                    <a:pt x="1009" y="662"/>
                  </a:lnTo>
                  <a:lnTo>
                    <a:pt x="997" y="704"/>
                  </a:lnTo>
                  <a:lnTo>
                    <a:pt x="985" y="746"/>
                  </a:lnTo>
                  <a:lnTo>
                    <a:pt x="973" y="782"/>
                  </a:lnTo>
                  <a:lnTo>
                    <a:pt x="963" y="818"/>
                  </a:lnTo>
                  <a:lnTo>
                    <a:pt x="953" y="860"/>
                  </a:lnTo>
                  <a:lnTo>
                    <a:pt x="941" y="902"/>
                  </a:lnTo>
                  <a:lnTo>
                    <a:pt x="933" y="934"/>
                  </a:lnTo>
                  <a:lnTo>
                    <a:pt x="923" y="970"/>
                  </a:lnTo>
                  <a:lnTo>
                    <a:pt x="913" y="1001"/>
                  </a:lnTo>
                  <a:lnTo>
                    <a:pt x="899" y="1044"/>
                  </a:lnTo>
                  <a:lnTo>
                    <a:pt x="887" y="1082"/>
                  </a:lnTo>
                  <a:lnTo>
                    <a:pt x="875" y="1120"/>
                  </a:lnTo>
                  <a:lnTo>
                    <a:pt x="861" y="1164"/>
                  </a:lnTo>
                  <a:lnTo>
                    <a:pt x="849" y="1194"/>
                  </a:lnTo>
                  <a:lnTo>
                    <a:pt x="839" y="1224"/>
                  </a:lnTo>
                  <a:lnTo>
                    <a:pt x="823" y="1258"/>
                  </a:lnTo>
                  <a:lnTo>
                    <a:pt x="807" y="1294"/>
                  </a:lnTo>
                  <a:lnTo>
                    <a:pt x="790" y="1328"/>
                  </a:lnTo>
                  <a:lnTo>
                    <a:pt x="772" y="1364"/>
                  </a:lnTo>
                  <a:lnTo>
                    <a:pt x="754" y="1404"/>
                  </a:lnTo>
                  <a:lnTo>
                    <a:pt x="733" y="1439"/>
                  </a:lnTo>
                  <a:lnTo>
                    <a:pt x="713" y="1474"/>
                  </a:lnTo>
                  <a:lnTo>
                    <a:pt x="691" y="1508"/>
                  </a:lnTo>
                  <a:lnTo>
                    <a:pt x="664" y="1546"/>
                  </a:lnTo>
                  <a:lnTo>
                    <a:pt x="640" y="1578"/>
                  </a:lnTo>
                  <a:lnTo>
                    <a:pt x="604" y="1614"/>
                  </a:lnTo>
                  <a:lnTo>
                    <a:pt x="582" y="1636"/>
                  </a:lnTo>
                  <a:lnTo>
                    <a:pt x="550" y="1656"/>
                  </a:lnTo>
                  <a:lnTo>
                    <a:pt x="508" y="1686"/>
                  </a:lnTo>
                  <a:lnTo>
                    <a:pt x="460" y="1714"/>
                  </a:lnTo>
                  <a:lnTo>
                    <a:pt x="428" y="1730"/>
                  </a:lnTo>
                  <a:lnTo>
                    <a:pt x="400" y="1746"/>
                  </a:lnTo>
                  <a:lnTo>
                    <a:pt x="367" y="1760"/>
                  </a:lnTo>
                  <a:lnTo>
                    <a:pt x="338" y="1772"/>
                  </a:lnTo>
                  <a:lnTo>
                    <a:pt x="306" y="1786"/>
                  </a:lnTo>
                  <a:lnTo>
                    <a:pt x="278" y="1794"/>
                  </a:lnTo>
                  <a:lnTo>
                    <a:pt x="250" y="1806"/>
                  </a:lnTo>
                  <a:lnTo>
                    <a:pt x="198" y="1822"/>
                  </a:lnTo>
                  <a:lnTo>
                    <a:pt x="160" y="1836"/>
                  </a:lnTo>
                  <a:lnTo>
                    <a:pt x="116" y="1850"/>
                  </a:lnTo>
                  <a:lnTo>
                    <a:pt x="76" y="1860"/>
                  </a:lnTo>
                  <a:lnTo>
                    <a:pt x="46" y="1872"/>
                  </a:lnTo>
                  <a:lnTo>
                    <a:pt x="26" y="1876"/>
                  </a:lnTo>
                  <a:lnTo>
                    <a:pt x="2" y="1886"/>
                  </a:lnTo>
                  <a:lnTo>
                    <a:pt x="0" y="1904"/>
                  </a:lnTo>
                  <a:lnTo>
                    <a:pt x="2" y="1926"/>
                  </a:lnTo>
                  <a:lnTo>
                    <a:pt x="2848" y="1928"/>
                  </a:lnTo>
                  <a:lnTo>
                    <a:pt x="2848" y="1884"/>
                  </a:lnTo>
                  <a:lnTo>
                    <a:pt x="2822" y="1876"/>
                  </a:lnTo>
                  <a:lnTo>
                    <a:pt x="2792" y="1866"/>
                  </a:lnTo>
                  <a:lnTo>
                    <a:pt x="2752" y="1856"/>
                  </a:lnTo>
                  <a:lnTo>
                    <a:pt x="2716" y="1846"/>
                  </a:lnTo>
                  <a:lnTo>
                    <a:pt x="2692" y="1838"/>
                  </a:lnTo>
                  <a:lnTo>
                    <a:pt x="2661" y="1828"/>
                  </a:lnTo>
                  <a:lnTo>
                    <a:pt x="2623" y="1818"/>
                  </a:lnTo>
                  <a:lnTo>
                    <a:pt x="2579" y="1800"/>
                  </a:lnTo>
                  <a:lnTo>
                    <a:pt x="2537" y="1784"/>
                  </a:lnTo>
                  <a:lnTo>
                    <a:pt x="2506" y="1772"/>
                  </a:lnTo>
                  <a:lnTo>
                    <a:pt x="2464" y="1754"/>
                  </a:lnTo>
                  <a:lnTo>
                    <a:pt x="2428" y="1736"/>
                  </a:lnTo>
                  <a:lnTo>
                    <a:pt x="2375" y="1710"/>
                  </a:lnTo>
                  <a:lnTo>
                    <a:pt x="2333" y="1686"/>
                  </a:lnTo>
                  <a:lnTo>
                    <a:pt x="2309" y="1674"/>
                  </a:lnTo>
                  <a:lnTo>
                    <a:pt x="2297" y="1666"/>
                  </a:lnTo>
                  <a:lnTo>
                    <a:pt x="2289" y="1660"/>
                  </a:lnTo>
                  <a:lnTo>
                    <a:pt x="2259" y="1640"/>
                  </a:lnTo>
                  <a:lnTo>
                    <a:pt x="2232" y="1616"/>
                  </a:lnTo>
                  <a:lnTo>
                    <a:pt x="2198" y="1588"/>
                  </a:lnTo>
                  <a:lnTo>
                    <a:pt x="2170" y="1556"/>
                  </a:lnTo>
                  <a:lnTo>
                    <a:pt x="2142" y="1520"/>
                  </a:lnTo>
                  <a:lnTo>
                    <a:pt x="2116" y="1480"/>
                  </a:lnTo>
                  <a:lnTo>
                    <a:pt x="2090" y="1444"/>
                  </a:lnTo>
                  <a:lnTo>
                    <a:pt x="2074" y="1412"/>
                  </a:lnTo>
                  <a:lnTo>
                    <a:pt x="2058" y="1382"/>
                  </a:lnTo>
                  <a:lnTo>
                    <a:pt x="2044" y="1354"/>
                  </a:lnTo>
                  <a:lnTo>
                    <a:pt x="2030" y="1324"/>
                  </a:lnTo>
                  <a:lnTo>
                    <a:pt x="2018" y="1298"/>
                  </a:lnTo>
                  <a:lnTo>
                    <a:pt x="2006" y="1268"/>
                  </a:lnTo>
                  <a:lnTo>
                    <a:pt x="1987" y="1228"/>
                  </a:lnTo>
                  <a:lnTo>
                    <a:pt x="1973" y="1194"/>
                  </a:lnTo>
                  <a:lnTo>
                    <a:pt x="1962" y="1166"/>
                  </a:lnTo>
                  <a:lnTo>
                    <a:pt x="1952" y="1134"/>
                  </a:lnTo>
                  <a:lnTo>
                    <a:pt x="1941" y="1106"/>
                  </a:lnTo>
                  <a:lnTo>
                    <a:pt x="1933" y="1080"/>
                  </a:lnTo>
                  <a:lnTo>
                    <a:pt x="1923" y="1050"/>
                  </a:lnTo>
                  <a:lnTo>
                    <a:pt x="1914" y="1018"/>
                  </a:lnTo>
                  <a:lnTo>
                    <a:pt x="1900" y="974"/>
                  </a:lnTo>
                  <a:lnTo>
                    <a:pt x="1888" y="929"/>
                  </a:lnTo>
                  <a:lnTo>
                    <a:pt x="1876" y="890"/>
                  </a:lnTo>
                  <a:lnTo>
                    <a:pt x="1865" y="852"/>
                  </a:lnTo>
                  <a:lnTo>
                    <a:pt x="1855" y="814"/>
                  </a:lnTo>
                  <a:lnTo>
                    <a:pt x="1845" y="778"/>
                  </a:lnTo>
                  <a:lnTo>
                    <a:pt x="1834" y="734"/>
                  </a:lnTo>
                  <a:lnTo>
                    <a:pt x="1822" y="692"/>
                  </a:lnTo>
                  <a:lnTo>
                    <a:pt x="1807" y="647"/>
                  </a:lnTo>
                  <a:lnTo>
                    <a:pt x="1791" y="602"/>
                  </a:lnTo>
                  <a:lnTo>
                    <a:pt x="1774" y="554"/>
                  </a:lnTo>
                  <a:lnTo>
                    <a:pt x="1762" y="524"/>
                  </a:lnTo>
                  <a:lnTo>
                    <a:pt x="1750" y="488"/>
                  </a:lnTo>
                  <a:lnTo>
                    <a:pt x="1734" y="448"/>
                  </a:lnTo>
                  <a:lnTo>
                    <a:pt x="1716" y="402"/>
                  </a:lnTo>
                  <a:lnTo>
                    <a:pt x="1704" y="374"/>
                  </a:lnTo>
                  <a:lnTo>
                    <a:pt x="1692" y="352"/>
                  </a:lnTo>
                  <a:lnTo>
                    <a:pt x="1684" y="330"/>
                  </a:lnTo>
                  <a:lnTo>
                    <a:pt x="1666" y="294"/>
                  </a:lnTo>
                  <a:lnTo>
                    <a:pt x="1648" y="258"/>
                  </a:lnTo>
                  <a:lnTo>
                    <a:pt x="1632" y="224"/>
                  </a:lnTo>
                  <a:lnTo>
                    <a:pt x="1621" y="206"/>
                  </a:lnTo>
                  <a:lnTo>
                    <a:pt x="1614" y="192"/>
                  </a:lnTo>
                  <a:lnTo>
                    <a:pt x="1604" y="174"/>
                  </a:lnTo>
                  <a:lnTo>
                    <a:pt x="1578" y="136"/>
                  </a:lnTo>
                  <a:lnTo>
                    <a:pt x="1569" y="126"/>
                  </a:lnTo>
                  <a:lnTo>
                    <a:pt x="1591" y="156"/>
                  </a:lnTo>
                  <a:lnTo>
                    <a:pt x="1599" y="168"/>
                  </a:lnTo>
                  <a:lnTo>
                    <a:pt x="1591" y="158"/>
                  </a:lnTo>
                  <a:lnTo>
                    <a:pt x="1588" y="150"/>
                  </a:lnTo>
                  <a:lnTo>
                    <a:pt x="1554" y="106"/>
                  </a:lnTo>
                  <a:lnTo>
                    <a:pt x="1534" y="80"/>
                  </a:lnTo>
                  <a:lnTo>
                    <a:pt x="1508" y="46"/>
                  </a:lnTo>
                  <a:lnTo>
                    <a:pt x="1492" y="30"/>
                  </a:lnTo>
                  <a:lnTo>
                    <a:pt x="1468" y="16"/>
                  </a:lnTo>
                  <a:lnTo>
                    <a:pt x="1444" y="6"/>
                  </a:lnTo>
                  <a:lnTo>
                    <a:pt x="1420" y="2"/>
                  </a:lnTo>
                </a:path>
              </a:pathLst>
            </a:custGeom>
            <a:gradFill rotWithShape="0">
              <a:gsLst>
                <a:gs pos="0">
                  <a:srgbClr val="33CCCC"/>
                </a:gs>
                <a:gs pos="50000">
                  <a:srgbClr val="185E5E"/>
                </a:gs>
                <a:gs pos="100000">
                  <a:srgbClr val="33CCCC"/>
                </a:gs>
              </a:gsLst>
              <a:lin ang="0" scaled="1"/>
            </a:gradFill>
            <a:ln>
              <a:noFill/>
            </a:ln>
            <a:effectLst/>
            <a:extLst>
              <a:ext uri="{91240B29-F687-4F45-9708-019B960494DF}">
                <a14:hiddenLine xmlns:a14="http://schemas.microsoft.com/office/drawing/2010/main" w="19050" cap="rnd" cmpd="sng">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 name="Line 8">
              <a:extLst>
                <a:ext uri="{FF2B5EF4-FFF2-40B4-BE49-F238E27FC236}">
                  <a16:creationId xmlns:a16="http://schemas.microsoft.com/office/drawing/2014/main" id="{09FEC652-436C-9B21-6999-773AFC3E442D}"/>
                </a:ext>
              </a:extLst>
            </p:cNvPr>
            <p:cNvSpPr>
              <a:spLocks noChangeShapeType="1"/>
            </p:cNvSpPr>
            <p:nvPr/>
          </p:nvSpPr>
          <p:spPr bwMode="auto">
            <a:xfrm>
              <a:off x="1270" y="3395"/>
              <a:ext cx="3151" cy="0"/>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Freeform 9">
              <a:extLst>
                <a:ext uri="{FF2B5EF4-FFF2-40B4-BE49-F238E27FC236}">
                  <a16:creationId xmlns:a16="http://schemas.microsoft.com/office/drawing/2014/main" id="{986929E8-D3C2-4A79-38EB-522FD0DB0329}"/>
                </a:ext>
              </a:extLst>
            </p:cNvPr>
            <p:cNvSpPr>
              <a:spLocks noChangeArrowheads="1"/>
            </p:cNvSpPr>
            <p:nvPr/>
          </p:nvSpPr>
          <p:spPr bwMode="auto">
            <a:xfrm>
              <a:off x="2853" y="3354"/>
              <a:ext cx="1" cy="113"/>
            </a:xfrm>
            <a:custGeom>
              <a:avLst/>
              <a:gdLst>
                <a:gd name="T0" fmla="*/ 0 w 1"/>
                <a:gd name="T1" fmla="*/ 0 h 113"/>
                <a:gd name="T2" fmla="*/ 0 w 1"/>
                <a:gd name="T3" fmla="*/ 113 h 113"/>
                <a:gd name="T4" fmla="*/ 0 60000 65536"/>
                <a:gd name="T5" fmla="*/ 0 60000 65536"/>
              </a:gdLst>
              <a:ahLst/>
              <a:cxnLst>
                <a:cxn ang="T4">
                  <a:pos x="T0" y="T1"/>
                </a:cxn>
                <a:cxn ang="T5">
                  <a:pos x="T2" y="T3"/>
                </a:cxn>
              </a:cxnLst>
              <a:rect l="0" t="0" r="r" b="b"/>
              <a:pathLst>
                <a:path w="1" h="113">
                  <a:moveTo>
                    <a:pt x="0" y="0"/>
                  </a:moveTo>
                  <a:lnTo>
                    <a:pt x="0" y="113"/>
                  </a:lnTo>
                </a:path>
              </a:pathLst>
            </a:cu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 name="Rectangle 10">
              <a:extLst>
                <a:ext uri="{FF2B5EF4-FFF2-40B4-BE49-F238E27FC236}">
                  <a16:creationId xmlns:a16="http://schemas.microsoft.com/office/drawing/2014/main" id="{FB13C07A-EB69-D241-454B-6F46FE45A56F}"/>
                </a:ext>
              </a:extLst>
            </p:cNvPr>
            <p:cNvSpPr>
              <a:spLocks noChangeArrowheads="1"/>
            </p:cNvSpPr>
            <p:nvPr/>
          </p:nvSpPr>
          <p:spPr bwMode="auto">
            <a:xfrm>
              <a:off x="1453" y="2570"/>
              <a:ext cx="445" cy="28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7" name="Rectangle 11">
              <a:extLst>
                <a:ext uri="{FF2B5EF4-FFF2-40B4-BE49-F238E27FC236}">
                  <a16:creationId xmlns:a16="http://schemas.microsoft.com/office/drawing/2014/main" id="{D11564AA-EDF9-5686-6E9A-5F7981936210}"/>
                </a:ext>
              </a:extLst>
            </p:cNvPr>
            <p:cNvSpPr>
              <a:spLocks noChangeArrowheads="1"/>
            </p:cNvSpPr>
            <p:nvPr/>
          </p:nvSpPr>
          <p:spPr bwMode="auto">
            <a:xfrm>
              <a:off x="2717" y="3423"/>
              <a:ext cx="369"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Symbol" pitchFamily="18" charset="2"/>
                </a:rPr>
                <a:t></a:t>
              </a:r>
            </a:p>
          </p:txBody>
        </p:sp>
        <p:sp>
          <p:nvSpPr>
            <p:cNvPr id="8" name="Rectangle 12">
              <a:extLst>
                <a:ext uri="{FF2B5EF4-FFF2-40B4-BE49-F238E27FC236}">
                  <a16:creationId xmlns:a16="http://schemas.microsoft.com/office/drawing/2014/main" id="{BB083DCF-746F-9AEC-24C6-01DBD3814191}"/>
                </a:ext>
              </a:extLst>
            </p:cNvPr>
            <p:cNvSpPr>
              <a:spLocks noChangeArrowheads="1"/>
            </p:cNvSpPr>
            <p:nvPr/>
          </p:nvSpPr>
          <p:spPr bwMode="auto">
            <a:xfrm>
              <a:off x="4437" y="3146"/>
              <a:ext cx="344"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x</a:t>
              </a:r>
            </a:p>
          </p:txBody>
        </p:sp>
        <p:sp>
          <p:nvSpPr>
            <p:cNvPr id="9" name="Line 13">
              <a:extLst>
                <a:ext uri="{FF2B5EF4-FFF2-40B4-BE49-F238E27FC236}">
                  <a16:creationId xmlns:a16="http://schemas.microsoft.com/office/drawing/2014/main" id="{4246F9F4-4D75-4200-FC6E-9FFDF1299B5C}"/>
                </a:ext>
              </a:extLst>
            </p:cNvPr>
            <p:cNvSpPr>
              <a:spLocks noChangeShapeType="1"/>
            </p:cNvSpPr>
            <p:nvPr/>
          </p:nvSpPr>
          <p:spPr bwMode="auto">
            <a:xfrm flipV="1">
              <a:off x="1265" y="1422"/>
              <a:ext cx="0" cy="1976"/>
            </a:xfrm>
            <a:prstGeom prst="line">
              <a:avLst/>
            </a:prstGeom>
            <a:noFill/>
            <a:ln w="12700">
              <a:solidFill>
                <a:schemeClr val="tx1"/>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Rectangle 14">
              <a:extLst>
                <a:ext uri="{FF2B5EF4-FFF2-40B4-BE49-F238E27FC236}">
                  <a16:creationId xmlns:a16="http://schemas.microsoft.com/office/drawing/2014/main" id="{1D6193BE-2683-6EA0-F712-CE39FFBF0666}"/>
                </a:ext>
              </a:extLst>
            </p:cNvPr>
            <p:cNvSpPr>
              <a:spLocks noChangeArrowheads="1"/>
            </p:cNvSpPr>
            <p:nvPr/>
          </p:nvSpPr>
          <p:spPr bwMode="auto">
            <a:xfrm>
              <a:off x="1095" y="901"/>
              <a:ext cx="640"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defRPr/>
              </a:pPr>
              <a:r>
                <a:rPr lang="en-US" altLang="zh-CN" sz="2400" i="1" dirty="0">
                  <a:latin typeface="Book Antiqua" pitchFamily="18" charset="0"/>
                </a:rPr>
                <a:t>f</a:t>
              </a:r>
              <a:r>
                <a:rPr lang="en-US" altLang="zh-CN" sz="2400" dirty="0">
                  <a:latin typeface="Book Antiqua" pitchFamily="18" charset="0"/>
                </a:rPr>
                <a:t>(</a:t>
              </a:r>
              <a:r>
                <a:rPr lang="en-US" altLang="zh-CN" sz="2400" i="1" dirty="0">
                  <a:latin typeface="Book Antiqua" pitchFamily="18" charset="0"/>
                </a:rPr>
                <a:t>x</a:t>
              </a:r>
              <a:r>
                <a:rPr lang="en-US" altLang="zh-CN" sz="2400" dirty="0">
                  <a:latin typeface="Book Antiqua" pitchFamily="18" charset="0"/>
                </a:rPr>
                <a:t>)</a:t>
              </a:r>
            </a:p>
          </p:txBody>
        </p:sp>
        <p:sp>
          <p:nvSpPr>
            <p:cNvPr id="11" name="Arc 15">
              <a:extLst>
                <a:ext uri="{FF2B5EF4-FFF2-40B4-BE49-F238E27FC236}">
                  <a16:creationId xmlns:a16="http://schemas.microsoft.com/office/drawing/2014/main" id="{FA0DC681-6761-2FF4-52BE-72F2E6E2ADEB}"/>
                </a:ext>
              </a:extLst>
            </p:cNvPr>
            <p:cNvSpPr>
              <a:spLocks/>
            </p:cNvSpPr>
            <p:nvPr/>
          </p:nvSpPr>
          <p:spPr bwMode="auto">
            <a:xfrm rot="4601066">
              <a:off x="3122" y="2548"/>
              <a:ext cx="790" cy="284"/>
            </a:xfrm>
            <a:custGeom>
              <a:avLst/>
              <a:gdLst>
                <a:gd name="T0" fmla="*/ 32 w 19428"/>
                <a:gd name="T1" fmla="*/ 2 h 21600"/>
                <a:gd name="T2" fmla="*/ 0 w 19428"/>
                <a:gd name="T3" fmla="*/ 4 h 21600"/>
                <a:gd name="T4" fmla="*/ 0 w 19428"/>
                <a:gd name="T5" fmla="*/ 0 h 21600"/>
                <a:gd name="T6" fmla="*/ 0 60000 65536"/>
                <a:gd name="T7" fmla="*/ 0 60000 65536"/>
                <a:gd name="T8" fmla="*/ 0 60000 65536"/>
              </a:gdLst>
              <a:ahLst/>
              <a:cxnLst>
                <a:cxn ang="T6">
                  <a:pos x="T0" y="T1"/>
                </a:cxn>
                <a:cxn ang="T7">
                  <a:pos x="T2" y="T3"/>
                </a:cxn>
                <a:cxn ang="T8">
                  <a:pos x="T4" y="T5"/>
                </a:cxn>
              </a:cxnLst>
              <a:rect l="0" t="0" r="r" b="b"/>
              <a:pathLst>
                <a:path w="19428" h="21600" fill="none" extrusionOk="0">
                  <a:moveTo>
                    <a:pt x="19427" y="9439"/>
                  </a:moveTo>
                  <a:cubicBezTo>
                    <a:pt x="15813" y="16878"/>
                    <a:pt x="8269" y="21599"/>
                    <a:pt x="0" y="21600"/>
                  </a:cubicBezTo>
                </a:path>
                <a:path w="19428" h="21600" stroke="0" extrusionOk="0">
                  <a:moveTo>
                    <a:pt x="19427" y="9439"/>
                  </a:moveTo>
                  <a:cubicBezTo>
                    <a:pt x="15813" y="16878"/>
                    <a:pt x="8269" y="21599"/>
                    <a:pt x="0" y="21600"/>
                  </a:cubicBezTo>
                  <a:lnTo>
                    <a:pt x="0" y="0"/>
                  </a:lnTo>
                  <a:lnTo>
                    <a:pt x="19427" y="9439"/>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2" name="Arc 16">
              <a:extLst>
                <a:ext uri="{FF2B5EF4-FFF2-40B4-BE49-F238E27FC236}">
                  <a16:creationId xmlns:a16="http://schemas.microsoft.com/office/drawing/2014/main" id="{A0BD8A09-BCDF-4A5F-AF3F-F0107778743B}"/>
                </a:ext>
              </a:extLst>
            </p:cNvPr>
            <p:cNvSpPr>
              <a:spLocks/>
            </p:cNvSpPr>
            <p:nvPr/>
          </p:nvSpPr>
          <p:spPr bwMode="auto">
            <a:xfrm rot="6300000">
              <a:off x="2113" y="1793"/>
              <a:ext cx="956" cy="224"/>
            </a:xfrm>
            <a:custGeom>
              <a:avLst/>
              <a:gdLst>
                <a:gd name="T0" fmla="*/ 42 w 21600"/>
                <a:gd name="T1" fmla="*/ 2 h 21600"/>
                <a:gd name="T2" fmla="*/ 0 w 21600"/>
                <a:gd name="T3" fmla="*/ 0 h 21600"/>
                <a:gd name="T4" fmla="*/ 42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sp>
          <p:nvSpPr>
            <p:cNvPr id="13" name="Arc 17">
              <a:extLst>
                <a:ext uri="{FF2B5EF4-FFF2-40B4-BE49-F238E27FC236}">
                  <a16:creationId xmlns:a16="http://schemas.microsoft.com/office/drawing/2014/main" id="{349845DF-EE8F-F77C-20F3-A60ADE86C61B}"/>
                </a:ext>
              </a:extLst>
            </p:cNvPr>
            <p:cNvSpPr>
              <a:spLocks/>
            </p:cNvSpPr>
            <p:nvPr/>
          </p:nvSpPr>
          <p:spPr bwMode="auto">
            <a:xfrm rot="-4620000">
              <a:off x="1737" y="2548"/>
              <a:ext cx="790" cy="284"/>
            </a:xfrm>
            <a:custGeom>
              <a:avLst/>
              <a:gdLst>
                <a:gd name="T0" fmla="*/ 32 w 19433"/>
                <a:gd name="T1" fmla="*/ 4 h 21600"/>
                <a:gd name="T2" fmla="*/ 0 w 19433"/>
                <a:gd name="T3" fmla="*/ 2 h 21600"/>
                <a:gd name="T4" fmla="*/ 32 w 19433"/>
                <a:gd name="T5" fmla="*/ 0 h 21600"/>
                <a:gd name="T6" fmla="*/ 0 60000 65536"/>
                <a:gd name="T7" fmla="*/ 0 60000 65536"/>
                <a:gd name="T8" fmla="*/ 0 60000 65536"/>
              </a:gdLst>
              <a:ahLst/>
              <a:cxnLst>
                <a:cxn ang="T6">
                  <a:pos x="T0" y="T1"/>
                </a:cxn>
                <a:cxn ang="T7">
                  <a:pos x="T2" y="T3"/>
                </a:cxn>
                <a:cxn ang="T8">
                  <a:pos x="T4" y="T5"/>
                </a:cxn>
              </a:cxnLst>
              <a:rect l="0" t="0" r="r" b="b"/>
              <a:pathLst>
                <a:path w="19433" h="21600" fill="none" extrusionOk="0">
                  <a:moveTo>
                    <a:pt x="19433" y="21600"/>
                  </a:moveTo>
                  <a:cubicBezTo>
                    <a:pt x="11159" y="21600"/>
                    <a:pt x="3612" y="16873"/>
                    <a:pt x="0" y="9429"/>
                  </a:cubicBezTo>
                </a:path>
                <a:path w="19433" h="21600" stroke="0" extrusionOk="0">
                  <a:moveTo>
                    <a:pt x="19433" y="21600"/>
                  </a:moveTo>
                  <a:cubicBezTo>
                    <a:pt x="11159" y="21600"/>
                    <a:pt x="3612" y="16873"/>
                    <a:pt x="0" y="9429"/>
                  </a:cubicBezTo>
                  <a:lnTo>
                    <a:pt x="19433" y="0"/>
                  </a:lnTo>
                  <a:lnTo>
                    <a:pt x="19433" y="2160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4" name="Arc 18">
              <a:extLst>
                <a:ext uri="{FF2B5EF4-FFF2-40B4-BE49-F238E27FC236}">
                  <a16:creationId xmlns:a16="http://schemas.microsoft.com/office/drawing/2014/main" id="{1A1739FD-3FCE-F5CC-7A32-F3F1668EB1F3}"/>
                </a:ext>
              </a:extLst>
            </p:cNvPr>
            <p:cNvSpPr>
              <a:spLocks/>
            </p:cNvSpPr>
            <p:nvPr/>
          </p:nvSpPr>
          <p:spPr bwMode="auto">
            <a:xfrm rot="-6300000">
              <a:off x="2577" y="1795"/>
              <a:ext cx="957" cy="225"/>
            </a:xfrm>
            <a:custGeom>
              <a:avLst/>
              <a:gdLst>
                <a:gd name="T0" fmla="*/ 42 w 21600"/>
                <a:gd name="T1" fmla="*/ 0 h 21696"/>
                <a:gd name="T2" fmla="*/ 0 w 21600"/>
                <a:gd name="T3" fmla="*/ 2 h 21696"/>
                <a:gd name="T4" fmla="*/ 0 w 21600"/>
                <a:gd name="T5" fmla="*/ 0 h 21696"/>
                <a:gd name="T6" fmla="*/ 0 60000 65536"/>
                <a:gd name="T7" fmla="*/ 0 60000 65536"/>
                <a:gd name="T8" fmla="*/ 0 60000 65536"/>
              </a:gdLst>
              <a:ahLst/>
              <a:cxnLst>
                <a:cxn ang="T6">
                  <a:pos x="T0" y="T1"/>
                </a:cxn>
                <a:cxn ang="T7">
                  <a:pos x="T2" y="T3"/>
                </a:cxn>
                <a:cxn ang="T8">
                  <a:pos x="T4" y="T5"/>
                </a:cxn>
              </a:cxnLst>
              <a:rect l="0" t="0" r="r" b="b"/>
              <a:pathLst>
                <a:path w="21600" h="21696" fill="none" extrusionOk="0">
                  <a:moveTo>
                    <a:pt x="21599" y="0"/>
                  </a:moveTo>
                  <a:cubicBezTo>
                    <a:pt x="21599" y="32"/>
                    <a:pt x="21600" y="64"/>
                    <a:pt x="21600" y="96"/>
                  </a:cubicBezTo>
                  <a:cubicBezTo>
                    <a:pt x="21600" y="12025"/>
                    <a:pt x="11929" y="21695"/>
                    <a:pt x="0" y="21696"/>
                  </a:cubicBezTo>
                </a:path>
                <a:path w="21600" h="21696" stroke="0" extrusionOk="0">
                  <a:moveTo>
                    <a:pt x="21599" y="0"/>
                  </a:moveTo>
                  <a:cubicBezTo>
                    <a:pt x="21599" y="32"/>
                    <a:pt x="21600" y="64"/>
                    <a:pt x="21600" y="96"/>
                  </a:cubicBezTo>
                  <a:cubicBezTo>
                    <a:pt x="21600" y="12025"/>
                    <a:pt x="11929" y="21695"/>
                    <a:pt x="0" y="21696"/>
                  </a:cubicBezTo>
                  <a:lnTo>
                    <a:pt x="0" y="96"/>
                  </a:lnTo>
                  <a:lnTo>
                    <a:pt x="21599" y="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5" name="Arc 19">
              <a:extLst>
                <a:ext uri="{FF2B5EF4-FFF2-40B4-BE49-F238E27FC236}">
                  <a16:creationId xmlns:a16="http://schemas.microsoft.com/office/drawing/2014/main" id="{B1BFE436-D3FA-2AA0-96B1-72DCA761333B}"/>
                </a:ext>
              </a:extLst>
            </p:cNvPr>
            <p:cNvSpPr>
              <a:spLocks/>
            </p:cNvSpPr>
            <p:nvPr/>
          </p:nvSpPr>
          <p:spPr bwMode="auto">
            <a:xfrm rot="-900000">
              <a:off x="1353" y="3110"/>
              <a:ext cx="697" cy="164"/>
            </a:xfrm>
            <a:custGeom>
              <a:avLst/>
              <a:gdLst>
                <a:gd name="T0" fmla="*/ 23 w 20693"/>
                <a:gd name="T1" fmla="*/ 0 h 21576"/>
                <a:gd name="T2" fmla="*/ 1 w 20693"/>
                <a:gd name="T3" fmla="*/ 1 h 21576"/>
                <a:gd name="T4" fmla="*/ 0 w 20693"/>
                <a:gd name="T5" fmla="*/ 0 h 21576"/>
                <a:gd name="T6" fmla="*/ 0 60000 65536"/>
                <a:gd name="T7" fmla="*/ 0 60000 65536"/>
                <a:gd name="T8" fmla="*/ 0 60000 65536"/>
              </a:gdLst>
              <a:ahLst/>
              <a:cxnLst>
                <a:cxn ang="T6">
                  <a:pos x="T0" y="T1"/>
                </a:cxn>
                <a:cxn ang="T7">
                  <a:pos x="T2" y="T3"/>
                </a:cxn>
                <a:cxn ang="T8">
                  <a:pos x="T4" y="T5"/>
                </a:cxn>
              </a:cxnLst>
              <a:rect l="0" t="0" r="r" b="b"/>
              <a:pathLst>
                <a:path w="20693" h="21576" fill="none" extrusionOk="0">
                  <a:moveTo>
                    <a:pt x="20692" y="6193"/>
                  </a:moveTo>
                  <a:cubicBezTo>
                    <a:pt x="18063" y="14978"/>
                    <a:pt x="10173" y="21145"/>
                    <a:pt x="1014" y="21576"/>
                  </a:cubicBezTo>
                </a:path>
                <a:path w="20693" h="21576" stroke="0" extrusionOk="0">
                  <a:moveTo>
                    <a:pt x="20692" y="6193"/>
                  </a:moveTo>
                  <a:cubicBezTo>
                    <a:pt x="18063" y="14978"/>
                    <a:pt x="10173" y="21145"/>
                    <a:pt x="1014" y="21576"/>
                  </a:cubicBezTo>
                  <a:lnTo>
                    <a:pt x="0" y="0"/>
                  </a:lnTo>
                  <a:lnTo>
                    <a:pt x="20692" y="6193"/>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anchor="ctr"/>
            <a:lstStyle/>
            <a:p>
              <a:endParaRPr lang="zh-CN" altLang="en-US"/>
            </a:p>
          </p:txBody>
        </p:sp>
        <p:sp>
          <p:nvSpPr>
            <p:cNvPr id="16" name="Arc 20">
              <a:extLst>
                <a:ext uri="{FF2B5EF4-FFF2-40B4-BE49-F238E27FC236}">
                  <a16:creationId xmlns:a16="http://schemas.microsoft.com/office/drawing/2014/main" id="{5A0D01E5-BE10-2F75-5E18-EC9520E32DAA}"/>
                </a:ext>
              </a:extLst>
            </p:cNvPr>
            <p:cNvSpPr>
              <a:spLocks/>
            </p:cNvSpPr>
            <p:nvPr/>
          </p:nvSpPr>
          <p:spPr bwMode="auto">
            <a:xfrm rot="962667">
              <a:off x="3605" y="3095"/>
              <a:ext cx="702" cy="164"/>
            </a:xfrm>
            <a:custGeom>
              <a:avLst/>
              <a:gdLst>
                <a:gd name="T0" fmla="*/ 24 w 20846"/>
                <a:gd name="T1" fmla="*/ 1 h 21600"/>
                <a:gd name="T2" fmla="*/ 0 w 20846"/>
                <a:gd name="T3" fmla="*/ 1 h 21600"/>
                <a:gd name="T4" fmla="*/ 22 w 20846"/>
                <a:gd name="T5" fmla="*/ 0 h 21600"/>
                <a:gd name="T6" fmla="*/ 0 60000 65536"/>
                <a:gd name="T7" fmla="*/ 0 60000 65536"/>
                <a:gd name="T8" fmla="*/ 0 60000 65536"/>
              </a:gdLst>
              <a:ahLst/>
              <a:cxnLst>
                <a:cxn ang="T6">
                  <a:pos x="T0" y="T1"/>
                </a:cxn>
                <a:cxn ang="T7">
                  <a:pos x="T2" y="T3"/>
                </a:cxn>
                <a:cxn ang="T8">
                  <a:pos x="T4" y="T5"/>
                </a:cxn>
              </a:cxnLst>
              <a:rect l="0" t="0" r="r" b="b"/>
              <a:pathLst>
                <a:path w="20846" h="21600" fill="none" extrusionOk="0">
                  <a:moveTo>
                    <a:pt x="20845" y="21570"/>
                  </a:moveTo>
                  <a:cubicBezTo>
                    <a:pt x="20472" y="21590"/>
                    <a:pt x="20098" y="21599"/>
                    <a:pt x="19724" y="21600"/>
                  </a:cubicBezTo>
                  <a:cubicBezTo>
                    <a:pt x="11200" y="21600"/>
                    <a:pt x="3473" y="16587"/>
                    <a:pt x="-1" y="8804"/>
                  </a:cubicBezTo>
                </a:path>
                <a:path w="20846" h="21600" stroke="0" extrusionOk="0">
                  <a:moveTo>
                    <a:pt x="20845" y="21570"/>
                  </a:moveTo>
                  <a:cubicBezTo>
                    <a:pt x="20472" y="21590"/>
                    <a:pt x="20098" y="21599"/>
                    <a:pt x="19724" y="21600"/>
                  </a:cubicBezTo>
                  <a:cubicBezTo>
                    <a:pt x="11200" y="21600"/>
                    <a:pt x="3473" y="16587"/>
                    <a:pt x="-1" y="8804"/>
                  </a:cubicBezTo>
                  <a:lnTo>
                    <a:pt x="19724" y="0"/>
                  </a:lnTo>
                  <a:lnTo>
                    <a:pt x="20845" y="21570"/>
                  </a:lnTo>
                  <a:close/>
                </a:path>
              </a:pathLst>
            </a:custGeom>
            <a:noFill/>
            <a:ln w="19050" cap="rnd">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wrap="none" anchor="ctr"/>
            <a:lstStyle/>
            <a:p>
              <a:endParaRPr lang="zh-CN" altLang="en-US"/>
            </a:p>
          </p:txBody>
        </p:sp>
      </p:grpSp>
      <p:sp>
        <p:nvSpPr>
          <p:cNvPr id="17" name="灯片编号占位符 16">
            <a:extLst>
              <a:ext uri="{FF2B5EF4-FFF2-40B4-BE49-F238E27FC236}">
                <a16:creationId xmlns:a16="http://schemas.microsoft.com/office/drawing/2014/main" id="{F15ED9D4-C644-BECC-3DE7-6E4D528B5B4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0">
            <a:extLst>
              <a:ext uri="{FF2B5EF4-FFF2-40B4-BE49-F238E27FC236}">
                <a16:creationId xmlns:a16="http://schemas.microsoft.com/office/drawing/2014/main" id="{F38095C0-8D69-1A3D-C1DF-E1A43469C3ED}"/>
              </a:ext>
            </a:extLst>
          </p:cNvPr>
          <p:cNvSpPr>
            <a:spLocks noGrp="1" noChangeArrowheads="1"/>
          </p:cNvSpPr>
          <p:nvPr>
            <p:ph type="title"/>
          </p:nvPr>
        </p:nvSpPr>
        <p:spPr>
          <a:xfrm>
            <a:off x="284231" y="288293"/>
            <a:ext cx="4496491" cy="1211615"/>
          </a:xfrm>
        </p:spPr>
        <p:txBody>
          <a:bodyPr>
            <a:noAutofit/>
          </a:bodyPr>
          <a:lstStyle/>
          <a:p>
            <a:pPr eaLnBrk="1" hangingPunct="1"/>
            <a:r>
              <a:rPr lang="en-US" altLang="en-US" sz="2800" b="1" dirty="0">
                <a:solidFill>
                  <a:srgbClr val="0000FF"/>
                </a:solidFill>
                <a:latin typeface="Times New Roman" panose="02020603050405020304" pitchFamily="18" charset="0"/>
                <a:cs typeface="Times New Roman" panose="02020603050405020304" pitchFamily="18" charset="0"/>
              </a:rPr>
              <a:t>The Position and Shape of the Normal Curve</a:t>
            </a:r>
          </a:p>
        </p:txBody>
      </p:sp>
      <p:pic>
        <p:nvPicPr>
          <p:cNvPr id="5" name="Picture 4">
            <a:extLst>
              <a:ext uri="{FF2B5EF4-FFF2-40B4-BE49-F238E27FC236}">
                <a16:creationId xmlns:a16="http://schemas.microsoft.com/office/drawing/2014/main" id="{CA578BC2-C5CF-F3D0-1F79-94D55D2F5DCC}"/>
              </a:ext>
            </a:extLst>
          </p:cNvPr>
          <p:cNvPicPr>
            <a:picLocks noChangeAspect="1"/>
          </p:cNvPicPr>
          <p:nvPr/>
        </p:nvPicPr>
        <p:blipFill>
          <a:blip r:embed="rId3"/>
          <a:stretch>
            <a:fillRect/>
          </a:stretch>
        </p:blipFill>
        <p:spPr>
          <a:xfrm>
            <a:off x="4924414" y="287335"/>
            <a:ext cx="7151629" cy="486965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6E21603-4894-9ECC-64D4-1C90DA7D500B}"/>
                  </a:ext>
                </a:extLst>
              </p:cNvPr>
              <p:cNvSpPr txBox="1"/>
              <p:nvPr/>
            </p:nvSpPr>
            <p:spPr>
              <a:xfrm>
                <a:off x="284231" y="2008652"/>
                <a:ext cx="4496491" cy="1815882"/>
              </a:xfrm>
              <a:prstGeom prst="rect">
                <a:avLst/>
              </a:prstGeom>
              <a:noFill/>
            </p:spPr>
            <p:txBody>
              <a:bodyPr wrap="square">
                <a:spAutoFit/>
              </a:bodyPr>
              <a:lstStyle/>
              <a:p>
                <a:r>
                  <a:rPr lang="en-AU" sz="2800" dirty="0">
                    <a:solidFill>
                      <a:srgbClr val="0000FF"/>
                    </a:solidFill>
                    <a:latin typeface="Times New Roman" panose="02020603050405020304" pitchFamily="18" charset="0"/>
                    <a:cs typeface="Times New Roman" panose="02020603050405020304" pitchFamily="18" charset="0"/>
                  </a:rPr>
                  <a:t>Figure 6.4 </a:t>
                </a:r>
                <a:r>
                  <a:rPr lang="en-AU" sz="2800" dirty="0">
                    <a:latin typeface="Times New Roman" panose="02020603050405020304" pitchFamily="18" charset="0"/>
                    <a:cs typeface="Times New Roman" panose="02020603050405020304" pitchFamily="18" charset="0"/>
                  </a:rPr>
                  <a:t>How the mean </a:t>
                </a:r>
                <a14:m>
                  <m:oMath xmlns:m="http://schemas.openxmlformats.org/officeDocument/2006/math">
                    <m:r>
                      <a:rPr lang="en-AU" sz="2800" i="1">
                        <a:solidFill>
                          <a:srgbClr val="000000"/>
                        </a:solidFill>
                        <a:latin typeface="Cambria Math" panose="02040503050406030204" pitchFamily="18" charset="0"/>
                      </a:rPr>
                      <m:t>𝜇</m:t>
                    </m:r>
                  </m:oMath>
                </a14:m>
                <a:r>
                  <a:rPr lang="en-AU" sz="2800" dirty="0">
                    <a:latin typeface="Times New Roman" panose="02020603050405020304" pitchFamily="18" charset="0"/>
                    <a:cs typeface="Times New Roman" panose="02020603050405020304" pitchFamily="18" charset="0"/>
                  </a:rPr>
                  <a:t> and standard deviation </a:t>
                </a:r>
                <a:r>
                  <a:rPr lang="en-US" altLang="zh-CN" sz="2800" dirty="0">
                    <a:latin typeface="Times New Roman" panose="02020603050405020304" pitchFamily="18" charset="0"/>
                    <a:sym typeface="Symbol" pitchFamily="2" charset="2"/>
                  </a:rPr>
                  <a:t></a:t>
                </a:r>
                <a:r>
                  <a:rPr lang="en-AU" sz="2800" dirty="0">
                    <a:latin typeface="Times New Roman" panose="02020603050405020304" pitchFamily="18" charset="0"/>
                    <a:cs typeface="Times New Roman" panose="02020603050405020304" pitchFamily="18" charset="0"/>
                  </a:rPr>
                  <a:t> affect the position and shape of a normal probability curve</a:t>
                </a:r>
              </a:p>
            </p:txBody>
          </p:sp>
        </mc:Choice>
        <mc:Fallback xmlns="">
          <p:sp>
            <p:nvSpPr>
              <p:cNvPr id="7" name="TextBox 6">
                <a:extLst>
                  <a:ext uri="{FF2B5EF4-FFF2-40B4-BE49-F238E27FC236}">
                    <a16:creationId xmlns:a16="http://schemas.microsoft.com/office/drawing/2014/main" id="{26E21603-4894-9ECC-64D4-1C90DA7D500B}"/>
                  </a:ext>
                </a:extLst>
              </p:cNvPr>
              <p:cNvSpPr txBox="1">
                <a:spLocks noRot="1" noChangeAspect="1" noMove="1" noResize="1" noEditPoints="1" noAdjustHandles="1" noChangeArrowheads="1" noChangeShapeType="1" noTextEdit="1"/>
              </p:cNvSpPr>
              <p:nvPr/>
            </p:nvSpPr>
            <p:spPr>
              <a:xfrm>
                <a:off x="284231" y="2008652"/>
                <a:ext cx="4496491" cy="1815882"/>
              </a:xfrm>
              <a:prstGeom prst="rect">
                <a:avLst/>
              </a:prstGeom>
              <a:blipFill>
                <a:blip r:embed="rId4"/>
                <a:stretch>
                  <a:fillRect l="-2849" t="-3704" b="-8754"/>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7B5C7D0C-CE78-97E3-47FD-7093C9BBB240}"/>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2D0C1AE7-E997-FE4B-8FB1-F1DB43B64A59}"/>
              </a:ext>
            </a:extLst>
          </p:cNvPr>
          <p:cNvSpPr>
            <a:spLocks noGrp="1" noChangeArrowheads="1"/>
          </p:cNvSpPr>
          <p:nvPr>
            <p:ph type="title"/>
          </p:nvPr>
        </p:nvSpPr>
        <p:spPr>
          <a:xfrm>
            <a:off x="715964" y="127779"/>
            <a:ext cx="4084636" cy="498388"/>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Normal Probabilities</a:t>
            </a:r>
          </a:p>
        </p:txBody>
      </p:sp>
      <p:sp>
        <p:nvSpPr>
          <p:cNvPr id="22532" name="Text Box 3">
            <a:extLst>
              <a:ext uri="{FF2B5EF4-FFF2-40B4-BE49-F238E27FC236}">
                <a16:creationId xmlns:a16="http://schemas.microsoft.com/office/drawing/2014/main" id="{66141198-6CAC-7D41-8983-FD4471165526}"/>
              </a:ext>
            </a:extLst>
          </p:cNvPr>
          <p:cNvSpPr txBox="1">
            <a:spLocks noChangeArrowheads="1"/>
          </p:cNvSpPr>
          <p:nvPr/>
        </p:nvSpPr>
        <p:spPr bwMode="auto">
          <a:xfrm>
            <a:off x="634072" y="838029"/>
            <a:ext cx="10974831" cy="194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10000"/>
              </a:spcBef>
              <a:spcAft>
                <a:spcPct val="20000"/>
              </a:spcAft>
              <a:buClrTx/>
              <a:buSzTx/>
              <a:buFontTx/>
              <a:buNone/>
            </a:pPr>
            <a:r>
              <a:rPr lang="en-US" altLang="zh-CN" sz="2800" dirty="0">
                <a:latin typeface="Times New Roman" panose="02020603050405020304" pitchFamily="18" charset="0"/>
                <a:cs typeface="Times New Roman" panose="02020603050405020304" pitchFamily="18" charset="0"/>
              </a:rPr>
              <a:t>Suppose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is a normally distributed random variable with mean </a:t>
            </a:r>
            <a:r>
              <a:rPr lang="en-US" altLang="zh-CN" sz="2800" i="1" dirty="0">
                <a:latin typeface="Times New Roman" panose="02020603050405020304" pitchFamily="18" charset="0"/>
                <a:cs typeface="Times New Roman" panose="02020603050405020304" pitchFamily="18" charset="0"/>
              </a:rPr>
              <a:t>m</a:t>
            </a:r>
            <a:r>
              <a:rPr lang="en-US" altLang="zh-CN" sz="2800" dirty="0">
                <a:latin typeface="Times New Roman" panose="02020603050405020304" pitchFamily="18" charset="0"/>
                <a:cs typeface="Times New Roman" panose="02020603050405020304" pitchFamily="18" charset="0"/>
              </a:rPr>
              <a:t> and standard deviation </a:t>
            </a:r>
            <a:r>
              <a:rPr lang="en-US" altLang="zh-CN" sz="2800" i="1" dirty="0">
                <a:latin typeface="Times New Roman" panose="02020603050405020304" pitchFamily="18" charset="0"/>
                <a:cs typeface="Times New Roman" panose="02020603050405020304" pitchFamily="18" charset="0"/>
              </a:rPr>
              <a:t>s</a:t>
            </a:r>
            <a:r>
              <a:rPr lang="en-US" altLang="zh-CN" sz="2800" dirty="0">
                <a:latin typeface="Times New Roman" panose="02020603050405020304" pitchFamily="18" charset="0"/>
                <a:cs typeface="Times New Roman" panose="02020603050405020304" pitchFamily="18" charset="0"/>
              </a:rPr>
              <a:t>.</a:t>
            </a:r>
            <a:endParaRPr lang="en-US" altLang="zh-CN" sz="2800" i="1" dirty="0">
              <a:latin typeface="Times New Roman" panose="02020603050405020304" pitchFamily="18" charset="0"/>
              <a:cs typeface="Times New Roman" panose="02020603050405020304" pitchFamily="18" charset="0"/>
            </a:endParaRPr>
          </a:p>
          <a:p>
            <a:pPr algn="just">
              <a:spcBef>
                <a:spcPct val="10000"/>
              </a:spcBef>
              <a:spcAft>
                <a:spcPct val="20000"/>
              </a:spcAft>
              <a:buClrTx/>
              <a:buSzTx/>
              <a:buFontTx/>
              <a:buNone/>
            </a:pPr>
            <a:r>
              <a:rPr lang="en-US" altLang="zh-CN" sz="2800" dirty="0">
                <a:latin typeface="Times New Roman" panose="02020603050405020304" pitchFamily="18" charset="0"/>
                <a:cs typeface="Times New Roman" panose="02020603050405020304" pitchFamily="18" charset="0"/>
              </a:rPr>
              <a:t>The probability that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could take any value in the range between two given values </a:t>
            </a:r>
            <a:r>
              <a:rPr lang="en-US" altLang="zh-CN" sz="2800" i="1" dirty="0">
                <a:latin typeface="Times New Roman" panose="02020603050405020304"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 and </a:t>
            </a:r>
            <a:r>
              <a:rPr lang="en-US" altLang="zh-CN" sz="2800" i="1" dirty="0">
                <a:latin typeface="Times New Roman" panose="02020603050405020304"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 &lt; </a:t>
            </a:r>
            <a:r>
              <a:rPr lang="en-US" altLang="zh-CN" sz="2800" i="1" dirty="0">
                <a:latin typeface="Times New Roman" panose="02020603050405020304"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 is </a:t>
            </a: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 ≤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 </a:t>
            </a:r>
            <a:r>
              <a:rPr lang="en-US" altLang="zh-CN" sz="2800" i="1" dirty="0">
                <a:latin typeface="Times New Roman" panose="02020603050405020304"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a:t>
            </a:r>
          </a:p>
        </p:txBody>
      </p:sp>
      <p:sp>
        <p:nvSpPr>
          <p:cNvPr id="279556" name="Text Box 4">
            <a:extLst>
              <a:ext uri="{FF2B5EF4-FFF2-40B4-BE49-F238E27FC236}">
                <a16:creationId xmlns:a16="http://schemas.microsoft.com/office/drawing/2014/main" id="{B9DDCDBD-92B3-CA46-A6A5-E89794CEC84A}"/>
              </a:ext>
            </a:extLst>
          </p:cNvPr>
          <p:cNvSpPr txBox="1">
            <a:spLocks noChangeArrowheads="1"/>
          </p:cNvSpPr>
          <p:nvPr/>
        </p:nvSpPr>
        <p:spPr bwMode="auto">
          <a:xfrm>
            <a:off x="6121487" y="3429000"/>
            <a:ext cx="463153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defRPr/>
            </a:pP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 ≤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itchFamily="18" charset="0"/>
                <a:cs typeface="Times New Roman" pitchFamily="18" charset="0"/>
              </a:rPr>
              <a:t> ≤ </a:t>
            </a:r>
            <a:r>
              <a:rPr lang="en-US" altLang="zh-CN" sz="2800" i="1" dirty="0">
                <a:latin typeface="Times New Roman" panose="02020603050405020304" pitchFamily="18" charset="0"/>
                <a:cs typeface="Times New Roman" panose="02020603050405020304" pitchFamily="18" charset="0"/>
              </a:rPr>
              <a:t>b</a:t>
            </a:r>
            <a:r>
              <a:rPr lang="en-US" altLang="zh-CN" sz="2800" dirty="0">
                <a:latin typeface="Times New Roman" panose="02020603050405020304" pitchFamily="18" charset="0"/>
                <a:cs typeface="Times New Roman" panose="02020603050405020304" pitchFamily="18" charset="0"/>
              </a:rPr>
              <a:t>) is </a:t>
            </a:r>
            <a:r>
              <a:rPr lang="en-US" altLang="zh-CN" sz="2800" dirty="0">
                <a:solidFill>
                  <a:srgbClr val="00B0F0"/>
                </a:solidFill>
                <a:latin typeface="Times New Roman" panose="02020603050405020304" pitchFamily="18" charset="0"/>
                <a:cs typeface="Times New Roman" panose="02020603050405020304" pitchFamily="18" charset="0"/>
              </a:rPr>
              <a:t>the area colored in blue</a:t>
            </a:r>
            <a:r>
              <a:rPr lang="en-US" altLang="zh-CN" sz="2800" dirty="0">
                <a:latin typeface="Times New Roman" panose="02020603050405020304" pitchFamily="18" charset="0"/>
                <a:cs typeface="Times New Roman" panose="02020603050405020304" pitchFamily="18" charset="0"/>
              </a:rPr>
              <a:t> under the normal curve and between the values </a:t>
            </a:r>
            <a:r>
              <a:rPr lang="en-US" altLang="zh-CN" sz="2800" i="1"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 a</a:t>
            </a:r>
            <a:r>
              <a:rPr lang="en-US" altLang="zh-CN" sz="2800" dirty="0">
                <a:latin typeface="Times New Roman" panose="02020603050405020304" pitchFamily="18" charset="0"/>
                <a:cs typeface="Times New Roman" panose="02020603050405020304" pitchFamily="18" charset="0"/>
              </a:rPr>
              <a:t> and </a:t>
            </a:r>
            <a:r>
              <a:rPr lang="en-US" altLang="zh-CN" sz="2800" i="1" dirty="0">
                <a:latin typeface="Times New Roman" panose="02020603050405020304" pitchFamily="18" charset="0"/>
                <a:cs typeface="Times New Roman" panose="02020603050405020304" pitchFamily="18" charset="0"/>
              </a:rPr>
              <a:t>x </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 b</a:t>
            </a:r>
            <a:endParaRPr lang="en-US" altLang="zh-CN" sz="2800" dirty="0">
              <a:latin typeface="Times New Roman" panose="02020603050405020304" pitchFamily="18" charset="0"/>
              <a:cs typeface="Times New Roman" panose="02020603050405020304" pitchFamily="18" charset="0"/>
            </a:endParaRPr>
          </a:p>
        </p:txBody>
      </p:sp>
      <p:pic>
        <p:nvPicPr>
          <p:cNvPr id="22534" name="Picture 5">
            <a:extLst>
              <a:ext uri="{FF2B5EF4-FFF2-40B4-BE49-F238E27FC236}">
                <a16:creationId xmlns:a16="http://schemas.microsoft.com/office/drawing/2014/main" id="{363D5E84-C7A3-A848-B338-8CDEBDA4C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4" y="3216346"/>
            <a:ext cx="5040313"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6">
            <a:extLst>
              <a:ext uri="{FF2B5EF4-FFF2-40B4-BE49-F238E27FC236}">
                <a16:creationId xmlns:a16="http://schemas.microsoft.com/office/drawing/2014/main" id="{FC3039AF-5C0C-489C-EA96-625A4073CBE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8730918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18">
            <a:extLst>
              <a:ext uri="{FF2B5EF4-FFF2-40B4-BE49-F238E27FC236}">
                <a16:creationId xmlns:a16="http://schemas.microsoft.com/office/drawing/2014/main" id="{5EECFB65-07F9-C7AB-F4C4-BA80F7678778}"/>
              </a:ext>
            </a:extLst>
          </p:cNvPr>
          <p:cNvSpPr>
            <a:spLocks noGrp="1" noChangeArrowheads="1"/>
          </p:cNvSpPr>
          <p:nvPr>
            <p:ph type="title"/>
          </p:nvPr>
        </p:nvSpPr>
        <p:spPr>
          <a:xfrm>
            <a:off x="218661" y="277813"/>
            <a:ext cx="5237921" cy="1242874"/>
          </a:xfrm>
        </p:spPr>
        <p:txBody>
          <a:bodyPr>
            <a:noAutofit/>
          </a:bodyPr>
          <a:lstStyle/>
          <a:p>
            <a:pPr eaLnBrk="1" hangingPunct="1"/>
            <a:r>
              <a:rPr lang="en-US" altLang="en-US" sz="2800" b="1" dirty="0">
                <a:solidFill>
                  <a:srgbClr val="0000FF"/>
                </a:solidFill>
                <a:latin typeface="Times New Roman" panose="02020603050405020304" pitchFamily="18" charset="0"/>
                <a:cs typeface="Times New Roman" panose="02020603050405020304" pitchFamily="18" charset="0"/>
              </a:rPr>
              <a:t>Three Important Percentages</a:t>
            </a:r>
            <a:br>
              <a:rPr lang="en-US" altLang="en-US" sz="2800" dirty="0">
                <a:solidFill>
                  <a:srgbClr val="0000FF"/>
                </a:solidFill>
                <a:latin typeface="Times New Roman" panose="02020603050405020304" pitchFamily="18" charset="0"/>
                <a:cs typeface="Times New Roman" panose="02020603050405020304" pitchFamily="18" charset="0"/>
              </a:rPr>
            </a:br>
            <a:br>
              <a:rPr lang="en-US" altLang="en-US" sz="2800" dirty="0">
                <a:solidFill>
                  <a:srgbClr val="0000FF"/>
                </a:solidFill>
                <a:latin typeface="Times New Roman" panose="02020603050405020304" pitchFamily="18" charset="0"/>
                <a:cs typeface="Times New Roman" panose="02020603050405020304" pitchFamily="18" charset="0"/>
              </a:rPr>
            </a:br>
            <a:r>
              <a:rPr lang="en-US" altLang="en-US" sz="2800" dirty="0">
                <a:solidFill>
                  <a:srgbClr val="0000FF"/>
                </a:solidFill>
                <a:latin typeface="Times New Roman" panose="02020603050405020304" pitchFamily="18" charset="0"/>
                <a:cs typeface="Times New Roman" panose="02020603050405020304" pitchFamily="18" charset="0"/>
              </a:rPr>
              <a:t>(</a:t>
            </a:r>
            <a:r>
              <a:rPr lang="en-US" altLang="en-US" sz="2800" dirty="0">
                <a:solidFill>
                  <a:srgbClr val="0000FF"/>
                </a:solidFill>
                <a:highlight>
                  <a:srgbClr val="FFFF00"/>
                </a:highlight>
                <a:latin typeface="Times New Roman" panose="02020603050405020304" pitchFamily="18" charset="0"/>
                <a:cs typeface="Times New Roman" panose="02020603050405020304" pitchFamily="18" charset="0"/>
              </a:rPr>
              <a:t>We also know this in Chapter 3)</a:t>
            </a:r>
          </a:p>
        </p:txBody>
      </p:sp>
      <p:pic>
        <p:nvPicPr>
          <p:cNvPr id="30725" name="Picture 19">
            <a:extLst>
              <a:ext uri="{FF2B5EF4-FFF2-40B4-BE49-F238E27FC236}">
                <a16:creationId xmlns:a16="http://schemas.microsoft.com/office/drawing/2014/main" id="{387D0B5A-2BE4-783B-D0B8-41F1BCAF1AD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795840" y="80861"/>
            <a:ext cx="5663978" cy="3468332"/>
          </a:xfrm>
          <a:noFill/>
          <a:extLst>
            <a:ext uri="{91240B29-F687-4F45-9708-019B960494DF}">
              <a14:hiddenLine xmlns:a14="http://schemas.microsoft.com/office/drawing/2010/main" w="25400" cap="flat" cmpd="sng">
                <a:solidFill>
                  <a:schemeClr val="tx1"/>
                </a:solidFill>
                <a:prstDash val="solid"/>
                <a:miter lim="800000"/>
                <a:headEnd type="none" w="sm" len="sm"/>
                <a:tailEnd type="none" w="sm" len="sm"/>
              </a14:hiddenLine>
            </a:ext>
          </a:extLst>
        </p:spPr>
      </p:pic>
      <p:pic>
        <p:nvPicPr>
          <p:cNvPr id="5" name="图片 4">
            <a:extLst>
              <a:ext uri="{FF2B5EF4-FFF2-40B4-BE49-F238E27FC236}">
                <a16:creationId xmlns:a16="http://schemas.microsoft.com/office/drawing/2014/main" id="{CABA7B33-20A4-EF67-0800-B0BE5212ED40}"/>
              </a:ext>
            </a:extLst>
          </p:cNvPr>
          <p:cNvPicPr>
            <a:picLocks noChangeAspect="1"/>
          </p:cNvPicPr>
          <p:nvPr/>
        </p:nvPicPr>
        <p:blipFill>
          <a:blip r:embed="rId4"/>
          <a:stretch>
            <a:fillRect/>
          </a:stretch>
        </p:blipFill>
        <p:spPr>
          <a:xfrm>
            <a:off x="363727" y="3816625"/>
            <a:ext cx="11530603" cy="2613991"/>
          </a:xfrm>
          <a:prstGeom prst="rect">
            <a:avLst/>
          </a:prstGeom>
        </p:spPr>
      </p:pic>
      <p:sp>
        <p:nvSpPr>
          <p:cNvPr id="2" name="灯片编号占位符 16">
            <a:extLst>
              <a:ext uri="{FF2B5EF4-FFF2-40B4-BE49-F238E27FC236}">
                <a16:creationId xmlns:a16="http://schemas.microsoft.com/office/drawing/2014/main" id="{40D4D29A-F35E-4DE0-B42E-261656EA0A4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6E3C-A8A9-332E-6D40-B09ACB549104}"/>
            </a:ext>
          </a:extLst>
        </p:cNvPr>
        <p:cNvGrpSpPr/>
        <p:nvPr/>
      </p:nvGrpSpPr>
      <p:grpSpPr>
        <a:xfrm>
          <a:off x="0" y="0"/>
          <a:ext cx="0" cy="0"/>
          <a:chOff x="0" y="0"/>
          <a:chExt cx="0" cy="0"/>
        </a:xfrm>
      </p:grpSpPr>
      <p:sp>
        <p:nvSpPr>
          <p:cNvPr id="270339" name="Rectangle 3">
            <a:extLst>
              <a:ext uri="{FF2B5EF4-FFF2-40B4-BE49-F238E27FC236}">
                <a16:creationId xmlns:a16="http://schemas.microsoft.com/office/drawing/2014/main" id="{4AAAC1A2-6E36-936E-467E-7E8B85DB18A5}"/>
              </a:ext>
            </a:extLst>
          </p:cNvPr>
          <p:cNvSpPr>
            <a:spLocks noChangeArrowheads="1"/>
          </p:cNvSpPr>
          <p:nvPr/>
        </p:nvSpPr>
        <p:spPr bwMode="auto">
          <a:xfrm>
            <a:off x="1081261" y="798028"/>
            <a:ext cx="8400669" cy="3054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Look the </a:t>
            </a:r>
            <a:r>
              <a:rPr lang="en-US" altLang="zh-CN" sz="2800" dirty="0">
                <a:solidFill>
                  <a:srgbClr val="FF3300"/>
                </a:solidFill>
                <a:latin typeface="Times New Roman" pitchFamily="18" charset="0"/>
              </a:rPr>
              <a:t>normal probability distribution </a:t>
            </a:r>
            <a:r>
              <a:rPr lang="en-US" altLang="zh-CN" sz="2800" dirty="0">
                <a:latin typeface="Times New Roman" pitchFamily="18" charset="0"/>
              </a:rPr>
              <a:t>(</a:t>
            </a:r>
            <a:r>
              <a:rPr lang="en-US" altLang="zh-CN" sz="2800" dirty="0">
                <a:highlight>
                  <a:srgbClr val="FFFF00"/>
                </a:highlight>
                <a:latin typeface="Times New Roman" pitchFamily="18" charset="0"/>
              </a:rPr>
              <a:t>Slide # 37</a:t>
            </a:r>
            <a:r>
              <a:rPr lang="en-US" altLang="zh-CN" sz="2800" dirty="0">
                <a:latin typeface="Times New Roman" pitchFamily="18" charset="0"/>
              </a:rPr>
              <a:t>):</a:t>
            </a:r>
          </a:p>
        </p:txBody>
      </p:sp>
      <mc:AlternateContent xmlns:mc="http://schemas.openxmlformats.org/markup-compatibility/2006" xmlns:a14="http://schemas.microsoft.com/office/drawing/2010/main">
        <mc:Choice Requires="a14">
          <p:sp>
            <p:nvSpPr>
              <p:cNvPr id="17414" name="Object 5">
                <a:extLst>
                  <a:ext uri="{FF2B5EF4-FFF2-40B4-BE49-F238E27FC236}">
                    <a16:creationId xmlns:a16="http://schemas.microsoft.com/office/drawing/2014/main" id="{E9FDCA3A-993A-2BDE-55CB-7BA3F5FD5835}"/>
                  </a:ext>
                </a:extLst>
              </p:cNvPr>
              <p:cNvSpPr txBox="1">
                <a:spLocks noGrp="1"/>
              </p:cNvSpPr>
              <p:nvPr>
                <p:ph idx="1"/>
              </p:nvPr>
            </p:nvSpPr>
            <p:spPr bwMode="auto">
              <a:xfrm>
                <a:off x="2424734" y="1624663"/>
                <a:ext cx="4706938" cy="1228725"/>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AU" i="1">
                          <a:solidFill>
                            <a:srgbClr val="000000"/>
                          </a:solidFill>
                          <a:latin typeface="Cambria Math" panose="02040503050406030204" pitchFamily="18" charset="0"/>
                        </a:rPr>
                        <m:t>𝑓</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0">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m:rPr>
                              <m:sty m:val="p"/>
                            </m:rPr>
                            <a:rPr lang="en-AU" i="1">
                              <a:solidFill>
                                <a:srgbClr val="000000"/>
                              </a:solidFill>
                              <a:latin typeface="Cambria Math" panose="02040503050406030204" pitchFamily="18" charset="0"/>
                            </a:rPr>
                            <m:t>σ</m:t>
                          </m:r>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2</m:t>
                              </m:r>
                              <m:r>
                                <m:rPr>
                                  <m:sty m:val="p"/>
                                </m:rPr>
                                <a:rPr lang="en-AU" i="1">
                                  <a:solidFill>
                                    <a:srgbClr val="000000"/>
                                  </a:solidFill>
                                  <a:latin typeface="Cambria Math" panose="02040503050406030204" pitchFamily="18" charset="0"/>
                                </a:rPr>
                                <m:t>π</m:t>
                              </m:r>
                            </m:e>
                          </m:rad>
                        </m:den>
                      </m:f>
                      <m:sSup>
                        <m:sSupPr>
                          <m:ctrlPr>
                            <a:rPr lang="en-AU" i="1">
                              <a:solidFill>
                                <a:srgbClr val="000000"/>
                              </a:solidFill>
                              <a:latin typeface="Cambria Math" panose="02040503050406030204" pitchFamily="18" charset="0"/>
                            </a:rPr>
                          </m:ctrlPr>
                        </m:sSupPr>
                        <m:e>
                          <m:r>
                            <a:rPr lang="en-AU" i="1">
                              <a:solidFill>
                                <a:srgbClr val="000000"/>
                              </a:solidFill>
                              <a:latin typeface="Cambria Math" panose="02040503050406030204" pitchFamily="18" charset="0"/>
                            </a:rPr>
                            <m:t>𝑒</m:t>
                          </m:r>
                        </m:e>
                        <m:sup>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2</m:t>
                              </m:r>
                            </m:den>
                          </m:f>
                          <m:sSup>
                            <m:sSupPr>
                              <m:ctrlPr>
                                <a:rPr lang="en-AU" i="1">
                                  <a:solidFill>
                                    <a:srgbClr val="000000"/>
                                  </a:solidFill>
                                  <a:latin typeface="Cambria Math" panose="02040503050406030204" pitchFamily="18" charset="0"/>
                                </a:rPr>
                              </m:ctrlPr>
                            </m:sSupPr>
                            <m:e>
                              <m:d>
                                <m:dPr>
                                  <m:ctrlPr>
                                    <a:rPr lang="en-AU" i="1">
                                      <a:solidFill>
                                        <a:srgbClr val="000000"/>
                                      </a:solidFill>
                                      <a:latin typeface="Cambria Math" panose="02040503050406030204" pitchFamily="18" charset="0"/>
                                    </a:rPr>
                                  </m:ctrlPr>
                                </m:dPr>
                                <m:e>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𝜇</m:t>
                                      </m:r>
                                    </m:num>
                                    <m:den>
                                      <m:r>
                                        <a:rPr lang="en-AU" i="1">
                                          <a:solidFill>
                                            <a:srgbClr val="000000"/>
                                          </a:solidFill>
                                          <a:latin typeface="Cambria Math" panose="02040503050406030204" pitchFamily="18" charset="0"/>
                                        </a:rPr>
                                        <m:t>𝜎</m:t>
                                      </m:r>
                                    </m:den>
                                  </m:f>
                                </m:e>
                              </m:d>
                            </m:e>
                            <m:sup>
                              <m:r>
                                <a:rPr lang="en-AU" i="1">
                                  <a:solidFill>
                                    <a:srgbClr val="000000"/>
                                  </a:solidFill>
                                  <a:latin typeface="Cambria Math" panose="02040503050406030204" pitchFamily="18" charset="0"/>
                                </a:rPr>
                                <m:t>2</m:t>
                              </m:r>
                            </m:sup>
                          </m:sSup>
                        </m:sup>
                      </m:sSup>
                      <m:r>
                        <a:rPr lang="en-AU" i="1">
                          <a:solidFill>
                            <a:srgbClr val="000000"/>
                          </a:solidFill>
                          <a:latin typeface="Cambria Math" panose="02040503050406030204" pitchFamily="18" charset="0"/>
                        </a:rPr>
                        <m:t>    </m:t>
                      </m:r>
                      <m:r>
                        <a:rPr lang="en-AU" i="0">
                          <a:solidFill>
                            <a:srgbClr val="000000"/>
                          </a:solidFill>
                          <a:latin typeface="Cambria Math" panose="02040503050406030204" pitchFamily="18" charset="0"/>
                        </a:rPr>
                        <m:t> </m:t>
                      </m:r>
                    </m:oMath>
                  </m:oMathPara>
                </a14:m>
                <a:endParaRPr lang="en-AU" dirty="0"/>
              </a:p>
            </p:txBody>
          </p:sp>
        </mc:Choice>
        <mc:Fallback xmlns="">
          <p:sp>
            <p:nvSpPr>
              <p:cNvPr id="17414" name="Object 5">
                <a:extLst>
                  <a:ext uri="{FF2B5EF4-FFF2-40B4-BE49-F238E27FC236}">
                    <a16:creationId xmlns:a16="http://schemas.microsoft.com/office/drawing/2014/main" id="{E9FDCA3A-993A-2BDE-55CB-7BA3F5FD5835}"/>
                  </a:ext>
                </a:extLst>
              </p:cNvPr>
              <p:cNvSpPr txBox="1">
                <a:spLocks noGrp="1" noRot="1" noChangeAspect="1" noMove="1" noResize="1" noEditPoints="1" noAdjustHandles="1" noChangeArrowheads="1" noChangeShapeType="1" noTextEdit="1"/>
              </p:cNvSpPr>
              <p:nvPr>
                <p:ph idx="1"/>
              </p:nvPr>
            </p:nvSpPr>
            <p:spPr bwMode="auto">
              <a:xfrm>
                <a:off x="2424734" y="1624663"/>
                <a:ext cx="4706938" cy="1228725"/>
              </a:xfrm>
              <a:prstGeom prst="rect">
                <a:avLst/>
              </a:prstGeom>
              <a:blipFill>
                <a:blip r:embed="rId3"/>
                <a:stretch>
                  <a:fillRect/>
                </a:stretch>
              </a:blipFill>
              <a:ln>
                <a:noFill/>
              </a:ln>
              <a:effectLst/>
            </p:spPr>
            <p:txBody>
              <a:bodyPr/>
              <a:lstStyle/>
              <a:p>
                <a:r>
                  <a:rPr lang="en-AU">
                    <a:noFill/>
                  </a:rPr>
                  <a:t> </a:t>
                </a:r>
              </a:p>
            </p:txBody>
          </p:sp>
        </mc:Fallback>
      </mc:AlternateContent>
      <p:sp>
        <p:nvSpPr>
          <p:cNvPr id="4" name="Rectangle 3">
            <a:extLst>
              <a:ext uri="{FF2B5EF4-FFF2-40B4-BE49-F238E27FC236}">
                <a16:creationId xmlns:a16="http://schemas.microsoft.com/office/drawing/2014/main" id="{B641F58A-5F95-4E87-7651-8AFF91BF4CC3}"/>
              </a:ext>
            </a:extLst>
          </p:cNvPr>
          <p:cNvSpPr>
            <a:spLocks noChangeArrowheads="1"/>
          </p:cNvSpPr>
          <p:nvPr/>
        </p:nvSpPr>
        <p:spPr bwMode="auto">
          <a:xfrm>
            <a:off x="1081261" y="2688306"/>
            <a:ext cx="10029478" cy="561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For different values of </a:t>
            </a:r>
            <a:r>
              <a:rPr lang="en-US" altLang="zh-CN" sz="2800" i="1" dirty="0">
                <a:latin typeface="Times New Roman" pitchFamily="18" charset="0"/>
              </a:rPr>
              <a:t>x</a:t>
            </a:r>
            <a:r>
              <a:rPr lang="en-US" altLang="zh-CN" sz="2800" dirty="0">
                <a:latin typeface="Times New Roman" pitchFamily="18" charset="0"/>
              </a:rPr>
              <a:t>, the distribution functions in </a:t>
            </a:r>
            <a:r>
              <a:rPr lang="en-US" altLang="zh-CN" sz="2800" i="1" dirty="0">
                <a:latin typeface="Times New Roman" pitchFamily="18" charset="0"/>
              </a:rPr>
              <a:t>x </a:t>
            </a:r>
            <a:r>
              <a:rPr lang="en-US" altLang="zh-CN" sz="2800" dirty="0">
                <a:latin typeface="Times New Roman" pitchFamily="18" charset="0"/>
              </a:rPr>
              <a:t>are different.</a:t>
            </a:r>
          </a:p>
        </p:txBody>
      </p:sp>
      <p:sp>
        <p:nvSpPr>
          <p:cNvPr id="3" name="Rectangle 22">
            <a:extLst>
              <a:ext uri="{FF2B5EF4-FFF2-40B4-BE49-F238E27FC236}">
                <a16:creationId xmlns:a16="http://schemas.microsoft.com/office/drawing/2014/main" id="{DB1F18AB-21D6-7477-401F-DDA6EA6608BC}"/>
              </a:ext>
            </a:extLst>
          </p:cNvPr>
          <p:cNvSpPr>
            <a:spLocks noGrp="1" noChangeArrowheads="1"/>
          </p:cNvSpPr>
          <p:nvPr>
            <p:ph type="title"/>
          </p:nvPr>
        </p:nvSpPr>
        <p:spPr>
          <a:xfrm>
            <a:off x="1023725" y="74235"/>
            <a:ext cx="2454966" cy="471916"/>
          </a:xfrm>
        </p:spPr>
        <p:txBody>
          <a:bodyPr>
            <a:normAutofit fontScale="90000"/>
          </a:bodyPr>
          <a:lstStyle/>
          <a:p>
            <a:pPr eaLnBrk="1" hangingPunct="1"/>
            <a:r>
              <a:rPr lang="en-US" altLang="en-US" sz="3200" b="1" i="1" dirty="0">
                <a:solidFill>
                  <a:srgbClr val="0000FF"/>
                </a:solidFill>
                <a:latin typeface="Times New Roman" panose="02020603050405020304" pitchFamily="18" charset="0"/>
                <a:cs typeface="Times New Roman" panose="02020603050405020304" pitchFamily="18" charset="0"/>
              </a:rPr>
              <a:t>z </a:t>
            </a:r>
            <a:r>
              <a:rPr lang="en-US" altLang="en-US" sz="3200" b="1" dirty="0">
                <a:solidFill>
                  <a:srgbClr val="0000FF"/>
                </a:solidFill>
                <a:latin typeface="Times New Roman" panose="02020603050405020304" pitchFamily="18" charset="0"/>
                <a:cs typeface="Times New Roman" panose="02020603050405020304" pitchFamily="18" charset="0"/>
              </a:rPr>
              <a:t>- scores</a:t>
            </a:r>
          </a:p>
        </p:txBody>
      </p:sp>
      <p:sp>
        <p:nvSpPr>
          <p:cNvPr id="5" name="灯片编号占位符 16">
            <a:extLst>
              <a:ext uri="{FF2B5EF4-FFF2-40B4-BE49-F238E27FC236}">
                <a16:creationId xmlns:a16="http://schemas.microsoft.com/office/drawing/2014/main" id="{0AE5F1F5-F5AF-8224-0FE7-78B378B1EAD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ACC09828-0DB1-7106-889B-5BC94C48B567}"/>
                  </a:ext>
                </a:extLst>
              </p:cNvPr>
              <p:cNvSpPr>
                <a:spLocks noChangeArrowheads="1"/>
              </p:cNvSpPr>
              <p:nvPr/>
            </p:nvSpPr>
            <p:spPr bwMode="auto">
              <a:xfrm>
                <a:off x="1081261" y="3501977"/>
                <a:ext cx="7953410" cy="561794"/>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If </a:t>
                </a:r>
                <a14:m>
                  <m:oMath xmlns:m="http://schemas.openxmlformats.org/officeDocument/2006/math">
                    <m:r>
                      <a:rPr lang="en-AU" sz="2800" i="1">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 </m:t>
                    </m:r>
                  </m:oMath>
                </a14:m>
                <a:r>
                  <a:rPr lang="en-US" altLang="zh-CN" sz="2800" dirty="0">
                    <a:latin typeface="Times New Roman" pitchFamily="18" charset="0"/>
                  </a:rPr>
                  <a:t>is normalized by </a:t>
                </a:r>
                <a14:m>
                  <m:oMath xmlns:m="http://schemas.openxmlformats.org/officeDocument/2006/math">
                    <m:r>
                      <a:rPr lang="en-AU" sz="2800" i="1">
                        <a:solidFill>
                          <a:srgbClr val="000000"/>
                        </a:solidFill>
                        <a:latin typeface="Cambria Math" panose="02040503050406030204" pitchFamily="18" charset="0"/>
                      </a:rPr>
                      <m:t>𝑧</m:t>
                    </m:r>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m:t>
                        </m:r>
                        <m:r>
                          <a:rPr lang="en-AU" sz="2800" i="1">
                            <a:solidFill>
                              <a:srgbClr val="000000"/>
                            </a:solidFill>
                            <a:latin typeface="Cambria Math" panose="02040503050406030204" pitchFamily="18" charset="0"/>
                          </a:rPr>
                          <m:t>𝜇</m:t>
                        </m:r>
                      </m:num>
                      <m:den>
                        <m:r>
                          <a:rPr lang="en-AU" sz="2800" i="1">
                            <a:solidFill>
                              <a:srgbClr val="000000"/>
                            </a:solidFill>
                            <a:latin typeface="Cambria Math" panose="02040503050406030204" pitchFamily="18" charset="0"/>
                          </a:rPr>
                          <m:t>𝜎</m:t>
                        </m:r>
                      </m:den>
                    </m:f>
                  </m:oMath>
                </a14:m>
                <a:r>
                  <a:rPr lang="en-AU" sz="2800" dirty="0"/>
                  <a:t>, </a:t>
                </a:r>
                <a:r>
                  <a:rPr lang="en-US" altLang="zh-CN" sz="2800" dirty="0">
                    <a:latin typeface="Times New Roman" pitchFamily="18" charset="0"/>
                  </a:rPr>
                  <a:t>the equation becomes</a:t>
                </a:r>
              </a:p>
            </p:txBody>
          </p:sp>
        </mc:Choice>
        <mc:Fallback xmlns="">
          <p:sp>
            <p:nvSpPr>
              <p:cNvPr id="7" name="Rectangle 6">
                <a:extLst>
                  <a:ext uri="{FF2B5EF4-FFF2-40B4-BE49-F238E27FC236}">
                    <a16:creationId xmlns:a16="http://schemas.microsoft.com/office/drawing/2014/main" id="{ACC09828-0DB1-7106-889B-5BC94C48B567}"/>
                  </a:ext>
                </a:extLst>
              </p:cNvPr>
              <p:cNvSpPr>
                <a:spLocks noRot="1" noChangeAspect="1" noMove="1" noResize="1" noEditPoints="1" noAdjustHandles="1" noChangeArrowheads="1" noChangeShapeType="1" noTextEdit="1"/>
              </p:cNvSpPr>
              <p:nvPr/>
            </p:nvSpPr>
            <p:spPr bwMode="auto">
              <a:xfrm>
                <a:off x="1081261" y="3501977"/>
                <a:ext cx="7953410" cy="561794"/>
              </a:xfrm>
              <a:prstGeom prst="rect">
                <a:avLst/>
              </a:prstGeom>
              <a:blipFill>
                <a:blip r:embed="rId4"/>
                <a:stretch>
                  <a:fillRect l="-1533" t="-2151" b="-3118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Object 5">
                <a:extLst>
                  <a:ext uri="{FF2B5EF4-FFF2-40B4-BE49-F238E27FC236}">
                    <a16:creationId xmlns:a16="http://schemas.microsoft.com/office/drawing/2014/main" id="{717F52E2-5678-21D7-A326-95BCA8634C09}"/>
                  </a:ext>
                </a:extLst>
              </p:cNvPr>
              <p:cNvSpPr txBox="1">
                <a:spLocks/>
              </p:cNvSpPr>
              <p:nvPr/>
            </p:nvSpPr>
            <p:spPr bwMode="auto">
              <a:xfrm>
                <a:off x="2939256" y="4403112"/>
                <a:ext cx="5359917" cy="956117"/>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r>
                        <a:rPr lang="en-AU" i="1">
                          <a:solidFill>
                            <a:srgbClr val="0000FF"/>
                          </a:solidFill>
                          <a:latin typeface="Cambria Math" panose="02040503050406030204" pitchFamily="18" charset="0"/>
                        </a:rPr>
                        <m:t>𝑓</m:t>
                      </m:r>
                      <m:r>
                        <a:rPr lang="en-AU" i="1">
                          <a:solidFill>
                            <a:srgbClr val="0000FF"/>
                          </a:solidFill>
                          <a:latin typeface="Cambria Math" panose="02040503050406030204" pitchFamily="18" charset="0"/>
                        </a:rPr>
                        <m:t>(</m:t>
                      </m:r>
                      <m:r>
                        <a:rPr lang="en-AU" i="1">
                          <a:solidFill>
                            <a:srgbClr val="0000FF"/>
                          </a:solidFill>
                          <a:latin typeface="Cambria Math" panose="02040503050406030204" pitchFamily="18" charset="0"/>
                        </a:rPr>
                        <m:t>𝑧</m:t>
                      </m:r>
                      <m:r>
                        <a:rPr lang="en-AU" i="1">
                          <a:solidFill>
                            <a:srgbClr val="0000FF"/>
                          </a:solidFill>
                          <a:latin typeface="Cambria Math" panose="02040503050406030204" pitchFamily="18" charset="0"/>
                        </a:rPr>
                        <m:t>)</m:t>
                      </m:r>
                      <m:r>
                        <a:rPr lang="en-AU">
                          <a:solidFill>
                            <a:srgbClr val="0000FF"/>
                          </a:solidFill>
                          <a:latin typeface="Cambria Math" panose="02040503050406030204" pitchFamily="18" charset="0"/>
                        </a:rPr>
                        <m:t>=</m:t>
                      </m:r>
                      <m:r>
                        <m:rPr>
                          <m:sty m:val="p"/>
                        </m:rPr>
                        <a:rPr lang="en-AU" i="1" smtClean="0">
                          <a:solidFill>
                            <a:srgbClr val="0000FF"/>
                          </a:solidFill>
                          <a:latin typeface="Cambria Math" panose="02040503050406030204" pitchFamily="18" charset="0"/>
                        </a:rPr>
                        <m:t>σ</m:t>
                      </m:r>
                      <m:r>
                        <a:rPr lang="en-AU" i="1" smtClean="0">
                          <a:solidFill>
                            <a:srgbClr val="0000FF"/>
                          </a:solidFill>
                          <a:latin typeface="Cambria Math" panose="02040503050406030204" pitchFamily="18" charset="0"/>
                        </a:rPr>
                        <m:t>𝑓</m:t>
                      </m:r>
                      <m:d>
                        <m:dPr>
                          <m:ctrlPr>
                            <a:rPr lang="en-AU" i="1">
                              <a:solidFill>
                                <a:srgbClr val="0000FF"/>
                              </a:solidFill>
                              <a:latin typeface="Cambria Math" panose="02040503050406030204" pitchFamily="18" charset="0"/>
                            </a:rPr>
                          </m:ctrlPr>
                        </m:dPr>
                        <m:e>
                          <m:r>
                            <a:rPr lang="en-AU" b="0" i="1" smtClean="0">
                              <a:solidFill>
                                <a:srgbClr val="0000FF"/>
                              </a:solidFill>
                              <a:latin typeface="Cambria Math" panose="02040503050406030204" pitchFamily="18" charset="0"/>
                            </a:rPr>
                            <m:t>𝑥</m:t>
                          </m:r>
                        </m:e>
                      </m:d>
                      <m:r>
                        <a:rPr lang="en-AU" b="0" i="1" smtClean="0">
                          <a:solidFill>
                            <a:srgbClr val="0000FF"/>
                          </a:solidFill>
                          <a:latin typeface="Cambria Math" panose="02040503050406030204" pitchFamily="18" charset="0"/>
                        </a:rPr>
                        <m:t>=</m:t>
                      </m:r>
                      <m:f>
                        <m:fPr>
                          <m:ctrlPr>
                            <a:rPr lang="en-AU" i="1">
                              <a:solidFill>
                                <a:srgbClr val="0000FF"/>
                              </a:solidFill>
                              <a:latin typeface="Cambria Math" panose="02040503050406030204" pitchFamily="18" charset="0"/>
                            </a:rPr>
                          </m:ctrlPr>
                        </m:fPr>
                        <m:num>
                          <m:r>
                            <a:rPr lang="en-AU" i="1">
                              <a:solidFill>
                                <a:srgbClr val="0000FF"/>
                              </a:solidFill>
                              <a:latin typeface="Cambria Math" panose="02040503050406030204" pitchFamily="18" charset="0"/>
                            </a:rPr>
                            <m:t>1</m:t>
                          </m:r>
                        </m:num>
                        <m:den>
                          <m:rad>
                            <m:radPr>
                              <m:degHide m:val="on"/>
                              <m:ctrlPr>
                                <a:rPr lang="en-AU" i="1">
                                  <a:solidFill>
                                    <a:srgbClr val="0000FF"/>
                                  </a:solidFill>
                                  <a:latin typeface="Cambria Math" panose="02040503050406030204" pitchFamily="18" charset="0"/>
                                </a:rPr>
                              </m:ctrlPr>
                            </m:radPr>
                            <m:deg/>
                            <m:e>
                              <m:r>
                                <a:rPr lang="en-AU" i="1">
                                  <a:solidFill>
                                    <a:srgbClr val="0000FF"/>
                                  </a:solidFill>
                                  <a:latin typeface="Cambria Math" panose="02040503050406030204" pitchFamily="18" charset="0"/>
                                </a:rPr>
                                <m:t>2</m:t>
                              </m:r>
                              <m:r>
                                <m:rPr>
                                  <m:sty m:val="p"/>
                                </m:rPr>
                                <a:rPr lang="en-AU" i="1">
                                  <a:solidFill>
                                    <a:srgbClr val="0000FF"/>
                                  </a:solidFill>
                                  <a:latin typeface="Cambria Math" panose="02040503050406030204" pitchFamily="18" charset="0"/>
                                </a:rPr>
                                <m:t>π</m:t>
                              </m:r>
                            </m:e>
                          </m:rad>
                        </m:den>
                      </m:f>
                      <m:sSup>
                        <m:sSupPr>
                          <m:ctrlPr>
                            <a:rPr lang="en-AU" i="1">
                              <a:solidFill>
                                <a:srgbClr val="0000FF"/>
                              </a:solidFill>
                              <a:latin typeface="Cambria Math" panose="02040503050406030204" pitchFamily="18" charset="0"/>
                            </a:rPr>
                          </m:ctrlPr>
                        </m:sSupPr>
                        <m:e>
                          <m:r>
                            <a:rPr lang="en-AU" i="1">
                              <a:solidFill>
                                <a:srgbClr val="0000FF"/>
                              </a:solidFill>
                              <a:latin typeface="Cambria Math" panose="02040503050406030204" pitchFamily="18" charset="0"/>
                            </a:rPr>
                            <m:t>𝑒</m:t>
                          </m:r>
                        </m:e>
                        <m:sup>
                          <m:r>
                            <a:rPr lang="en-AU" i="1">
                              <a:solidFill>
                                <a:srgbClr val="0000FF"/>
                              </a:solidFill>
                              <a:latin typeface="Cambria Math" panose="02040503050406030204" pitchFamily="18" charset="0"/>
                            </a:rPr>
                            <m:t>−</m:t>
                          </m:r>
                          <m:f>
                            <m:fPr>
                              <m:ctrlPr>
                                <a:rPr lang="en-AU" i="1">
                                  <a:solidFill>
                                    <a:srgbClr val="0000FF"/>
                                  </a:solidFill>
                                  <a:latin typeface="Cambria Math" panose="02040503050406030204" pitchFamily="18" charset="0"/>
                                </a:rPr>
                              </m:ctrlPr>
                            </m:fPr>
                            <m:num>
                              <m:r>
                                <a:rPr lang="en-AU" i="1">
                                  <a:solidFill>
                                    <a:srgbClr val="0000FF"/>
                                  </a:solidFill>
                                  <a:latin typeface="Cambria Math" panose="02040503050406030204" pitchFamily="18" charset="0"/>
                                </a:rPr>
                                <m:t>1</m:t>
                              </m:r>
                            </m:num>
                            <m:den>
                              <m:r>
                                <a:rPr lang="en-AU" i="1">
                                  <a:solidFill>
                                    <a:srgbClr val="0000FF"/>
                                  </a:solidFill>
                                  <a:latin typeface="Cambria Math" panose="02040503050406030204" pitchFamily="18" charset="0"/>
                                </a:rPr>
                                <m:t>2</m:t>
                              </m:r>
                            </m:den>
                          </m:f>
                          <m:sSup>
                            <m:sSupPr>
                              <m:ctrlPr>
                                <a:rPr lang="en-AU" b="0" i="1" smtClean="0">
                                  <a:solidFill>
                                    <a:srgbClr val="0000FF"/>
                                  </a:solidFill>
                                  <a:latin typeface="Cambria Math" panose="02040503050406030204" pitchFamily="18" charset="0"/>
                                </a:rPr>
                              </m:ctrlPr>
                            </m:sSupPr>
                            <m:e>
                              <m:r>
                                <a:rPr lang="en-AU" i="1" smtClean="0">
                                  <a:solidFill>
                                    <a:srgbClr val="0000FF"/>
                                  </a:solidFill>
                                  <a:latin typeface="Cambria Math" panose="02040503050406030204" pitchFamily="18" charset="0"/>
                                </a:rPr>
                                <m:t>𝑧</m:t>
                              </m:r>
                            </m:e>
                            <m:sup>
                              <m:r>
                                <a:rPr lang="en-AU" b="0" i="1" smtClean="0">
                                  <a:solidFill>
                                    <a:srgbClr val="0000FF"/>
                                  </a:solidFill>
                                  <a:latin typeface="Cambria Math" panose="02040503050406030204" pitchFamily="18" charset="0"/>
                                </a:rPr>
                                <m:t>2</m:t>
                              </m:r>
                            </m:sup>
                          </m:sSup>
                        </m:sup>
                      </m:sSup>
                      <m:r>
                        <a:rPr lang="en-AU" i="1">
                          <a:solidFill>
                            <a:srgbClr val="0000FF"/>
                          </a:solidFill>
                          <a:latin typeface="Cambria Math" panose="02040503050406030204" pitchFamily="18" charset="0"/>
                        </a:rPr>
                        <m:t>    </m:t>
                      </m:r>
                      <m:r>
                        <a:rPr lang="en-AU">
                          <a:solidFill>
                            <a:srgbClr val="0000FF"/>
                          </a:solidFill>
                          <a:latin typeface="Cambria Math" panose="02040503050406030204" pitchFamily="18" charset="0"/>
                        </a:rPr>
                        <m:t> </m:t>
                      </m:r>
                    </m:oMath>
                  </m:oMathPara>
                </a14:m>
                <a:endParaRPr lang="en-AU" dirty="0">
                  <a:solidFill>
                    <a:srgbClr val="0000FF"/>
                  </a:solidFill>
                </a:endParaRPr>
              </a:p>
            </p:txBody>
          </p:sp>
        </mc:Choice>
        <mc:Fallback xmlns="">
          <p:sp>
            <p:nvSpPr>
              <p:cNvPr id="8" name="Object 5">
                <a:extLst>
                  <a:ext uri="{FF2B5EF4-FFF2-40B4-BE49-F238E27FC236}">
                    <a16:creationId xmlns:a16="http://schemas.microsoft.com/office/drawing/2014/main" id="{717F52E2-5678-21D7-A326-95BCA8634C09}"/>
                  </a:ext>
                </a:extLst>
              </p:cNvPr>
              <p:cNvSpPr txBox="1">
                <a:spLocks noRot="1" noChangeAspect="1" noMove="1" noResize="1" noEditPoints="1" noAdjustHandles="1" noChangeArrowheads="1" noChangeShapeType="1" noTextEdit="1"/>
              </p:cNvSpPr>
              <p:nvPr/>
            </p:nvSpPr>
            <p:spPr bwMode="auto">
              <a:xfrm>
                <a:off x="2939256" y="4403112"/>
                <a:ext cx="5359917" cy="956117"/>
              </a:xfrm>
              <a:prstGeom prst="rect">
                <a:avLst/>
              </a:prstGeom>
              <a:blipFill>
                <a:blip r:embed="rId5"/>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C0FDA69-DAE2-2E79-5B03-AFBD63A40E20}"/>
                  </a:ext>
                </a:extLst>
              </p:cNvPr>
              <p:cNvSpPr>
                <a:spLocks noChangeArrowheads="1"/>
              </p:cNvSpPr>
              <p:nvPr/>
            </p:nvSpPr>
            <p:spPr bwMode="auto">
              <a:xfrm>
                <a:off x="1081261" y="5512376"/>
                <a:ext cx="9543670" cy="561794"/>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488" tIns="44450" rIns="90488" bIns="44450"/>
              <a:lstStyle/>
              <a:p>
                <a:pPr eaLnBrk="0" hangingPunct="0">
                  <a:defRPr/>
                </a:pPr>
                <a:r>
                  <a:rPr lang="en-US" altLang="zh-CN" sz="2800" dirty="0">
                    <a:latin typeface="Times New Roman" pitchFamily="18" charset="0"/>
                  </a:rPr>
                  <a:t>If </a:t>
                </a:r>
                <a:r>
                  <a:rPr lang="en-US" altLang="zh-CN" sz="2800" i="1" dirty="0">
                    <a:latin typeface="Times New Roman" pitchFamily="18" charset="0"/>
                  </a:rPr>
                  <a:t>x </a:t>
                </a:r>
                <a:r>
                  <a:rPr lang="en-US" altLang="zh-CN" sz="2800" dirty="0">
                    <a:latin typeface="Times New Roman" pitchFamily="18" charset="0"/>
                  </a:rPr>
                  <a:t>changes, the distribution function </a:t>
                </a:r>
                <a14:m>
                  <m:oMath xmlns:m="http://schemas.openxmlformats.org/officeDocument/2006/math">
                    <m:r>
                      <a:rPr lang="en-AU" sz="2800" i="1">
                        <a:solidFill>
                          <a:srgbClr val="000000"/>
                        </a:solidFill>
                        <a:latin typeface="Cambria Math" panose="02040503050406030204" pitchFamily="18" charset="0"/>
                      </a:rPr>
                      <m:t>𝑓</m:t>
                    </m:r>
                    <m:d>
                      <m:dPr>
                        <m:ctrlPr>
                          <a:rPr lang="en-AU" sz="2800" i="1">
                            <a:solidFill>
                              <a:srgbClr val="000000"/>
                            </a:solidFill>
                            <a:latin typeface="Cambria Math" panose="02040503050406030204" pitchFamily="18" charset="0"/>
                          </a:rPr>
                        </m:ctrlPr>
                      </m:dPr>
                      <m:e>
                        <m:r>
                          <a:rPr lang="en-AU" sz="2800" i="1">
                            <a:solidFill>
                              <a:srgbClr val="000000"/>
                            </a:solidFill>
                            <a:latin typeface="Cambria Math" panose="02040503050406030204" pitchFamily="18" charset="0"/>
                          </a:rPr>
                          <m:t>𝑧</m:t>
                        </m:r>
                      </m:e>
                    </m:d>
                    <m:r>
                      <a:rPr lang="en-AU" sz="2800" b="0" i="0" smtClean="0">
                        <a:solidFill>
                          <a:srgbClr val="000000"/>
                        </a:solidFill>
                        <a:latin typeface="Cambria Math" panose="02040503050406030204" pitchFamily="18" charset="0"/>
                      </a:rPr>
                      <m:t> </m:t>
                    </m:r>
                  </m:oMath>
                </a14:m>
                <a:r>
                  <a:rPr lang="en-US" altLang="zh-CN" sz="2800" dirty="0">
                    <a:latin typeface="Times New Roman" pitchFamily="18" charset="0"/>
                  </a:rPr>
                  <a:t>in </a:t>
                </a:r>
                <a:r>
                  <a:rPr lang="en-US" altLang="zh-CN" sz="2800" i="1" dirty="0">
                    <a:latin typeface="Times New Roman" pitchFamily="18" charset="0"/>
                  </a:rPr>
                  <a:t>z </a:t>
                </a:r>
                <a:r>
                  <a:rPr lang="en-US" altLang="zh-CN" sz="2800" dirty="0">
                    <a:latin typeface="Times New Roman" pitchFamily="18" charset="0"/>
                  </a:rPr>
                  <a:t>does not change.</a:t>
                </a:r>
              </a:p>
            </p:txBody>
          </p:sp>
        </mc:Choice>
        <mc:Fallback xmlns="">
          <p:sp>
            <p:nvSpPr>
              <p:cNvPr id="9" name="Rectangle 8">
                <a:extLst>
                  <a:ext uri="{FF2B5EF4-FFF2-40B4-BE49-F238E27FC236}">
                    <a16:creationId xmlns:a16="http://schemas.microsoft.com/office/drawing/2014/main" id="{8C0FDA69-DAE2-2E79-5B03-AFBD63A40E20}"/>
                  </a:ext>
                </a:extLst>
              </p:cNvPr>
              <p:cNvSpPr>
                <a:spLocks noRot="1" noChangeAspect="1" noMove="1" noResize="1" noEditPoints="1" noAdjustHandles="1" noChangeArrowheads="1" noChangeShapeType="1" noTextEdit="1"/>
              </p:cNvSpPr>
              <p:nvPr/>
            </p:nvSpPr>
            <p:spPr bwMode="auto">
              <a:xfrm>
                <a:off x="1081261" y="5512376"/>
                <a:ext cx="9543670" cy="561794"/>
              </a:xfrm>
              <a:prstGeom prst="rect">
                <a:avLst/>
              </a:prstGeom>
              <a:blipFill>
                <a:blip r:embed="rId6"/>
                <a:stretch>
                  <a:fillRect l="-1277" t="-10870" b="-2282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Tree>
    <p:extLst>
      <p:ext uri="{BB962C8B-B14F-4D97-AF65-F5344CB8AC3E}">
        <p14:creationId xmlns:p14="http://schemas.microsoft.com/office/powerpoint/2010/main" val="332632931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Content Placeholder 16">
            <a:extLst>
              <a:ext uri="{FF2B5EF4-FFF2-40B4-BE49-F238E27FC236}">
                <a16:creationId xmlns:a16="http://schemas.microsoft.com/office/drawing/2014/main" id="{5F1F47A6-A1A3-1949-9907-1DF5A830749F}"/>
              </a:ext>
            </a:extLst>
          </p:cNvPr>
          <p:cNvSpPr>
            <a:spLocks noGrp="1"/>
          </p:cNvSpPr>
          <p:nvPr>
            <p:ph idx="1"/>
          </p:nvPr>
        </p:nvSpPr>
        <p:spPr>
          <a:xfrm>
            <a:off x="495299" y="265182"/>
            <a:ext cx="11352143" cy="5628722"/>
          </a:xfrm>
        </p:spPr>
        <p:txBody>
          <a:bodyPr>
            <a:noAutofit/>
          </a:bodyPr>
          <a:lstStyle/>
          <a:p>
            <a:pPr algn="just">
              <a:lnSpc>
                <a:spcPct val="110000"/>
              </a:lnSpc>
            </a:pPr>
            <a:r>
              <a:rPr lang="en-US" altLang="en-US" dirty="0">
                <a:latin typeface="Times New Roman" panose="02020603050405020304" pitchFamily="18" charset="0"/>
                <a:cs typeface="Times New Roman" panose="02020603050405020304" pitchFamily="18" charset="0"/>
              </a:rPr>
              <a:t>For any </a:t>
            </a:r>
            <a:r>
              <a:rPr lang="en-US" altLang="en-US" i="1" dirty="0">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in a population or sample, the </a:t>
            </a:r>
            <a:r>
              <a:rPr lang="en-US" altLang="en-US" b="1" i="1" dirty="0">
                <a:solidFill>
                  <a:srgbClr val="FF0000"/>
                </a:solidFill>
                <a:latin typeface="Times New Roman" panose="02020603050405020304" pitchFamily="18" charset="0"/>
                <a:cs typeface="Times New Roman" panose="02020603050405020304" pitchFamily="18" charset="0"/>
              </a:rPr>
              <a:t>z</a:t>
            </a:r>
            <a:r>
              <a:rPr lang="en-US" altLang="en-US" b="1" dirty="0">
                <a:solidFill>
                  <a:srgbClr val="FF0000"/>
                </a:solidFill>
                <a:latin typeface="Times New Roman" panose="02020603050405020304" pitchFamily="18" charset="0"/>
                <a:cs typeface="Times New Roman" panose="02020603050405020304" pitchFamily="18" charset="0"/>
              </a:rPr>
              <a:t>-score </a:t>
            </a:r>
            <a:r>
              <a:rPr lang="en-US" altLang="en-US" dirty="0">
                <a:latin typeface="Times New Roman" panose="02020603050405020304" pitchFamily="18" charset="0"/>
                <a:cs typeface="Times New Roman" panose="02020603050405020304" pitchFamily="18" charset="0"/>
              </a:rPr>
              <a:t>corresponding to </a:t>
            </a:r>
            <a:r>
              <a:rPr lang="en-US" altLang="en-US" i="1" dirty="0">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is defined as </a:t>
            </a: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algn="just" eaLnBrk="1" hangingPunct="1"/>
            <a:endParaRPr lang="en-US" altLang="en-US" dirty="0">
              <a:latin typeface="Times New Roman" panose="02020603050405020304" pitchFamily="18" charset="0"/>
              <a:cs typeface="Times New Roman" panose="02020603050405020304" pitchFamily="18" charset="0"/>
            </a:endParaRPr>
          </a:p>
          <a:p>
            <a:pPr algn="just">
              <a:lnSpc>
                <a:spcPct val="120000"/>
              </a:lnSpc>
            </a:pPr>
            <a:r>
              <a:rPr lang="en-US" altLang="en-US" dirty="0">
                <a:latin typeface="Times New Roman" panose="02020603050405020304" pitchFamily="18" charset="0"/>
                <a:cs typeface="Times New Roman" panose="02020603050405020304" pitchFamily="18" charset="0"/>
              </a:rPr>
              <a:t>The </a:t>
            </a:r>
            <a:r>
              <a:rPr lang="en-US" altLang="en-US" b="1" i="1" dirty="0">
                <a:solidFill>
                  <a:srgbClr val="FF0000"/>
                </a:solidFill>
                <a:latin typeface="Times New Roman" panose="02020603050405020304" pitchFamily="18" charset="0"/>
                <a:cs typeface="Times New Roman" panose="02020603050405020304" pitchFamily="18" charset="0"/>
              </a:rPr>
              <a:t>z</a:t>
            </a:r>
            <a:r>
              <a:rPr lang="en-US" altLang="en-US" b="1" dirty="0">
                <a:solidFill>
                  <a:srgbClr val="FF0000"/>
                </a:solidFill>
                <a:latin typeface="Times New Roman" panose="02020603050405020304" pitchFamily="18" charset="0"/>
                <a:cs typeface="Times New Roman" panose="02020603050405020304" pitchFamily="18" charset="0"/>
              </a:rPr>
              <a:t>-score</a:t>
            </a:r>
            <a:r>
              <a:rPr lang="en-US" altLang="en-US" dirty="0">
                <a:latin typeface="Times New Roman" panose="02020603050405020304" pitchFamily="18" charset="0"/>
                <a:cs typeface="Times New Roman" panose="02020603050405020304" pitchFamily="18" charset="0"/>
              </a:rPr>
              <a:t>, which is also called the </a:t>
            </a:r>
            <a:r>
              <a:rPr lang="en-US" altLang="en-US" i="1" dirty="0">
                <a:solidFill>
                  <a:srgbClr val="FF0000"/>
                </a:solidFill>
                <a:latin typeface="Times New Roman" panose="02020603050405020304" pitchFamily="18" charset="0"/>
                <a:cs typeface="Times New Roman" panose="02020603050405020304" pitchFamily="18" charset="0"/>
              </a:rPr>
              <a:t>standardized value </a:t>
            </a:r>
            <a:r>
              <a:rPr lang="en-US" altLang="en-US" dirty="0">
                <a:solidFill>
                  <a:srgbClr val="FF0000"/>
                </a:solidFill>
                <a:latin typeface="Times New Roman" panose="02020603050405020304" pitchFamily="18" charset="0"/>
                <a:cs typeface="Times New Roman" panose="02020603050405020304" pitchFamily="18" charset="0"/>
              </a:rPr>
              <a:t>(</a:t>
            </a:r>
            <a:r>
              <a:rPr lang="en-US" altLang="en-US" i="1" dirty="0">
                <a:solidFill>
                  <a:srgbClr val="FF0000"/>
                </a:solidFill>
                <a:latin typeface="Times New Roman" panose="02020603050405020304" pitchFamily="18" charset="0"/>
                <a:cs typeface="Times New Roman" panose="02020603050405020304" pitchFamily="18" charset="0"/>
              </a:rPr>
              <a:t>normalized value</a:t>
            </a:r>
            <a:r>
              <a:rPr lang="en-US" altLang="en-US" dirty="0">
                <a:solidFill>
                  <a:srgbClr val="FF0000"/>
                </a:solidFill>
                <a:latin typeface="Times New Roman" panose="02020603050405020304" pitchFamily="18" charset="0"/>
                <a:cs typeface="Times New Roman" panose="02020603050405020304" pitchFamily="18" charset="0"/>
              </a:rPr>
              <a:t>)</a:t>
            </a:r>
            <a:r>
              <a:rPr lang="en-US" altLang="en-US" i="1" dirty="0">
                <a:solidFill>
                  <a:srgbClr val="FF0000"/>
                </a:solidFill>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It is the </a:t>
            </a:r>
            <a:r>
              <a:rPr lang="en-US" altLang="en-US" dirty="0">
                <a:highlight>
                  <a:srgbClr val="FFFF00"/>
                </a:highlight>
                <a:latin typeface="Times New Roman" panose="02020603050405020304" pitchFamily="18" charset="0"/>
                <a:cs typeface="Times New Roman" panose="02020603050405020304" pitchFamily="18" charset="0"/>
              </a:rPr>
              <a:t>number of standard deviations that </a:t>
            </a:r>
            <a:r>
              <a:rPr lang="en-US" altLang="en-US" i="1" dirty="0">
                <a:highlight>
                  <a:srgbClr val="FFFF00"/>
                </a:highlight>
                <a:latin typeface="Times New Roman" panose="02020603050405020304" pitchFamily="18" charset="0"/>
                <a:cs typeface="Times New Roman" panose="02020603050405020304" pitchFamily="18" charset="0"/>
              </a:rPr>
              <a:t>x</a:t>
            </a:r>
            <a:r>
              <a:rPr lang="en-US" altLang="en-US" dirty="0">
                <a:highlight>
                  <a:srgbClr val="FFFF00"/>
                </a:highlight>
                <a:latin typeface="Times New Roman" panose="02020603050405020304" pitchFamily="18" charset="0"/>
                <a:cs typeface="Times New Roman" panose="02020603050405020304" pitchFamily="18" charset="0"/>
              </a:rPr>
              <a:t> is from the mean</a:t>
            </a:r>
          </a:p>
          <a:p>
            <a:pPr lvl="1" algn="just" eaLnBrk="1" hangingPunct="1">
              <a:lnSpc>
                <a:spcPct val="120000"/>
              </a:lnSpc>
            </a:pPr>
            <a:r>
              <a:rPr lang="en-US" altLang="en-US" sz="2800" dirty="0">
                <a:latin typeface="Times New Roman" panose="02020603050405020304" pitchFamily="18" charset="0"/>
                <a:cs typeface="Times New Roman" panose="02020603050405020304" pitchFamily="18" charset="0"/>
              </a:rPr>
              <a:t>A positive </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-score is for </a:t>
            </a:r>
            <a:r>
              <a:rPr lang="en-US" altLang="en-US" sz="2800" i="1" dirty="0">
                <a:latin typeface="Times New Roman" panose="02020603050405020304" pitchFamily="18" charset="0"/>
                <a:cs typeface="Times New Roman" panose="02020603050405020304" pitchFamily="18" charset="0"/>
              </a:rPr>
              <a:t>x</a:t>
            </a:r>
            <a:r>
              <a:rPr lang="en-US" altLang="en-US" sz="2800" dirty="0">
                <a:latin typeface="Times New Roman" panose="02020603050405020304" pitchFamily="18" charset="0"/>
                <a:cs typeface="Times New Roman" panose="02020603050405020304" pitchFamily="18" charset="0"/>
              </a:rPr>
              <a:t> above the mean</a:t>
            </a:r>
          </a:p>
          <a:p>
            <a:pPr lvl="1" algn="just" eaLnBrk="1" hangingPunct="1">
              <a:lnSpc>
                <a:spcPct val="120000"/>
              </a:lnSpc>
            </a:pPr>
            <a:r>
              <a:rPr lang="en-US" altLang="en-US" sz="2800" dirty="0">
                <a:latin typeface="Times New Roman" panose="02020603050405020304" pitchFamily="18" charset="0"/>
                <a:cs typeface="Times New Roman" panose="02020603050405020304" pitchFamily="18" charset="0"/>
              </a:rPr>
              <a:t>A negative </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score is for </a:t>
            </a:r>
            <a:r>
              <a:rPr lang="en-US" altLang="en-US" sz="2800" i="1" dirty="0">
                <a:latin typeface="Times New Roman" panose="02020603050405020304" pitchFamily="18" charset="0"/>
                <a:cs typeface="Times New Roman" panose="02020603050405020304" pitchFamily="18" charset="0"/>
              </a:rPr>
              <a:t>x</a:t>
            </a:r>
            <a:r>
              <a:rPr lang="en-US" altLang="en-US" sz="2800" dirty="0">
                <a:latin typeface="Times New Roman" panose="02020603050405020304" pitchFamily="18" charset="0"/>
                <a:cs typeface="Times New Roman" panose="02020603050405020304" pitchFamily="18" charset="0"/>
              </a:rPr>
              <a:t> below the mean</a:t>
            </a:r>
          </a:p>
          <a:p>
            <a:pPr lvl="1" algn="just" eaLnBrk="1" hangingPunct="1">
              <a:lnSpc>
                <a:spcPct val="120000"/>
              </a:lnSpc>
            </a:pPr>
            <a:r>
              <a:rPr lang="en-US" altLang="en-US" sz="2800" dirty="0">
                <a:latin typeface="Times New Roman" panose="02020603050405020304" pitchFamily="18" charset="0"/>
                <a:cs typeface="Times New Roman" panose="02020603050405020304" pitchFamily="18" charset="0"/>
              </a:rPr>
              <a:t>The mean has a </a:t>
            </a:r>
            <a:r>
              <a:rPr lang="en-US" altLang="en-US" sz="2800" i="1" dirty="0">
                <a:latin typeface="Times New Roman" panose="02020603050405020304" pitchFamily="18" charset="0"/>
                <a:cs typeface="Times New Roman" panose="02020603050405020304" pitchFamily="18" charset="0"/>
              </a:rPr>
              <a:t>z-</a:t>
            </a:r>
            <a:r>
              <a:rPr lang="en-US" altLang="en-US" sz="2800" dirty="0">
                <a:latin typeface="Times New Roman" panose="02020603050405020304" pitchFamily="18" charset="0"/>
                <a:cs typeface="Times New Roman" panose="02020603050405020304" pitchFamily="18" charset="0"/>
              </a:rPr>
              <a:t>score of zero</a:t>
            </a:r>
          </a:p>
        </p:txBody>
      </p:sp>
      <mc:AlternateContent xmlns:mc="http://schemas.openxmlformats.org/markup-compatibility/2006" xmlns:a14="http://schemas.microsoft.com/office/drawing/2010/main">
        <mc:Choice Requires="a14">
          <p:sp>
            <p:nvSpPr>
              <p:cNvPr id="36869" name="Object 17">
                <a:extLst>
                  <a:ext uri="{FF2B5EF4-FFF2-40B4-BE49-F238E27FC236}">
                    <a16:creationId xmlns:a16="http://schemas.microsoft.com/office/drawing/2014/main" id="{616B7D37-C212-B748-9985-60E2BB957503}"/>
                  </a:ext>
                </a:extLst>
              </p:cNvPr>
              <p:cNvSpPr txBox="1"/>
              <p:nvPr/>
            </p:nvSpPr>
            <p:spPr bwMode="auto">
              <a:xfrm>
                <a:off x="2328793" y="1646654"/>
                <a:ext cx="3336925" cy="908050"/>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r>
                        <a:rPr lang="en-AU" sz="2800" i="1">
                          <a:solidFill>
                            <a:srgbClr val="000000"/>
                          </a:solidFill>
                          <a:latin typeface="Cambria Math" panose="02040503050406030204" pitchFamily="18" charset="0"/>
                        </a:rPr>
                        <m:t>𝑧</m:t>
                      </m:r>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m:t>
                          </m:r>
                          <m:r>
                            <m:rPr>
                              <m:nor/>
                            </m:rPr>
                            <a:rPr lang="en-AU" sz="2800" i="0">
                              <a:solidFill>
                                <a:srgbClr val="000000"/>
                              </a:solidFill>
                              <a:latin typeface="Times New Roman" panose="02020603050405020304" pitchFamily="18" charset="0"/>
                              <a:cs typeface="Times New Roman" panose="02020603050405020304" pitchFamily="18" charset="0"/>
                            </a:rPr>
                            <m:t>mean</m:t>
                          </m:r>
                        </m:num>
                        <m:den>
                          <m:r>
                            <m:rPr>
                              <m:nor/>
                            </m:rPr>
                            <a:rPr lang="en-AU" sz="2800" i="0">
                              <a:solidFill>
                                <a:srgbClr val="000000"/>
                              </a:solidFill>
                              <a:latin typeface="Times New Roman" panose="02020603050405020304" pitchFamily="18" charset="0"/>
                              <a:cs typeface="Times New Roman" panose="02020603050405020304" pitchFamily="18" charset="0"/>
                            </a:rPr>
                            <m:t>standard</m:t>
                          </m:r>
                          <m:r>
                            <m:rPr>
                              <m:nor/>
                            </m:rPr>
                            <a:rPr lang="en-AU" sz="2800" i="0">
                              <a:solidFill>
                                <a:srgbClr val="000000"/>
                              </a:solidFill>
                              <a:latin typeface="Times New Roman" panose="02020603050405020304" pitchFamily="18" charset="0"/>
                              <a:cs typeface="Times New Roman" panose="02020603050405020304" pitchFamily="18" charset="0"/>
                            </a:rPr>
                            <m:t> </m:t>
                          </m:r>
                          <m:r>
                            <m:rPr>
                              <m:nor/>
                            </m:rPr>
                            <a:rPr lang="en-AU" sz="2800" i="0">
                              <a:solidFill>
                                <a:srgbClr val="000000"/>
                              </a:solidFill>
                              <a:latin typeface="Times New Roman" panose="02020603050405020304" pitchFamily="18" charset="0"/>
                              <a:cs typeface="Times New Roman" panose="02020603050405020304" pitchFamily="18" charset="0"/>
                            </a:rPr>
                            <m:t>deviation</m:t>
                          </m:r>
                        </m:den>
                      </m:f>
                    </m:oMath>
                  </m:oMathPara>
                </a14:m>
                <a:endParaRPr lang="en-AU" sz="2800" dirty="0">
                  <a:latin typeface="Times New Roman" panose="02020603050405020304" pitchFamily="18" charset="0"/>
                  <a:cs typeface="Times New Roman" panose="02020603050405020304" pitchFamily="18" charset="0"/>
                </a:endParaRPr>
              </a:p>
            </p:txBody>
          </p:sp>
        </mc:Choice>
        <mc:Fallback xmlns="">
          <p:sp>
            <p:nvSpPr>
              <p:cNvPr id="36869" name="Object 17">
                <a:extLst>
                  <a:ext uri="{FF2B5EF4-FFF2-40B4-BE49-F238E27FC236}">
                    <a16:creationId xmlns:a16="http://schemas.microsoft.com/office/drawing/2014/main" id="{616B7D37-C212-B748-9985-60E2BB957503}"/>
                  </a:ext>
                </a:extLst>
              </p:cNvPr>
              <p:cNvSpPr txBox="1">
                <a:spLocks noRot="1" noChangeAspect="1" noMove="1" noResize="1" noEditPoints="1" noAdjustHandles="1" noChangeArrowheads="1" noChangeShapeType="1" noTextEdit="1"/>
              </p:cNvSpPr>
              <p:nvPr/>
            </p:nvSpPr>
            <p:spPr bwMode="auto">
              <a:xfrm>
                <a:off x="2328793" y="1646654"/>
                <a:ext cx="3336925" cy="908050"/>
              </a:xfrm>
              <a:prstGeom prst="rect">
                <a:avLst/>
              </a:prstGeom>
              <a:blipFill>
                <a:blip r:embed="rId3"/>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Object 17">
                <a:extLst>
                  <a:ext uri="{FF2B5EF4-FFF2-40B4-BE49-F238E27FC236}">
                    <a16:creationId xmlns:a16="http://schemas.microsoft.com/office/drawing/2014/main" id="{FD760107-CC51-4FF0-D7C6-E7081563E351}"/>
                  </a:ext>
                </a:extLst>
              </p:cNvPr>
              <p:cNvSpPr txBox="1"/>
              <p:nvPr/>
            </p:nvSpPr>
            <p:spPr bwMode="auto">
              <a:xfrm>
                <a:off x="6341371" y="1728066"/>
                <a:ext cx="4830417" cy="480321"/>
              </a:xfrm>
              <a:prstGeom prst="rect">
                <a:avLst/>
              </a:prstGeom>
              <a:noFill/>
              <a:ln>
                <a:noFill/>
              </a:ln>
            </p:spPr>
            <p:txBody>
              <a:bodyPr>
                <a:noAutofit/>
              </a:bodyPr>
              <a:lstStyle/>
              <a:p>
                <a14:m>
                  <m:oMath xmlns:m="http://schemas.openxmlformats.org/officeDocument/2006/math">
                    <m:r>
                      <m:rPr>
                        <m:sty m:val="p"/>
                      </m:rPr>
                      <a:rPr lang="en-AU" sz="2800" b="0" i="0" smtClean="0">
                        <a:solidFill>
                          <a:srgbClr val="0000FF"/>
                        </a:solidFill>
                        <a:effectLst/>
                        <a:latin typeface="Cambria Math" panose="02040503050406030204" pitchFamily="18" charset="0"/>
                      </a:rPr>
                      <m:t>I</m:t>
                    </m:r>
                    <m:sSup>
                      <m:sSupPr>
                        <m:ctrlPr>
                          <a:rPr lang="en-AU" sz="2800" b="0" i="1" smtClean="0">
                            <a:solidFill>
                              <a:srgbClr val="0000FF"/>
                            </a:solidFill>
                            <a:effectLst/>
                            <a:latin typeface="Cambria Math" panose="02040503050406030204" pitchFamily="18" charset="0"/>
                          </a:rPr>
                        </m:ctrlPr>
                      </m:sSupPr>
                      <m:e>
                        <m:r>
                          <m:rPr>
                            <m:sty m:val="p"/>
                          </m:rPr>
                          <a:rPr lang="en-AU" sz="2800" b="0" i="0" smtClean="0">
                            <a:solidFill>
                              <a:srgbClr val="0000FF"/>
                            </a:solidFill>
                            <a:effectLst/>
                            <a:latin typeface="Cambria Math" panose="02040503050406030204" pitchFamily="18" charset="0"/>
                          </a:rPr>
                          <m:t>t</m:t>
                        </m:r>
                      </m:e>
                      <m:sup>
                        <m:r>
                          <a:rPr lang="en-AU" sz="2800" b="0" i="0" smtClean="0">
                            <a:solidFill>
                              <a:srgbClr val="0000FF"/>
                            </a:solidFill>
                            <a:effectLst/>
                            <a:latin typeface="Cambria Math" panose="02040503050406030204" pitchFamily="18" charset="0"/>
                          </a:rPr>
                          <m:t>′</m:t>
                        </m:r>
                      </m:sup>
                    </m:sSup>
                    <m:r>
                      <m:rPr>
                        <m:sty m:val="p"/>
                      </m:rPr>
                      <a:rPr lang="en-AU" sz="2800" b="0" i="0" smtClean="0">
                        <a:solidFill>
                          <a:srgbClr val="0000FF"/>
                        </a:solidFill>
                        <a:effectLst/>
                        <a:latin typeface="Cambria Math" panose="02040503050406030204" pitchFamily="18" charset="0"/>
                      </a:rPr>
                      <m:t>s</m:t>
                    </m:r>
                    <m:r>
                      <a:rPr lang="en-AU" sz="2800" b="0" i="0" smtClean="0">
                        <a:solidFill>
                          <a:srgbClr val="0000FF"/>
                        </a:solidFill>
                        <a:effectLst/>
                        <a:latin typeface="Cambria Math" panose="02040503050406030204" pitchFamily="18" charset="0"/>
                      </a:rPr>
                      <m:t> </m:t>
                    </m:r>
                    <m:r>
                      <m:rPr>
                        <m:sty m:val="p"/>
                      </m:rPr>
                      <a:rPr lang="en-AU" sz="2800" b="0" i="0" smtClean="0">
                        <a:solidFill>
                          <a:srgbClr val="0000FF"/>
                        </a:solidFill>
                        <a:effectLst/>
                        <a:latin typeface="Cambria Math" panose="02040503050406030204" pitchFamily="18" charset="0"/>
                      </a:rPr>
                      <m:t>like</m:t>
                    </m:r>
                    <m:r>
                      <a:rPr lang="en-AU" sz="2800" b="0" i="0" smtClean="0">
                        <a:solidFill>
                          <a:srgbClr val="0000FF"/>
                        </a:solidFill>
                        <a:effectLst/>
                        <a:latin typeface="Cambria Math" panose="02040503050406030204" pitchFamily="18" charset="0"/>
                      </a:rPr>
                      <m:t> </m:t>
                    </m:r>
                    <m:r>
                      <m:rPr>
                        <m:sty m:val="p"/>
                      </m:rPr>
                      <a:rPr lang="en-AU" sz="2800" b="0" i="0" smtClean="0">
                        <a:solidFill>
                          <a:srgbClr val="0000FF"/>
                        </a:solidFill>
                        <a:effectLst/>
                        <a:latin typeface="Cambria Math" panose="02040503050406030204" pitchFamily="18" charset="0"/>
                      </a:rPr>
                      <m:t>normalized</m:t>
                    </m:r>
                    <m:r>
                      <a:rPr lang="en-AU" sz="2800" b="0" i="0" smtClean="0">
                        <a:solidFill>
                          <a:srgbClr val="0000FF"/>
                        </a:solidFill>
                        <a:effectLst/>
                        <a:latin typeface="Cambria Math" panose="02040503050406030204" pitchFamily="18" charset="0"/>
                      </a:rPr>
                      <m:t> </m:t>
                    </m:r>
                    <m:r>
                      <m:rPr>
                        <m:sty m:val="p"/>
                      </m:rPr>
                      <a:rPr lang="en-AU" sz="2800" b="0" i="0" smtClean="0">
                        <a:solidFill>
                          <a:srgbClr val="0000FF"/>
                        </a:solidFill>
                        <a:effectLst/>
                        <a:latin typeface="Cambria Math" panose="02040503050406030204" pitchFamily="18" charset="0"/>
                      </a:rPr>
                      <m:t>value</m:t>
                    </m:r>
                    <m:r>
                      <a:rPr lang="en-AU" sz="2800" b="0" i="0" smtClean="0">
                        <a:solidFill>
                          <a:srgbClr val="0000FF"/>
                        </a:solidFill>
                        <a:effectLst/>
                        <a:latin typeface="Cambria Math" panose="02040503050406030204" pitchFamily="18" charset="0"/>
                      </a:rPr>
                      <m:t> </m:t>
                    </m:r>
                    <m:r>
                      <m:rPr>
                        <m:sty m:val="p"/>
                      </m:rPr>
                      <a:rPr lang="en-AU" sz="2800" b="0" i="0" smtClean="0">
                        <a:solidFill>
                          <a:srgbClr val="0000FF"/>
                        </a:solidFill>
                        <a:effectLst/>
                        <a:latin typeface="Cambria Math" panose="02040503050406030204" pitchFamily="18" charset="0"/>
                      </a:rPr>
                      <m:t>of</m:t>
                    </m:r>
                    <m:r>
                      <a:rPr lang="en-AU" sz="2800" b="0" i="0" smtClean="0">
                        <a:solidFill>
                          <a:srgbClr val="0000FF"/>
                        </a:solidFill>
                        <a:effectLst/>
                        <a:latin typeface="Cambria Math" panose="02040503050406030204" pitchFamily="18" charset="0"/>
                      </a:rPr>
                      <m:t> </m:t>
                    </m:r>
                  </m:oMath>
                </a14:m>
                <a:r>
                  <a:rPr lang="en-AU" sz="2800" i="1" dirty="0">
                    <a:solidFill>
                      <a:srgbClr val="0000FF"/>
                    </a:solidFill>
                    <a:effectLst/>
                    <a:latin typeface="Times New Roman" panose="02020603050405020304" pitchFamily="18" charset="0"/>
                    <a:cs typeface="Times New Roman" panose="02020603050405020304" pitchFamily="18" charset="0"/>
                  </a:rPr>
                  <a:t>x</a:t>
                </a:r>
              </a:p>
            </p:txBody>
          </p:sp>
        </mc:Choice>
        <mc:Fallback xmlns="">
          <p:sp>
            <p:nvSpPr>
              <p:cNvPr id="4" name="Object 17">
                <a:extLst>
                  <a:ext uri="{FF2B5EF4-FFF2-40B4-BE49-F238E27FC236}">
                    <a16:creationId xmlns:a16="http://schemas.microsoft.com/office/drawing/2014/main" id="{FD760107-CC51-4FF0-D7C6-E7081563E351}"/>
                  </a:ext>
                </a:extLst>
              </p:cNvPr>
              <p:cNvSpPr txBox="1">
                <a:spLocks noRot="1" noChangeAspect="1" noMove="1" noResize="1" noEditPoints="1" noAdjustHandles="1" noChangeArrowheads="1" noChangeShapeType="1" noTextEdit="1"/>
              </p:cNvSpPr>
              <p:nvPr/>
            </p:nvSpPr>
            <p:spPr bwMode="auto">
              <a:xfrm>
                <a:off x="6341371" y="1728066"/>
                <a:ext cx="4830417" cy="480321"/>
              </a:xfrm>
              <a:prstGeom prst="rect">
                <a:avLst/>
              </a:prstGeom>
              <a:blipFill>
                <a:blip r:embed="rId4"/>
                <a:stretch>
                  <a:fillRect t="-12658" b="-43038"/>
                </a:stretch>
              </a:blipFill>
              <a:ln>
                <a:noFill/>
              </a:ln>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1CC831E6-6FC9-42FB-DC27-E507C6D67967}"/>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71286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a:extLst>
              <a:ext uri="{FF2B5EF4-FFF2-40B4-BE49-F238E27FC236}">
                <a16:creationId xmlns:a16="http://schemas.microsoft.com/office/drawing/2014/main" id="{231B2F9E-2639-3A49-B852-E7FA605CA828}"/>
              </a:ext>
            </a:extLst>
          </p:cNvPr>
          <p:cNvSpPr>
            <a:spLocks noGrp="1" noChangeArrowheads="1"/>
          </p:cNvSpPr>
          <p:nvPr>
            <p:ph type="title"/>
          </p:nvPr>
        </p:nvSpPr>
        <p:spPr>
          <a:xfrm>
            <a:off x="710738" y="126954"/>
            <a:ext cx="6674036" cy="526774"/>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The Standard Normal Distribution </a:t>
            </a:r>
          </a:p>
        </p:txBody>
      </p:sp>
      <p:sp>
        <p:nvSpPr>
          <p:cNvPr id="23556" name="Text Box 3">
            <a:extLst>
              <a:ext uri="{FF2B5EF4-FFF2-40B4-BE49-F238E27FC236}">
                <a16:creationId xmlns:a16="http://schemas.microsoft.com/office/drawing/2014/main" id="{EA54B3B0-C2CC-CF48-BE03-B2DACF6C9172}"/>
              </a:ext>
            </a:extLst>
          </p:cNvPr>
          <p:cNvSpPr txBox="1">
            <a:spLocks noChangeArrowheads="1"/>
          </p:cNvSpPr>
          <p:nvPr/>
        </p:nvSpPr>
        <p:spPr bwMode="auto">
          <a:xfrm>
            <a:off x="710738" y="827088"/>
            <a:ext cx="99452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50000"/>
              </a:spcBef>
              <a:buClrTx/>
              <a:buSzTx/>
              <a:buFontTx/>
              <a:buNone/>
            </a:pPr>
            <a:r>
              <a:rPr lang="en-US" altLang="zh-CN" sz="2800" dirty="0">
                <a:latin typeface="Times New Roman" panose="02020603050405020304" pitchFamily="18" charset="0"/>
                <a:cs typeface="Times New Roman" panose="02020603050405020304" pitchFamily="18" charset="0"/>
              </a:rPr>
              <a:t>If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is normally distributed with mean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itchFamily="2" charset="2"/>
              </a:rPr>
              <a:t></a:t>
            </a:r>
            <a:r>
              <a:rPr lang="en-US" altLang="zh-CN" sz="2400" dirty="0">
                <a:latin typeface="Times New Roman" panose="02020603050405020304" pitchFamily="18" charset="0"/>
                <a:cs typeface="Times New Roman" panose="02020603050405020304" pitchFamily="18" charset="0"/>
                <a:sym typeface="Symbol" pitchFamily="2" charset="2"/>
              </a:rPr>
              <a:t> </a:t>
            </a:r>
            <a:r>
              <a:rPr lang="en-US" altLang="zh-CN" sz="2800" dirty="0">
                <a:latin typeface="Times New Roman" panose="02020603050405020304" pitchFamily="18" charset="0"/>
                <a:cs typeface="Times New Roman" panose="02020603050405020304" pitchFamily="18" charset="0"/>
                <a:sym typeface="Symbol" pitchFamily="2" charset="2"/>
              </a:rPr>
              <a:t>and standard deviation</a:t>
            </a:r>
            <a:r>
              <a:rPr lang="en-US" altLang="zh-CN" sz="2400" dirty="0">
                <a:latin typeface="Times New Roman" panose="02020603050405020304" pitchFamily="18" charset="0"/>
                <a:cs typeface="Times New Roman" panose="02020603050405020304" pitchFamily="18" charset="0"/>
                <a:sym typeface="Symbol" pitchFamily="2" charset="2"/>
              </a:rPr>
              <a:t> </a:t>
            </a:r>
            <a:r>
              <a:rPr lang="en-US" altLang="zh-CN" sz="2400" i="1" dirty="0">
                <a:latin typeface="Times New Roman" panose="02020603050405020304" pitchFamily="18" charset="0"/>
                <a:cs typeface="Times New Roman" panose="02020603050405020304" pitchFamily="18" charset="0"/>
                <a:sym typeface="Symbol" pitchFamily="2" charset="2"/>
              </a:rPr>
              <a:t></a:t>
            </a:r>
            <a:r>
              <a:rPr lang="en-US" altLang="zh-CN" sz="2400" dirty="0">
                <a:latin typeface="Times New Roman" panose="02020603050405020304" pitchFamily="18" charset="0"/>
                <a:cs typeface="Times New Roman" panose="02020603050405020304" pitchFamily="18" charset="0"/>
                <a:sym typeface="Symbol" pitchFamily="2" charset="2"/>
              </a:rPr>
              <a:t>, </a:t>
            </a:r>
            <a:r>
              <a:rPr lang="en-US" altLang="zh-CN" sz="2800" dirty="0">
                <a:latin typeface="Times New Roman" panose="02020603050405020304" pitchFamily="18" charset="0"/>
                <a:cs typeface="Times New Roman" panose="02020603050405020304" pitchFamily="18" charset="0"/>
                <a:sym typeface="Symbol" pitchFamily="2" charset="2"/>
              </a:rPr>
              <a:t>then the </a:t>
            </a:r>
            <a:r>
              <a:rPr lang="en-US" altLang="zh-CN" sz="2800" dirty="0">
                <a:solidFill>
                  <a:srgbClr val="0000FF"/>
                </a:solidFill>
                <a:latin typeface="Times New Roman" panose="02020603050405020304" pitchFamily="18" charset="0"/>
                <a:cs typeface="Times New Roman" panose="02020603050405020304" pitchFamily="18" charset="0"/>
                <a:sym typeface="Symbol" pitchFamily="2" charset="2"/>
              </a:rPr>
              <a:t>random variable</a:t>
            </a:r>
            <a:r>
              <a:rPr lang="en-US" altLang="zh-CN" sz="2400" dirty="0">
                <a:solidFill>
                  <a:srgbClr val="0000FF"/>
                </a:solidFill>
                <a:latin typeface="Times New Roman" panose="02020603050405020304" pitchFamily="18" charset="0"/>
                <a:cs typeface="Times New Roman" panose="02020603050405020304" pitchFamily="18" charset="0"/>
                <a:sym typeface="Symbol" pitchFamily="2" charset="2"/>
              </a:rPr>
              <a:t> </a:t>
            </a:r>
            <a:r>
              <a:rPr lang="en-US" altLang="zh-CN" sz="2400" i="1" dirty="0">
                <a:solidFill>
                  <a:srgbClr val="0000FF"/>
                </a:solidFill>
                <a:latin typeface="Times New Roman" panose="02020603050405020304" pitchFamily="18" charset="0"/>
                <a:cs typeface="Times New Roman" panose="02020603050405020304" pitchFamily="18" charset="0"/>
                <a:sym typeface="Symbol" pitchFamily="2" charset="2"/>
              </a:rPr>
              <a:t>z</a:t>
            </a:r>
            <a:r>
              <a:rPr lang="en-US" altLang="zh-CN" sz="2400" dirty="0">
                <a:solidFill>
                  <a:srgbClr val="0000FF"/>
                </a:solidFill>
                <a:latin typeface="Times New Roman" panose="02020603050405020304" pitchFamily="18" charset="0"/>
                <a:cs typeface="Times New Roman" panose="02020603050405020304" pitchFamily="18" charset="0"/>
                <a:sym typeface="Symbol" pitchFamily="2" charset="2"/>
              </a:rPr>
              <a:t> </a:t>
            </a:r>
          </a:p>
        </p:txBody>
      </p:sp>
      <p:sp>
        <p:nvSpPr>
          <p:cNvPr id="284676" name="Text Box 4">
            <a:extLst>
              <a:ext uri="{FF2B5EF4-FFF2-40B4-BE49-F238E27FC236}">
                <a16:creationId xmlns:a16="http://schemas.microsoft.com/office/drawing/2014/main" id="{4141FA9C-6D59-694E-8AAB-0F469EF65C2B}"/>
              </a:ext>
            </a:extLst>
          </p:cNvPr>
          <p:cNvSpPr txBox="1">
            <a:spLocks noChangeArrowheads="1"/>
          </p:cNvSpPr>
          <p:nvPr/>
        </p:nvSpPr>
        <p:spPr bwMode="auto">
          <a:xfrm>
            <a:off x="880095" y="2793334"/>
            <a:ext cx="960600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spcBef>
                <a:spcPct val="50000"/>
              </a:spcBef>
              <a:defRPr/>
            </a:pPr>
            <a:r>
              <a:rPr lang="en-US" altLang="zh-CN" sz="2800" dirty="0">
                <a:latin typeface="Times New Roman" pitchFamily="18" charset="0"/>
                <a:sym typeface="Symbol" pitchFamily="18" charset="2"/>
              </a:rPr>
              <a:t>is normally distributed with </a:t>
            </a:r>
            <a:r>
              <a:rPr lang="en-US" altLang="zh-CN" sz="2800" dirty="0">
                <a:solidFill>
                  <a:srgbClr val="0000FF"/>
                </a:solidFill>
                <a:latin typeface="Times New Roman" pitchFamily="18" charset="0"/>
                <a:sym typeface="Symbol" pitchFamily="18" charset="2"/>
              </a:rPr>
              <a:t>mean 0 </a:t>
            </a:r>
            <a:r>
              <a:rPr lang="en-US" altLang="zh-CN" sz="2800" dirty="0">
                <a:latin typeface="Times New Roman" pitchFamily="18" charset="0"/>
                <a:sym typeface="Symbol" pitchFamily="18" charset="2"/>
              </a:rPr>
              <a:t>and standard </a:t>
            </a:r>
            <a:r>
              <a:rPr lang="en-US" altLang="zh-CN" sz="2800" dirty="0">
                <a:solidFill>
                  <a:srgbClr val="0000FF"/>
                </a:solidFill>
                <a:latin typeface="Times New Roman" pitchFamily="18" charset="0"/>
                <a:sym typeface="Symbol" pitchFamily="18" charset="2"/>
              </a:rPr>
              <a:t>deviation 1</a:t>
            </a:r>
            <a:r>
              <a:rPr lang="en-US" altLang="zh-CN" sz="2800" dirty="0">
                <a:latin typeface="Times New Roman" pitchFamily="18" charset="0"/>
                <a:sym typeface="Symbol" pitchFamily="18" charset="2"/>
              </a:rPr>
              <a:t>; this normal is called the </a:t>
            </a:r>
            <a:r>
              <a:rPr lang="en-US" altLang="zh-CN" sz="2800" dirty="0">
                <a:solidFill>
                  <a:srgbClr val="FF3300"/>
                </a:solidFill>
                <a:latin typeface="Times New Roman" pitchFamily="18" charset="0"/>
                <a:sym typeface="Symbol" pitchFamily="18" charset="2"/>
              </a:rPr>
              <a:t>standard normal distribution.</a:t>
            </a:r>
            <a:endParaRPr lang="en-US" altLang="zh-CN" sz="2800" dirty="0">
              <a:solidFill>
                <a:srgbClr val="FF3300"/>
              </a:solidFill>
              <a:latin typeface="Times New Roman"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A6F2443-AF2B-D333-EB0E-E630F5F4CA08}"/>
                  </a:ext>
                </a:extLst>
              </p:cNvPr>
              <p:cNvSpPr txBox="1"/>
              <p:nvPr/>
            </p:nvSpPr>
            <p:spPr>
              <a:xfrm>
                <a:off x="3326524" y="1895308"/>
                <a:ext cx="1662919" cy="777713"/>
              </a:xfrm>
              <a:prstGeom prst="rect">
                <a:avLst/>
              </a:prstGeom>
              <a:noFill/>
            </p:spPr>
            <p:txBody>
              <a:bodyPr wrap="square">
                <a:spAutoFit/>
              </a:bodyPr>
              <a:lstStyle/>
              <a:p>
                <a:pPr>
                  <a:buNone/>
                </a:pPr>
                <a14:m>
                  <m:oMathPara xmlns:m="http://schemas.openxmlformats.org/officeDocument/2006/math">
                    <m:oMathParaPr>
                      <m:jc m:val="left"/>
                    </m:oMathParaPr>
                    <m:oMath xmlns:m="http://schemas.openxmlformats.org/officeDocument/2006/math">
                      <m:r>
                        <a:rPr lang="en-AU" sz="2600" i="1" smtClean="0">
                          <a:solidFill>
                            <a:srgbClr val="000000"/>
                          </a:solidFill>
                          <a:effectLst/>
                          <a:latin typeface="Cambria Math" panose="02040503050406030204" pitchFamily="18" charset="0"/>
                        </a:rPr>
                        <m:t>𝑧</m:t>
                      </m:r>
                      <m:r>
                        <a:rPr lang="en-AU" sz="2600" i="1" smtClean="0">
                          <a:solidFill>
                            <a:srgbClr val="000000"/>
                          </a:solidFill>
                          <a:effectLst/>
                          <a:latin typeface="Cambria Math" panose="02040503050406030204" pitchFamily="18" charset="0"/>
                        </a:rPr>
                        <m:t>=</m:t>
                      </m:r>
                      <m:f>
                        <m:fPr>
                          <m:ctrlPr>
                            <a:rPr lang="en-AU" sz="2600" i="1">
                              <a:solidFill>
                                <a:srgbClr val="000000"/>
                              </a:solidFill>
                              <a:effectLst/>
                              <a:latin typeface="Cambria Math" panose="02040503050406030204" pitchFamily="18" charset="0"/>
                            </a:rPr>
                          </m:ctrlPr>
                        </m:fPr>
                        <m:num>
                          <m:r>
                            <a:rPr lang="en-AU" sz="2600" i="1">
                              <a:solidFill>
                                <a:srgbClr val="000000"/>
                              </a:solidFill>
                              <a:effectLst/>
                              <a:latin typeface="Cambria Math" panose="02040503050406030204" pitchFamily="18" charset="0"/>
                            </a:rPr>
                            <m:t>𝑥</m:t>
                          </m:r>
                          <m:r>
                            <a:rPr lang="en-AU" sz="2600" i="1">
                              <a:solidFill>
                                <a:srgbClr val="000000"/>
                              </a:solidFill>
                              <a:effectLst/>
                              <a:latin typeface="Cambria Math" panose="02040503050406030204" pitchFamily="18" charset="0"/>
                            </a:rPr>
                            <m:t>−</m:t>
                          </m:r>
                          <m:r>
                            <a:rPr lang="en-AU" sz="2600" i="1">
                              <a:solidFill>
                                <a:srgbClr val="000000"/>
                              </a:solidFill>
                              <a:effectLst/>
                              <a:latin typeface="Cambria Math" panose="02040503050406030204" pitchFamily="18" charset="0"/>
                            </a:rPr>
                            <m:t>𝜇</m:t>
                          </m:r>
                        </m:num>
                        <m:den>
                          <m:r>
                            <a:rPr lang="en-AU" sz="2600" i="1">
                              <a:solidFill>
                                <a:srgbClr val="000000"/>
                              </a:solidFill>
                              <a:effectLst/>
                              <a:latin typeface="Cambria Math" panose="02040503050406030204" pitchFamily="18" charset="0"/>
                            </a:rPr>
                            <m:t>𝜎</m:t>
                          </m:r>
                        </m:den>
                      </m:f>
                    </m:oMath>
                  </m:oMathPara>
                </a14:m>
                <a:endParaRPr lang="en-AU" sz="2600" dirty="0">
                  <a:effectLst/>
                </a:endParaRPr>
              </a:p>
            </p:txBody>
          </p:sp>
        </mc:Choice>
        <mc:Fallback xmlns="">
          <p:sp>
            <p:nvSpPr>
              <p:cNvPr id="5" name="TextBox 4">
                <a:extLst>
                  <a:ext uri="{FF2B5EF4-FFF2-40B4-BE49-F238E27FC236}">
                    <a16:creationId xmlns:a16="http://schemas.microsoft.com/office/drawing/2014/main" id="{0A6F2443-AF2B-D333-EB0E-E630F5F4CA08}"/>
                  </a:ext>
                </a:extLst>
              </p:cNvPr>
              <p:cNvSpPr txBox="1">
                <a:spLocks noRot="1" noChangeAspect="1" noMove="1" noResize="1" noEditPoints="1" noAdjustHandles="1" noChangeArrowheads="1" noChangeShapeType="1" noTextEdit="1"/>
              </p:cNvSpPr>
              <p:nvPr/>
            </p:nvSpPr>
            <p:spPr>
              <a:xfrm>
                <a:off x="3326524" y="1895308"/>
                <a:ext cx="1662919" cy="777713"/>
              </a:xfrm>
              <a:prstGeom prst="rect">
                <a:avLst/>
              </a:prstGeom>
              <a:blipFill>
                <a:blip r:embed="rId3"/>
                <a:stretch>
                  <a:fillRect/>
                </a:stretch>
              </a:blipFill>
            </p:spPr>
            <p:txBody>
              <a:bodyPr/>
              <a:lstStyle/>
              <a:p>
                <a:r>
                  <a:rPr lang="en-AU">
                    <a:noFill/>
                  </a:rPr>
                  <a:t> </a:t>
                </a:r>
              </a:p>
            </p:txBody>
          </p:sp>
        </mc:Fallback>
      </mc:AlternateContent>
      <p:sp>
        <p:nvSpPr>
          <p:cNvPr id="7" name="Text Box 4">
            <a:extLst>
              <a:ext uri="{FF2B5EF4-FFF2-40B4-BE49-F238E27FC236}">
                <a16:creationId xmlns:a16="http://schemas.microsoft.com/office/drawing/2014/main" id="{AF56A5CB-A1B4-5413-2F1B-D5D3B0F1198D}"/>
              </a:ext>
            </a:extLst>
          </p:cNvPr>
          <p:cNvSpPr txBox="1">
            <a:spLocks noChangeArrowheads="1"/>
          </p:cNvSpPr>
          <p:nvPr/>
        </p:nvSpPr>
        <p:spPr bwMode="auto">
          <a:xfrm>
            <a:off x="958696" y="3988066"/>
            <a:ext cx="9448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spcBef>
                <a:spcPct val="50000"/>
              </a:spcBef>
              <a:defRPr/>
            </a:pPr>
            <a:r>
              <a:rPr lang="en-US" altLang="zh-CN" sz="2800" b="1" dirty="0">
                <a:solidFill>
                  <a:srgbClr val="FF3300"/>
                </a:solidFill>
                <a:latin typeface="Times New Roman" pitchFamily="18" charset="0"/>
                <a:sym typeface="Symbol" pitchFamily="18" charset="2"/>
              </a:rPr>
              <a:t>Standard normal distribution: </a:t>
            </a:r>
            <a:r>
              <a:rPr lang="en-US" altLang="zh-CN" sz="2800" dirty="0">
                <a:latin typeface="Times New Roman" pitchFamily="18" charset="0"/>
                <a:sym typeface="Symbol" pitchFamily="18" charset="2"/>
              </a:rPr>
              <a:t>it is normally distribution, it has </a:t>
            </a:r>
            <a:r>
              <a:rPr lang="en-US" altLang="zh-CN" sz="2800" dirty="0">
                <a:solidFill>
                  <a:srgbClr val="0000FF"/>
                </a:solidFill>
                <a:latin typeface="Times New Roman" pitchFamily="18" charset="0"/>
                <a:sym typeface="Symbol" pitchFamily="18" charset="2"/>
              </a:rPr>
              <a:t>mean 0 </a:t>
            </a:r>
            <a:r>
              <a:rPr lang="en-US" altLang="zh-CN" sz="2800" dirty="0">
                <a:latin typeface="Times New Roman" pitchFamily="18" charset="0"/>
                <a:sym typeface="Symbol" pitchFamily="18" charset="2"/>
              </a:rPr>
              <a:t>and standard </a:t>
            </a:r>
            <a:r>
              <a:rPr lang="en-US" altLang="zh-CN" sz="2800" dirty="0">
                <a:solidFill>
                  <a:srgbClr val="0000FF"/>
                </a:solidFill>
                <a:latin typeface="Times New Roman" pitchFamily="18" charset="0"/>
                <a:sym typeface="Symbol" pitchFamily="18" charset="2"/>
              </a:rPr>
              <a:t>deviation 1.</a:t>
            </a:r>
            <a:endParaRPr lang="en-US" altLang="zh-CN" sz="2800" dirty="0">
              <a:solidFill>
                <a:srgbClr val="FF3300"/>
              </a:solidFill>
              <a:latin typeface="Times New Roman" pitchFamily="18" charset="0"/>
            </a:endParaRPr>
          </a:p>
        </p:txBody>
      </p:sp>
      <p:sp>
        <p:nvSpPr>
          <p:cNvPr id="2" name="灯片编号占位符 16">
            <a:extLst>
              <a:ext uri="{FF2B5EF4-FFF2-40B4-BE49-F238E27FC236}">
                <a16:creationId xmlns:a16="http://schemas.microsoft.com/office/drawing/2014/main" id="{9DD5AB64-2A78-EBBD-0029-89C7C1C07DB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C82F9420-A14F-333F-FC6F-21E070A22EB4}"/>
                  </a:ext>
                </a:extLst>
              </p:cNvPr>
              <p:cNvSpPr txBox="1">
                <a:spLocks/>
              </p:cNvSpPr>
              <p:nvPr/>
            </p:nvSpPr>
            <p:spPr bwMode="auto">
              <a:xfrm>
                <a:off x="2978655" y="5201025"/>
                <a:ext cx="3620928" cy="956117"/>
              </a:xfrm>
              <a:prstGeom prst="rect">
                <a:avLst/>
              </a:prstGeom>
              <a:noFill/>
              <a:ln>
                <a:noFill/>
              </a:ln>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r>
                        <a:rPr lang="en-AU" i="1" smtClean="0">
                          <a:solidFill>
                            <a:srgbClr val="000000"/>
                          </a:solidFill>
                          <a:latin typeface="Cambria Math" panose="02040503050406030204" pitchFamily="18" charset="0"/>
                        </a:rPr>
                        <m:t>𝑓</m:t>
                      </m:r>
                      <m:r>
                        <a:rPr lang="en-AU" i="1" smtClean="0">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𝑧</m:t>
                      </m:r>
                      <m:r>
                        <a:rPr lang="en-AU" i="1" smtClean="0">
                          <a:solidFill>
                            <a:srgbClr val="000000"/>
                          </a:solidFill>
                          <a:latin typeface="Cambria Math" panose="02040503050406030204" pitchFamily="18" charset="0"/>
                        </a:rPr>
                        <m:t>)</m:t>
                      </m:r>
                      <m:r>
                        <a:rPr lang="en-AU">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2</m:t>
                              </m:r>
                              <m:r>
                                <m:rPr>
                                  <m:sty m:val="p"/>
                                </m:rPr>
                                <a:rPr lang="en-AU" i="1">
                                  <a:solidFill>
                                    <a:srgbClr val="000000"/>
                                  </a:solidFill>
                                  <a:latin typeface="Cambria Math" panose="02040503050406030204" pitchFamily="18" charset="0"/>
                                </a:rPr>
                                <m:t>π</m:t>
                              </m:r>
                            </m:e>
                          </m:rad>
                        </m:den>
                      </m:f>
                      <m:sSup>
                        <m:sSupPr>
                          <m:ctrlPr>
                            <a:rPr lang="en-AU" i="1">
                              <a:solidFill>
                                <a:srgbClr val="000000"/>
                              </a:solidFill>
                              <a:latin typeface="Cambria Math" panose="02040503050406030204" pitchFamily="18" charset="0"/>
                            </a:rPr>
                          </m:ctrlPr>
                        </m:sSupPr>
                        <m:e>
                          <m:r>
                            <a:rPr lang="en-AU" i="1">
                              <a:solidFill>
                                <a:srgbClr val="000000"/>
                              </a:solidFill>
                              <a:latin typeface="Cambria Math" panose="02040503050406030204" pitchFamily="18" charset="0"/>
                            </a:rPr>
                            <m:t>𝑒</m:t>
                          </m:r>
                        </m:e>
                        <m:sup>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2</m:t>
                              </m:r>
                            </m:den>
                          </m:f>
                          <m:sSup>
                            <m:sSupPr>
                              <m:ctrlPr>
                                <a:rPr lang="en-AU" b="0" i="1" smtClean="0">
                                  <a:solidFill>
                                    <a:srgbClr val="000000"/>
                                  </a:solidFill>
                                  <a:latin typeface="Cambria Math" panose="02040503050406030204" pitchFamily="18" charset="0"/>
                                </a:rPr>
                              </m:ctrlPr>
                            </m:sSupPr>
                            <m:e>
                              <m:r>
                                <a:rPr lang="en-AU" i="1" smtClean="0">
                                  <a:solidFill>
                                    <a:srgbClr val="000000"/>
                                  </a:solidFill>
                                  <a:latin typeface="Cambria Math" panose="02040503050406030204" pitchFamily="18" charset="0"/>
                                </a:rPr>
                                <m:t>𝑧</m:t>
                              </m:r>
                            </m:e>
                            <m:sup>
                              <m:r>
                                <a:rPr lang="en-AU" b="0" i="1" smtClean="0">
                                  <a:solidFill>
                                    <a:srgbClr val="000000"/>
                                  </a:solidFill>
                                  <a:latin typeface="Cambria Math" panose="02040503050406030204" pitchFamily="18" charset="0"/>
                                </a:rPr>
                                <m:t>2</m:t>
                              </m:r>
                            </m:sup>
                          </m:sSup>
                        </m:sup>
                      </m:sSup>
                      <m:r>
                        <a:rPr lang="en-AU" i="1">
                          <a:solidFill>
                            <a:srgbClr val="000000"/>
                          </a:solidFill>
                          <a:latin typeface="Cambria Math" panose="02040503050406030204" pitchFamily="18" charset="0"/>
                        </a:rPr>
                        <m:t>    </m:t>
                      </m:r>
                      <m:r>
                        <a:rPr lang="en-AU">
                          <a:solidFill>
                            <a:srgbClr val="000000"/>
                          </a:solidFill>
                          <a:latin typeface="Cambria Math" panose="02040503050406030204" pitchFamily="18" charset="0"/>
                        </a:rPr>
                        <m:t> </m:t>
                      </m:r>
                    </m:oMath>
                  </m:oMathPara>
                </a14:m>
                <a:endParaRPr lang="en-AU" dirty="0"/>
              </a:p>
            </p:txBody>
          </p:sp>
        </mc:Choice>
        <mc:Fallback xmlns="">
          <p:sp>
            <p:nvSpPr>
              <p:cNvPr id="3" name="Object 5">
                <a:extLst>
                  <a:ext uri="{FF2B5EF4-FFF2-40B4-BE49-F238E27FC236}">
                    <a16:creationId xmlns:a16="http://schemas.microsoft.com/office/drawing/2014/main" id="{C82F9420-A14F-333F-FC6F-21E070A22EB4}"/>
                  </a:ext>
                </a:extLst>
              </p:cNvPr>
              <p:cNvSpPr txBox="1">
                <a:spLocks noRot="1" noChangeAspect="1" noMove="1" noResize="1" noEditPoints="1" noAdjustHandles="1" noChangeArrowheads="1" noChangeShapeType="1" noTextEdit="1"/>
              </p:cNvSpPr>
              <p:nvPr/>
            </p:nvSpPr>
            <p:spPr bwMode="auto">
              <a:xfrm>
                <a:off x="2978655" y="5201025"/>
                <a:ext cx="3620928" cy="956117"/>
              </a:xfrm>
              <a:prstGeom prst="rect">
                <a:avLst/>
              </a:prstGeom>
              <a:blipFill>
                <a:blip r:embed="rId4"/>
                <a:stretch>
                  <a:fillRect/>
                </a:stretch>
              </a:blipFill>
              <a:ln>
                <a:noFill/>
              </a:ln>
              <a:effectLst/>
            </p:spPr>
            <p:txBody>
              <a:bodyPr/>
              <a:lstStyle/>
              <a:p>
                <a:r>
                  <a:rPr lang="en-AU">
                    <a:noFill/>
                  </a:rPr>
                  <a:t> </a:t>
                </a:r>
              </a:p>
            </p:txBody>
          </p:sp>
        </mc:Fallback>
      </mc:AlternateContent>
    </p:spTree>
    <p:extLst>
      <p:ext uri="{BB962C8B-B14F-4D97-AF65-F5344CB8AC3E}">
        <p14:creationId xmlns:p14="http://schemas.microsoft.com/office/powerpoint/2010/main" val="340371796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2">
            <a:extLst>
              <a:ext uri="{FF2B5EF4-FFF2-40B4-BE49-F238E27FC236}">
                <a16:creationId xmlns:a16="http://schemas.microsoft.com/office/drawing/2014/main" id="{1D0907F5-CAFC-B441-8CFC-9DA354E23B39}"/>
              </a:ext>
            </a:extLst>
          </p:cNvPr>
          <p:cNvSpPr txBox="1">
            <a:spLocks noChangeArrowheads="1"/>
          </p:cNvSpPr>
          <p:nvPr/>
        </p:nvSpPr>
        <p:spPr bwMode="auto">
          <a:xfrm>
            <a:off x="504032" y="238331"/>
            <a:ext cx="10925967" cy="211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341313" indent="-227013"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20000"/>
              </a:lnSpc>
              <a:spcBef>
                <a:spcPct val="0"/>
              </a:spcBef>
              <a:buClrTx/>
              <a:buSzTx/>
              <a:buFontTx/>
              <a:buNone/>
            </a:pPr>
            <a:r>
              <a:rPr lang="en-US" altLang="zh-CN" sz="2800" i="1" dirty="0">
                <a:latin typeface="Times New Roman" panose="02020603050405020304" pitchFamily="18" charset="0"/>
              </a:rPr>
              <a:t>z</a:t>
            </a:r>
            <a:r>
              <a:rPr lang="en-US" altLang="zh-CN" sz="2800" dirty="0">
                <a:latin typeface="Times New Roman" panose="02020603050405020304" pitchFamily="18" charset="0"/>
              </a:rPr>
              <a:t> measures the number of standard deviations that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is from the mean</a:t>
            </a:r>
            <a:r>
              <a:rPr lang="en-US" altLang="zh-CN" sz="2800" dirty="0">
                <a:latin typeface="Times New Roman" panose="02020603050405020304" pitchFamily="18" charset="0"/>
                <a:cs typeface="Times New Roman" panose="02020603050405020304" pitchFamily="18" charset="0"/>
                <a:sym typeface="Symbol" pitchFamily="2" charset="2"/>
              </a:rPr>
              <a:t> </a:t>
            </a:r>
            <a:r>
              <a:rPr lang="en-US" altLang="zh-CN" sz="2800" i="1" dirty="0">
                <a:latin typeface="Times New Roman" panose="02020603050405020304" pitchFamily="18" charset="0"/>
                <a:cs typeface="Times New Roman" panose="02020603050405020304" pitchFamily="18" charset="0"/>
                <a:sym typeface="Symbol" pitchFamily="2" charset="2"/>
              </a:rPr>
              <a:t></a:t>
            </a:r>
            <a:r>
              <a:rPr lang="en-US" altLang="zh-CN" sz="2800" dirty="0">
                <a:latin typeface="Times New Roman" panose="02020603050405020304" pitchFamily="18" charset="0"/>
                <a:cs typeface="Times New Roman" panose="02020603050405020304" pitchFamily="18" charset="0"/>
                <a:sym typeface="Symbol" pitchFamily="2" charset="2"/>
              </a:rPr>
              <a:t>.</a:t>
            </a:r>
            <a:endParaRPr lang="en-US" altLang="zh-CN" sz="2800" dirty="0">
              <a:latin typeface="Times New Roman" panose="02020603050405020304" pitchFamily="18" charset="0"/>
            </a:endParaRPr>
          </a:p>
          <a:p>
            <a:pPr lvl="1">
              <a:lnSpc>
                <a:spcPct val="120000"/>
              </a:lnSpc>
              <a:spcBef>
                <a:spcPct val="0"/>
              </a:spcBef>
              <a:buClrTx/>
              <a:buSzTx/>
              <a:buFontTx/>
              <a:buChar char="•"/>
            </a:pPr>
            <a:r>
              <a:rPr lang="en-US" altLang="zh-CN" sz="2800" dirty="0">
                <a:latin typeface="Times New Roman" panose="02020603050405020304" pitchFamily="18" charset="0"/>
              </a:rPr>
              <a:t>The algebraic sign on </a:t>
            </a:r>
            <a:r>
              <a:rPr lang="en-US" altLang="zh-CN" sz="2800" i="1" dirty="0">
                <a:latin typeface="Times New Roman" panose="02020603050405020304" pitchFamily="18" charset="0"/>
              </a:rPr>
              <a:t>z</a:t>
            </a:r>
            <a:r>
              <a:rPr lang="en-US" altLang="zh-CN" sz="2800" dirty="0">
                <a:latin typeface="Times New Roman" panose="02020603050405020304" pitchFamily="18" charset="0"/>
              </a:rPr>
              <a:t> indicates on which side of </a:t>
            </a:r>
            <a:r>
              <a:rPr lang="en-US" altLang="zh-CN" sz="2800" i="1" dirty="0">
                <a:latin typeface="Times New Roman" panose="02020603050405020304" pitchFamily="18" charset="0"/>
                <a:cs typeface="Times New Roman" panose="02020603050405020304" pitchFamily="18" charset="0"/>
                <a:sym typeface="Symbol" pitchFamily="2" charset="2"/>
              </a:rPr>
              <a:t></a:t>
            </a:r>
            <a:r>
              <a:rPr lang="en-US" altLang="zh-CN" sz="2800" dirty="0">
                <a:latin typeface="Times New Roman" panose="02020603050405020304" pitchFamily="18" charset="0"/>
              </a:rPr>
              <a:t> is with </a:t>
            </a:r>
            <a:r>
              <a:rPr lang="en-US" altLang="zh-CN" sz="2800" i="1" dirty="0">
                <a:latin typeface="Times New Roman" panose="02020603050405020304" pitchFamily="18" charset="0"/>
              </a:rPr>
              <a:t>x</a:t>
            </a:r>
            <a:endParaRPr lang="en-US" altLang="zh-CN" sz="2800" dirty="0">
              <a:latin typeface="Times New Roman" panose="02020603050405020304" pitchFamily="18" charset="0"/>
            </a:endParaRPr>
          </a:p>
          <a:p>
            <a:pPr lvl="1">
              <a:lnSpc>
                <a:spcPct val="120000"/>
              </a:lnSpc>
              <a:spcBef>
                <a:spcPct val="0"/>
              </a:spcBef>
              <a:buClrTx/>
              <a:buSzTx/>
              <a:buFontTx/>
              <a:buChar char="•"/>
            </a:pPr>
            <a:r>
              <a:rPr lang="en-US" altLang="zh-CN" sz="2800" i="1" dirty="0">
                <a:latin typeface="Times New Roman" panose="02020603050405020304" pitchFamily="18" charset="0"/>
              </a:rPr>
              <a:t>z</a:t>
            </a:r>
            <a:r>
              <a:rPr lang="en-US" altLang="zh-CN" sz="2800" dirty="0">
                <a:latin typeface="Times New Roman" panose="02020603050405020304" pitchFamily="18" charset="0"/>
              </a:rPr>
              <a:t> is positive if </a:t>
            </a:r>
            <a:r>
              <a:rPr lang="en-US" altLang="zh-CN" sz="2800" i="1" dirty="0">
                <a:latin typeface="Times New Roman" panose="02020603050405020304" pitchFamily="18" charset="0"/>
              </a:rPr>
              <a:t>x &gt;</a:t>
            </a:r>
            <a:r>
              <a:rPr lang="en-US" altLang="zh-CN" sz="2800" dirty="0">
                <a:latin typeface="Times New Roman" panose="02020603050405020304" pitchFamily="18" charset="0"/>
                <a:cs typeface="Times New Roman" panose="02020603050405020304" pitchFamily="18" charset="0"/>
                <a:sym typeface="Symbol" pitchFamily="2" charset="2"/>
              </a:rPr>
              <a:t> </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is to the right of </a:t>
            </a:r>
            <a:r>
              <a:rPr lang="en-US" altLang="zh-CN" sz="2800" dirty="0">
                <a:latin typeface="Times New Roman" panose="02020603050405020304" pitchFamily="18" charset="0"/>
                <a:cs typeface="Times New Roman" panose="02020603050405020304" pitchFamily="18" charset="0"/>
                <a:sym typeface="Symbol" pitchFamily="2" charset="2"/>
              </a:rPr>
              <a:t></a:t>
            </a:r>
            <a:r>
              <a:rPr lang="en-US" altLang="zh-CN" sz="2800" dirty="0">
                <a:latin typeface="Times New Roman" panose="02020603050405020304" pitchFamily="18" charset="0"/>
              </a:rPr>
              <a:t> on the number line)</a:t>
            </a:r>
          </a:p>
          <a:p>
            <a:pPr lvl="1">
              <a:lnSpc>
                <a:spcPct val="120000"/>
              </a:lnSpc>
              <a:spcBef>
                <a:spcPct val="0"/>
              </a:spcBef>
              <a:buClrTx/>
              <a:buSzTx/>
              <a:buFontTx/>
              <a:buChar char="•"/>
            </a:pPr>
            <a:r>
              <a:rPr lang="en-US" altLang="zh-CN" sz="2800" i="1" dirty="0">
                <a:latin typeface="Times New Roman" panose="02020603050405020304" pitchFamily="18" charset="0"/>
              </a:rPr>
              <a:t>z</a:t>
            </a:r>
            <a:r>
              <a:rPr lang="en-US" altLang="zh-CN" sz="2800" dirty="0">
                <a:latin typeface="Times New Roman" panose="02020603050405020304" pitchFamily="18" charset="0"/>
              </a:rPr>
              <a:t> is negative if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&lt; </a:t>
            </a:r>
            <a:r>
              <a:rPr lang="en-US" altLang="zh-CN" sz="2800" dirty="0">
                <a:latin typeface="Times New Roman" panose="02020603050405020304" pitchFamily="18" charset="0"/>
                <a:cs typeface="Times New Roman" panose="02020603050405020304" pitchFamily="18" charset="0"/>
                <a:sym typeface="Symbol" pitchFamily="2" charset="2"/>
              </a:rPr>
              <a:t></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is to the left of </a:t>
            </a:r>
            <a:r>
              <a:rPr lang="en-US" altLang="zh-CN" sz="2800" dirty="0">
                <a:latin typeface="Times New Roman" panose="02020603050405020304" pitchFamily="18" charset="0"/>
                <a:cs typeface="Times New Roman" panose="02020603050405020304" pitchFamily="18" charset="0"/>
                <a:sym typeface="Symbol" pitchFamily="2" charset="2"/>
              </a:rPr>
              <a:t></a:t>
            </a:r>
            <a:r>
              <a:rPr lang="en-US" altLang="zh-CN" sz="2800" dirty="0">
                <a:latin typeface="Times New Roman" panose="02020603050405020304" pitchFamily="18" charset="0"/>
              </a:rPr>
              <a:t> on the number line)</a:t>
            </a:r>
          </a:p>
        </p:txBody>
      </p:sp>
      <p:sp>
        <p:nvSpPr>
          <p:cNvPr id="2" name="灯片编号占位符 16">
            <a:extLst>
              <a:ext uri="{FF2B5EF4-FFF2-40B4-BE49-F238E27FC236}">
                <a16:creationId xmlns:a16="http://schemas.microsoft.com/office/drawing/2014/main" id="{789BF862-599B-EC89-4DC7-394E88140E66}"/>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CF079EDF-F70D-0D55-0FD4-2F2BDC2F12BA}"/>
              </a:ext>
            </a:extLst>
          </p:cNvPr>
          <p:cNvPicPr>
            <a:picLocks noChangeAspect="1"/>
          </p:cNvPicPr>
          <p:nvPr/>
        </p:nvPicPr>
        <p:blipFill>
          <a:blip r:embed="rId3"/>
          <a:stretch>
            <a:fillRect/>
          </a:stretch>
        </p:blipFill>
        <p:spPr>
          <a:xfrm>
            <a:off x="773388" y="2518740"/>
            <a:ext cx="6909560" cy="4277919"/>
          </a:xfrm>
          <a:prstGeom prst="rect">
            <a:avLst/>
          </a:prstGeom>
        </p:spPr>
      </p:pic>
    </p:spTree>
    <p:extLst>
      <p:ext uri="{BB962C8B-B14F-4D97-AF65-F5344CB8AC3E}">
        <p14:creationId xmlns:p14="http://schemas.microsoft.com/office/powerpoint/2010/main" val="206978497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E4A6EE30-7BC7-8149-A638-82EB5CF2B878}"/>
              </a:ext>
            </a:extLst>
          </p:cNvPr>
          <p:cNvSpPr>
            <a:spLocks noGrp="1" noChangeArrowheads="1"/>
          </p:cNvSpPr>
          <p:nvPr>
            <p:ph type="title"/>
          </p:nvPr>
        </p:nvSpPr>
        <p:spPr>
          <a:xfrm>
            <a:off x="1220236" y="290168"/>
            <a:ext cx="5766973" cy="528638"/>
          </a:xfrm>
          <a:noFill/>
        </p:spPr>
        <p:txBody>
          <a:bodyPr>
            <a:normAutofit fontScale="90000"/>
          </a:bodyPr>
          <a:lstStyle/>
          <a:p>
            <a:pPr eaLnBrk="1" hangingPunct="1"/>
            <a:r>
              <a:rPr lang="en-US" altLang="zh-CN" sz="3400" b="1" dirty="0">
                <a:solidFill>
                  <a:srgbClr val="0000FF"/>
                </a:solidFill>
                <a:latin typeface="Times New Roman" panose="02020603050405020304" pitchFamily="18" charset="0"/>
              </a:rPr>
              <a:t>The Standard Normal Table</a:t>
            </a:r>
            <a:endParaRPr lang="en-US" altLang="zh-CN" sz="3600" b="1" dirty="0">
              <a:solidFill>
                <a:srgbClr val="0000FF"/>
              </a:solidFill>
            </a:endParaRPr>
          </a:p>
        </p:txBody>
      </p:sp>
      <p:sp>
        <p:nvSpPr>
          <p:cNvPr id="288771" name="Rectangle 3">
            <a:extLst>
              <a:ext uri="{FF2B5EF4-FFF2-40B4-BE49-F238E27FC236}">
                <a16:creationId xmlns:a16="http://schemas.microsoft.com/office/drawing/2014/main" id="{5AB27DDE-8E78-2D40-8190-C06FA2558E1B}"/>
              </a:ext>
            </a:extLst>
          </p:cNvPr>
          <p:cNvSpPr>
            <a:spLocks noGrp="1" noChangeArrowheads="1"/>
          </p:cNvSpPr>
          <p:nvPr>
            <p:ph type="body" idx="1"/>
          </p:nvPr>
        </p:nvSpPr>
        <p:spPr>
          <a:xfrm>
            <a:off x="1106798" y="1162050"/>
            <a:ext cx="9811445" cy="3310559"/>
          </a:xfrm>
        </p:spPr>
        <p:txBody>
          <a:bodyPr/>
          <a:lstStyle/>
          <a:p>
            <a:pPr eaLnBrk="1" hangingPunct="1">
              <a:lnSpc>
                <a:spcPct val="90000"/>
              </a:lnSpc>
              <a:defRPr/>
            </a:pPr>
            <a:r>
              <a:rPr lang="en-US" altLang="zh-CN" dirty="0">
                <a:latin typeface="Times New Roman" pitchFamily="18" charset="0"/>
              </a:rPr>
              <a:t>The standard normal table is a table that lists the cumulative areas under the standard normal curve.  </a:t>
            </a:r>
          </a:p>
          <a:p>
            <a:pPr lvl="1" eaLnBrk="1" hangingPunct="1">
              <a:lnSpc>
                <a:spcPct val="90000"/>
              </a:lnSpc>
              <a:buFont typeface="Wingdings" pitchFamily="2" charset="2"/>
              <a:buNone/>
              <a:defRPr/>
            </a:pPr>
            <a:endParaRPr lang="en-US" altLang="zh-CN" dirty="0">
              <a:latin typeface="Times New Roman" pitchFamily="18" charset="0"/>
            </a:endParaRPr>
          </a:p>
          <a:p>
            <a:pPr lvl="2" eaLnBrk="1" hangingPunct="1">
              <a:lnSpc>
                <a:spcPct val="90000"/>
              </a:lnSpc>
              <a:defRPr/>
            </a:pPr>
            <a:r>
              <a:rPr lang="en-US" altLang="zh-CN" sz="2800" dirty="0">
                <a:solidFill>
                  <a:srgbClr val="990033"/>
                </a:solidFill>
                <a:latin typeface="Times New Roman" pitchFamily="18" charset="0"/>
              </a:rPr>
              <a:t>This table is very important/useful.</a:t>
            </a:r>
          </a:p>
          <a:p>
            <a:pPr lvl="2" eaLnBrk="1" hangingPunct="1">
              <a:lnSpc>
                <a:spcPct val="90000"/>
              </a:lnSpc>
              <a:defRPr/>
            </a:pPr>
            <a:endParaRPr lang="en-US" altLang="zh-CN" sz="2800" dirty="0">
              <a:solidFill>
                <a:srgbClr val="990033"/>
              </a:solidFill>
              <a:latin typeface="Times New Roman" pitchFamily="18" charset="0"/>
            </a:endParaRPr>
          </a:p>
          <a:p>
            <a:pPr lvl="2" eaLnBrk="1" hangingPunct="1">
              <a:lnSpc>
                <a:spcPct val="90000"/>
              </a:lnSpc>
              <a:defRPr/>
            </a:pPr>
            <a:r>
              <a:rPr lang="en-US" altLang="zh-CN" sz="2800" dirty="0">
                <a:latin typeface="Times New Roman" pitchFamily="18" charset="0"/>
              </a:rPr>
              <a:t>Always look at the </a:t>
            </a:r>
            <a:r>
              <a:rPr lang="en-US" altLang="zh-CN" sz="2800" dirty="0">
                <a:solidFill>
                  <a:srgbClr val="990033"/>
                </a:solidFill>
                <a:latin typeface="Times New Roman" pitchFamily="18" charset="0"/>
              </a:rPr>
              <a:t>accompanying figure</a:t>
            </a:r>
            <a:r>
              <a:rPr lang="en-US" altLang="zh-CN" sz="2800" dirty="0">
                <a:latin typeface="Times New Roman" pitchFamily="18" charset="0"/>
              </a:rPr>
              <a:t> for guidance on how to use the table</a:t>
            </a:r>
          </a:p>
        </p:txBody>
      </p:sp>
      <p:sp>
        <p:nvSpPr>
          <p:cNvPr id="2" name="灯片编号占位符 16">
            <a:extLst>
              <a:ext uri="{FF2B5EF4-FFF2-40B4-BE49-F238E27FC236}">
                <a16:creationId xmlns:a16="http://schemas.microsoft.com/office/drawing/2014/main" id="{44AE7A33-08C0-BBCD-FE82-1EDF59C4075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49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21536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4">
            <a:extLst>
              <a:ext uri="{FF2B5EF4-FFF2-40B4-BE49-F238E27FC236}">
                <a16:creationId xmlns:a16="http://schemas.microsoft.com/office/drawing/2014/main" id="{FD8E6E41-88A8-EFD1-9F6C-FB732DC390E3}"/>
              </a:ext>
            </a:extLst>
          </p:cNvPr>
          <p:cNvSpPr>
            <a:spLocks noGrp="1" noChangeArrowheads="1"/>
          </p:cNvSpPr>
          <p:nvPr>
            <p:ph type="title"/>
          </p:nvPr>
        </p:nvSpPr>
        <p:spPr>
          <a:xfrm>
            <a:off x="374374" y="129211"/>
            <a:ext cx="5721626" cy="474678"/>
          </a:xfrm>
        </p:spPr>
        <p:txBody>
          <a:bodyPr>
            <a:noAutofit/>
          </a:bodyPr>
          <a:lstStyle/>
          <a:p>
            <a:pPr eaLnBrk="1" hangingPunct="1"/>
            <a:r>
              <a:rPr lang="en-US" altLang="en-US" sz="2800" b="1" dirty="0">
                <a:solidFill>
                  <a:srgbClr val="0000FF"/>
                </a:solidFill>
                <a:latin typeface="Times New Roman" panose="02020603050405020304" pitchFamily="18" charset="0"/>
                <a:cs typeface="Times New Roman" panose="02020603050405020304" pitchFamily="18" charset="0"/>
              </a:rPr>
              <a:t>The Cumulative Normal Table</a:t>
            </a:r>
          </a:p>
        </p:txBody>
      </p:sp>
      <p:pic>
        <p:nvPicPr>
          <p:cNvPr id="9" name="Picture 8">
            <a:extLst>
              <a:ext uri="{FF2B5EF4-FFF2-40B4-BE49-F238E27FC236}">
                <a16:creationId xmlns:a16="http://schemas.microsoft.com/office/drawing/2014/main" id="{D450D07C-DF81-1174-BF23-EB8259992AD1}"/>
              </a:ext>
            </a:extLst>
          </p:cNvPr>
          <p:cNvPicPr>
            <a:picLocks noChangeAspect="1"/>
          </p:cNvPicPr>
          <p:nvPr/>
        </p:nvPicPr>
        <p:blipFill>
          <a:blip r:embed="rId3"/>
          <a:stretch>
            <a:fillRect/>
          </a:stretch>
        </p:blipFill>
        <p:spPr>
          <a:xfrm>
            <a:off x="8517421" y="700467"/>
            <a:ext cx="2686599" cy="1863828"/>
          </a:xfrm>
          <a:prstGeom prst="rect">
            <a:avLst/>
          </a:prstGeom>
        </p:spPr>
      </p:pic>
      <mc:AlternateContent xmlns:mc="http://schemas.openxmlformats.org/markup-compatibility/2006" xmlns:a14="http://schemas.microsoft.com/office/drawing/2010/main">
        <mc:Choice Requires="a14">
          <p:sp>
            <p:nvSpPr>
              <p:cNvPr id="10" name="Object 5">
                <a:extLst>
                  <a:ext uri="{FF2B5EF4-FFF2-40B4-BE49-F238E27FC236}">
                    <a16:creationId xmlns:a16="http://schemas.microsoft.com/office/drawing/2014/main" id="{F77C4B7C-F002-D918-EC73-70A001361B61}"/>
                  </a:ext>
                </a:extLst>
              </p:cNvPr>
              <p:cNvSpPr txBox="1">
                <a:spLocks noGrp="1"/>
              </p:cNvSpPr>
              <p:nvPr>
                <p:ph idx="1"/>
              </p:nvPr>
            </p:nvSpPr>
            <p:spPr bwMode="auto">
              <a:xfrm>
                <a:off x="8517421" y="3016629"/>
                <a:ext cx="3131240" cy="979073"/>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AU" sz="2200" i="1" smtClean="0">
                          <a:solidFill>
                            <a:srgbClr val="000000"/>
                          </a:solidFill>
                          <a:latin typeface="Cambria Math" panose="02040503050406030204" pitchFamily="18" charset="0"/>
                        </a:rPr>
                        <m:t>𝑓</m:t>
                      </m:r>
                      <m:r>
                        <a:rPr lang="en-AU" sz="2200" i="1" smtClean="0">
                          <a:solidFill>
                            <a:srgbClr val="000000"/>
                          </a:solidFill>
                          <a:latin typeface="Cambria Math" panose="02040503050406030204" pitchFamily="18" charset="0"/>
                        </a:rPr>
                        <m:t>(</m:t>
                      </m:r>
                      <m:r>
                        <a:rPr lang="en-AU" sz="2200" b="0" i="1" smtClean="0">
                          <a:solidFill>
                            <a:srgbClr val="000000"/>
                          </a:solidFill>
                          <a:latin typeface="Cambria Math" panose="02040503050406030204" pitchFamily="18" charset="0"/>
                        </a:rPr>
                        <m:t>𝑧</m:t>
                      </m:r>
                      <m:r>
                        <a:rPr lang="en-AU" sz="2200" i="1" smtClean="0">
                          <a:solidFill>
                            <a:srgbClr val="000000"/>
                          </a:solidFill>
                          <a:latin typeface="Cambria Math" panose="02040503050406030204" pitchFamily="18" charset="0"/>
                        </a:rPr>
                        <m:t>)</m:t>
                      </m:r>
                      <m:r>
                        <a:rPr lang="en-AU" sz="2200" i="0">
                          <a:solidFill>
                            <a:srgbClr val="000000"/>
                          </a:solidFill>
                          <a:latin typeface="Cambria Math" panose="02040503050406030204" pitchFamily="18" charset="0"/>
                        </a:rPr>
                        <m:t>=</m:t>
                      </m:r>
                      <m:f>
                        <m:fPr>
                          <m:ctrlPr>
                            <a:rPr lang="en-AU" sz="2200" i="1">
                              <a:solidFill>
                                <a:srgbClr val="000000"/>
                              </a:solidFill>
                              <a:latin typeface="Cambria Math" panose="02040503050406030204" pitchFamily="18" charset="0"/>
                            </a:rPr>
                          </m:ctrlPr>
                        </m:fPr>
                        <m:num>
                          <m:r>
                            <a:rPr lang="en-AU" sz="2200" i="1">
                              <a:solidFill>
                                <a:srgbClr val="000000"/>
                              </a:solidFill>
                              <a:latin typeface="Cambria Math" panose="02040503050406030204" pitchFamily="18" charset="0"/>
                            </a:rPr>
                            <m:t>1</m:t>
                          </m:r>
                        </m:num>
                        <m:den>
                          <m:rad>
                            <m:radPr>
                              <m:degHide m:val="on"/>
                              <m:ctrlPr>
                                <a:rPr lang="en-AU" sz="2200" i="1">
                                  <a:solidFill>
                                    <a:srgbClr val="000000"/>
                                  </a:solidFill>
                                  <a:latin typeface="Cambria Math" panose="02040503050406030204" pitchFamily="18" charset="0"/>
                                </a:rPr>
                              </m:ctrlPr>
                            </m:radPr>
                            <m:deg/>
                            <m:e>
                              <m:r>
                                <a:rPr lang="en-AU" sz="2200" i="1">
                                  <a:solidFill>
                                    <a:srgbClr val="000000"/>
                                  </a:solidFill>
                                  <a:latin typeface="Cambria Math" panose="02040503050406030204" pitchFamily="18" charset="0"/>
                                </a:rPr>
                                <m:t>2</m:t>
                              </m:r>
                              <m:r>
                                <m:rPr>
                                  <m:sty m:val="p"/>
                                </m:rPr>
                                <a:rPr lang="en-AU" sz="2200" i="1">
                                  <a:solidFill>
                                    <a:srgbClr val="000000"/>
                                  </a:solidFill>
                                  <a:latin typeface="Cambria Math" panose="02040503050406030204" pitchFamily="18" charset="0"/>
                                </a:rPr>
                                <m:t>π</m:t>
                              </m:r>
                            </m:e>
                          </m:rad>
                        </m:den>
                      </m:f>
                      <m:sSup>
                        <m:sSupPr>
                          <m:ctrlPr>
                            <a:rPr lang="en-AU" sz="2200" i="1">
                              <a:solidFill>
                                <a:srgbClr val="000000"/>
                              </a:solidFill>
                              <a:latin typeface="Cambria Math" panose="02040503050406030204" pitchFamily="18" charset="0"/>
                            </a:rPr>
                          </m:ctrlPr>
                        </m:sSupPr>
                        <m:e>
                          <m:r>
                            <a:rPr lang="en-AU" sz="2200" i="1">
                              <a:solidFill>
                                <a:srgbClr val="000000"/>
                              </a:solidFill>
                              <a:latin typeface="Cambria Math" panose="02040503050406030204" pitchFamily="18" charset="0"/>
                            </a:rPr>
                            <m:t>𝑒</m:t>
                          </m:r>
                        </m:e>
                        <m:sup>
                          <m:r>
                            <a:rPr lang="en-AU" sz="2200" i="1">
                              <a:solidFill>
                                <a:srgbClr val="000000"/>
                              </a:solidFill>
                              <a:latin typeface="Cambria Math" panose="02040503050406030204" pitchFamily="18" charset="0"/>
                            </a:rPr>
                            <m:t>−</m:t>
                          </m:r>
                          <m:f>
                            <m:fPr>
                              <m:ctrlPr>
                                <a:rPr lang="en-AU" sz="2200" i="1">
                                  <a:solidFill>
                                    <a:srgbClr val="000000"/>
                                  </a:solidFill>
                                  <a:latin typeface="Cambria Math" panose="02040503050406030204" pitchFamily="18" charset="0"/>
                                </a:rPr>
                              </m:ctrlPr>
                            </m:fPr>
                            <m:num>
                              <m:r>
                                <a:rPr lang="en-AU" sz="2200" i="1">
                                  <a:solidFill>
                                    <a:srgbClr val="000000"/>
                                  </a:solidFill>
                                  <a:latin typeface="Cambria Math" panose="02040503050406030204" pitchFamily="18" charset="0"/>
                                </a:rPr>
                                <m:t>1</m:t>
                              </m:r>
                            </m:num>
                            <m:den>
                              <m:r>
                                <a:rPr lang="en-AU" sz="2200" i="1">
                                  <a:solidFill>
                                    <a:srgbClr val="000000"/>
                                  </a:solidFill>
                                  <a:latin typeface="Cambria Math" panose="02040503050406030204" pitchFamily="18" charset="0"/>
                                </a:rPr>
                                <m:t>2</m:t>
                              </m:r>
                            </m:den>
                          </m:f>
                          <m:sSup>
                            <m:sSupPr>
                              <m:ctrlPr>
                                <a:rPr lang="en-AU" sz="2200" i="1">
                                  <a:solidFill>
                                    <a:srgbClr val="000000"/>
                                  </a:solidFill>
                                  <a:latin typeface="Cambria Math" panose="02040503050406030204" pitchFamily="18" charset="0"/>
                                </a:rPr>
                              </m:ctrlPr>
                            </m:sSupPr>
                            <m:e>
                              <m:r>
                                <a:rPr lang="en-AU" sz="2200" b="0" i="1" smtClean="0">
                                  <a:solidFill>
                                    <a:srgbClr val="000000"/>
                                  </a:solidFill>
                                  <a:latin typeface="Cambria Math" panose="02040503050406030204" pitchFamily="18" charset="0"/>
                                </a:rPr>
                                <m:t>𝑧</m:t>
                              </m:r>
                            </m:e>
                            <m:sup>
                              <m:r>
                                <a:rPr lang="en-AU" sz="2200" i="1">
                                  <a:solidFill>
                                    <a:srgbClr val="000000"/>
                                  </a:solidFill>
                                  <a:latin typeface="Cambria Math" panose="02040503050406030204" pitchFamily="18" charset="0"/>
                                </a:rPr>
                                <m:t>2</m:t>
                              </m:r>
                            </m:sup>
                          </m:sSup>
                        </m:sup>
                      </m:sSup>
                      <m:r>
                        <a:rPr lang="en-AU" sz="2200" i="1">
                          <a:solidFill>
                            <a:srgbClr val="000000"/>
                          </a:solidFill>
                          <a:latin typeface="Cambria Math" panose="02040503050406030204" pitchFamily="18" charset="0"/>
                        </a:rPr>
                        <m:t>    </m:t>
                      </m:r>
                      <m:r>
                        <a:rPr lang="en-AU" sz="2200" i="0">
                          <a:solidFill>
                            <a:srgbClr val="000000"/>
                          </a:solidFill>
                          <a:latin typeface="Cambria Math" panose="02040503050406030204" pitchFamily="18" charset="0"/>
                        </a:rPr>
                        <m:t> </m:t>
                      </m:r>
                    </m:oMath>
                  </m:oMathPara>
                </a14:m>
                <a:endParaRPr lang="en-AU" sz="2200" dirty="0"/>
              </a:p>
            </p:txBody>
          </p:sp>
        </mc:Choice>
        <mc:Fallback xmlns="">
          <p:sp>
            <p:nvSpPr>
              <p:cNvPr id="10" name="Object 5">
                <a:extLst>
                  <a:ext uri="{FF2B5EF4-FFF2-40B4-BE49-F238E27FC236}">
                    <a16:creationId xmlns:a16="http://schemas.microsoft.com/office/drawing/2014/main" id="{F77C4B7C-F002-D918-EC73-70A001361B61}"/>
                  </a:ext>
                </a:extLst>
              </p:cNvPr>
              <p:cNvSpPr txBox="1">
                <a:spLocks noGrp="1" noRot="1" noChangeAspect="1" noMove="1" noResize="1" noEditPoints="1" noAdjustHandles="1" noChangeArrowheads="1" noChangeShapeType="1" noTextEdit="1"/>
              </p:cNvSpPr>
              <p:nvPr>
                <p:ph idx="1"/>
              </p:nvPr>
            </p:nvSpPr>
            <p:spPr bwMode="auto">
              <a:xfrm>
                <a:off x="8517421" y="3016629"/>
                <a:ext cx="3131240" cy="979073"/>
              </a:xfrm>
              <a:prstGeom prst="rect">
                <a:avLst/>
              </a:prstGeom>
              <a:blipFill>
                <a:blip r:embed="rId4"/>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60E5D9EC-71F8-3986-DDB9-7092B062D400}"/>
                  </a:ext>
                </a:extLst>
              </p:cNvPr>
              <p:cNvSpPr txBox="1">
                <a:spLocks/>
              </p:cNvSpPr>
              <p:nvPr/>
            </p:nvSpPr>
            <p:spPr bwMode="auto">
              <a:xfrm>
                <a:off x="8517420" y="4328595"/>
                <a:ext cx="3131241" cy="829986"/>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r>
                        <a:rPr lang="en-AU" sz="2200" b="0" i="1" smtClean="0">
                          <a:solidFill>
                            <a:srgbClr val="000000"/>
                          </a:solidFill>
                          <a:latin typeface="Cambria Math" panose="02040503050406030204" pitchFamily="18" charset="0"/>
                        </a:rPr>
                        <m:t>𝐴</m:t>
                      </m:r>
                      <m:r>
                        <a:rPr lang="en-AU" sz="2200" i="1" smtClean="0">
                          <a:solidFill>
                            <a:srgbClr val="000000"/>
                          </a:solidFill>
                          <a:latin typeface="Cambria Math" panose="02040503050406030204" pitchFamily="18" charset="0"/>
                        </a:rPr>
                        <m:t>(</m:t>
                      </m:r>
                      <m:r>
                        <a:rPr lang="en-AU" sz="2200" i="1" smtClean="0">
                          <a:solidFill>
                            <a:srgbClr val="000000"/>
                          </a:solidFill>
                          <a:latin typeface="Cambria Math" panose="02040503050406030204" pitchFamily="18" charset="0"/>
                        </a:rPr>
                        <m:t>𝑧</m:t>
                      </m:r>
                      <m:r>
                        <a:rPr lang="en-AU" sz="2200" i="1" smtClean="0">
                          <a:solidFill>
                            <a:srgbClr val="000000"/>
                          </a:solidFill>
                          <a:latin typeface="Cambria Math" panose="02040503050406030204" pitchFamily="18" charset="0"/>
                        </a:rPr>
                        <m:t>)</m:t>
                      </m:r>
                      <m:r>
                        <a:rPr lang="en-AU" sz="2200">
                          <a:solidFill>
                            <a:srgbClr val="000000"/>
                          </a:solidFill>
                          <a:latin typeface="Cambria Math" panose="02040503050406030204" pitchFamily="18" charset="0"/>
                        </a:rPr>
                        <m:t>=</m:t>
                      </m:r>
                      <m:nary>
                        <m:naryPr>
                          <m:ctrlPr>
                            <a:rPr lang="en-AU" sz="2200" i="1" smtClean="0">
                              <a:solidFill>
                                <a:srgbClr val="000000"/>
                              </a:solidFill>
                              <a:latin typeface="Cambria Math" panose="02040503050406030204" pitchFamily="18" charset="0"/>
                            </a:rPr>
                          </m:ctrlPr>
                        </m:naryPr>
                        <m:sub>
                          <m:r>
                            <m:rPr>
                              <m:brk m:alnAt="23"/>
                            </m:rPr>
                            <a:rPr lang="en-AU" sz="2200" b="0" i="1" smtClean="0">
                              <a:solidFill>
                                <a:srgbClr val="000000"/>
                              </a:solidFill>
                              <a:latin typeface="Cambria Math" panose="02040503050406030204" pitchFamily="18" charset="0"/>
                            </a:rPr>
                            <m:t>−</m:t>
                          </m:r>
                          <m:r>
                            <a:rPr lang="en-AU" sz="2200" b="0" i="1" smtClean="0">
                              <a:solidFill>
                                <a:srgbClr val="000000"/>
                              </a:solidFill>
                              <a:latin typeface="Cambria Math" panose="02040503050406030204" pitchFamily="18" charset="0"/>
                              <a:ea typeface="Cambria Math" panose="02040503050406030204" pitchFamily="18" charset="0"/>
                            </a:rPr>
                            <m:t>∞</m:t>
                          </m:r>
                        </m:sub>
                        <m:sup>
                          <m:r>
                            <a:rPr lang="en-AU" sz="2200" b="0" i="1" smtClean="0">
                              <a:solidFill>
                                <a:srgbClr val="000000"/>
                              </a:solidFill>
                              <a:latin typeface="Cambria Math" panose="02040503050406030204" pitchFamily="18" charset="0"/>
                            </a:rPr>
                            <m:t>𝑧</m:t>
                          </m:r>
                        </m:sup>
                        <m:e>
                          <m:f>
                            <m:fPr>
                              <m:ctrlPr>
                                <a:rPr lang="en-AU" sz="2200" i="1">
                                  <a:solidFill>
                                    <a:srgbClr val="000000"/>
                                  </a:solidFill>
                                  <a:latin typeface="Cambria Math" panose="02040503050406030204" pitchFamily="18" charset="0"/>
                                </a:rPr>
                              </m:ctrlPr>
                            </m:fPr>
                            <m:num>
                              <m:r>
                                <a:rPr lang="en-AU" sz="2200" i="1">
                                  <a:solidFill>
                                    <a:srgbClr val="000000"/>
                                  </a:solidFill>
                                  <a:latin typeface="Cambria Math" panose="02040503050406030204" pitchFamily="18" charset="0"/>
                                </a:rPr>
                                <m:t>1</m:t>
                              </m:r>
                            </m:num>
                            <m:den>
                              <m:rad>
                                <m:radPr>
                                  <m:degHide m:val="on"/>
                                  <m:ctrlPr>
                                    <a:rPr lang="en-AU" sz="2200" i="1">
                                      <a:solidFill>
                                        <a:srgbClr val="000000"/>
                                      </a:solidFill>
                                      <a:latin typeface="Cambria Math" panose="02040503050406030204" pitchFamily="18" charset="0"/>
                                    </a:rPr>
                                  </m:ctrlPr>
                                </m:radPr>
                                <m:deg/>
                                <m:e>
                                  <m:r>
                                    <a:rPr lang="en-AU" sz="2200" i="1">
                                      <a:solidFill>
                                        <a:srgbClr val="000000"/>
                                      </a:solidFill>
                                      <a:latin typeface="Cambria Math" panose="02040503050406030204" pitchFamily="18" charset="0"/>
                                    </a:rPr>
                                    <m:t>2</m:t>
                                  </m:r>
                                  <m:r>
                                    <m:rPr>
                                      <m:sty m:val="p"/>
                                    </m:rPr>
                                    <a:rPr lang="en-AU" sz="2200" i="1">
                                      <a:solidFill>
                                        <a:srgbClr val="000000"/>
                                      </a:solidFill>
                                      <a:latin typeface="Cambria Math" panose="02040503050406030204" pitchFamily="18" charset="0"/>
                                    </a:rPr>
                                    <m:t>π</m:t>
                                  </m:r>
                                </m:e>
                              </m:rad>
                            </m:den>
                          </m:f>
                          <m:sSup>
                            <m:sSupPr>
                              <m:ctrlPr>
                                <a:rPr lang="en-AU" sz="2200" i="1">
                                  <a:solidFill>
                                    <a:srgbClr val="000000"/>
                                  </a:solidFill>
                                  <a:latin typeface="Cambria Math" panose="02040503050406030204" pitchFamily="18" charset="0"/>
                                </a:rPr>
                              </m:ctrlPr>
                            </m:sSupPr>
                            <m:e>
                              <m:r>
                                <a:rPr lang="en-AU" sz="2200" i="1">
                                  <a:solidFill>
                                    <a:srgbClr val="000000"/>
                                  </a:solidFill>
                                  <a:latin typeface="Cambria Math" panose="02040503050406030204" pitchFamily="18" charset="0"/>
                                </a:rPr>
                                <m:t>𝑒</m:t>
                              </m:r>
                            </m:e>
                            <m:sup>
                              <m:r>
                                <a:rPr lang="en-AU" sz="2200" i="1">
                                  <a:solidFill>
                                    <a:srgbClr val="000000"/>
                                  </a:solidFill>
                                  <a:latin typeface="Cambria Math" panose="02040503050406030204" pitchFamily="18" charset="0"/>
                                </a:rPr>
                                <m:t>−</m:t>
                              </m:r>
                              <m:f>
                                <m:fPr>
                                  <m:ctrlPr>
                                    <a:rPr lang="en-AU" sz="2200" i="1">
                                      <a:solidFill>
                                        <a:srgbClr val="000000"/>
                                      </a:solidFill>
                                      <a:latin typeface="Cambria Math" panose="02040503050406030204" pitchFamily="18" charset="0"/>
                                    </a:rPr>
                                  </m:ctrlPr>
                                </m:fPr>
                                <m:num>
                                  <m:r>
                                    <a:rPr lang="en-AU" sz="2200" i="1">
                                      <a:solidFill>
                                        <a:srgbClr val="000000"/>
                                      </a:solidFill>
                                      <a:latin typeface="Cambria Math" panose="02040503050406030204" pitchFamily="18" charset="0"/>
                                    </a:rPr>
                                    <m:t>1</m:t>
                                  </m:r>
                                </m:num>
                                <m:den>
                                  <m:r>
                                    <a:rPr lang="en-AU" sz="2200" i="1">
                                      <a:solidFill>
                                        <a:srgbClr val="000000"/>
                                      </a:solidFill>
                                      <a:latin typeface="Cambria Math" panose="02040503050406030204" pitchFamily="18" charset="0"/>
                                    </a:rPr>
                                    <m:t>2</m:t>
                                  </m:r>
                                </m:den>
                              </m:f>
                              <m:sSup>
                                <m:sSupPr>
                                  <m:ctrlPr>
                                    <a:rPr lang="en-AU" sz="2200" i="1">
                                      <a:solidFill>
                                        <a:srgbClr val="000000"/>
                                      </a:solidFill>
                                      <a:latin typeface="Cambria Math" panose="02040503050406030204" pitchFamily="18" charset="0"/>
                                    </a:rPr>
                                  </m:ctrlPr>
                                </m:sSupPr>
                                <m:e>
                                  <m:r>
                                    <a:rPr lang="en-AU" sz="2200" i="1">
                                      <a:solidFill>
                                        <a:srgbClr val="000000"/>
                                      </a:solidFill>
                                      <a:latin typeface="Cambria Math" panose="02040503050406030204" pitchFamily="18" charset="0"/>
                                    </a:rPr>
                                    <m:t>𝑧</m:t>
                                  </m:r>
                                </m:e>
                                <m:sup>
                                  <m:r>
                                    <a:rPr lang="en-AU" sz="2200" i="1">
                                      <a:solidFill>
                                        <a:srgbClr val="000000"/>
                                      </a:solidFill>
                                      <a:latin typeface="Cambria Math" panose="02040503050406030204" pitchFamily="18" charset="0"/>
                                    </a:rPr>
                                    <m:t>2</m:t>
                                  </m:r>
                                </m:sup>
                              </m:sSup>
                            </m:sup>
                          </m:sSup>
                          <m:r>
                            <a:rPr lang="en-AU" sz="2200" b="0" i="1" smtClean="0">
                              <a:solidFill>
                                <a:srgbClr val="000000"/>
                              </a:solidFill>
                              <a:latin typeface="Cambria Math" panose="02040503050406030204" pitchFamily="18" charset="0"/>
                            </a:rPr>
                            <m:t>𝑑𝑧</m:t>
                          </m:r>
                        </m:e>
                      </m:nary>
                    </m:oMath>
                  </m:oMathPara>
                </a14:m>
                <a:endParaRPr lang="en-AU" sz="2200" dirty="0"/>
              </a:p>
            </p:txBody>
          </p:sp>
        </mc:Choice>
        <mc:Fallback xmlns="">
          <p:sp>
            <p:nvSpPr>
              <p:cNvPr id="11" name="Object 5">
                <a:extLst>
                  <a:ext uri="{FF2B5EF4-FFF2-40B4-BE49-F238E27FC236}">
                    <a16:creationId xmlns:a16="http://schemas.microsoft.com/office/drawing/2014/main" id="{60E5D9EC-71F8-3986-DDB9-7092B062D400}"/>
                  </a:ext>
                </a:extLst>
              </p:cNvPr>
              <p:cNvSpPr txBox="1">
                <a:spLocks noRot="1" noChangeAspect="1" noMove="1" noResize="1" noEditPoints="1" noAdjustHandles="1" noChangeArrowheads="1" noChangeShapeType="1" noTextEdit="1"/>
              </p:cNvSpPr>
              <p:nvPr/>
            </p:nvSpPr>
            <p:spPr bwMode="auto">
              <a:xfrm>
                <a:off x="8517420" y="4328595"/>
                <a:ext cx="3131241" cy="829986"/>
              </a:xfrm>
              <a:prstGeom prst="rect">
                <a:avLst/>
              </a:prstGeom>
              <a:blipFill>
                <a:blip r:embed="rId5"/>
                <a:stretch>
                  <a:fillRect/>
                </a:stretch>
              </a:blipFill>
              <a:ln>
                <a:noFill/>
              </a:ln>
              <a:effectLst/>
            </p:spPr>
            <p:txBody>
              <a:bodyPr/>
              <a:lstStyle/>
              <a:p>
                <a:r>
                  <a:rPr lang="en-AU">
                    <a:noFill/>
                  </a:rPr>
                  <a:t> </a:t>
                </a:r>
              </a:p>
            </p:txBody>
          </p:sp>
        </mc:Fallback>
      </mc:AlternateContent>
      <p:grpSp>
        <p:nvGrpSpPr>
          <p:cNvPr id="3" name="Group 2">
            <a:extLst>
              <a:ext uri="{FF2B5EF4-FFF2-40B4-BE49-F238E27FC236}">
                <a16:creationId xmlns:a16="http://schemas.microsoft.com/office/drawing/2014/main" id="{98D649D9-D6C0-2617-1AC8-78C3B9831579}"/>
              </a:ext>
            </a:extLst>
          </p:cNvPr>
          <p:cNvGrpSpPr/>
          <p:nvPr/>
        </p:nvGrpSpPr>
        <p:grpSpPr>
          <a:xfrm>
            <a:off x="0" y="749247"/>
            <a:ext cx="8143875" cy="5827730"/>
            <a:chOff x="0" y="749247"/>
            <a:chExt cx="8143875" cy="5827730"/>
          </a:xfrm>
        </p:grpSpPr>
        <p:pic>
          <p:nvPicPr>
            <p:cNvPr id="15" name="Picture 14">
              <a:extLst>
                <a:ext uri="{FF2B5EF4-FFF2-40B4-BE49-F238E27FC236}">
                  <a16:creationId xmlns:a16="http://schemas.microsoft.com/office/drawing/2014/main" id="{9E4AF920-03CE-DC59-0AB8-ADF19C0B845E}"/>
                </a:ext>
              </a:extLst>
            </p:cNvPr>
            <p:cNvPicPr>
              <a:picLocks noChangeAspect="1"/>
            </p:cNvPicPr>
            <p:nvPr/>
          </p:nvPicPr>
          <p:blipFill>
            <a:blip r:embed="rId6"/>
            <a:stretch>
              <a:fillRect/>
            </a:stretch>
          </p:blipFill>
          <p:spPr>
            <a:xfrm>
              <a:off x="0" y="3995702"/>
              <a:ext cx="8143875" cy="2581275"/>
            </a:xfrm>
            <a:prstGeom prst="rect">
              <a:avLst/>
            </a:prstGeom>
          </p:spPr>
        </p:pic>
        <p:sp>
          <p:nvSpPr>
            <p:cNvPr id="17" name="TextBox 16">
              <a:extLst>
                <a:ext uri="{FF2B5EF4-FFF2-40B4-BE49-F238E27FC236}">
                  <a16:creationId xmlns:a16="http://schemas.microsoft.com/office/drawing/2014/main" id="{CF1E9557-7CB5-F66D-0C86-CAADDE3F63B3}"/>
                </a:ext>
              </a:extLst>
            </p:cNvPr>
            <p:cNvSpPr txBox="1"/>
            <p:nvPr/>
          </p:nvSpPr>
          <p:spPr>
            <a:xfrm>
              <a:off x="374374" y="3550585"/>
              <a:ext cx="1553817" cy="369332"/>
            </a:xfrm>
            <a:prstGeom prst="rect">
              <a:avLst/>
            </a:prstGeom>
            <a:noFill/>
          </p:spPr>
          <p:txBody>
            <a:bodyPr wrap="square">
              <a:spAutoFit/>
            </a:bodyPr>
            <a:lstStyle/>
            <a:p>
              <a:r>
                <a:rPr lang="en-AU" dirty="0">
                  <a:solidFill>
                    <a:srgbClr val="FF0000"/>
                  </a:solidFill>
                  <a:latin typeface="Times New Roman" panose="02020603050405020304" pitchFamily="18" charset="0"/>
                  <a:cs typeface="Times New Roman" panose="02020603050405020304" pitchFamily="18" charset="0"/>
                </a:rPr>
                <a:t>(Continued)</a:t>
              </a:r>
            </a:p>
          </p:txBody>
        </p:sp>
        <p:pic>
          <p:nvPicPr>
            <p:cNvPr id="19" name="Picture 18">
              <a:extLst>
                <a:ext uri="{FF2B5EF4-FFF2-40B4-BE49-F238E27FC236}">
                  <a16:creationId xmlns:a16="http://schemas.microsoft.com/office/drawing/2014/main" id="{B7AEC216-66FC-F1E6-462B-C79B025C172A}"/>
                </a:ext>
              </a:extLst>
            </p:cNvPr>
            <p:cNvPicPr>
              <a:picLocks noChangeAspect="1"/>
            </p:cNvPicPr>
            <p:nvPr/>
          </p:nvPicPr>
          <p:blipFill>
            <a:blip r:embed="rId7"/>
            <a:stretch>
              <a:fillRect/>
            </a:stretch>
          </p:blipFill>
          <p:spPr>
            <a:xfrm>
              <a:off x="577501" y="749247"/>
              <a:ext cx="7450381" cy="1446584"/>
            </a:xfrm>
            <a:prstGeom prst="rect">
              <a:avLst/>
            </a:prstGeom>
          </p:spPr>
        </p:pic>
        <p:pic>
          <p:nvPicPr>
            <p:cNvPr id="23" name="Picture 22">
              <a:extLst>
                <a:ext uri="{FF2B5EF4-FFF2-40B4-BE49-F238E27FC236}">
                  <a16:creationId xmlns:a16="http://schemas.microsoft.com/office/drawing/2014/main" id="{4A826554-CD73-CDFE-8561-2F6E45E86506}"/>
                </a:ext>
              </a:extLst>
            </p:cNvPr>
            <p:cNvPicPr>
              <a:picLocks noChangeAspect="1"/>
            </p:cNvPicPr>
            <p:nvPr/>
          </p:nvPicPr>
          <p:blipFill>
            <a:blip r:embed="rId8"/>
            <a:stretch>
              <a:fillRect/>
            </a:stretch>
          </p:blipFill>
          <p:spPr>
            <a:xfrm>
              <a:off x="503580" y="2677489"/>
              <a:ext cx="7511279" cy="816852"/>
            </a:xfrm>
            <a:prstGeom prst="rect">
              <a:avLst/>
            </a:prstGeom>
          </p:spPr>
        </p:pic>
        <p:sp>
          <p:nvSpPr>
            <p:cNvPr id="24" name="TextBox 23">
              <a:extLst>
                <a:ext uri="{FF2B5EF4-FFF2-40B4-BE49-F238E27FC236}">
                  <a16:creationId xmlns:a16="http://schemas.microsoft.com/office/drawing/2014/main" id="{119F9AF1-91F7-E125-70D3-A1E887BE000F}"/>
                </a:ext>
              </a:extLst>
            </p:cNvPr>
            <p:cNvSpPr txBox="1"/>
            <p:nvPr/>
          </p:nvSpPr>
          <p:spPr>
            <a:xfrm>
              <a:off x="374374" y="2252075"/>
              <a:ext cx="1553817" cy="369332"/>
            </a:xfrm>
            <a:prstGeom prst="rect">
              <a:avLst/>
            </a:prstGeom>
            <a:noFill/>
          </p:spPr>
          <p:txBody>
            <a:bodyPr wrap="square">
              <a:spAutoFit/>
            </a:bodyPr>
            <a:lstStyle/>
            <a:p>
              <a:r>
                <a:rPr lang="en-AU" dirty="0">
                  <a:solidFill>
                    <a:srgbClr val="FF0000"/>
                  </a:solidFill>
                  <a:latin typeface="Times New Roman" panose="02020603050405020304" pitchFamily="18" charset="0"/>
                  <a:cs typeface="Times New Roman" panose="02020603050405020304" pitchFamily="18" charset="0"/>
                </a:rPr>
                <a:t>(Continued)</a:t>
              </a:r>
            </a:p>
          </p:txBody>
        </p:sp>
      </p:grpSp>
      <p:sp>
        <p:nvSpPr>
          <p:cNvPr id="2" name="灯片编号占位符 16">
            <a:extLst>
              <a:ext uri="{FF2B5EF4-FFF2-40B4-BE49-F238E27FC236}">
                <a16:creationId xmlns:a16="http://schemas.microsoft.com/office/drawing/2014/main" id="{60DD0A9D-8690-65EC-D4BE-6A3175BB72F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a:extLst>
              <a:ext uri="{FF2B5EF4-FFF2-40B4-BE49-F238E27FC236}">
                <a16:creationId xmlns:a16="http://schemas.microsoft.com/office/drawing/2014/main" id="{992D0348-6EEA-F283-81A5-999032BE7E48}"/>
              </a:ext>
            </a:extLst>
          </p:cNvPr>
          <p:cNvSpPr>
            <a:spLocks noGrp="1" noChangeArrowheads="1"/>
          </p:cNvSpPr>
          <p:nvPr>
            <p:ph type="title"/>
          </p:nvPr>
        </p:nvSpPr>
        <p:spPr>
          <a:xfrm>
            <a:off x="914400" y="148605"/>
            <a:ext cx="10101088" cy="775734"/>
          </a:xfrm>
        </p:spPr>
        <p:txBody>
          <a:bodyPr>
            <a:noAutofit/>
          </a:bodyPr>
          <a:lstStyle/>
          <a:p>
            <a:pPr algn="just">
              <a:lnSpc>
                <a:spcPct val="110000"/>
              </a:lnSpc>
              <a:spcBef>
                <a:spcPts val="600"/>
              </a:spcBef>
            </a:pPr>
            <a:r>
              <a:rPr lang="en-AU" sz="2800" b="1" dirty="0">
                <a:solidFill>
                  <a:srgbClr val="FF0000"/>
                </a:solidFill>
                <a:latin typeface="Times New Roman" panose="02020603050405020304" pitchFamily="18" charset="0"/>
                <a:cs typeface="Times New Roman" panose="02020603050405020304" pitchFamily="18" charset="0"/>
              </a:rPr>
              <a:t>Example</a:t>
            </a:r>
            <a:r>
              <a:rPr lang="en-AU" sz="2800" b="1" dirty="0">
                <a:latin typeface="Times New Roman" panose="02020603050405020304" pitchFamily="18" charset="0"/>
                <a:cs typeface="Times New Roman" panose="02020603050405020304" pitchFamily="18" charset="0"/>
              </a:rPr>
              <a:t>:</a:t>
            </a:r>
            <a:r>
              <a:rPr lang="en-AU" sz="2800" dirty="0">
                <a:latin typeface="Times New Roman" panose="02020603050405020304" pitchFamily="18" charset="0"/>
                <a:cs typeface="Times New Roman" panose="02020603050405020304" pitchFamily="18" charset="0"/>
              </a:rPr>
              <a:t> Find the area under the standard normal curve to the left of a </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value of 2.00. </a:t>
            </a:r>
            <a:endParaRPr lang="en-US" altLang="en-US"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9C6514F-E747-0413-3A6C-8BED60C6017B}"/>
              </a:ext>
            </a:extLst>
          </p:cNvPr>
          <p:cNvSpPr txBox="1"/>
          <p:nvPr/>
        </p:nvSpPr>
        <p:spPr>
          <a:xfrm>
            <a:off x="971550" y="1211611"/>
            <a:ext cx="9862101" cy="1479892"/>
          </a:xfrm>
          <a:prstGeom prst="rect">
            <a:avLst/>
          </a:prstGeom>
          <a:noFill/>
        </p:spPr>
        <p:txBody>
          <a:bodyPr wrap="square">
            <a:spAutoFit/>
          </a:bodyPr>
          <a:lstStyle/>
          <a:p>
            <a:pPr algn="just">
              <a:lnSpc>
                <a:spcPct val="110000"/>
              </a:lnSpc>
              <a:spcBef>
                <a:spcPts val="600"/>
              </a:spcBef>
            </a:pPr>
            <a:r>
              <a:rPr lang="en-AU" sz="2800" b="1" dirty="0">
                <a:solidFill>
                  <a:srgbClr val="0000FF"/>
                </a:solidFill>
                <a:latin typeface="Times New Roman" panose="02020603050405020304" pitchFamily="18" charset="0"/>
                <a:cs typeface="Times New Roman" panose="02020603050405020304" pitchFamily="18" charset="0"/>
              </a:rPr>
              <a:t>Answer</a:t>
            </a:r>
            <a:r>
              <a:rPr lang="en-AU" sz="2800" b="1" dirty="0">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This area, which equals 0.9772, is the probability that the random variable z will be less than or equal to 2.00. That is, we have found that </a:t>
            </a:r>
            <a:r>
              <a:rPr lang="en-AU" sz="2800" i="1" dirty="0">
                <a:latin typeface="Times New Roman" panose="02020603050405020304" pitchFamily="18" charset="0"/>
                <a:cs typeface="Times New Roman" panose="02020603050405020304" pitchFamily="18" charset="0"/>
              </a:rPr>
              <a:t>P</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&lt; 2) = 0.9772. </a:t>
            </a:r>
          </a:p>
        </p:txBody>
      </p:sp>
      <p:sp>
        <p:nvSpPr>
          <p:cNvPr id="2" name="灯片编号占位符 16">
            <a:extLst>
              <a:ext uri="{FF2B5EF4-FFF2-40B4-BE49-F238E27FC236}">
                <a16:creationId xmlns:a16="http://schemas.microsoft.com/office/drawing/2014/main" id="{D56747DD-29CC-A5C7-9E8B-FD6AE0D651B6}"/>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8D64441C-536C-6FFA-0CD1-8FB17481BFA3}"/>
              </a:ext>
            </a:extLst>
          </p:cNvPr>
          <p:cNvPicPr>
            <a:picLocks noChangeAspect="1"/>
          </p:cNvPicPr>
          <p:nvPr/>
        </p:nvPicPr>
        <p:blipFill>
          <a:blip r:embed="rId3"/>
          <a:stretch>
            <a:fillRect/>
          </a:stretch>
        </p:blipFill>
        <p:spPr>
          <a:xfrm>
            <a:off x="1077360" y="2973940"/>
            <a:ext cx="5018640" cy="3531636"/>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FF93-1EDE-884D-E2BF-CBB8F890A8D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1228861-52CC-E65C-0B6F-93859400CC81}"/>
              </a:ext>
            </a:extLst>
          </p:cNvPr>
          <p:cNvSpPr txBox="1"/>
          <p:nvPr/>
        </p:nvSpPr>
        <p:spPr>
          <a:xfrm>
            <a:off x="387624" y="405468"/>
            <a:ext cx="11231219" cy="954107"/>
          </a:xfrm>
          <a:prstGeom prst="rect">
            <a:avLst/>
          </a:prstGeom>
          <a:noFill/>
        </p:spPr>
        <p:txBody>
          <a:bodyPr wrap="square">
            <a:spAutoFit/>
          </a:bodyPr>
          <a:lstStyle/>
          <a:p>
            <a:pPr algn="just"/>
            <a:r>
              <a:rPr lang="en-AU" sz="2800" b="1" dirty="0">
                <a:solidFill>
                  <a:srgbClr val="FF0000"/>
                </a:solidFill>
                <a:latin typeface="Times New Roman" panose="02020603050405020304" pitchFamily="18" charset="0"/>
                <a:cs typeface="Times New Roman" panose="02020603050405020304" pitchFamily="18" charset="0"/>
              </a:rPr>
              <a:t>Example</a:t>
            </a:r>
            <a:r>
              <a:rPr lang="en-AU" sz="2800" dirty="0">
                <a:latin typeface="Times New Roman" panose="02020603050405020304" pitchFamily="18" charset="0"/>
                <a:cs typeface="Times New Roman" panose="02020603050405020304" pitchFamily="18" charset="0"/>
              </a:rPr>
              <a:t>: Find the area under the standard normal curve to the left of the </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value 1.25.</a:t>
            </a:r>
          </a:p>
        </p:txBody>
      </p:sp>
      <p:sp>
        <p:nvSpPr>
          <p:cNvPr id="10" name="TextBox 9">
            <a:extLst>
              <a:ext uri="{FF2B5EF4-FFF2-40B4-BE49-F238E27FC236}">
                <a16:creationId xmlns:a16="http://schemas.microsoft.com/office/drawing/2014/main" id="{4717A4DD-9E64-3983-8E5D-4572ACA524CE}"/>
              </a:ext>
            </a:extLst>
          </p:cNvPr>
          <p:cNvSpPr txBox="1"/>
          <p:nvPr/>
        </p:nvSpPr>
        <p:spPr>
          <a:xfrm>
            <a:off x="387624" y="1511182"/>
            <a:ext cx="11618843" cy="523220"/>
          </a:xfrm>
          <a:prstGeom prst="rect">
            <a:avLst/>
          </a:prstGeom>
          <a:noFill/>
        </p:spPr>
        <p:txBody>
          <a:bodyPr wrap="square">
            <a:spAutoFit/>
          </a:bodyPr>
          <a:lstStyle/>
          <a:p>
            <a:pPr algn="just"/>
            <a:r>
              <a:rPr lang="en-AU" sz="2800" b="1" dirty="0">
                <a:solidFill>
                  <a:srgbClr val="0000FF"/>
                </a:solidFill>
                <a:latin typeface="Times New Roman" panose="02020603050405020304" pitchFamily="18" charset="0"/>
                <a:cs typeface="Times New Roman" panose="02020603050405020304" pitchFamily="18" charset="0"/>
              </a:rPr>
              <a:t>Answer</a:t>
            </a:r>
            <a:r>
              <a:rPr lang="en-AU" sz="2800" b="1" dirty="0">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This area (also shaded blue) is 0.8944. That is, </a:t>
            </a:r>
            <a:r>
              <a:rPr lang="en-AU" sz="2800" i="1" dirty="0">
                <a:latin typeface="Times New Roman" panose="02020603050405020304" pitchFamily="18" charset="0"/>
                <a:cs typeface="Times New Roman" panose="02020603050405020304" pitchFamily="18" charset="0"/>
              </a:rPr>
              <a:t>P</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&lt; 1.25) = 0.8944. </a:t>
            </a:r>
          </a:p>
        </p:txBody>
      </p:sp>
      <p:sp>
        <p:nvSpPr>
          <p:cNvPr id="2" name="灯片编号占位符 16">
            <a:extLst>
              <a:ext uri="{FF2B5EF4-FFF2-40B4-BE49-F238E27FC236}">
                <a16:creationId xmlns:a16="http://schemas.microsoft.com/office/drawing/2014/main" id="{30DF8407-B7ED-9F9C-D96E-E1EC69EC449F}"/>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649488B9-B340-B3D8-A415-EA5F25D909B1}"/>
              </a:ext>
            </a:extLst>
          </p:cNvPr>
          <p:cNvPicPr>
            <a:picLocks noChangeAspect="1"/>
          </p:cNvPicPr>
          <p:nvPr/>
        </p:nvPicPr>
        <p:blipFill>
          <a:blip r:embed="rId3"/>
          <a:stretch>
            <a:fillRect/>
          </a:stretch>
        </p:blipFill>
        <p:spPr>
          <a:xfrm>
            <a:off x="710294" y="2436652"/>
            <a:ext cx="5385706" cy="4017310"/>
          </a:xfrm>
          <a:prstGeom prst="rect">
            <a:avLst/>
          </a:prstGeom>
        </p:spPr>
      </p:pic>
    </p:spTree>
    <p:extLst>
      <p:ext uri="{BB962C8B-B14F-4D97-AF65-F5344CB8AC3E}">
        <p14:creationId xmlns:p14="http://schemas.microsoft.com/office/powerpoint/2010/main" val="3502318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E5FB5-AB4B-17FB-94D5-A8F6BDE8104B}"/>
            </a:ext>
          </a:extLst>
        </p:cNvPr>
        <p:cNvGrpSpPr/>
        <p:nvPr/>
      </p:nvGrpSpPr>
      <p:grpSpPr>
        <a:xfrm>
          <a:off x="0" y="0"/>
          <a:ext cx="0" cy="0"/>
          <a:chOff x="0" y="0"/>
          <a:chExt cx="0" cy="0"/>
        </a:xfrm>
      </p:grpSpPr>
      <p:sp>
        <p:nvSpPr>
          <p:cNvPr id="33795" name="Rectangle 4">
            <a:extLst>
              <a:ext uri="{FF2B5EF4-FFF2-40B4-BE49-F238E27FC236}">
                <a16:creationId xmlns:a16="http://schemas.microsoft.com/office/drawing/2014/main" id="{E6974E30-4431-8FF7-1904-F55AD806E9E7}"/>
              </a:ext>
            </a:extLst>
          </p:cNvPr>
          <p:cNvSpPr>
            <a:spLocks noGrp="1" noChangeArrowheads="1"/>
          </p:cNvSpPr>
          <p:nvPr>
            <p:ph type="title"/>
          </p:nvPr>
        </p:nvSpPr>
        <p:spPr>
          <a:xfrm>
            <a:off x="914400" y="181030"/>
            <a:ext cx="10788199" cy="1080758"/>
          </a:xfrm>
        </p:spPr>
        <p:txBody>
          <a:bodyPr>
            <a:normAutofit/>
          </a:bodyPr>
          <a:lstStyle/>
          <a:p>
            <a:pPr algn="just">
              <a:lnSpc>
                <a:spcPct val="110000"/>
              </a:lnSpc>
            </a:pPr>
            <a:r>
              <a:rPr lang="en-AU" sz="2800" b="1" dirty="0">
                <a:solidFill>
                  <a:srgbClr val="0000FF"/>
                </a:solidFill>
                <a:latin typeface="Times New Roman" panose="02020603050405020304" pitchFamily="18" charset="0"/>
                <a:cs typeface="Times New Roman" panose="02020603050405020304" pitchFamily="18" charset="0"/>
              </a:rPr>
              <a:t>Example: </a:t>
            </a:r>
            <a:r>
              <a:rPr lang="en-AU" sz="2800" dirty="0">
                <a:latin typeface="Times New Roman" panose="02020603050405020304" pitchFamily="18" charset="0"/>
                <a:cs typeface="Times New Roman" panose="02020603050405020304" pitchFamily="18" charset="0"/>
              </a:rPr>
              <a:t>Find the area under the standard normal curve to the right of a z value of 2 — that is, we wish to find </a:t>
            </a:r>
            <a:r>
              <a:rPr lang="en-AU" sz="2800" i="1" dirty="0">
                <a:latin typeface="Times New Roman" panose="02020603050405020304" pitchFamily="18" charset="0"/>
                <a:cs typeface="Times New Roman" panose="02020603050405020304" pitchFamily="18" charset="0"/>
              </a:rPr>
              <a:t>P</a:t>
            </a:r>
            <a:r>
              <a:rPr lang="en-AU" sz="2800" dirty="0">
                <a:latin typeface="Times New Roman" panose="02020603050405020304" pitchFamily="18" charset="0"/>
                <a:cs typeface="Times New Roman" panose="02020603050405020304" pitchFamily="18" charset="0"/>
              </a:rPr>
              <a:t>(</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&gt; 2). </a:t>
            </a:r>
            <a:endParaRPr lang="en-US"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6B321A-5030-4736-71C2-D4806AB9D08F}"/>
                  </a:ext>
                </a:extLst>
              </p:cNvPr>
              <p:cNvSpPr txBox="1"/>
              <p:nvPr/>
            </p:nvSpPr>
            <p:spPr>
              <a:xfrm>
                <a:off x="971551" y="1374715"/>
                <a:ext cx="10458449" cy="531940"/>
              </a:xfrm>
              <a:prstGeom prst="rect">
                <a:avLst/>
              </a:prstGeom>
              <a:noFill/>
            </p:spPr>
            <p:txBody>
              <a:bodyPr wrap="square">
                <a:spAutoFit/>
              </a:bodyPr>
              <a:lstStyle/>
              <a:p>
                <a:pPr algn="just">
                  <a:lnSpc>
                    <a:spcPct val="110000"/>
                  </a:lnSpc>
                </a:pPr>
                <a:r>
                  <a:rPr lang="en-AU" sz="2800" b="1" dirty="0">
                    <a:solidFill>
                      <a:srgbClr val="FF0000"/>
                    </a:solidFill>
                    <a:latin typeface="Times New Roman" panose="02020603050405020304" pitchFamily="18" charset="0"/>
                    <a:cs typeface="Times New Roman" panose="02020603050405020304" pitchFamily="18" charset="0"/>
                  </a:rPr>
                  <a:t>Answer: </a:t>
                </a:r>
                <a14:m>
                  <m:oMath xmlns:m="http://schemas.openxmlformats.org/officeDocument/2006/math">
                    <m:r>
                      <a:rPr lang="en-AU" sz="2800" b="0" i="1" smtClean="0">
                        <a:latin typeface="Cambria Math" panose="02040503050406030204" pitchFamily="18" charset="0"/>
                        <a:cs typeface="Times New Roman" panose="02020603050405020304" pitchFamily="18" charset="0"/>
                      </a:rPr>
                      <m:t>𝑃</m:t>
                    </m:r>
                    <m:d>
                      <m:dPr>
                        <m:ctrlPr>
                          <a:rPr lang="en-AU" sz="2800" i="1" smtClean="0">
                            <a:latin typeface="Cambria Math" panose="02040503050406030204" pitchFamily="18" charset="0"/>
                            <a:cs typeface="Times New Roman" panose="02020603050405020304" pitchFamily="18" charset="0"/>
                          </a:rPr>
                        </m:ctrlPr>
                      </m:dPr>
                      <m:e>
                        <m:r>
                          <a:rPr lang="en-AU" sz="2800" b="0" i="1" smtClean="0">
                            <a:latin typeface="Cambria Math" panose="02040503050406030204" pitchFamily="18" charset="0"/>
                            <a:cs typeface="Times New Roman" panose="02020603050405020304" pitchFamily="18" charset="0"/>
                          </a:rPr>
                          <m:t>𝑧</m:t>
                        </m:r>
                        <m:r>
                          <a:rPr lang="en-AU" sz="2800" i="1">
                            <a:latin typeface="Cambria Math" panose="02040503050406030204" pitchFamily="18" charset="0"/>
                            <a:ea typeface="Cambria Math" panose="02040503050406030204" pitchFamily="18" charset="0"/>
                            <a:cs typeface="Times New Roman" panose="02020603050405020304" pitchFamily="18" charset="0"/>
                          </a:rPr>
                          <m:t>≥</m:t>
                        </m:r>
                        <m:r>
                          <a:rPr lang="en-AU" sz="2800" b="0" i="1" smtClean="0">
                            <a:latin typeface="Cambria Math" panose="02040503050406030204" pitchFamily="18" charset="0"/>
                            <a:cs typeface="Times New Roman" panose="02020603050405020304" pitchFamily="18" charset="0"/>
                          </a:rPr>
                          <m:t>2</m:t>
                        </m:r>
                      </m:e>
                    </m:d>
                    <m:r>
                      <a:rPr lang="en-AU" sz="2800" b="0" i="1" smtClean="0">
                        <a:latin typeface="Cambria Math" panose="02040503050406030204" pitchFamily="18" charset="0"/>
                        <a:cs typeface="Times New Roman" panose="02020603050405020304" pitchFamily="18" charset="0"/>
                      </a:rPr>
                      <m:t>=1−</m:t>
                    </m:r>
                    <m:r>
                      <a:rPr lang="en-AU" sz="2800" i="1">
                        <a:latin typeface="Cambria Math" panose="02040503050406030204" pitchFamily="18" charset="0"/>
                        <a:cs typeface="Times New Roman" panose="02020603050405020304" pitchFamily="18" charset="0"/>
                      </a:rPr>
                      <m:t>𝑃</m:t>
                    </m:r>
                    <m:d>
                      <m:dPr>
                        <m:ctrlPr>
                          <a:rPr lang="en-AU" sz="2800" i="1">
                            <a:latin typeface="Cambria Math" panose="02040503050406030204" pitchFamily="18" charset="0"/>
                            <a:cs typeface="Times New Roman" panose="02020603050405020304" pitchFamily="18" charset="0"/>
                          </a:rPr>
                        </m:ctrlPr>
                      </m:dPr>
                      <m:e>
                        <m:r>
                          <a:rPr lang="en-AU" sz="2800" i="1">
                            <a:latin typeface="Cambria Math" panose="02040503050406030204" pitchFamily="18" charset="0"/>
                            <a:cs typeface="Times New Roman" panose="02020603050405020304" pitchFamily="18" charset="0"/>
                          </a:rPr>
                          <m:t>𝑧</m:t>
                        </m:r>
                        <m:r>
                          <a:rPr lang="en-AU" sz="2800" i="1">
                            <a:latin typeface="Cambria Math" panose="02040503050406030204" pitchFamily="18" charset="0"/>
                            <a:ea typeface="Cambria Math" panose="02040503050406030204" pitchFamily="18" charset="0"/>
                            <a:cs typeface="Times New Roman" panose="02020603050405020304" pitchFamily="18" charset="0"/>
                          </a:rPr>
                          <m:t>≤2</m:t>
                        </m:r>
                      </m:e>
                    </m:d>
                    <m:r>
                      <a:rPr lang="en-AU" sz="2800" b="0" i="1" smtClean="0">
                        <a:latin typeface="Cambria Math" panose="02040503050406030204" pitchFamily="18" charset="0"/>
                        <a:cs typeface="Times New Roman" panose="02020603050405020304" pitchFamily="18" charset="0"/>
                      </a:rPr>
                      <m:t>=1−0.9772=0.0228</m:t>
                    </m:r>
                  </m:oMath>
                </a14:m>
                <a:r>
                  <a:rPr lang="en-AU" sz="2800" dirty="0">
                    <a:latin typeface="Times New Roman" panose="02020603050405020304" pitchFamily="18"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9A6B321A-5030-4736-71C2-D4806AB9D08F}"/>
                  </a:ext>
                </a:extLst>
              </p:cNvPr>
              <p:cNvSpPr txBox="1">
                <a:spLocks noRot="1" noChangeAspect="1" noMove="1" noResize="1" noEditPoints="1" noAdjustHandles="1" noChangeArrowheads="1" noChangeShapeType="1" noTextEdit="1"/>
              </p:cNvSpPr>
              <p:nvPr/>
            </p:nvSpPr>
            <p:spPr>
              <a:xfrm>
                <a:off x="971551" y="1374715"/>
                <a:ext cx="10458449" cy="531940"/>
              </a:xfrm>
              <a:prstGeom prst="rect">
                <a:avLst/>
              </a:prstGeom>
              <a:blipFill>
                <a:blip r:embed="rId3"/>
                <a:stretch>
                  <a:fillRect l="-1166" t="-10345" b="-3218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4B0ADA3-DD54-2C90-D796-7B451EBBAE6F}"/>
                  </a:ext>
                </a:extLst>
              </p:cNvPr>
              <p:cNvSpPr txBox="1"/>
              <p:nvPr/>
            </p:nvSpPr>
            <p:spPr>
              <a:xfrm>
                <a:off x="6890943" y="3038343"/>
                <a:ext cx="5085709" cy="2901820"/>
              </a:xfrm>
              <a:prstGeom prst="rect">
                <a:avLst/>
              </a:prstGeom>
              <a:noFill/>
            </p:spPr>
            <p:txBody>
              <a:bodyPr wrap="square">
                <a:spAutoFit/>
              </a:bodyPr>
              <a:lstStyle/>
              <a:p>
                <a:pPr>
                  <a:lnSpc>
                    <a:spcPct val="110000"/>
                  </a:lnSpc>
                </a:pPr>
                <a:r>
                  <a:rPr lang="en-AU" sz="2800" b="1" dirty="0">
                    <a:solidFill>
                      <a:srgbClr val="FF0000"/>
                    </a:solidFill>
                    <a:latin typeface="Times New Roman" panose="02020603050405020304" pitchFamily="18" charset="0"/>
                    <a:cs typeface="Times New Roman" panose="02020603050405020304" pitchFamily="18" charset="0"/>
                  </a:rPr>
                  <a:t>Not</a:t>
                </a:r>
                <a:r>
                  <a:rPr lang="en-US" altLang="zh-CN" sz="2800" b="1" dirty="0">
                    <a:solidFill>
                      <a:srgbClr val="FF0000"/>
                    </a:solidFill>
                    <a:latin typeface="Times New Roman" panose="02020603050405020304" pitchFamily="18" charset="0"/>
                    <a:cs typeface="Times New Roman" panose="02020603050405020304" pitchFamily="18" charset="0"/>
                  </a:rPr>
                  <a:t>e</a:t>
                </a:r>
                <a:r>
                  <a:rPr lang="en-US" altLang="zh-CN" sz="2800" dirty="0">
                    <a:solidFill>
                      <a:srgbClr val="FF0000"/>
                    </a:solidFill>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T</a:t>
                </a:r>
                <a:r>
                  <a:rPr lang="en-AU" sz="2800" dirty="0">
                    <a:latin typeface="Times New Roman" panose="02020603050405020304" pitchFamily="18" charset="0"/>
                    <a:cs typeface="Times New Roman" panose="02020603050405020304" pitchFamily="18" charset="0"/>
                  </a:rPr>
                  <a:t>he area under the standard normal curve to the left of </a:t>
                </a:r>
                <a14:m>
                  <m:oMath xmlns:m="http://schemas.openxmlformats.org/officeDocument/2006/math">
                    <m:r>
                      <a:rPr lang="en-AU" sz="2800" i="1">
                        <a:latin typeface="Cambria Math" panose="02040503050406030204" pitchFamily="18" charset="0"/>
                        <a:cs typeface="Times New Roman" panose="02020603050405020304" pitchFamily="18" charset="0"/>
                      </a:rPr>
                      <m:t>−</m:t>
                    </m:r>
                    <m:r>
                      <a:rPr lang="en-AU" sz="2800" b="0" i="1" smtClean="0">
                        <a:latin typeface="Cambria Math" panose="02040503050406030204" pitchFamily="18" charset="0"/>
                        <a:cs typeface="Times New Roman" panose="02020603050405020304" pitchFamily="18" charset="0"/>
                      </a:rPr>
                      <m:t>2</m:t>
                    </m:r>
                  </m:oMath>
                </a14:m>
                <a:r>
                  <a:rPr lang="en-AU" sz="2800" dirty="0">
                    <a:latin typeface="Times New Roman" panose="02020603050405020304" pitchFamily="18" charset="0"/>
                    <a:cs typeface="Times New Roman" panose="02020603050405020304" pitchFamily="18" charset="0"/>
                  </a:rPr>
                  <a:t> is equal to the area under this curve to the right of 2. This is true because of the symmetry of the normal curve.</a:t>
                </a:r>
              </a:p>
            </p:txBody>
          </p:sp>
        </mc:Choice>
        <mc:Fallback xmlns="">
          <p:sp>
            <p:nvSpPr>
              <p:cNvPr id="6" name="TextBox 5">
                <a:extLst>
                  <a:ext uri="{FF2B5EF4-FFF2-40B4-BE49-F238E27FC236}">
                    <a16:creationId xmlns:a16="http://schemas.microsoft.com/office/drawing/2014/main" id="{54B0ADA3-DD54-2C90-D796-7B451EBBAE6F}"/>
                  </a:ext>
                </a:extLst>
              </p:cNvPr>
              <p:cNvSpPr txBox="1">
                <a:spLocks noRot="1" noChangeAspect="1" noMove="1" noResize="1" noEditPoints="1" noAdjustHandles="1" noChangeArrowheads="1" noChangeShapeType="1" noTextEdit="1"/>
              </p:cNvSpPr>
              <p:nvPr/>
            </p:nvSpPr>
            <p:spPr>
              <a:xfrm>
                <a:off x="6890943" y="3038343"/>
                <a:ext cx="5085709" cy="2901820"/>
              </a:xfrm>
              <a:prstGeom prst="rect">
                <a:avLst/>
              </a:prstGeom>
              <a:blipFill>
                <a:blip r:embed="rId4"/>
                <a:stretch>
                  <a:fillRect l="-2395" t="-1681" r="-2874" b="-5042"/>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5174D38A-46D8-B688-2A60-338B98EBEE6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7" name="Picture 6">
            <a:extLst>
              <a:ext uri="{FF2B5EF4-FFF2-40B4-BE49-F238E27FC236}">
                <a16:creationId xmlns:a16="http://schemas.microsoft.com/office/drawing/2014/main" id="{73414931-8EB5-7F5D-7580-DCD47C3627CA}"/>
              </a:ext>
            </a:extLst>
          </p:cNvPr>
          <p:cNvPicPr>
            <a:picLocks noChangeAspect="1"/>
          </p:cNvPicPr>
          <p:nvPr/>
        </p:nvPicPr>
        <p:blipFill>
          <a:blip r:embed="rId5"/>
          <a:stretch>
            <a:fillRect/>
          </a:stretch>
        </p:blipFill>
        <p:spPr>
          <a:xfrm>
            <a:off x="1140514" y="2178366"/>
            <a:ext cx="5598217" cy="4033124"/>
          </a:xfrm>
          <a:prstGeom prst="rect">
            <a:avLst/>
          </a:prstGeom>
        </p:spPr>
      </p:pic>
    </p:spTree>
    <p:extLst>
      <p:ext uri="{BB962C8B-B14F-4D97-AF65-F5344CB8AC3E}">
        <p14:creationId xmlns:p14="http://schemas.microsoft.com/office/powerpoint/2010/main" val="1478287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66865-6906-BC48-8E62-540622AED7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E98907C-1EB1-B8C2-8818-38052396F9A3}"/>
                  </a:ext>
                </a:extLst>
              </p:cNvPr>
              <p:cNvSpPr txBox="1"/>
              <p:nvPr/>
            </p:nvSpPr>
            <p:spPr>
              <a:xfrm>
                <a:off x="637761" y="77564"/>
                <a:ext cx="10916477" cy="954107"/>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Example</a:t>
                </a:r>
                <a:r>
                  <a:rPr lang="en-AU" sz="2800" dirty="0">
                    <a:solidFill>
                      <a:srgbClr val="0000FF"/>
                    </a:solidFill>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Find the area under the standard normal curve to the left of a z value of </a:t>
                </a:r>
                <a14:m>
                  <m:oMath xmlns:m="http://schemas.openxmlformats.org/officeDocument/2006/math">
                    <m:r>
                      <a:rPr lang="en-AU" sz="2800" i="1">
                        <a:latin typeface="Cambria Math" panose="02040503050406030204" pitchFamily="18" charset="0"/>
                        <a:cs typeface="Times New Roman" panose="02020603050405020304" pitchFamily="18" charset="0"/>
                      </a:rPr>
                      <m:t>𝑃</m:t>
                    </m:r>
                    <m:d>
                      <m:dPr>
                        <m:ctrlPr>
                          <a:rPr lang="en-AU" sz="2800" i="1" smtClean="0">
                            <a:solidFill>
                              <a:schemeClr val="tx1"/>
                            </a:solidFill>
                            <a:latin typeface="Cambria Math" panose="02040503050406030204" pitchFamily="18" charset="0"/>
                            <a:cs typeface="Times New Roman" panose="02020603050405020304" pitchFamily="18" charset="0"/>
                          </a:rPr>
                        </m:ctrlPr>
                      </m:dPr>
                      <m:e>
                        <m:r>
                          <a:rPr lang="en-AU" sz="2800" i="1">
                            <a:solidFill>
                              <a:schemeClr val="tx1"/>
                            </a:solidFill>
                            <a:latin typeface="Cambria Math" panose="02040503050406030204" pitchFamily="18" charset="0"/>
                            <a:cs typeface="Times New Roman" panose="02020603050405020304" pitchFamily="18" charset="0"/>
                          </a:rPr>
                          <m:t>𝑧</m:t>
                        </m:r>
                        <m:r>
                          <a:rPr lang="en-AU" sz="2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AU" sz="2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AU" sz="28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e>
                    </m:d>
                  </m:oMath>
                </a14:m>
                <a:r>
                  <a:rPr lang="en-AU" sz="2800" dirty="0">
                    <a:latin typeface="Times New Roman" panose="02020603050405020304" pitchFamily="18" charset="0"/>
                    <a:cs typeface="Times New Roman" panose="02020603050405020304" pitchFamily="18" charset="0"/>
                  </a:rPr>
                  <a:t>.</a:t>
                </a:r>
              </a:p>
            </p:txBody>
          </p:sp>
        </mc:Choice>
        <mc:Fallback xmlns="">
          <p:sp>
            <p:nvSpPr>
              <p:cNvPr id="9" name="TextBox 8">
                <a:extLst>
                  <a:ext uri="{FF2B5EF4-FFF2-40B4-BE49-F238E27FC236}">
                    <a16:creationId xmlns:a16="http://schemas.microsoft.com/office/drawing/2014/main" id="{BE98907C-1EB1-B8C2-8818-38052396F9A3}"/>
                  </a:ext>
                </a:extLst>
              </p:cNvPr>
              <p:cNvSpPr txBox="1">
                <a:spLocks noRot="1" noChangeAspect="1" noMove="1" noResize="1" noEditPoints="1" noAdjustHandles="1" noChangeArrowheads="1" noChangeShapeType="1" noTextEdit="1"/>
              </p:cNvSpPr>
              <p:nvPr/>
            </p:nvSpPr>
            <p:spPr>
              <a:xfrm>
                <a:off x="637761" y="77564"/>
                <a:ext cx="10916477" cy="954107"/>
              </a:xfrm>
              <a:prstGeom prst="rect">
                <a:avLst/>
              </a:prstGeom>
              <a:blipFill>
                <a:blip r:embed="rId3"/>
                <a:stretch>
                  <a:fillRect l="-1173" t="-7051" b="-1730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27098B-5C63-CC66-2EB6-A5ACA3760A28}"/>
                  </a:ext>
                </a:extLst>
              </p:cNvPr>
              <p:cNvSpPr txBox="1"/>
              <p:nvPr/>
            </p:nvSpPr>
            <p:spPr>
              <a:xfrm>
                <a:off x="637763" y="1183278"/>
                <a:ext cx="7941256" cy="523220"/>
              </a:xfrm>
              <a:prstGeom prst="rect">
                <a:avLst/>
              </a:prstGeom>
              <a:noFill/>
            </p:spPr>
            <p:txBody>
              <a:bodyPr wrap="square">
                <a:spAutoFit/>
              </a:bodyPr>
              <a:lstStyle/>
              <a:p>
                <a:r>
                  <a:rPr lang="en-AU" sz="2800" b="1" dirty="0">
                    <a:solidFill>
                      <a:srgbClr val="FF0000"/>
                    </a:solidFill>
                    <a:latin typeface="Times New Roman" panose="02020603050405020304" pitchFamily="18" charset="0"/>
                    <a:cs typeface="Times New Roman" panose="02020603050405020304" pitchFamily="18" charset="0"/>
                  </a:rPr>
                  <a:t>Answer: </a:t>
                </a:r>
                <a14:m>
                  <m:oMath xmlns:m="http://schemas.openxmlformats.org/officeDocument/2006/math">
                    <m:r>
                      <a:rPr lang="en-AU" sz="2800" i="1">
                        <a:latin typeface="Cambria Math" panose="02040503050406030204" pitchFamily="18" charset="0"/>
                        <a:cs typeface="Times New Roman" panose="02020603050405020304" pitchFamily="18" charset="0"/>
                      </a:rPr>
                      <m:t>𝑃</m:t>
                    </m:r>
                    <m:d>
                      <m:dPr>
                        <m:ctrlPr>
                          <a:rPr lang="en-AU" sz="2800" b="0" i="1" smtClean="0">
                            <a:solidFill>
                              <a:schemeClr val="tx1"/>
                            </a:solidFill>
                            <a:latin typeface="Cambria Math" panose="02040503050406030204" pitchFamily="18" charset="0"/>
                            <a:cs typeface="Times New Roman" panose="02020603050405020304" pitchFamily="18" charset="0"/>
                          </a:rPr>
                        </m:ctrlPr>
                      </m:dPr>
                      <m:e>
                        <m:r>
                          <a:rPr lang="en-AU" sz="2800" b="0" i="1" smtClean="0">
                            <a:solidFill>
                              <a:schemeClr val="tx1"/>
                            </a:solidFill>
                            <a:latin typeface="Cambria Math" panose="02040503050406030204" pitchFamily="18" charset="0"/>
                            <a:cs typeface="Times New Roman" panose="02020603050405020304" pitchFamily="18" charset="0"/>
                          </a:rPr>
                          <m:t>𝑧</m:t>
                        </m:r>
                        <m:r>
                          <a:rPr lang="en-AU" sz="280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AU" sz="2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e>
                    </m:d>
                    <m:r>
                      <a:rPr lang="en-AU" sz="28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AU" sz="2800" b="0" i="1" smtClean="0">
                        <a:solidFill>
                          <a:schemeClr val="tx1"/>
                        </a:solidFill>
                        <a:latin typeface="Cambria Math" panose="02040503050406030204" pitchFamily="18" charset="0"/>
                        <a:cs typeface="Times New Roman" panose="02020603050405020304" pitchFamily="18" charset="0"/>
                      </a:rPr>
                      <m:t>0.0228</m:t>
                    </m:r>
                  </m:oMath>
                </a14:m>
                <a:r>
                  <a:rPr lang="en-AU" sz="2800" dirty="0">
                    <a:latin typeface="Times New Roman" panose="02020603050405020304" pitchFamily="18" charset="0"/>
                    <a:cs typeface="Times New Roman" panose="02020603050405020304" pitchFamily="18" charset="0"/>
                  </a:rPr>
                  <a:t>.</a:t>
                </a:r>
              </a:p>
            </p:txBody>
          </p:sp>
        </mc:Choice>
        <mc:Fallback xmlns="">
          <p:sp>
            <p:nvSpPr>
              <p:cNvPr id="10" name="TextBox 9">
                <a:extLst>
                  <a:ext uri="{FF2B5EF4-FFF2-40B4-BE49-F238E27FC236}">
                    <a16:creationId xmlns:a16="http://schemas.microsoft.com/office/drawing/2014/main" id="{ED27098B-5C63-CC66-2EB6-A5ACA3760A28}"/>
                  </a:ext>
                </a:extLst>
              </p:cNvPr>
              <p:cNvSpPr txBox="1">
                <a:spLocks noRot="1" noChangeAspect="1" noMove="1" noResize="1" noEditPoints="1" noAdjustHandles="1" noChangeArrowheads="1" noChangeShapeType="1" noTextEdit="1"/>
              </p:cNvSpPr>
              <p:nvPr/>
            </p:nvSpPr>
            <p:spPr>
              <a:xfrm>
                <a:off x="637763" y="1183278"/>
                <a:ext cx="7941256" cy="523220"/>
              </a:xfrm>
              <a:prstGeom prst="rect">
                <a:avLst/>
              </a:prstGeom>
              <a:blipFill>
                <a:blip r:embed="rId4"/>
                <a:stretch>
                  <a:fillRect l="-1613" t="-11628" b="-31395"/>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886CDE42-FB0E-DB03-0CFC-6D999F7FE60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1" name="Picture 10">
            <a:extLst>
              <a:ext uri="{FF2B5EF4-FFF2-40B4-BE49-F238E27FC236}">
                <a16:creationId xmlns:a16="http://schemas.microsoft.com/office/drawing/2014/main" id="{0D969F01-0963-1CFC-999A-06B66447C48F}"/>
              </a:ext>
            </a:extLst>
          </p:cNvPr>
          <p:cNvPicPr>
            <a:picLocks noChangeAspect="1"/>
          </p:cNvPicPr>
          <p:nvPr/>
        </p:nvPicPr>
        <p:blipFill>
          <a:blip r:embed="rId5"/>
          <a:stretch>
            <a:fillRect/>
          </a:stretch>
        </p:blipFill>
        <p:spPr>
          <a:xfrm>
            <a:off x="775045" y="2053649"/>
            <a:ext cx="5943808" cy="4400313"/>
          </a:xfrm>
          <a:prstGeom prst="rect">
            <a:avLst/>
          </a:prstGeom>
        </p:spPr>
      </p:pic>
    </p:spTree>
    <p:extLst>
      <p:ext uri="{BB962C8B-B14F-4D97-AF65-F5344CB8AC3E}">
        <p14:creationId xmlns:p14="http://schemas.microsoft.com/office/powerpoint/2010/main" val="885919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80E51DF-DB4D-B9DD-2E9E-97DBC97EBB4F}"/>
              </a:ext>
            </a:extLst>
          </p:cNvPr>
          <p:cNvPicPr>
            <a:picLocks noChangeAspect="1"/>
          </p:cNvPicPr>
          <p:nvPr/>
        </p:nvPicPr>
        <p:blipFill>
          <a:blip r:embed="rId3"/>
          <a:stretch>
            <a:fillRect/>
          </a:stretch>
        </p:blipFill>
        <p:spPr>
          <a:xfrm>
            <a:off x="6894771" y="749272"/>
            <a:ext cx="5352617" cy="387242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C96D8B-849B-B8F3-3C99-BDA854A6EE10}"/>
                  </a:ext>
                </a:extLst>
              </p:cNvPr>
              <p:cNvSpPr txBox="1"/>
              <p:nvPr/>
            </p:nvSpPr>
            <p:spPr>
              <a:xfrm>
                <a:off x="149087" y="164186"/>
                <a:ext cx="6450496" cy="5745675"/>
              </a:xfrm>
              <a:prstGeom prst="rect">
                <a:avLst/>
              </a:prstGeom>
              <a:noFill/>
            </p:spPr>
            <p:txBody>
              <a:bodyPr wrap="square">
                <a:spAutoFit/>
              </a:bodyPr>
              <a:lstStyle/>
              <a:p>
                <a:pPr algn="just">
                  <a:lnSpc>
                    <a:spcPct val="110000"/>
                  </a:lnSpc>
                </a:pPr>
                <a:r>
                  <a:rPr lang="en-AU" sz="2800" dirty="0">
                    <a:latin typeface="Times New Roman" panose="02020603050405020304" pitchFamily="18" charset="0"/>
                    <a:cs typeface="Times New Roman" panose="02020603050405020304" pitchFamily="18" charset="0"/>
                  </a:rPr>
                  <a:t>The smallest </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value in Table 6.1 </a:t>
                </a:r>
                <a:r>
                  <a:rPr lang="en-AU" sz="2800" dirty="0">
                    <a:solidFill>
                      <a:schemeClr val="tx1"/>
                    </a:solidFill>
                    <a:latin typeface="Times New Roman" panose="02020603050405020304" pitchFamily="18" charset="0"/>
                    <a:cs typeface="Times New Roman" panose="02020603050405020304" pitchFamily="18" charset="0"/>
                  </a:rPr>
                  <a:t>is </a:t>
                </a:r>
                <a14:m>
                  <m:oMath xmlns:m="http://schemas.openxmlformats.org/officeDocument/2006/math">
                    <m:r>
                      <a:rPr lang="en-AU" sz="2800" smtClean="0">
                        <a:solidFill>
                          <a:schemeClr val="tx1"/>
                        </a:solidFill>
                        <a:latin typeface="Cambria Math" panose="02040503050406030204" pitchFamily="18" charset="0"/>
                        <a:cs typeface="Times New Roman" panose="02020603050405020304" pitchFamily="18" charset="0"/>
                      </a:rPr>
                      <m:t>−</m:t>
                    </m:r>
                    <m:r>
                      <a:rPr lang="en-AU" sz="2800" i="1">
                        <a:solidFill>
                          <a:schemeClr val="tx1"/>
                        </a:solidFill>
                        <a:latin typeface="Cambria Math" panose="02040503050406030204" pitchFamily="18" charset="0"/>
                        <a:cs typeface="Times New Roman" panose="02020603050405020304" pitchFamily="18" charset="0"/>
                      </a:rPr>
                      <m:t> </m:t>
                    </m:r>
                  </m:oMath>
                </a14:m>
                <a:r>
                  <a:rPr lang="en-AU" sz="2800" dirty="0">
                    <a:solidFill>
                      <a:schemeClr val="tx1"/>
                    </a:solidFill>
                    <a:latin typeface="Times New Roman" panose="02020603050405020304" pitchFamily="18" charset="0"/>
                    <a:cs typeface="Times New Roman" panose="02020603050405020304" pitchFamily="18" charset="0"/>
                  </a:rPr>
                  <a:t>3.99, </a:t>
                </a:r>
                <a:r>
                  <a:rPr lang="en-AU" sz="2800" dirty="0">
                    <a:latin typeface="Times New Roman" panose="02020603050405020304" pitchFamily="18" charset="0"/>
                    <a:cs typeface="Times New Roman" panose="02020603050405020304" pitchFamily="18" charset="0"/>
                  </a:rPr>
                  <a:t>and the table tells us that the area under the standard normal curve to the left of </a:t>
                </a:r>
                <a14:m>
                  <m:oMath xmlns:m="http://schemas.openxmlformats.org/officeDocument/2006/math">
                    <m:r>
                      <a:rPr lang="en-AU" sz="2800" b="0" i="0" smtClean="0">
                        <a:latin typeface="Cambria Math" panose="02040503050406030204" pitchFamily="18" charset="0"/>
                        <a:cs typeface="Times New Roman" panose="02020603050405020304" pitchFamily="18" charset="0"/>
                      </a:rPr>
                      <m:t>−3.99</m:t>
                    </m:r>
                  </m:oMath>
                </a14:m>
                <a:r>
                  <a:rPr lang="en-AU" sz="2800" dirty="0">
                    <a:latin typeface="Times New Roman" panose="02020603050405020304" pitchFamily="18" charset="0"/>
                    <a:cs typeface="Times New Roman" panose="02020603050405020304" pitchFamily="18" charset="0"/>
                  </a:rPr>
                  <a:t> is 0.00003 (see Figure 6.13). Therefore, if we wish to find the area under the standard normal curve to the left of any </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value less than 3.99, the most we can say (without using a computer) is that this area is less than 0.00003. Similarly, the area under the standard normal curve to the right of any </a:t>
                </a:r>
                <a:r>
                  <a:rPr lang="en-AU" sz="2800" i="1" dirty="0">
                    <a:latin typeface="Times New Roman" panose="02020603050405020304" pitchFamily="18" charset="0"/>
                    <a:cs typeface="Times New Roman" panose="02020603050405020304" pitchFamily="18" charset="0"/>
                  </a:rPr>
                  <a:t>z</a:t>
                </a:r>
                <a:r>
                  <a:rPr lang="en-AU" sz="2800" dirty="0">
                    <a:latin typeface="Times New Roman" panose="02020603050405020304" pitchFamily="18" charset="0"/>
                    <a:cs typeface="Times New Roman" panose="02020603050405020304" pitchFamily="18" charset="0"/>
                  </a:rPr>
                  <a:t> value greater than 3.99 is also less than 0.00003 (see Figure 6.13).</a:t>
                </a:r>
              </a:p>
            </p:txBody>
          </p:sp>
        </mc:Choice>
        <mc:Fallback xmlns="">
          <p:sp>
            <p:nvSpPr>
              <p:cNvPr id="8" name="TextBox 7">
                <a:extLst>
                  <a:ext uri="{FF2B5EF4-FFF2-40B4-BE49-F238E27FC236}">
                    <a16:creationId xmlns:a16="http://schemas.microsoft.com/office/drawing/2014/main" id="{D6C96D8B-849B-B8F3-3C99-BDA854A6EE10}"/>
                  </a:ext>
                </a:extLst>
              </p:cNvPr>
              <p:cNvSpPr txBox="1">
                <a:spLocks noRot="1" noChangeAspect="1" noMove="1" noResize="1" noEditPoints="1" noAdjustHandles="1" noChangeArrowheads="1" noChangeShapeType="1" noTextEdit="1"/>
              </p:cNvSpPr>
              <p:nvPr/>
            </p:nvSpPr>
            <p:spPr>
              <a:xfrm>
                <a:off x="149087" y="164186"/>
                <a:ext cx="6450496" cy="5745675"/>
              </a:xfrm>
              <a:prstGeom prst="rect">
                <a:avLst/>
              </a:prstGeom>
              <a:blipFill>
                <a:blip r:embed="rId4"/>
                <a:stretch>
                  <a:fillRect l="-1889" t="-955" r="-1889" b="-2123"/>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6D4A11A7-2680-281E-280A-C47D51893D7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DB7C6-CCDA-D8CA-91FE-C7F9C92878F3}"/>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D8CDBE60-F25A-76D5-09AE-0D16FFC0510E}"/>
              </a:ext>
            </a:extLst>
          </p:cNvPr>
          <p:cNvSpPr>
            <a:spLocks noGrp="1" noChangeArrowheads="1"/>
          </p:cNvSpPr>
          <p:nvPr>
            <p:ph type="title"/>
          </p:nvPr>
        </p:nvSpPr>
        <p:spPr>
          <a:xfrm>
            <a:off x="1974358" y="1421296"/>
            <a:ext cx="7040433" cy="874643"/>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pPr algn="ctr">
              <a:lnSpc>
                <a:spcPct val="100000"/>
              </a:lnSpc>
            </a:pPr>
            <a:r>
              <a:rPr lang="en-US" altLang="en-US" sz="4000" b="1" dirty="0">
                <a:solidFill>
                  <a:srgbClr val="FF0000"/>
                </a:solidFill>
                <a:latin typeface="Times New Roman" panose="02020603050405020304" pitchFamily="18" charset="0"/>
                <a:cs typeface="Times New Roman" panose="02020603050405020304" pitchFamily="18" charset="0"/>
              </a:rPr>
              <a:t>End of Lecture 11</a:t>
            </a:r>
            <a:endParaRPr lang="en-US" altLang="zh-CN" sz="4000" b="1" dirty="0">
              <a:latin typeface="Times New Roman" panose="02020603050405020304" pitchFamily="18"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8CAB583F-31D3-0710-BB78-545B5F5DE14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8130704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699" name="Rectangle 2">
                <a:extLst>
                  <a:ext uri="{FF2B5EF4-FFF2-40B4-BE49-F238E27FC236}">
                    <a16:creationId xmlns:a16="http://schemas.microsoft.com/office/drawing/2014/main" id="{04019551-F718-D44A-8CFD-964533074286}"/>
                  </a:ext>
                </a:extLst>
              </p:cNvPr>
              <p:cNvSpPr>
                <a:spLocks noGrp="1" noChangeArrowheads="1"/>
              </p:cNvSpPr>
              <p:nvPr>
                <p:ph type="title"/>
              </p:nvPr>
            </p:nvSpPr>
            <p:spPr>
              <a:xfrm>
                <a:off x="435525" y="116438"/>
                <a:ext cx="8880001" cy="708396"/>
              </a:xfrm>
              <a:noFill/>
            </p:spPr>
            <p:txBody>
              <a:bodyPr>
                <a:normAutofit/>
              </a:bodyPr>
              <a:lstStyle/>
              <a:p>
                <a:pPr eaLnBrk="1" hangingPunct="1">
                  <a:lnSpc>
                    <a:spcPct val="110000"/>
                  </a:lnSpc>
                </a:pPr>
                <a:r>
                  <a:rPr lang="en-US" altLang="zh-CN" sz="2800" b="1" dirty="0">
                    <a:solidFill>
                      <a:srgbClr val="FF0000"/>
                    </a:solidFill>
                    <a:latin typeface="Times New Roman" panose="02020603050405020304" pitchFamily="18" charset="0"/>
                    <a:cs typeface="Times New Roman" panose="02020603050405020304" pitchFamily="18" charset="0"/>
                  </a:rPr>
                  <a:t>Example</a:t>
                </a:r>
                <a:r>
                  <a:rPr lang="en-US" altLang="zh-CN" sz="2800" b="1" dirty="0">
                    <a:solidFill>
                      <a:srgbClr val="0000FF"/>
                    </a:solidFill>
                    <a:latin typeface="Times New Roman" panose="02020603050405020304" pitchFamily="18" charset="0"/>
                    <a:cs typeface="Times New Roman" panose="02020603050405020304" pitchFamily="18" charset="0"/>
                  </a:rPr>
                  <a:t>: </a:t>
                </a:r>
                <a:r>
                  <a:rPr lang="en-US" altLang="zh-CN" sz="2800" dirty="0">
                    <a:solidFill>
                      <a:schemeClr val="tx1"/>
                    </a:solidFill>
                    <a:latin typeface="Times New Roman" panose="02020603050405020304" pitchFamily="18" charset="0"/>
                    <a:cs typeface="Times New Roman" panose="02020603050405020304" pitchFamily="18" charset="0"/>
                  </a:rPr>
                  <a:t>Calculating </a:t>
                </a:r>
                <a14:m>
                  <m:oMath xmlns:m="http://schemas.openxmlformats.org/officeDocument/2006/math">
                    <m:r>
                      <a:rPr lang="en-AU" altLang="zh-CN" sz="2800" b="0" i="1" smtClean="0">
                        <a:solidFill>
                          <a:schemeClr val="tx1"/>
                        </a:solidFill>
                        <a:latin typeface="Cambria Math" panose="02040503050406030204" pitchFamily="18" charset="0"/>
                        <a:cs typeface="Times New Roman" panose="02020603050405020304" pitchFamily="18" charset="0"/>
                      </a:rPr>
                      <m:t>𝑃</m:t>
                    </m:r>
                    <m:r>
                      <a:rPr lang="en-AU" altLang="zh-CN" sz="2800" b="0" i="1" smtClean="0">
                        <a:solidFill>
                          <a:schemeClr val="tx1"/>
                        </a:solidFill>
                        <a:latin typeface="Cambria Math" panose="02040503050406030204" pitchFamily="18" charset="0"/>
                        <a:cs typeface="Times New Roman" panose="02020603050405020304" pitchFamily="18" charset="0"/>
                      </a:rPr>
                      <m:t>(−2.53≤</m:t>
                    </m:r>
                    <m:r>
                      <a:rPr lang="en-AU" altLang="zh-CN" sz="2800" b="0" i="1" smtClean="0">
                        <a:solidFill>
                          <a:schemeClr val="tx1"/>
                        </a:solidFill>
                        <a:latin typeface="Cambria Math" panose="02040503050406030204" pitchFamily="18" charset="0"/>
                        <a:cs typeface="Times New Roman" panose="02020603050405020304" pitchFamily="18" charset="0"/>
                      </a:rPr>
                      <m:t>𝑧</m:t>
                    </m:r>
                    <m:r>
                      <a:rPr lang="en-AU" altLang="zh-CN" sz="2800" b="0" i="1" smtClean="0">
                        <a:solidFill>
                          <a:schemeClr val="tx1"/>
                        </a:solidFill>
                        <a:latin typeface="Cambria Math" panose="02040503050406030204" pitchFamily="18" charset="0"/>
                        <a:cs typeface="Times New Roman" panose="02020603050405020304" pitchFamily="18" charset="0"/>
                      </a:rPr>
                      <m:t>≤2.53)</m:t>
                    </m:r>
                  </m:oMath>
                </a14:m>
                <a:r>
                  <a:rPr lang="en-US" altLang="zh-CN" sz="2800" dirty="0">
                    <a:solidFill>
                      <a:schemeClr val="tx1"/>
                    </a:solidFill>
                  </a:rPr>
                  <a:t> </a:t>
                </a:r>
              </a:p>
            </p:txBody>
          </p:sp>
        </mc:Choice>
        <mc:Fallback xmlns="">
          <p:sp>
            <p:nvSpPr>
              <p:cNvPr id="29699" name="Rectangle 2">
                <a:extLst>
                  <a:ext uri="{FF2B5EF4-FFF2-40B4-BE49-F238E27FC236}">
                    <a16:creationId xmlns:a16="http://schemas.microsoft.com/office/drawing/2014/main" id="{04019551-F718-D44A-8CFD-964533074286}"/>
                  </a:ext>
                </a:extLst>
              </p:cNvPr>
              <p:cNvSpPr>
                <a:spLocks noGrp="1" noRot="1" noChangeAspect="1" noMove="1" noResize="1" noEditPoints="1" noAdjustHandles="1" noChangeArrowheads="1" noChangeShapeType="1" noTextEdit="1"/>
              </p:cNvSpPr>
              <p:nvPr>
                <p:ph type="title"/>
              </p:nvPr>
            </p:nvSpPr>
            <p:spPr>
              <a:xfrm>
                <a:off x="435525" y="116438"/>
                <a:ext cx="8880001" cy="708396"/>
              </a:xfrm>
              <a:blipFill>
                <a:blip r:embed="rId2"/>
                <a:stretch>
                  <a:fillRect l="-1373" b="-1120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95939" name="Rectangle 3">
                <a:extLst>
                  <a:ext uri="{FF2B5EF4-FFF2-40B4-BE49-F238E27FC236}">
                    <a16:creationId xmlns:a16="http://schemas.microsoft.com/office/drawing/2014/main" id="{E0321A05-788A-DF4B-B7D3-8532BE34B554}"/>
                  </a:ext>
                </a:extLst>
              </p:cNvPr>
              <p:cNvSpPr>
                <a:spLocks noGrp="1" noChangeArrowheads="1"/>
              </p:cNvSpPr>
              <p:nvPr>
                <p:ph type="body" idx="1"/>
              </p:nvPr>
            </p:nvSpPr>
            <p:spPr>
              <a:xfrm>
                <a:off x="435525" y="834706"/>
                <a:ext cx="11501371" cy="5638385"/>
              </a:xfrm>
              <a:noFill/>
            </p:spPr>
            <p:txBody>
              <a:bodyPr>
                <a:noAutofit/>
              </a:bodyPr>
              <a:lstStyle/>
              <a:p>
                <a:pPr marL="0" indent="0" eaLnBrk="1" hangingPunct="1">
                  <a:lnSpc>
                    <a:spcPct val="110000"/>
                  </a:lnSpc>
                  <a:spcBef>
                    <a:spcPct val="0"/>
                  </a:spcBef>
                  <a:buNone/>
                </a:pPr>
                <a:r>
                  <a:rPr lang="en-US" altLang="zh-CN" sz="2600" b="1" dirty="0">
                    <a:solidFill>
                      <a:srgbClr val="0000FF"/>
                    </a:solidFill>
                    <a:latin typeface="Times New Roman" panose="02020603050405020304" pitchFamily="18" charset="0"/>
                    <a:cs typeface="Times New Roman" panose="02020603050405020304" pitchFamily="18" charset="0"/>
                  </a:rPr>
                  <a:t>Answer:</a:t>
                </a:r>
              </a:p>
              <a:p>
                <a:pPr marL="0" indent="0" eaLnBrk="1" hangingPunct="1">
                  <a:lnSpc>
                    <a:spcPct val="110000"/>
                  </a:lnSpc>
                  <a:spcBef>
                    <a:spcPct val="0"/>
                  </a:spcBef>
                  <a:buNone/>
                </a:pPr>
                <a:r>
                  <a:rPr lang="en-AU" altLang="zh-CN" sz="2600" b="1" dirty="0">
                    <a:latin typeface="Times New Roman" panose="02020603050405020304" pitchFamily="18" charset="0"/>
                    <a:cs typeface="Times New Roman" panose="02020603050405020304" pitchFamily="18" charset="0"/>
                  </a:rPr>
                  <a:t>Step 1: </a:t>
                </a:r>
                <a:r>
                  <a:rPr lang="en-AU" altLang="zh-CN" sz="2600" b="0" dirty="0">
                    <a:latin typeface="Times New Roman" panose="02020603050405020304" pitchFamily="18" charset="0"/>
                    <a:cs typeface="Times New Roman" panose="02020603050405020304" pitchFamily="18" charset="0"/>
                  </a:rPr>
                  <a:t>Knowing that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−2.53≤</m:t>
                        </m:r>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r>
                      <a:rPr lang="en-AU" altLang="zh-CN" sz="2600" b="0" i="1" smtClean="0">
                        <a:latin typeface="Cambria Math" panose="02040503050406030204" pitchFamily="18" charset="0"/>
                        <a:cs typeface="Times New Roman" panose="02020603050405020304" pitchFamily="18" charset="0"/>
                      </a:rPr>
                      <m:t>=</m:t>
                    </m:r>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r>
                      <a:rPr lang="en-AU" altLang="zh-CN" sz="2600" b="0" i="1" smtClean="0">
                        <a:latin typeface="Cambria Math" panose="02040503050406030204" pitchFamily="18" charset="0"/>
                        <a:cs typeface="Times New Roman" panose="02020603050405020304" pitchFamily="18" charset="0"/>
                      </a:rPr>
                      <m:t>−</m:t>
                    </m:r>
                  </m:oMath>
                </a14:m>
                <a:r>
                  <a:rPr lang="en-AU" altLang="zh-CN" sz="2600" dirty="0">
                    <a:latin typeface="Times New Roman" panose="02020603050405020304" pitchFamily="18" charset="0"/>
                    <a:cs typeface="Times New Roman" panose="02020603050405020304" pitchFamily="18" charset="0"/>
                  </a:rPr>
                  <a:t>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b="0" i="1" smtClean="0">
                            <a:latin typeface="Cambria Math" panose="02040503050406030204" pitchFamily="18" charset="0"/>
                            <a:cs typeface="Times New Roman" panose="02020603050405020304" pitchFamily="18" charset="0"/>
                          </a:rPr>
                          <m:t>≤−</m:t>
                        </m:r>
                        <m:r>
                          <a:rPr lang="en-AU" altLang="zh-CN" sz="2600" i="1">
                            <a:latin typeface="Cambria Math" panose="02040503050406030204" pitchFamily="18" charset="0"/>
                            <a:cs typeface="Times New Roman" panose="02020603050405020304" pitchFamily="18" charset="0"/>
                          </a:rPr>
                          <m:t>2.53</m:t>
                        </m:r>
                      </m:e>
                    </m:d>
                  </m:oMath>
                </a14:m>
                <a:r>
                  <a:rPr lang="en-US" altLang="zh-CN" sz="2600" dirty="0">
                    <a:latin typeface="Times New Roman" panose="02020603050405020304" pitchFamily="18" charset="0"/>
                    <a:cs typeface="Times New Roman" panose="02020603050405020304" pitchFamily="18" charset="0"/>
                  </a:rPr>
                  <a:t>.</a:t>
                </a:r>
              </a:p>
              <a:p>
                <a:pPr marL="0" indent="0">
                  <a:lnSpc>
                    <a:spcPct val="110000"/>
                  </a:lnSpc>
                  <a:spcBef>
                    <a:spcPts val="1200"/>
                  </a:spcBef>
                  <a:buNone/>
                </a:pPr>
                <a:r>
                  <a:rPr lang="en-US" altLang="zh-CN" sz="2600" b="1" dirty="0">
                    <a:latin typeface="Times New Roman" panose="02020603050405020304" pitchFamily="18" charset="0"/>
                    <a:cs typeface="Times New Roman" panose="02020603050405020304" pitchFamily="18" charset="0"/>
                  </a:rPr>
                  <a:t>Step 2: </a:t>
                </a:r>
                <a:r>
                  <a:rPr lang="en-US" altLang="zh-CN" sz="2600" dirty="0">
                    <a:latin typeface="Times New Roman" panose="02020603050405020304" pitchFamily="18" charset="0"/>
                    <a:cs typeface="Times New Roman" panose="02020603050405020304" pitchFamily="18" charset="0"/>
                  </a:rPr>
                  <a:t>Find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oMath>
                </a14:m>
                <a:r>
                  <a:rPr lang="en-US" altLang="zh-CN" sz="2600" dirty="0">
                    <a:latin typeface="Times New Roman" panose="02020603050405020304" pitchFamily="18" charset="0"/>
                    <a:cs typeface="Times New Roman" panose="02020603050405020304" pitchFamily="18" charset="0"/>
                  </a:rPr>
                  <a:t>. Go to the table of areas under the standard normal curve. Go down left-most column for </a:t>
                </a:r>
                <a:r>
                  <a:rPr lang="en-US" altLang="zh-CN" sz="2600" i="1" dirty="0">
                    <a:latin typeface="Times New Roman" panose="02020603050405020304" pitchFamily="18" charset="0"/>
                    <a:cs typeface="Times New Roman" panose="02020603050405020304" pitchFamily="18" charset="0"/>
                  </a:rPr>
                  <a:t>z</a:t>
                </a:r>
                <a:r>
                  <a:rPr lang="en-US" altLang="zh-CN" sz="2600" dirty="0">
                    <a:latin typeface="Times New Roman" panose="02020603050405020304" pitchFamily="18" charset="0"/>
                    <a:cs typeface="Times New Roman" panose="02020603050405020304" pitchFamily="18" charset="0"/>
                  </a:rPr>
                  <a:t> = 2.5. Go across the row 2.5 to the column headed by 0.03.</a:t>
                </a:r>
              </a:p>
              <a:p>
                <a:pPr marL="0" indent="0">
                  <a:lnSpc>
                    <a:spcPct val="110000"/>
                  </a:lnSpc>
                  <a:spcBef>
                    <a:spcPts val="1200"/>
                  </a:spcBef>
                  <a:buNone/>
                </a:pPr>
                <a:r>
                  <a:rPr lang="en-US" altLang="zh-CN" sz="2600" dirty="0">
                    <a:latin typeface="Times New Roman" panose="02020603050405020304" pitchFamily="18" charset="0"/>
                    <a:cs typeface="Times New Roman" panose="02020603050405020304" pitchFamily="18" charset="0"/>
                  </a:rPr>
                  <a:t>The cumulative area to the value of </a:t>
                </a:r>
                <a:r>
                  <a:rPr lang="en-US" altLang="zh-CN" sz="2600" i="1" dirty="0">
                    <a:latin typeface="Times New Roman" panose="02020603050405020304" pitchFamily="18" charset="0"/>
                    <a:cs typeface="Times New Roman" panose="02020603050405020304" pitchFamily="18" charset="0"/>
                  </a:rPr>
                  <a:t>z</a:t>
                </a:r>
                <a:r>
                  <a:rPr lang="en-US" altLang="zh-CN" sz="2600" dirty="0">
                    <a:latin typeface="Times New Roman" panose="02020603050405020304" pitchFamily="18" charset="0"/>
                    <a:cs typeface="Times New Roman" panose="02020603050405020304" pitchFamily="18" charset="0"/>
                  </a:rPr>
                  <a:t> = 2.53 is the value contained in the cell that is the intersection of the 2.5 row and the 0.03 column. The table value for the area (</a:t>
                </a:r>
                <a:r>
                  <a:rPr lang="en-US" altLang="zh-CN" sz="2600" dirty="0">
                    <a:highlight>
                      <a:srgbClr val="FFFF00"/>
                    </a:highlight>
                    <a:latin typeface="Times New Roman" panose="02020603050405020304" pitchFamily="18" charset="0"/>
                    <a:cs typeface="Times New Roman" panose="02020603050405020304" pitchFamily="18" charset="0"/>
                  </a:rPr>
                  <a:t>next slide</a:t>
                </a:r>
                <a:r>
                  <a:rPr lang="en-US" altLang="zh-CN" sz="2600" dirty="0">
                    <a:latin typeface="Times New Roman" panose="02020603050405020304" pitchFamily="18" charset="0"/>
                    <a:cs typeface="Times New Roman" panose="02020603050405020304" pitchFamily="18" charset="0"/>
                  </a:rPr>
                  <a:t>) is 0.9943. So,</a:t>
                </a:r>
                <a:r>
                  <a:rPr lang="en-AU" altLang="zh-CN" sz="2600" dirty="0">
                    <a:cs typeface="Times New Roman" panose="02020603050405020304" pitchFamily="18" charset="0"/>
                  </a:rPr>
                  <a:t>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r>
                      <a:rPr lang="en-AU" altLang="zh-CN" sz="2600" b="0" i="1" smtClean="0">
                        <a:latin typeface="Cambria Math" panose="02040503050406030204" pitchFamily="18" charset="0"/>
                        <a:cs typeface="Times New Roman" panose="02020603050405020304" pitchFamily="18" charset="0"/>
                      </a:rPr>
                      <m:t>=0.9943.</m:t>
                    </m:r>
                  </m:oMath>
                </a14:m>
                <a:r>
                  <a:rPr lang="en-US" altLang="zh-CN" sz="2600" dirty="0">
                    <a:latin typeface="Times New Roman" panose="02020603050405020304" pitchFamily="18" charset="0"/>
                    <a:cs typeface="Times New Roman" panose="02020603050405020304" pitchFamily="18" charset="0"/>
                  </a:rPr>
                  <a:t> </a:t>
                </a:r>
              </a:p>
              <a:p>
                <a:pPr marL="0" indent="0">
                  <a:lnSpc>
                    <a:spcPct val="110000"/>
                  </a:lnSpc>
                  <a:spcBef>
                    <a:spcPts val="1200"/>
                  </a:spcBef>
                  <a:buNone/>
                </a:pPr>
                <a:r>
                  <a:rPr lang="en-US" altLang="zh-CN" sz="2600" b="1" dirty="0">
                    <a:latin typeface="Times New Roman" panose="02020603050405020304" pitchFamily="18" charset="0"/>
                    <a:cs typeface="Times New Roman" panose="02020603050405020304" pitchFamily="18" charset="0"/>
                  </a:rPr>
                  <a:t>Step 3: </a:t>
                </a:r>
                <a:r>
                  <a:rPr lang="en-US" altLang="zh-CN" sz="2600" dirty="0">
                    <a:latin typeface="Times New Roman" panose="02020603050405020304" pitchFamily="18" charset="0"/>
                    <a:cs typeface="Times New Roman" panose="02020603050405020304" pitchFamily="18" charset="0"/>
                  </a:rPr>
                  <a:t>Find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oMath>
                </a14:m>
                <a:r>
                  <a:rPr lang="en-US" altLang="zh-CN" sz="2600" dirty="0">
                    <a:latin typeface="Times New Roman" panose="02020603050405020304" pitchFamily="18" charset="0"/>
                    <a:cs typeface="Times New Roman" panose="02020603050405020304" pitchFamily="18" charset="0"/>
                  </a:rPr>
                  <a:t> (</a:t>
                </a:r>
                <a:r>
                  <a:rPr lang="en-US" altLang="zh-CN" sz="2600" dirty="0">
                    <a:highlight>
                      <a:srgbClr val="FFFF00"/>
                    </a:highlight>
                    <a:latin typeface="Times New Roman" panose="02020603050405020304" pitchFamily="18" charset="0"/>
                    <a:cs typeface="Times New Roman" panose="02020603050405020304" pitchFamily="18" charset="0"/>
                  </a:rPr>
                  <a:t>next, next slide</a:t>
                </a:r>
                <a:r>
                  <a:rPr lang="en-US" altLang="zh-CN" sz="2600" dirty="0">
                    <a:latin typeface="Times New Roman" panose="02020603050405020304" pitchFamily="18" charset="0"/>
                    <a:cs typeface="Times New Roman" panose="02020603050405020304" pitchFamily="18" charset="0"/>
                  </a:rPr>
                  <a:t>). By symmetry,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r>
                      <a:rPr lang="en-AU" altLang="zh-CN" sz="2600" i="1">
                        <a:latin typeface="Cambria Math" panose="02040503050406030204" pitchFamily="18" charset="0"/>
                        <a:cs typeface="Times New Roman" panose="02020603050405020304" pitchFamily="18" charset="0"/>
                      </a:rPr>
                      <m:t>=</m:t>
                    </m:r>
                    <m:r>
                      <a:rPr lang="en-AU" altLang="zh-CN" sz="2600" b="0" i="1" smtClean="0">
                        <a:latin typeface="Cambria Math" panose="02040503050406030204" pitchFamily="18" charset="0"/>
                        <a:cs typeface="Times New Roman" panose="02020603050405020304" pitchFamily="18" charset="0"/>
                      </a:rPr>
                      <m:t>𝑃</m:t>
                    </m:r>
                    <m:d>
                      <m:dPr>
                        <m:ctrlPr>
                          <a:rPr lang="en-AU" altLang="zh-CN" sz="2600" b="0" i="1" smtClean="0">
                            <a:latin typeface="Cambria Math" panose="02040503050406030204" pitchFamily="18" charset="0"/>
                            <a:cs typeface="Times New Roman" panose="02020603050405020304" pitchFamily="18" charset="0"/>
                          </a:rPr>
                        </m:ctrlPr>
                      </m:dPr>
                      <m:e>
                        <m:r>
                          <a:rPr lang="en-AU" altLang="zh-CN" sz="2600" b="0" i="1" smtClean="0">
                            <a:latin typeface="Cambria Math" panose="02040503050406030204" pitchFamily="18" charset="0"/>
                            <a:cs typeface="Times New Roman" panose="02020603050405020304" pitchFamily="18" charset="0"/>
                          </a:rPr>
                          <m:t>𝑧</m:t>
                        </m:r>
                        <m:r>
                          <a:rPr lang="en-AU" altLang="zh-CN" sz="2600" b="0" i="1" smtClean="0">
                            <a:latin typeface="Cambria Math" panose="02040503050406030204" pitchFamily="18" charset="0"/>
                            <a:cs typeface="Times New Roman" panose="02020603050405020304" pitchFamily="18" charset="0"/>
                          </a:rPr>
                          <m:t>≥2.53</m:t>
                        </m:r>
                      </m:e>
                    </m:d>
                    <m:r>
                      <a:rPr lang="en-AU" altLang="zh-CN" sz="2600" b="0" i="1" smtClean="0">
                        <a:latin typeface="Cambria Math" panose="02040503050406030204" pitchFamily="18" charset="0"/>
                        <a:cs typeface="Times New Roman" panose="02020603050405020304" pitchFamily="18" charset="0"/>
                      </a:rPr>
                      <m:t>= 1−</m:t>
                    </m:r>
                    <m:r>
                      <a:rPr lang="en-AU" altLang="zh-CN" sz="2600" b="0" i="1" smtClean="0">
                        <a:latin typeface="Cambria Math" panose="02040503050406030204" pitchFamily="18" charset="0"/>
                        <a:cs typeface="Times New Roman" panose="02020603050405020304" pitchFamily="18" charset="0"/>
                      </a:rPr>
                      <m:t>𝑃</m:t>
                    </m:r>
                    <m:d>
                      <m:dPr>
                        <m:ctrlPr>
                          <a:rPr lang="en-AU" altLang="zh-CN" sz="2600" b="0" i="1" smtClean="0">
                            <a:latin typeface="Cambria Math" panose="02040503050406030204" pitchFamily="18" charset="0"/>
                            <a:cs typeface="Times New Roman" panose="02020603050405020304" pitchFamily="18" charset="0"/>
                          </a:rPr>
                        </m:ctrlPr>
                      </m:dPr>
                      <m:e>
                        <m:r>
                          <a:rPr lang="en-AU" altLang="zh-CN" sz="2600" b="0" i="1" smtClean="0">
                            <a:latin typeface="Cambria Math" panose="02040503050406030204" pitchFamily="18" charset="0"/>
                            <a:cs typeface="Times New Roman" panose="02020603050405020304" pitchFamily="18" charset="0"/>
                          </a:rPr>
                          <m:t>𝑧</m:t>
                        </m:r>
                        <m:r>
                          <a:rPr lang="en-AU" altLang="zh-CN" sz="2600" b="0" i="1" smtClean="0">
                            <a:latin typeface="Cambria Math" panose="02040503050406030204" pitchFamily="18" charset="0"/>
                            <a:cs typeface="Times New Roman" panose="02020603050405020304" pitchFamily="18" charset="0"/>
                          </a:rPr>
                          <m:t>≤2.53</m:t>
                        </m:r>
                      </m:e>
                    </m:d>
                    <m:r>
                      <a:rPr lang="en-AU" altLang="zh-CN" sz="2600" i="1">
                        <a:latin typeface="Cambria Math" panose="02040503050406030204" pitchFamily="18" charset="0"/>
                        <a:cs typeface="Times New Roman" panose="02020603050405020304" pitchFamily="18" charset="0"/>
                      </a:rPr>
                      <m:t>=</m:t>
                    </m:r>
                    <m:r>
                      <a:rPr lang="en-AU" altLang="zh-CN" sz="2600" b="0" i="1" smtClean="0">
                        <a:latin typeface="Cambria Math" panose="02040503050406030204" pitchFamily="18" charset="0"/>
                        <a:cs typeface="Times New Roman" panose="02020603050405020304" pitchFamily="18" charset="0"/>
                      </a:rPr>
                      <m:t>1−</m:t>
                    </m:r>
                    <m:r>
                      <a:rPr lang="en-AU" altLang="zh-CN" sz="2600" i="1">
                        <a:latin typeface="Cambria Math" panose="02040503050406030204" pitchFamily="18" charset="0"/>
                        <a:cs typeface="Times New Roman" panose="02020603050405020304" pitchFamily="18" charset="0"/>
                      </a:rPr>
                      <m:t>0.9943</m:t>
                    </m:r>
                    <m:r>
                      <a:rPr lang="en-AU" altLang="zh-CN" sz="2600" b="0" i="1" smtClean="0">
                        <a:latin typeface="Cambria Math" panose="02040503050406030204" pitchFamily="18" charset="0"/>
                        <a:cs typeface="Times New Roman" panose="02020603050405020304" pitchFamily="18" charset="0"/>
                      </a:rPr>
                      <m:t>=0.0057</m:t>
                    </m:r>
                  </m:oMath>
                </a14:m>
                <a:r>
                  <a:rPr lang="en-US" altLang="zh-CN" sz="2600" dirty="0">
                    <a:latin typeface="Times New Roman" panose="02020603050405020304" pitchFamily="18" charset="0"/>
                    <a:cs typeface="Times New Roman" panose="02020603050405020304" pitchFamily="18" charset="0"/>
                  </a:rPr>
                  <a:t>.</a:t>
                </a:r>
              </a:p>
              <a:p>
                <a:pPr marL="0" indent="0">
                  <a:lnSpc>
                    <a:spcPct val="110000"/>
                  </a:lnSpc>
                  <a:spcBef>
                    <a:spcPts val="1200"/>
                  </a:spcBef>
                  <a:buNone/>
                </a:pPr>
                <a:r>
                  <a:rPr lang="en-US" altLang="zh-CN" sz="2600" b="1" dirty="0">
                    <a:latin typeface="Times New Roman" panose="02020603050405020304" pitchFamily="18" charset="0"/>
                    <a:cs typeface="Times New Roman" panose="02020603050405020304" pitchFamily="18" charset="0"/>
                  </a:rPr>
                  <a:t>Step 4: </a:t>
                </a:r>
                <a14:m>
                  <m:oMath xmlns:m="http://schemas.openxmlformats.org/officeDocument/2006/math">
                    <m:r>
                      <a:rPr lang="en-AU" altLang="zh-CN" sz="2600" i="1">
                        <a:latin typeface="Cambria Math" panose="02040503050406030204" pitchFamily="18" charset="0"/>
                        <a:cs typeface="Times New Roman" panose="02020603050405020304" pitchFamily="18" charset="0"/>
                      </a:rPr>
                      <m:t>𝑃</m:t>
                    </m:r>
                    <m:d>
                      <m:dPr>
                        <m:ctrlPr>
                          <a:rPr lang="en-AU" altLang="zh-CN" sz="2600" i="1">
                            <a:latin typeface="Cambria Math" panose="02040503050406030204" pitchFamily="18" charset="0"/>
                            <a:cs typeface="Times New Roman" panose="02020603050405020304" pitchFamily="18" charset="0"/>
                          </a:rPr>
                        </m:ctrlPr>
                      </m:dPr>
                      <m:e>
                        <m:r>
                          <a:rPr lang="en-AU" altLang="zh-CN" sz="2600" i="1">
                            <a:latin typeface="Cambria Math" panose="02040503050406030204" pitchFamily="18" charset="0"/>
                            <a:cs typeface="Times New Roman" panose="02020603050405020304" pitchFamily="18" charset="0"/>
                          </a:rPr>
                          <m:t>−2.53≤</m:t>
                        </m:r>
                        <m:r>
                          <a:rPr lang="en-AU" altLang="zh-CN" sz="2600" i="1">
                            <a:latin typeface="Cambria Math" panose="02040503050406030204" pitchFamily="18" charset="0"/>
                            <a:cs typeface="Times New Roman" panose="02020603050405020304" pitchFamily="18" charset="0"/>
                          </a:rPr>
                          <m:t>𝑧</m:t>
                        </m:r>
                        <m:r>
                          <a:rPr lang="en-AU" altLang="zh-CN" sz="2600" i="1">
                            <a:latin typeface="Cambria Math" panose="02040503050406030204" pitchFamily="18" charset="0"/>
                            <a:cs typeface="Times New Roman" panose="02020603050405020304" pitchFamily="18" charset="0"/>
                          </a:rPr>
                          <m:t>≤2.53</m:t>
                        </m:r>
                      </m:e>
                    </m:d>
                    <m:r>
                      <a:rPr lang="en-AU" altLang="zh-CN" sz="2600" i="1">
                        <a:latin typeface="Cambria Math" panose="02040503050406030204" pitchFamily="18" charset="0"/>
                        <a:cs typeface="Times New Roman" panose="02020603050405020304" pitchFamily="18" charset="0"/>
                      </a:rPr>
                      <m:t>=</m:t>
                    </m:r>
                    <m:r>
                      <a:rPr lang="en-AU" altLang="zh-CN" sz="2600" b="0" i="1" smtClean="0">
                        <a:latin typeface="Cambria Math" panose="02040503050406030204" pitchFamily="18" charset="0"/>
                        <a:cs typeface="Times New Roman" panose="02020603050405020304" pitchFamily="18" charset="0"/>
                      </a:rPr>
                      <m:t>0.9943−0.0057=0.9886.</m:t>
                    </m:r>
                  </m:oMath>
                </a14:m>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295939" name="Rectangle 3">
                <a:extLst>
                  <a:ext uri="{FF2B5EF4-FFF2-40B4-BE49-F238E27FC236}">
                    <a16:creationId xmlns:a16="http://schemas.microsoft.com/office/drawing/2014/main" id="{E0321A05-788A-DF4B-B7D3-8532BE34B554}"/>
                  </a:ext>
                </a:extLst>
              </p:cNvPr>
              <p:cNvSpPr>
                <a:spLocks noGrp="1" noRot="1" noChangeAspect="1" noMove="1" noResize="1" noEditPoints="1" noAdjustHandles="1" noChangeArrowheads="1" noChangeShapeType="1" noTextEdit="1"/>
              </p:cNvSpPr>
              <p:nvPr>
                <p:ph type="body" idx="1"/>
              </p:nvPr>
            </p:nvSpPr>
            <p:spPr>
              <a:xfrm>
                <a:off x="435525" y="834706"/>
                <a:ext cx="11501371" cy="5638385"/>
              </a:xfrm>
              <a:blipFill>
                <a:blip r:embed="rId3"/>
                <a:stretch>
                  <a:fillRect l="-954" t="-757" r="-1272"/>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3525CD15-B8AA-AB30-7791-F20DBB7A4CC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6159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82D9C-86CE-94B8-BC9D-681364F44E90}"/>
            </a:ext>
          </a:extLst>
        </p:cNvPr>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D4B04ED5-9649-38FF-1340-203E8A73115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22" name="Picture 21">
            <a:extLst>
              <a:ext uri="{FF2B5EF4-FFF2-40B4-BE49-F238E27FC236}">
                <a16:creationId xmlns:a16="http://schemas.microsoft.com/office/drawing/2014/main" id="{0BD82D5C-384F-158B-3798-1508EDC3D9DE}"/>
              </a:ext>
            </a:extLst>
          </p:cNvPr>
          <p:cNvPicPr>
            <a:picLocks noChangeAspect="1"/>
          </p:cNvPicPr>
          <p:nvPr/>
        </p:nvPicPr>
        <p:blipFill>
          <a:blip r:embed="rId2"/>
          <a:stretch>
            <a:fillRect/>
          </a:stretch>
        </p:blipFill>
        <p:spPr>
          <a:xfrm>
            <a:off x="195254" y="626165"/>
            <a:ext cx="11801491" cy="4471574"/>
          </a:xfrm>
          <a:prstGeom prst="rect">
            <a:avLst/>
          </a:prstGeom>
        </p:spPr>
      </p:pic>
    </p:spTree>
    <p:extLst>
      <p:ext uri="{BB962C8B-B14F-4D97-AF65-F5344CB8AC3E}">
        <p14:creationId xmlns:p14="http://schemas.microsoft.com/office/powerpoint/2010/main" val="16311269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421AE-4C75-6C12-EA46-C7A297706B6D}"/>
            </a:ext>
          </a:extLst>
        </p:cNvPr>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3AEDDFE9-D058-4540-8BD0-161B76970AC6}"/>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59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 name="Picture 3">
            <a:extLst>
              <a:ext uri="{FF2B5EF4-FFF2-40B4-BE49-F238E27FC236}">
                <a16:creationId xmlns:a16="http://schemas.microsoft.com/office/drawing/2014/main" id="{1970B722-08C8-DD7F-4AD0-A12C38A17519}"/>
              </a:ext>
            </a:extLst>
          </p:cNvPr>
          <p:cNvPicPr>
            <a:picLocks noChangeAspect="1"/>
          </p:cNvPicPr>
          <p:nvPr/>
        </p:nvPicPr>
        <p:blipFill>
          <a:blip r:embed="rId2"/>
          <a:stretch>
            <a:fillRect/>
          </a:stretch>
        </p:blipFill>
        <p:spPr>
          <a:xfrm>
            <a:off x="222727" y="377687"/>
            <a:ext cx="11442499" cy="5380175"/>
          </a:xfrm>
          <a:prstGeom prst="rect">
            <a:avLst/>
          </a:prstGeom>
        </p:spPr>
      </p:pic>
    </p:spTree>
    <p:extLst>
      <p:ext uri="{BB962C8B-B14F-4D97-AF65-F5344CB8AC3E}">
        <p14:creationId xmlns:p14="http://schemas.microsoft.com/office/powerpoint/2010/main" val="33738566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DCCB3F14-C319-6246-B806-14C9657843F0}"/>
              </a:ext>
            </a:extLst>
          </p:cNvPr>
          <p:cNvSpPr>
            <a:spLocks noGrp="1" noChangeArrowheads="1"/>
          </p:cNvSpPr>
          <p:nvPr>
            <p:ph type="title"/>
          </p:nvPr>
        </p:nvSpPr>
        <p:spPr>
          <a:xfrm>
            <a:off x="174824" y="248666"/>
            <a:ext cx="6703054" cy="593725"/>
          </a:xfrm>
          <a:noFill/>
        </p:spPr>
        <p:txBody>
          <a:bodyPr>
            <a:normAutofit/>
          </a:bodyPr>
          <a:lstStyle/>
          <a:p>
            <a:pPr eaLnBrk="1" hangingPunct="1"/>
            <a:r>
              <a:rPr lang="en-US" altLang="zh-CN" sz="2800" b="1" dirty="0">
                <a:solidFill>
                  <a:srgbClr val="0000FF"/>
                </a:solidFill>
                <a:latin typeface="Times New Roman" panose="02020603050405020304" pitchFamily="18" charset="0"/>
              </a:rPr>
              <a:t>Finding Normal Probabilities of </a:t>
            </a:r>
            <a:r>
              <a:rPr lang="en-US" altLang="zh-CN" sz="2800" i="1" dirty="0">
                <a:solidFill>
                  <a:srgbClr val="0000FF"/>
                </a:solidFill>
                <a:latin typeface="Times New Roman" panose="02020603050405020304" pitchFamily="18" charset="0"/>
              </a:rPr>
              <a:t>x</a:t>
            </a:r>
            <a:endParaRPr lang="en-US" altLang="zh-CN" sz="2800" dirty="0">
              <a:solidFill>
                <a:srgbClr val="0000FF"/>
              </a:solidFill>
              <a:latin typeface="Times New Roman" panose="02020603050405020304" pitchFamily="18" charset="0"/>
            </a:endParaRPr>
          </a:p>
        </p:txBody>
      </p:sp>
      <p:sp>
        <p:nvSpPr>
          <p:cNvPr id="2" name="灯片编号占位符 16">
            <a:extLst>
              <a:ext uri="{FF2B5EF4-FFF2-40B4-BE49-F238E27FC236}">
                <a16:creationId xmlns:a16="http://schemas.microsoft.com/office/drawing/2014/main" id="{28F194CB-FEF6-37D7-1E49-18FC608C4F5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7E08F289-D53F-E93C-FF9A-B63DA428903E}"/>
              </a:ext>
            </a:extLst>
          </p:cNvPr>
          <p:cNvSpPr txBox="1"/>
          <p:nvPr/>
        </p:nvSpPr>
        <p:spPr>
          <a:xfrm>
            <a:off x="174823" y="1049492"/>
            <a:ext cx="7428611" cy="4832092"/>
          </a:xfrm>
          <a:prstGeom prst="rect">
            <a:avLst/>
          </a:prstGeom>
          <a:noFill/>
        </p:spPr>
        <p:txBody>
          <a:bodyPr wrap="square">
            <a:spAutoFit/>
          </a:bodyPr>
          <a:lstStyle/>
          <a:p>
            <a:pPr eaLnBrk="1" hangingPunct="1">
              <a:spcBef>
                <a:spcPct val="40000"/>
              </a:spcBef>
              <a:spcAft>
                <a:spcPct val="10000"/>
              </a:spcAft>
              <a:buFont typeface="Wingdings" pitchFamily="2" charset="2"/>
              <a:buNone/>
              <a:defRPr/>
            </a:pPr>
            <a:r>
              <a:rPr lang="en-US" altLang="zh-CN" sz="2800" b="1" dirty="0">
                <a:solidFill>
                  <a:srgbClr val="FF3300"/>
                </a:solidFill>
                <a:latin typeface="Times New Roman" pitchFamily="18" charset="0"/>
              </a:rPr>
              <a:t>General procedure:</a:t>
            </a:r>
          </a:p>
          <a:p>
            <a:pPr eaLnBrk="1" hangingPunct="1">
              <a:spcBef>
                <a:spcPct val="40000"/>
              </a:spcBef>
              <a:spcAft>
                <a:spcPct val="10000"/>
              </a:spcAft>
              <a:buFont typeface="Wingdings" pitchFamily="2" charset="2"/>
              <a:buNone/>
              <a:defRPr/>
            </a:pPr>
            <a:r>
              <a:rPr lang="en-US" altLang="zh-CN" sz="2800" dirty="0">
                <a:highlight>
                  <a:srgbClr val="FFFF00"/>
                </a:highlight>
                <a:latin typeface="Times New Roman" pitchFamily="18" charset="0"/>
              </a:rPr>
              <a:t>Step 1</a:t>
            </a:r>
            <a:r>
              <a:rPr lang="en-US" altLang="zh-CN" sz="2800" dirty="0">
                <a:latin typeface="Times New Roman" pitchFamily="18" charset="0"/>
              </a:rPr>
              <a:t>: Formulate the problem in terms of </a:t>
            </a:r>
            <a:r>
              <a:rPr lang="en-US" altLang="zh-CN" sz="2800" i="1" dirty="0">
                <a:latin typeface="Times New Roman" pitchFamily="18" charset="0"/>
              </a:rPr>
              <a:t>x</a:t>
            </a:r>
            <a:r>
              <a:rPr lang="en-US" altLang="zh-CN" sz="2800" dirty="0">
                <a:latin typeface="Times New Roman" pitchFamily="18" charset="0"/>
              </a:rPr>
              <a:t> values.</a:t>
            </a:r>
          </a:p>
          <a:p>
            <a:pPr eaLnBrk="1" hangingPunct="1">
              <a:spcBef>
                <a:spcPct val="40000"/>
              </a:spcBef>
              <a:spcAft>
                <a:spcPct val="10000"/>
              </a:spcAft>
              <a:buFont typeface="Wingdings" pitchFamily="2" charset="2"/>
              <a:buNone/>
              <a:defRPr/>
            </a:pPr>
            <a:r>
              <a:rPr lang="en-US" altLang="zh-CN" sz="2800" dirty="0">
                <a:highlight>
                  <a:srgbClr val="FFFF00"/>
                </a:highlight>
                <a:latin typeface="Times New Roman" pitchFamily="18" charset="0"/>
              </a:rPr>
              <a:t>Step 2: </a:t>
            </a:r>
            <a:r>
              <a:rPr lang="en-US" altLang="zh-CN" sz="2800" dirty="0">
                <a:latin typeface="Times New Roman" pitchFamily="18" charset="0"/>
              </a:rPr>
              <a:t>Calculate the corresponding </a:t>
            </a:r>
            <a:r>
              <a:rPr lang="en-US" altLang="zh-CN" sz="2800" i="1" dirty="0">
                <a:latin typeface="Times New Roman" pitchFamily="18" charset="0"/>
              </a:rPr>
              <a:t>z</a:t>
            </a:r>
            <a:r>
              <a:rPr lang="en-US" altLang="zh-CN" sz="2800" dirty="0">
                <a:latin typeface="Times New Roman" pitchFamily="18" charset="0"/>
              </a:rPr>
              <a:t> values, and restate the problem in terms of these </a:t>
            </a:r>
            <a:r>
              <a:rPr lang="en-US" altLang="zh-CN" sz="2800" i="1" dirty="0">
                <a:latin typeface="Times New Roman" pitchFamily="18" charset="0"/>
              </a:rPr>
              <a:t>z</a:t>
            </a:r>
            <a:r>
              <a:rPr lang="en-US" altLang="zh-CN" sz="2800" dirty="0">
                <a:latin typeface="Times New Roman" pitchFamily="18" charset="0"/>
              </a:rPr>
              <a:t> values.</a:t>
            </a:r>
          </a:p>
          <a:p>
            <a:pPr eaLnBrk="1" hangingPunct="1">
              <a:spcBef>
                <a:spcPct val="40000"/>
              </a:spcBef>
              <a:spcAft>
                <a:spcPct val="10000"/>
              </a:spcAft>
              <a:buFont typeface="Wingdings" pitchFamily="2" charset="2"/>
              <a:buNone/>
              <a:defRPr/>
            </a:pPr>
            <a:r>
              <a:rPr lang="en-US" altLang="zh-CN" sz="2800" dirty="0">
                <a:highlight>
                  <a:srgbClr val="FFFF00"/>
                </a:highlight>
                <a:latin typeface="Times New Roman" pitchFamily="18" charset="0"/>
              </a:rPr>
              <a:t>Step 3: </a:t>
            </a:r>
            <a:r>
              <a:rPr lang="en-US" altLang="zh-CN" sz="2800" dirty="0">
                <a:latin typeface="Times New Roman" pitchFamily="18" charset="0"/>
              </a:rPr>
              <a:t>Find the required areas under the standard normal curve by using the table.</a:t>
            </a:r>
          </a:p>
          <a:p>
            <a:pPr eaLnBrk="1" hangingPunct="1">
              <a:spcBef>
                <a:spcPct val="40000"/>
              </a:spcBef>
              <a:spcAft>
                <a:spcPct val="10000"/>
              </a:spcAft>
              <a:buFont typeface="Wingdings" pitchFamily="2" charset="2"/>
              <a:buNone/>
              <a:defRPr/>
            </a:pPr>
            <a:r>
              <a:rPr lang="en-US" altLang="zh-CN" sz="2800" b="1" dirty="0">
                <a:solidFill>
                  <a:srgbClr val="FF3300"/>
                </a:solidFill>
                <a:highlight>
                  <a:srgbClr val="FFFF00"/>
                </a:highlight>
                <a:latin typeface="Times New Roman" pitchFamily="18" charset="0"/>
              </a:rPr>
              <a:t>Note: </a:t>
            </a:r>
            <a:r>
              <a:rPr lang="en-US" altLang="zh-CN" sz="2800" dirty="0">
                <a:latin typeface="Times New Roman" pitchFamily="18" charset="0"/>
              </a:rPr>
              <a:t>It is always useful to draw a picture showing the required areas before using the normal table.</a:t>
            </a:r>
            <a:endParaRPr lang="en-AU" sz="2800" dirty="0"/>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7E3168C8-BAA8-920A-46CE-EDEF168F3DEB}"/>
                  </a:ext>
                </a:extLst>
              </p:cNvPr>
              <p:cNvSpPr txBox="1">
                <a:spLocks noGrp="1"/>
              </p:cNvSpPr>
              <p:nvPr>
                <p:ph idx="1"/>
              </p:nvPr>
            </p:nvSpPr>
            <p:spPr bwMode="auto">
              <a:xfrm>
                <a:off x="8239124" y="2888149"/>
                <a:ext cx="2624344" cy="956117"/>
              </a:xfrm>
              <a:prstGeom prst="rect">
                <a:avLst/>
              </a:prstGeom>
              <a:no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AU" i="1" smtClean="0">
                          <a:solidFill>
                            <a:srgbClr val="000000"/>
                          </a:solidFill>
                          <a:latin typeface="Cambria Math" panose="02040503050406030204" pitchFamily="18" charset="0"/>
                        </a:rPr>
                        <m:t>𝑧</m:t>
                      </m:r>
                      <m:r>
                        <a:rPr lang="en-AU" b="0" i="1" smtClean="0">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𝜇</m:t>
                          </m:r>
                        </m:num>
                        <m:den>
                          <m:r>
                            <a:rPr lang="en-AU" i="1">
                              <a:solidFill>
                                <a:srgbClr val="000000"/>
                              </a:solidFill>
                              <a:latin typeface="Cambria Math" panose="02040503050406030204" pitchFamily="18" charset="0"/>
                            </a:rPr>
                            <m:t>𝜎</m:t>
                          </m:r>
                        </m:den>
                      </m:f>
                    </m:oMath>
                  </m:oMathPara>
                </a14:m>
                <a:endParaRPr lang="en-AU" dirty="0"/>
              </a:p>
            </p:txBody>
          </p:sp>
        </mc:Choice>
        <mc:Fallback xmlns="">
          <p:sp>
            <p:nvSpPr>
              <p:cNvPr id="3" name="Object 5">
                <a:extLst>
                  <a:ext uri="{FF2B5EF4-FFF2-40B4-BE49-F238E27FC236}">
                    <a16:creationId xmlns:a16="http://schemas.microsoft.com/office/drawing/2014/main" id="{7E3168C8-BAA8-920A-46CE-EDEF168F3DEB}"/>
                  </a:ext>
                </a:extLst>
              </p:cNvPr>
              <p:cNvSpPr txBox="1">
                <a:spLocks noGrp="1" noRot="1" noChangeAspect="1" noMove="1" noResize="1" noEditPoints="1" noAdjustHandles="1" noChangeArrowheads="1" noChangeShapeType="1" noTextEdit="1"/>
              </p:cNvSpPr>
              <p:nvPr>
                <p:ph idx="1"/>
              </p:nvPr>
            </p:nvSpPr>
            <p:spPr bwMode="auto">
              <a:xfrm>
                <a:off x="8239124" y="2888149"/>
                <a:ext cx="2624344" cy="956117"/>
              </a:xfrm>
              <a:prstGeom prst="rect">
                <a:avLst/>
              </a:prstGeom>
              <a:blipFill>
                <a:blip r:embed="rId2"/>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Object 5">
                <a:extLst>
                  <a:ext uri="{FF2B5EF4-FFF2-40B4-BE49-F238E27FC236}">
                    <a16:creationId xmlns:a16="http://schemas.microsoft.com/office/drawing/2014/main" id="{979C97FB-4273-92D6-838A-01CC4A043DA5}"/>
                  </a:ext>
                </a:extLst>
              </p:cNvPr>
              <p:cNvSpPr txBox="1">
                <a:spLocks/>
              </p:cNvSpPr>
              <p:nvPr/>
            </p:nvSpPr>
            <p:spPr bwMode="auto">
              <a:xfrm>
                <a:off x="8139732" y="3898732"/>
                <a:ext cx="3021909" cy="956117"/>
              </a:xfrm>
              <a:prstGeom prst="rect">
                <a:avLst/>
              </a:prstGeom>
              <a:noFill/>
              <a:ln>
                <a:noFill/>
              </a:ln>
              <a:effec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14:m>
                  <m:oMathPara xmlns:m="http://schemas.openxmlformats.org/officeDocument/2006/math">
                    <m:oMathParaPr>
                      <m:jc m:val="left"/>
                    </m:oMathParaPr>
                    <m:oMath xmlns:m="http://schemas.openxmlformats.org/officeDocument/2006/math">
                      <m:r>
                        <a:rPr lang="en-AU" i="1">
                          <a:solidFill>
                            <a:srgbClr val="0000FF"/>
                          </a:solidFill>
                          <a:latin typeface="Cambria Math" panose="02040503050406030204" pitchFamily="18" charset="0"/>
                        </a:rPr>
                        <m:t>𝑓</m:t>
                      </m:r>
                      <m:r>
                        <a:rPr lang="en-AU" i="1">
                          <a:solidFill>
                            <a:srgbClr val="0000FF"/>
                          </a:solidFill>
                          <a:latin typeface="Cambria Math" panose="02040503050406030204" pitchFamily="18" charset="0"/>
                        </a:rPr>
                        <m:t>(</m:t>
                      </m:r>
                      <m:r>
                        <a:rPr lang="en-AU" i="1">
                          <a:solidFill>
                            <a:srgbClr val="0000FF"/>
                          </a:solidFill>
                          <a:latin typeface="Cambria Math" panose="02040503050406030204" pitchFamily="18" charset="0"/>
                        </a:rPr>
                        <m:t>𝑧</m:t>
                      </m:r>
                      <m:r>
                        <a:rPr lang="en-AU" i="1">
                          <a:solidFill>
                            <a:srgbClr val="0000FF"/>
                          </a:solidFill>
                          <a:latin typeface="Cambria Math" panose="02040503050406030204" pitchFamily="18" charset="0"/>
                        </a:rPr>
                        <m:t>)</m:t>
                      </m:r>
                      <m:r>
                        <a:rPr lang="en-AU">
                          <a:solidFill>
                            <a:srgbClr val="0000FF"/>
                          </a:solidFill>
                          <a:latin typeface="Cambria Math" panose="02040503050406030204" pitchFamily="18" charset="0"/>
                        </a:rPr>
                        <m:t>=</m:t>
                      </m:r>
                      <m:f>
                        <m:fPr>
                          <m:ctrlPr>
                            <a:rPr lang="en-AU" i="1">
                              <a:solidFill>
                                <a:srgbClr val="0000FF"/>
                              </a:solidFill>
                              <a:latin typeface="Cambria Math" panose="02040503050406030204" pitchFamily="18" charset="0"/>
                            </a:rPr>
                          </m:ctrlPr>
                        </m:fPr>
                        <m:num>
                          <m:r>
                            <a:rPr lang="en-AU" i="1">
                              <a:solidFill>
                                <a:srgbClr val="0000FF"/>
                              </a:solidFill>
                              <a:latin typeface="Cambria Math" panose="02040503050406030204" pitchFamily="18" charset="0"/>
                            </a:rPr>
                            <m:t>1</m:t>
                          </m:r>
                        </m:num>
                        <m:den>
                          <m:rad>
                            <m:radPr>
                              <m:degHide m:val="on"/>
                              <m:ctrlPr>
                                <a:rPr lang="en-AU" i="1">
                                  <a:solidFill>
                                    <a:srgbClr val="0000FF"/>
                                  </a:solidFill>
                                  <a:latin typeface="Cambria Math" panose="02040503050406030204" pitchFamily="18" charset="0"/>
                                </a:rPr>
                              </m:ctrlPr>
                            </m:radPr>
                            <m:deg/>
                            <m:e>
                              <m:r>
                                <a:rPr lang="en-AU" i="1">
                                  <a:solidFill>
                                    <a:srgbClr val="0000FF"/>
                                  </a:solidFill>
                                  <a:latin typeface="Cambria Math" panose="02040503050406030204" pitchFamily="18" charset="0"/>
                                </a:rPr>
                                <m:t>2</m:t>
                              </m:r>
                              <m:r>
                                <m:rPr>
                                  <m:sty m:val="p"/>
                                </m:rPr>
                                <a:rPr lang="en-AU" i="1">
                                  <a:solidFill>
                                    <a:srgbClr val="0000FF"/>
                                  </a:solidFill>
                                  <a:latin typeface="Cambria Math" panose="02040503050406030204" pitchFamily="18" charset="0"/>
                                </a:rPr>
                                <m:t>π</m:t>
                              </m:r>
                            </m:e>
                          </m:rad>
                        </m:den>
                      </m:f>
                      <m:sSup>
                        <m:sSupPr>
                          <m:ctrlPr>
                            <a:rPr lang="en-AU" i="1">
                              <a:solidFill>
                                <a:srgbClr val="0000FF"/>
                              </a:solidFill>
                              <a:latin typeface="Cambria Math" panose="02040503050406030204" pitchFamily="18" charset="0"/>
                            </a:rPr>
                          </m:ctrlPr>
                        </m:sSupPr>
                        <m:e>
                          <m:r>
                            <a:rPr lang="en-AU" i="1">
                              <a:solidFill>
                                <a:srgbClr val="0000FF"/>
                              </a:solidFill>
                              <a:latin typeface="Cambria Math" panose="02040503050406030204" pitchFamily="18" charset="0"/>
                            </a:rPr>
                            <m:t>𝑒</m:t>
                          </m:r>
                        </m:e>
                        <m:sup>
                          <m:r>
                            <a:rPr lang="en-AU" i="1">
                              <a:solidFill>
                                <a:srgbClr val="0000FF"/>
                              </a:solidFill>
                              <a:latin typeface="Cambria Math" panose="02040503050406030204" pitchFamily="18" charset="0"/>
                            </a:rPr>
                            <m:t>−</m:t>
                          </m:r>
                          <m:f>
                            <m:fPr>
                              <m:ctrlPr>
                                <a:rPr lang="en-AU" i="1">
                                  <a:solidFill>
                                    <a:srgbClr val="0000FF"/>
                                  </a:solidFill>
                                  <a:latin typeface="Cambria Math" panose="02040503050406030204" pitchFamily="18" charset="0"/>
                                </a:rPr>
                              </m:ctrlPr>
                            </m:fPr>
                            <m:num>
                              <m:r>
                                <a:rPr lang="en-AU" i="1">
                                  <a:solidFill>
                                    <a:srgbClr val="0000FF"/>
                                  </a:solidFill>
                                  <a:latin typeface="Cambria Math" panose="02040503050406030204" pitchFamily="18" charset="0"/>
                                </a:rPr>
                                <m:t>1</m:t>
                              </m:r>
                            </m:num>
                            <m:den>
                              <m:r>
                                <a:rPr lang="en-AU" i="1">
                                  <a:solidFill>
                                    <a:srgbClr val="0000FF"/>
                                  </a:solidFill>
                                  <a:latin typeface="Cambria Math" panose="02040503050406030204" pitchFamily="18" charset="0"/>
                                </a:rPr>
                                <m:t>2</m:t>
                              </m:r>
                            </m:den>
                          </m:f>
                          <m:sSup>
                            <m:sSupPr>
                              <m:ctrlPr>
                                <a:rPr lang="en-AU" b="0" i="1" smtClean="0">
                                  <a:solidFill>
                                    <a:srgbClr val="0000FF"/>
                                  </a:solidFill>
                                  <a:latin typeface="Cambria Math" panose="02040503050406030204" pitchFamily="18" charset="0"/>
                                </a:rPr>
                              </m:ctrlPr>
                            </m:sSupPr>
                            <m:e>
                              <m:r>
                                <a:rPr lang="en-AU" i="1" smtClean="0">
                                  <a:solidFill>
                                    <a:srgbClr val="0000FF"/>
                                  </a:solidFill>
                                  <a:latin typeface="Cambria Math" panose="02040503050406030204" pitchFamily="18" charset="0"/>
                                </a:rPr>
                                <m:t>𝑧</m:t>
                              </m:r>
                            </m:e>
                            <m:sup>
                              <m:r>
                                <a:rPr lang="en-AU" b="0" i="1" smtClean="0">
                                  <a:solidFill>
                                    <a:srgbClr val="0000FF"/>
                                  </a:solidFill>
                                  <a:latin typeface="Cambria Math" panose="02040503050406030204" pitchFamily="18" charset="0"/>
                                </a:rPr>
                                <m:t>2</m:t>
                              </m:r>
                            </m:sup>
                          </m:sSup>
                        </m:sup>
                      </m:sSup>
                    </m:oMath>
                  </m:oMathPara>
                </a14:m>
                <a:endParaRPr lang="en-AU" dirty="0">
                  <a:solidFill>
                    <a:srgbClr val="0000FF"/>
                  </a:solidFill>
                </a:endParaRPr>
              </a:p>
            </p:txBody>
          </p:sp>
        </mc:Choice>
        <mc:Fallback xmlns="">
          <p:sp>
            <p:nvSpPr>
              <p:cNvPr id="5" name="Object 5">
                <a:extLst>
                  <a:ext uri="{FF2B5EF4-FFF2-40B4-BE49-F238E27FC236}">
                    <a16:creationId xmlns:a16="http://schemas.microsoft.com/office/drawing/2014/main" id="{979C97FB-4273-92D6-838A-01CC4A043DA5}"/>
                  </a:ext>
                </a:extLst>
              </p:cNvPr>
              <p:cNvSpPr txBox="1">
                <a:spLocks noRot="1" noChangeAspect="1" noMove="1" noResize="1" noEditPoints="1" noAdjustHandles="1" noChangeArrowheads="1" noChangeShapeType="1" noTextEdit="1"/>
              </p:cNvSpPr>
              <p:nvPr/>
            </p:nvSpPr>
            <p:spPr bwMode="auto">
              <a:xfrm>
                <a:off x="8139732" y="3898732"/>
                <a:ext cx="3021909" cy="956117"/>
              </a:xfrm>
              <a:prstGeom prst="rect">
                <a:avLst/>
              </a:prstGeom>
              <a:blipFill>
                <a:blip r:embed="rId3"/>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B1CA259B-9165-8D62-2F95-97CB7483C793}"/>
                  </a:ext>
                </a:extLst>
              </p:cNvPr>
              <p:cNvSpPr txBox="1">
                <a:spLocks/>
              </p:cNvSpPr>
              <p:nvPr/>
            </p:nvSpPr>
            <p:spPr bwMode="auto">
              <a:xfrm>
                <a:off x="8130563" y="1567676"/>
                <a:ext cx="3886613" cy="1228725"/>
              </a:xfrm>
              <a:prstGeom prst="rect">
                <a:avLst/>
              </a:prstGeom>
              <a:noFill/>
              <a:ln>
                <a:noFill/>
              </a:ln>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en-AU" i="1" smtClean="0">
                          <a:solidFill>
                            <a:srgbClr val="000000"/>
                          </a:solidFill>
                          <a:latin typeface="Cambria Math" panose="02040503050406030204" pitchFamily="18" charset="0"/>
                        </a:rPr>
                        <m:t>𝑓</m:t>
                      </m:r>
                      <m:d>
                        <m:dPr>
                          <m:ctrlPr>
                            <a:rPr lang="en-AU" i="1">
                              <a:solidFill>
                                <a:srgbClr val="000000"/>
                              </a:solidFill>
                              <a:latin typeface="Cambria Math" panose="02040503050406030204" pitchFamily="18" charset="0"/>
                            </a:rPr>
                          </m:ctrlPr>
                        </m:dPr>
                        <m:e>
                          <m:r>
                            <a:rPr lang="en-AU" i="1">
                              <a:solidFill>
                                <a:srgbClr val="000000"/>
                              </a:solidFill>
                              <a:latin typeface="Cambria Math" panose="02040503050406030204" pitchFamily="18" charset="0"/>
                            </a:rPr>
                            <m:t>𝑥</m:t>
                          </m:r>
                        </m:e>
                      </m:d>
                      <m:r>
                        <a:rPr lang="en-AU" i="1" smtClean="0">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m:rPr>
                              <m:sty m:val="p"/>
                            </m:rPr>
                            <a:rPr lang="en-AU" i="1">
                              <a:solidFill>
                                <a:srgbClr val="000000"/>
                              </a:solidFill>
                              <a:latin typeface="Cambria Math" panose="02040503050406030204" pitchFamily="18" charset="0"/>
                            </a:rPr>
                            <m:t>σ</m:t>
                          </m:r>
                          <m:rad>
                            <m:radPr>
                              <m:degHide m:val="on"/>
                              <m:ctrlPr>
                                <a:rPr lang="en-AU" i="1">
                                  <a:solidFill>
                                    <a:srgbClr val="000000"/>
                                  </a:solidFill>
                                  <a:latin typeface="Cambria Math" panose="02040503050406030204" pitchFamily="18" charset="0"/>
                                </a:rPr>
                              </m:ctrlPr>
                            </m:radPr>
                            <m:deg/>
                            <m:e>
                              <m:r>
                                <a:rPr lang="en-AU" i="1">
                                  <a:solidFill>
                                    <a:srgbClr val="000000"/>
                                  </a:solidFill>
                                  <a:latin typeface="Cambria Math" panose="02040503050406030204" pitchFamily="18" charset="0"/>
                                </a:rPr>
                                <m:t>2</m:t>
                              </m:r>
                              <m:r>
                                <m:rPr>
                                  <m:sty m:val="p"/>
                                </m:rPr>
                                <a:rPr lang="en-AU" i="1">
                                  <a:solidFill>
                                    <a:srgbClr val="000000"/>
                                  </a:solidFill>
                                  <a:latin typeface="Cambria Math" panose="02040503050406030204" pitchFamily="18" charset="0"/>
                                </a:rPr>
                                <m:t>π</m:t>
                              </m:r>
                            </m:e>
                          </m:rad>
                        </m:den>
                      </m:f>
                      <m:sSup>
                        <m:sSupPr>
                          <m:ctrlPr>
                            <a:rPr lang="en-AU" i="1" smtClean="0">
                              <a:solidFill>
                                <a:srgbClr val="000000"/>
                              </a:solidFill>
                              <a:latin typeface="Cambria Math" panose="02040503050406030204" pitchFamily="18" charset="0"/>
                            </a:rPr>
                          </m:ctrlPr>
                        </m:sSupPr>
                        <m:e>
                          <m:r>
                            <a:rPr lang="en-AU" i="1">
                              <a:solidFill>
                                <a:srgbClr val="000000"/>
                              </a:solidFill>
                              <a:latin typeface="Cambria Math" panose="02040503050406030204" pitchFamily="18" charset="0"/>
                            </a:rPr>
                            <m:t>𝑒</m:t>
                          </m:r>
                        </m:e>
                        <m:sup>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1</m:t>
                              </m:r>
                            </m:num>
                            <m:den>
                              <m:r>
                                <a:rPr lang="en-AU" i="1">
                                  <a:solidFill>
                                    <a:srgbClr val="000000"/>
                                  </a:solidFill>
                                  <a:latin typeface="Cambria Math" panose="02040503050406030204" pitchFamily="18" charset="0"/>
                                </a:rPr>
                                <m:t>2</m:t>
                              </m:r>
                            </m:den>
                          </m:f>
                          <m:sSup>
                            <m:sSupPr>
                              <m:ctrlPr>
                                <a:rPr lang="en-AU" i="1">
                                  <a:solidFill>
                                    <a:srgbClr val="000000"/>
                                  </a:solidFill>
                                  <a:latin typeface="Cambria Math" panose="02040503050406030204" pitchFamily="18" charset="0"/>
                                </a:rPr>
                              </m:ctrlPr>
                            </m:sSupPr>
                            <m:e>
                              <m:d>
                                <m:dPr>
                                  <m:ctrlPr>
                                    <a:rPr lang="en-AU" i="1">
                                      <a:solidFill>
                                        <a:srgbClr val="000000"/>
                                      </a:solidFill>
                                      <a:latin typeface="Cambria Math" panose="02040503050406030204" pitchFamily="18" charset="0"/>
                                    </a:rPr>
                                  </m:ctrlPr>
                                </m:dPr>
                                <m:e>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𝑥</m:t>
                                      </m:r>
                                      <m:r>
                                        <a:rPr lang="en-AU" i="1">
                                          <a:solidFill>
                                            <a:srgbClr val="000000"/>
                                          </a:solidFill>
                                          <a:latin typeface="Cambria Math" panose="02040503050406030204" pitchFamily="18" charset="0"/>
                                        </a:rPr>
                                        <m:t>−</m:t>
                                      </m:r>
                                      <m:r>
                                        <a:rPr lang="en-AU" i="1">
                                          <a:solidFill>
                                            <a:srgbClr val="000000"/>
                                          </a:solidFill>
                                          <a:latin typeface="Cambria Math" panose="02040503050406030204" pitchFamily="18" charset="0"/>
                                        </a:rPr>
                                        <m:t>𝜇</m:t>
                                      </m:r>
                                    </m:num>
                                    <m:den>
                                      <m:r>
                                        <a:rPr lang="en-AU" i="1">
                                          <a:solidFill>
                                            <a:srgbClr val="000000"/>
                                          </a:solidFill>
                                          <a:latin typeface="Cambria Math" panose="02040503050406030204" pitchFamily="18" charset="0"/>
                                        </a:rPr>
                                        <m:t>𝜎</m:t>
                                      </m:r>
                                    </m:den>
                                  </m:f>
                                </m:e>
                              </m:d>
                            </m:e>
                            <m:sup>
                              <m:r>
                                <a:rPr lang="en-AU" i="1">
                                  <a:solidFill>
                                    <a:srgbClr val="000000"/>
                                  </a:solidFill>
                                  <a:latin typeface="Cambria Math" panose="02040503050406030204" pitchFamily="18" charset="0"/>
                                </a:rPr>
                                <m:t>2</m:t>
                              </m:r>
                            </m:sup>
                          </m:sSup>
                        </m:sup>
                      </m:sSup>
                    </m:oMath>
                  </m:oMathPara>
                </a14:m>
                <a:endParaRPr lang="en-AU" dirty="0"/>
              </a:p>
            </p:txBody>
          </p:sp>
        </mc:Choice>
        <mc:Fallback xmlns="">
          <p:sp>
            <p:nvSpPr>
              <p:cNvPr id="6" name="Object 5">
                <a:extLst>
                  <a:ext uri="{FF2B5EF4-FFF2-40B4-BE49-F238E27FC236}">
                    <a16:creationId xmlns:a16="http://schemas.microsoft.com/office/drawing/2014/main" id="{B1CA259B-9165-8D62-2F95-97CB7483C793}"/>
                  </a:ext>
                </a:extLst>
              </p:cNvPr>
              <p:cNvSpPr txBox="1">
                <a:spLocks noRot="1" noChangeAspect="1" noMove="1" noResize="1" noEditPoints="1" noAdjustHandles="1" noChangeArrowheads="1" noChangeShapeType="1" noTextEdit="1"/>
              </p:cNvSpPr>
              <p:nvPr/>
            </p:nvSpPr>
            <p:spPr bwMode="auto">
              <a:xfrm>
                <a:off x="8130563" y="1567676"/>
                <a:ext cx="3886613" cy="1228725"/>
              </a:xfrm>
              <a:prstGeom prst="rect">
                <a:avLst/>
              </a:prstGeom>
              <a:blipFill>
                <a:blip r:embed="rId4"/>
                <a:stretch>
                  <a:fillRect/>
                </a:stretch>
              </a:blipFill>
              <a:ln>
                <a:noFill/>
              </a:ln>
              <a:effec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7" name="Object 5">
                <a:extLst>
                  <a:ext uri="{FF2B5EF4-FFF2-40B4-BE49-F238E27FC236}">
                    <a16:creationId xmlns:a16="http://schemas.microsoft.com/office/drawing/2014/main" id="{191840DA-2646-E1BC-80FD-3AF68B0D41F8}"/>
                  </a:ext>
                </a:extLst>
              </p:cNvPr>
              <p:cNvSpPr txBox="1">
                <a:spLocks/>
              </p:cNvSpPr>
              <p:nvPr/>
            </p:nvSpPr>
            <p:spPr bwMode="auto">
              <a:xfrm>
                <a:off x="8239124" y="5068941"/>
                <a:ext cx="2385804" cy="888239"/>
              </a:xfrm>
              <a:prstGeom prst="rect">
                <a:avLst/>
              </a:prstGeom>
              <a:noFill/>
              <a:ln>
                <a:noFill/>
              </a:ln>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en-AU" i="1" smtClean="0">
                          <a:solidFill>
                            <a:srgbClr val="000000"/>
                          </a:solidFill>
                          <a:latin typeface="Cambria Math" panose="02040503050406030204" pitchFamily="18" charset="0"/>
                        </a:rPr>
                        <m:t>𝑓</m:t>
                      </m:r>
                      <m:d>
                        <m:dPr>
                          <m:ctrlPr>
                            <a:rPr lang="en-AU" i="1">
                              <a:solidFill>
                                <a:srgbClr val="000000"/>
                              </a:solidFill>
                              <a:latin typeface="Cambria Math" panose="02040503050406030204" pitchFamily="18" charset="0"/>
                            </a:rPr>
                          </m:ctrlPr>
                        </m:dPr>
                        <m:e>
                          <m:r>
                            <a:rPr lang="en-AU" i="1">
                              <a:solidFill>
                                <a:srgbClr val="000000"/>
                              </a:solidFill>
                              <a:latin typeface="Cambria Math" panose="02040503050406030204" pitchFamily="18" charset="0"/>
                            </a:rPr>
                            <m:t>𝑥</m:t>
                          </m:r>
                        </m:e>
                      </m:d>
                      <m:r>
                        <a:rPr lang="en-AU" i="1" smtClean="0">
                          <a:solidFill>
                            <a:srgbClr val="000000"/>
                          </a:solidFill>
                          <a:latin typeface="Cambria Math" panose="02040503050406030204" pitchFamily="18" charset="0"/>
                        </a:rPr>
                        <m:t>=</m:t>
                      </m:r>
                      <m:f>
                        <m:fPr>
                          <m:ctrlPr>
                            <a:rPr lang="en-AU" i="1" smtClean="0">
                              <a:solidFill>
                                <a:srgbClr val="0000FF"/>
                              </a:solidFill>
                              <a:latin typeface="Cambria Math" panose="02040503050406030204" pitchFamily="18" charset="0"/>
                            </a:rPr>
                          </m:ctrlPr>
                        </m:fPr>
                        <m:num>
                          <m:r>
                            <a:rPr lang="en-AU" i="1">
                              <a:solidFill>
                                <a:srgbClr val="0000FF"/>
                              </a:solidFill>
                              <a:latin typeface="Cambria Math" panose="02040503050406030204" pitchFamily="18" charset="0"/>
                            </a:rPr>
                            <m:t>𝑓</m:t>
                          </m:r>
                          <m:d>
                            <m:dPr>
                              <m:ctrlPr>
                                <a:rPr lang="en-AU" i="1">
                                  <a:solidFill>
                                    <a:srgbClr val="0000FF"/>
                                  </a:solidFill>
                                  <a:latin typeface="Cambria Math" panose="02040503050406030204" pitchFamily="18" charset="0"/>
                                </a:rPr>
                              </m:ctrlPr>
                            </m:dPr>
                            <m:e>
                              <m:r>
                                <a:rPr lang="en-AU" i="1">
                                  <a:solidFill>
                                    <a:srgbClr val="0000FF"/>
                                  </a:solidFill>
                                  <a:latin typeface="Cambria Math" panose="02040503050406030204" pitchFamily="18" charset="0"/>
                                </a:rPr>
                                <m:t>𝑧</m:t>
                              </m:r>
                            </m:e>
                          </m:d>
                        </m:num>
                        <m:den>
                          <m:r>
                            <m:rPr>
                              <m:sty m:val="p"/>
                            </m:rPr>
                            <a:rPr lang="en-AU" i="1">
                              <a:solidFill>
                                <a:srgbClr val="0000FF"/>
                              </a:solidFill>
                              <a:latin typeface="Cambria Math" panose="02040503050406030204" pitchFamily="18" charset="0"/>
                            </a:rPr>
                            <m:t>σ</m:t>
                          </m:r>
                        </m:den>
                      </m:f>
                    </m:oMath>
                  </m:oMathPara>
                </a14:m>
                <a:endParaRPr lang="en-AU" dirty="0"/>
              </a:p>
            </p:txBody>
          </p:sp>
        </mc:Choice>
        <mc:Fallback xmlns="">
          <p:sp>
            <p:nvSpPr>
              <p:cNvPr id="7" name="Object 5">
                <a:extLst>
                  <a:ext uri="{FF2B5EF4-FFF2-40B4-BE49-F238E27FC236}">
                    <a16:creationId xmlns:a16="http://schemas.microsoft.com/office/drawing/2014/main" id="{191840DA-2646-E1BC-80FD-3AF68B0D41F8}"/>
                  </a:ext>
                </a:extLst>
              </p:cNvPr>
              <p:cNvSpPr txBox="1">
                <a:spLocks noRot="1" noChangeAspect="1" noMove="1" noResize="1" noEditPoints="1" noAdjustHandles="1" noChangeArrowheads="1" noChangeShapeType="1" noTextEdit="1"/>
              </p:cNvSpPr>
              <p:nvPr/>
            </p:nvSpPr>
            <p:spPr bwMode="auto">
              <a:xfrm>
                <a:off x="8239124" y="5068941"/>
                <a:ext cx="2385804" cy="888239"/>
              </a:xfrm>
              <a:prstGeom prst="rect">
                <a:avLst/>
              </a:prstGeom>
              <a:blipFill>
                <a:blip r:embed="rId5"/>
                <a:stretch>
                  <a:fillRect/>
                </a:stretch>
              </a:blipFill>
              <a:ln>
                <a:noFill/>
              </a:ln>
              <a:effectLst/>
            </p:spPr>
            <p:txBody>
              <a:bodyPr/>
              <a:lstStyle/>
              <a:p>
                <a:r>
                  <a:rPr lang="en-AU">
                    <a:noFill/>
                  </a:rPr>
                  <a:t> </a:t>
                </a:r>
              </a:p>
            </p:txBody>
          </p:sp>
        </mc:Fallback>
      </mc:AlternateContent>
    </p:spTree>
    <p:extLst>
      <p:ext uri="{BB962C8B-B14F-4D97-AF65-F5344CB8AC3E}">
        <p14:creationId xmlns:p14="http://schemas.microsoft.com/office/powerpoint/2010/main" val="1304978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4">
            <a:extLst>
              <a:ext uri="{FF2B5EF4-FFF2-40B4-BE49-F238E27FC236}">
                <a16:creationId xmlns:a16="http://schemas.microsoft.com/office/drawing/2014/main" id="{CA257866-29F4-AF44-895A-D0DC59ECF2A7}"/>
              </a:ext>
            </a:extLst>
          </p:cNvPr>
          <p:cNvSpPr>
            <a:spLocks noChangeArrowheads="1"/>
          </p:cNvSpPr>
          <p:nvPr/>
        </p:nvSpPr>
        <p:spPr bwMode="auto">
          <a:xfrm>
            <a:off x="620713" y="40208"/>
            <a:ext cx="6238876" cy="51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buClrTx/>
              <a:buSzTx/>
              <a:buFontTx/>
              <a:buNone/>
            </a:pPr>
            <a:r>
              <a:rPr lang="en-US" altLang="zh-TW" sz="2800" b="1" dirty="0">
                <a:solidFill>
                  <a:srgbClr val="0000FF"/>
                </a:solidFill>
                <a:latin typeface="Times New Roman" panose="02020603050405020304" pitchFamily="18" charset="0"/>
                <a:ea typeface="PMingLiU" panose="02020500000000000000" pitchFamily="18" charset="-120"/>
              </a:rPr>
              <a:t>Probability is the</a:t>
            </a:r>
            <a:r>
              <a:rPr lang="en-US" altLang="zh-CN" sz="2800" b="1" dirty="0">
                <a:solidFill>
                  <a:srgbClr val="0000FF"/>
                </a:solidFill>
                <a:latin typeface="Times New Roman" panose="02020603050405020304" pitchFamily="18" charset="0"/>
                <a:ea typeface="PMingLiU" panose="02020500000000000000" pitchFamily="18" charset="-120"/>
              </a:rPr>
              <a:t> </a:t>
            </a:r>
            <a:r>
              <a:rPr lang="en-US" altLang="zh-TW" sz="2800" b="1" dirty="0">
                <a:solidFill>
                  <a:srgbClr val="0000FF"/>
                </a:solidFill>
                <a:latin typeface="Times New Roman" panose="02020603050405020304" pitchFamily="18" charset="0"/>
                <a:ea typeface="PMingLiU" panose="02020500000000000000" pitchFamily="18" charset="-120"/>
              </a:rPr>
              <a:t>area under the</a:t>
            </a:r>
            <a:r>
              <a:rPr lang="en-US" altLang="zh-CN" sz="2800" b="1" dirty="0">
                <a:solidFill>
                  <a:srgbClr val="0000FF"/>
                </a:solidFill>
                <a:latin typeface="Times New Roman" panose="02020603050405020304" pitchFamily="18" charset="0"/>
                <a:ea typeface="PMingLiU" panose="02020500000000000000" pitchFamily="18" charset="-120"/>
              </a:rPr>
              <a:t> c</a:t>
            </a:r>
            <a:r>
              <a:rPr lang="en-US" altLang="zh-TW" sz="2800" b="1" dirty="0">
                <a:solidFill>
                  <a:srgbClr val="0000FF"/>
                </a:solidFill>
                <a:latin typeface="Times New Roman" panose="02020603050405020304" pitchFamily="18" charset="0"/>
                <a:ea typeface="PMingLiU" panose="02020500000000000000" pitchFamily="18" charset="-120"/>
              </a:rPr>
              <a:t>urve!</a:t>
            </a:r>
          </a:p>
        </p:txBody>
      </p:sp>
      <mc:AlternateContent xmlns:mc="http://schemas.openxmlformats.org/markup-compatibility/2006" xmlns:a14="http://schemas.microsoft.com/office/drawing/2010/main">
        <mc:Choice Requires="a14">
          <p:sp>
            <p:nvSpPr>
              <p:cNvPr id="35913" name="Text Box 84">
                <a:extLst>
                  <a:ext uri="{FF2B5EF4-FFF2-40B4-BE49-F238E27FC236}">
                    <a16:creationId xmlns:a16="http://schemas.microsoft.com/office/drawing/2014/main" id="{253A0E6A-0EA1-FD4D-94F0-045F0FD44203}"/>
                  </a:ext>
                </a:extLst>
              </p:cNvPr>
              <p:cNvSpPr txBox="1">
                <a:spLocks noChangeArrowheads="1"/>
              </p:cNvSpPr>
              <p:nvPr/>
            </p:nvSpPr>
            <p:spPr bwMode="auto">
              <a:xfrm>
                <a:off x="5200604" y="964926"/>
                <a:ext cx="6287299" cy="95410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is normal random variable with mean</a:t>
                </a:r>
                <a:r>
                  <a:rPr lang="en-AU" sz="2800" dirty="0">
                    <a:solidFill>
                      <a:srgbClr val="000000"/>
                    </a:solidFill>
                  </a:rPr>
                  <a:t> </a:t>
                </a:r>
                <a14:m>
                  <m:oMath xmlns:m="http://schemas.openxmlformats.org/officeDocument/2006/math">
                    <m:r>
                      <a:rPr lang="en-AU" sz="2800" i="1">
                        <a:solidFill>
                          <a:srgbClr val="000000"/>
                        </a:solidFill>
                        <a:latin typeface="Cambria Math" panose="02040503050406030204" pitchFamily="18" charset="0"/>
                      </a:rPr>
                      <m:t>𝜇</m:t>
                    </m:r>
                  </m:oMath>
                </a14:m>
                <a:r>
                  <a:rPr lang="en-US" altLang="zh-CN" sz="2800" dirty="0">
                    <a:latin typeface="Times New Roman" panose="02020603050405020304" pitchFamily="18" charset="0"/>
                    <a:cs typeface="Times New Roman" panose="02020603050405020304" pitchFamily="18" charset="0"/>
                  </a:rPr>
                  <a:t>  </a:t>
                </a:r>
              </a:p>
              <a:p>
                <a:pPr eaLnBrk="1" hangingPunct="1">
                  <a:spcBef>
                    <a:spcPct val="0"/>
                  </a:spcBef>
                  <a:buClrTx/>
                  <a:buSzTx/>
                  <a:buFontTx/>
                  <a:buNone/>
                </a:pPr>
                <a:r>
                  <a:rPr lang="en-US" altLang="zh-CN" sz="2800" dirty="0">
                    <a:latin typeface="Times New Roman" panose="02020603050405020304" pitchFamily="18" charset="0"/>
                    <a:cs typeface="Times New Roman" panose="02020603050405020304" pitchFamily="18" charset="0"/>
                  </a:rPr>
                  <a:t>and standard deviation </a:t>
                </a:r>
                <a:r>
                  <a:rPr lang="el-GR" altLang="zh-CN" sz="2800" dirty="0">
                    <a:latin typeface="Times New Roman" panose="02020603050405020304" pitchFamily="18" charset="0"/>
                    <a:cs typeface="Times New Roman" panose="02020603050405020304" pitchFamily="18" charset="0"/>
                  </a:rPr>
                  <a:t>σ</a:t>
                </a:r>
                <a:r>
                  <a:rPr lang="en-AU"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p>
            </p:txBody>
          </p:sp>
        </mc:Choice>
        <mc:Fallback xmlns="">
          <p:sp>
            <p:nvSpPr>
              <p:cNvPr id="35913" name="Text Box 84">
                <a:extLst>
                  <a:ext uri="{FF2B5EF4-FFF2-40B4-BE49-F238E27FC236}">
                    <a16:creationId xmlns:a16="http://schemas.microsoft.com/office/drawing/2014/main" id="{253A0E6A-0EA1-FD4D-94F0-045F0FD44203}"/>
                  </a:ext>
                </a:extLst>
              </p:cNvPr>
              <p:cNvSpPr txBox="1">
                <a:spLocks noRot="1" noChangeAspect="1" noMove="1" noResize="1" noEditPoints="1" noAdjustHandles="1" noChangeArrowheads="1" noChangeShapeType="1" noTextEdit="1"/>
              </p:cNvSpPr>
              <p:nvPr/>
            </p:nvSpPr>
            <p:spPr bwMode="auto">
              <a:xfrm>
                <a:off x="5200604" y="964926"/>
                <a:ext cx="6287299" cy="954107"/>
              </a:xfrm>
              <a:prstGeom prst="rect">
                <a:avLst/>
              </a:prstGeom>
              <a:blipFill>
                <a:blip r:embed="rId3"/>
                <a:stretch>
                  <a:fillRect l="-1940" t="-6369" b="-165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35915" name="Text Box 87">
            <a:extLst>
              <a:ext uri="{FF2B5EF4-FFF2-40B4-BE49-F238E27FC236}">
                <a16:creationId xmlns:a16="http://schemas.microsoft.com/office/drawing/2014/main" id="{1963A08E-7EF6-2445-994E-96524F90E286}"/>
              </a:ext>
            </a:extLst>
          </p:cNvPr>
          <p:cNvSpPr txBox="1">
            <a:spLocks noChangeArrowheads="1"/>
          </p:cNvSpPr>
          <p:nvPr/>
        </p:nvSpPr>
        <p:spPr bwMode="auto">
          <a:xfrm>
            <a:off x="7945393" y="2142282"/>
            <a:ext cx="354250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i="1" dirty="0">
                <a:solidFill>
                  <a:srgbClr val="0000FF"/>
                </a:solidFill>
                <a:latin typeface="Times New Roman" panose="02020603050405020304" pitchFamily="18" charset="0"/>
                <a:cs typeface="Times New Roman" panose="02020603050405020304" pitchFamily="18" charset="0"/>
              </a:rPr>
              <a:t>z</a:t>
            </a:r>
            <a:r>
              <a:rPr lang="en-US" altLang="zh-CN" sz="2800" dirty="0">
                <a:solidFill>
                  <a:srgbClr val="0000FF"/>
                </a:solidFill>
                <a:latin typeface="Times New Roman" panose="02020603050405020304" pitchFamily="18" charset="0"/>
                <a:cs typeface="Times New Roman" panose="02020603050405020304" pitchFamily="18" charset="0"/>
              </a:rPr>
              <a:t> follows standard normal distribution </a:t>
            </a:r>
          </a:p>
        </p:txBody>
      </p:sp>
      <p:grpSp>
        <p:nvGrpSpPr>
          <p:cNvPr id="17" name="Group 16">
            <a:extLst>
              <a:ext uri="{FF2B5EF4-FFF2-40B4-BE49-F238E27FC236}">
                <a16:creationId xmlns:a16="http://schemas.microsoft.com/office/drawing/2014/main" id="{E3D9F5ED-A16D-29A5-02D4-8EF7E8EA0EC3}"/>
              </a:ext>
            </a:extLst>
          </p:cNvPr>
          <p:cNvGrpSpPr/>
          <p:nvPr/>
        </p:nvGrpSpPr>
        <p:grpSpPr>
          <a:xfrm>
            <a:off x="758823" y="863997"/>
            <a:ext cx="3624172" cy="2431822"/>
            <a:chOff x="758823" y="863997"/>
            <a:chExt cx="3624172" cy="2431822"/>
          </a:xfrm>
        </p:grpSpPr>
        <p:sp>
          <p:nvSpPr>
            <p:cNvPr id="35846" name="Freeform 5">
              <a:extLst>
                <a:ext uri="{FF2B5EF4-FFF2-40B4-BE49-F238E27FC236}">
                  <a16:creationId xmlns:a16="http://schemas.microsoft.com/office/drawing/2014/main" id="{192BE8C3-C59D-934F-A09A-CE3E9E56E4CE}"/>
                </a:ext>
              </a:extLst>
            </p:cNvPr>
            <p:cNvSpPr>
              <a:spLocks/>
            </p:cNvSpPr>
            <p:nvPr/>
          </p:nvSpPr>
          <p:spPr bwMode="auto">
            <a:xfrm>
              <a:off x="2071686" y="1322115"/>
              <a:ext cx="933450" cy="1520825"/>
            </a:xfrm>
            <a:custGeom>
              <a:avLst/>
              <a:gdLst>
                <a:gd name="T0" fmla="*/ 396804682 w 950"/>
                <a:gd name="T1" fmla="*/ 0 h 1288"/>
                <a:gd name="T2" fmla="*/ 493350924 w 950"/>
                <a:gd name="T3" fmla="*/ 47402982 h 1288"/>
                <a:gd name="T4" fmla="*/ 612102468 w 950"/>
                <a:gd name="T5" fmla="*/ 191006410 h 1288"/>
                <a:gd name="T6" fmla="*/ 681615998 w 950"/>
                <a:gd name="T7" fmla="*/ 369464833 h 1288"/>
                <a:gd name="T8" fmla="*/ 785885311 w 950"/>
                <a:gd name="T9" fmla="*/ 591142788 h 1288"/>
                <a:gd name="T10" fmla="*/ 855398841 w 950"/>
                <a:gd name="T11" fmla="*/ 793302702 h 1288"/>
                <a:gd name="T12" fmla="*/ 911396016 w 950"/>
                <a:gd name="T13" fmla="*/ 929934895 h 1288"/>
                <a:gd name="T14" fmla="*/ 917188318 w 950"/>
                <a:gd name="T15" fmla="*/ 1777611814 h 1288"/>
                <a:gd name="T16" fmla="*/ 324395492 w 950"/>
                <a:gd name="T17" fmla="*/ 1777611814 h 1288"/>
                <a:gd name="T18" fmla="*/ 0 w 950"/>
                <a:gd name="T19" fmla="*/ 1795736553 h 1288"/>
                <a:gd name="T20" fmla="*/ 0 w 950"/>
                <a:gd name="T21" fmla="*/ 1353773945 h 1288"/>
                <a:gd name="T22" fmla="*/ 6758178 w 950"/>
                <a:gd name="T23" fmla="*/ 902051136 h 1288"/>
                <a:gd name="T24" fmla="*/ 6758178 w 950"/>
                <a:gd name="T25" fmla="*/ 691525504 h 1288"/>
                <a:gd name="T26" fmla="*/ 284811316 w 950"/>
                <a:gd name="T27" fmla="*/ 47402982 h 1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50" h="1288">
                  <a:moveTo>
                    <a:pt x="411" y="0"/>
                  </a:moveTo>
                  <a:lnTo>
                    <a:pt x="511" y="34"/>
                  </a:lnTo>
                  <a:lnTo>
                    <a:pt x="634" y="137"/>
                  </a:lnTo>
                  <a:lnTo>
                    <a:pt x="706" y="265"/>
                  </a:lnTo>
                  <a:lnTo>
                    <a:pt x="814" y="424"/>
                  </a:lnTo>
                  <a:lnTo>
                    <a:pt x="886" y="569"/>
                  </a:lnTo>
                  <a:lnTo>
                    <a:pt x="944" y="667"/>
                  </a:lnTo>
                  <a:lnTo>
                    <a:pt x="950" y="1275"/>
                  </a:lnTo>
                  <a:lnTo>
                    <a:pt x="336" y="1275"/>
                  </a:lnTo>
                  <a:lnTo>
                    <a:pt x="0" y="1288"/>
                  </a:lnTo>
                  <a:lnTo>
                    <a:pt x="0" y="971"/>
                  </a:lnTo>
                  <a:lnTo>
                    <a:pt x="7" y="647"/>
                  </a:lnTo>
                  <a:lnTo>
                    <a:pt x="7" y="496"/>
                  </a:lnTo>
                  <a:lnTo>
                    <a:pt x="295" y="34"/>
                  </a:lnTo>
                </a:path>
              </a:pathLst>
            </a:custGeom>
            <a:solidFill>
              <a:schemeClr val="accent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7" name="Rectangle 6">
              <a:extLst>
                <a:ext uri="{FF2B5EF4-FFF2-40B4-BE49-F238E27FC236}">
                  <a16:creationId xmlns:a16="http://schemas.microsoft.com/office/drawing/2014/main" id="{791C6AA8-4559-FE4C-AA1C-5779D64782C4}"/>
                </a:ext>
              </a:extLst>
            </p:cNvPr>
            <p:cNvSpPr>
              <a:spLocks noChangeArrowheads="1"/>
            </p:cNvSpPr>
            <p:nvPr/>
          </p:nvSpPr>
          <p:spPr bwMode="auto">
            <a:xfrm>
              <a:off x="1976436" y="2779440"/>
              <a:ext cx="355866"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700" i="1" dirty="0">
                  <a:latin typeface="Times New Roman" panose="02020603050405020304" pitchFamily="18" charset="0"/>
                  <a:ea typeface="PMingLiU" panose="02020500000000000000" pitchFamily="18" charset="-120"/>
                  <a:cs typeface="Times New Roman" panose="02020603050405020304" pitchFamily="18" charset="0"/>
                </a:rPr>
                <a:t>a</a:t>
              </a:r>
            </a:p>
          </p:txBody>
        </p:sp>
        <p:sp>
          <p:nvSpPr>
            <p:cNvPr id="35848" name="Freeform 7">
              <a:extLst>
                <a:ext uri="{FF2B5EF4-FFF2-40B4-BE49-F238E27FC236}">
                  <a16:creationId xmlns:a16="http://schemas.microsoft.com/office/drawing/2014/main" id="{FFCEAEC6-CAFD-5A47-B352-CF6CC9F030C9}"/>
                </a:ext>
              </a:extLst>
            </p:cNvPr>
            <p:cNvSpPr>
              <a:spLocks/>
            </p:cNvSpPr>
            <p:nvPr/>
          </p:nvSpPr>
          <p:spPr bwMode="auto">
            <a:xfrm>
              <a:off x="2495548" y="1323702"/>
              <a:ext cx="198438" cy="155575"/>
            </a:xfrm>
            <a:custGeom>
              <a:avLst/>
              <a:gdLst>
                <a:gd name="T0" fmla="*/ 0 w 203"/>
                <a:gd name="T1" fmla="*/ 2777957 h 132"/>
                <a:gd name="T2" fmla="*/ 25799873 w 203"/>
                <a:gd name="T3" fmla="*/ 0 h 132"/>
                <a:gd name="T4" fmla="*/ 51599745 w 203"/>
                <a:gd name="T5" fmla="*/ 4167524 h 132"/>
                <a:gd name="T6" fmla="*/ 75489530 w 203"/>
                <a:gd name="T7" fmla="*/ 19446875 h 132"/>
                <a:gd name="T8" fmla="*/ 96511250 w 203"/>
                <a:gd name="T9" fmla="*/ 38894929 h 132"/>
                <a:gd name="T10" fmla="*/ 115622882 w 203"/>
                <a:gd name="T11" fmla="*/ 62509328 h 132"/>
                <a:gd name="T12" fmla="*/ 129000340 w 203"/>
                <a:gd name="T13" fmla="*/ 93069208 h 132"/>
                <a:gd name="T14" fmla="*/ 193022500 w 203"/>
                <a:gd name="T15" fmla="*/ 181970892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 h="132">
                  <a:moveTo>
                    <a:pt x="0" y="2"/>
                  </a:moveTo>
                  <a:lnTo>
                    <a:pt x="27" y="0"/>
                  </a:lnTo>
                  <a:lnTo>
                    <a:pt x="54" y="3"/>
                  </a:lnTo>
                  <a:lnTo>
                    <a:pt x="79" y="14"/>
                  </a:lnTo>
                  <a:lnTo>
                    <a:pt x="101" y="28"/>
                  </a:lnTo>
                  <a:lnTo>
                    <a:pt x="121" y="45"/>
                  </a:lnTo>
                  <a:lnTo>
                    <a:pt x="135" y="67"/>
                  </a:lnTo>
                  <a:lnTo>
                    <a:pt x="202" y="131"/>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9" name="Rectangle 8">
              <a:extLst>
                <a:ext uri="{FF2B5EF4-FFF2-40B4-BE49-F238E27FC236}">
                  <a16:creationId xmlns:a16="http://schemas.microsoft.com/office/drawing/2014/main" id="{17B3AD7E-61EC-D549-82B5-255963CA5001}"/>
                </a:ext>
              </a:extLst>
            </p:cNvPr>
            <p:cNvSpPr>
              <a:spLocks noChangeArrowheads="1"/>
            </p:cNvSpPr>
            <p:nvPr/>
          </p:nvSpPr>
          <p:spPr bwMode="auto">
            <a:xfrm>
              <a:off x="2908298" y="2790552"/>
              <a:ext cx="355866" cy="505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700" i="1" dirty="0">
                  <a:latin typeface="Times New Roman" panose="02020603050405020304" pitchFamily="18" charset="0"/>
                  <a:ea typeface="PMingLiU" panose="02020500000000000000" pitchFamily="18" charset="-120"/>
                  <a:cs typeface="Times New Roman" panose="02020603050405020304" pitchFamily="18" charset="0"/>
                </a:rPr>
                <a:t>b</a:t>
              </a:r>
            </a:p>
          </p:txBody>
        </p:sp>
        <p:sp>
          <p:nvSpPr>
            <p:cNvPr id="35850" name="Rectangle 9">
              <a:extLst>
                <a:ext uri="{FF2B5EF4-FFF2-40B4-BE49-F238E27FC236}">
                  <a16:creationId xmlns:a16="http://schemas.microsoft.com/office/drawing/2014/main" id="{D9C89D0E-F7EC-4848-9C5E-3B8CE1EE3E91}"/>
                </a:ext>
              </a:extLst>
            </p:cNvPr>
            <p:cNvSpPr>
              <a:spLocks noChangeArrowheads="1"/>
            </p:cNvSpPr>
            <p:nvPr/>
          </p:nvSpPr>
          <p:spPr bwMode="auto">
            <a:xfrm>
              <a:off x="4063998" y="2779439"/>
              <a:ext cx="31899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400" i="1" dirty="0">
                  <a:latin typeface="Times New Roman" panose="02020603050405020304" pitchFamily="18" charset="0"/>
                  <a:ea typeface="PMingLiU" panose="02020500000000000000" pitchFamily="18" charset="-120"/>
                  <a:cs typeface="Times New Roman" panose="02020603050405020304" pitchFamily="18" charset="0"/>
                </a:rPr>
                <a:t>x</a:t>
              </a:r>
            </a:p>
          </p:txBody>
        </p:sp>
        <p:sp>
          <p:nvSpPr>
            <p:cNvPr id="35851" name="Freeform 10">
              <a:extLst>
                <a:ext uri="{FF2B5EF4-FFF2-40B4-BE49-F238E27FC236}">
                  <a16:creationId xmlns:a16="http://schemas.microsoft.com/office/drawing/2014/main" id="{7DCE4A86-0CCE-0D45-8EBF-9C0924ADFDE4}"/>
                </a:ext>
              </a:extLst>
            </p:cNvPr>
            <p:cNvSpPr>
              <a:spLocks/>
            </p:cNvSpPr>
            <p:nvPr/>
          </p:nvSpPr>
          <p:spPr bwMode="auto">
            <a:xfrm>
              <a:off x="2495548" y="1326876"/>
              <a:ext cx="1333500" cy="1473200"/>
            </a:xfrm>
            <a:custGeom>
              <a:avLst/>
              <a:gdLst>
                <a:gd name="T0" fmla="*/ 1309440987 w 1357"/>
                <a:gd name="T1" fmla="*/ 1737644122 h 1248"/>
                <a:gd name="T2" fmla="*/ 1171351510 w 1357"/>
                <a:gd name="T3" fmla="*/ 1716741916 h 1248"/>
                <a:gd name="T4" fmla="*/ 1101823783 w 1357"/>
                <a:gd name="T5" fmla="*/ 1697233821 h 1248"/>
                <a:gd name="T6" fmla="*/ 1033261050 w 1357"/>
                <a:gd name="T7" fmla="*/ 1670757537 h 1248"/>
                <a:gd name="T8" fmla="*/ 965664294 w 1357"/>
                <a:gd name="T9" fmla="*/ 1630347236 h 1248"/>
                <a:gd name="T10" fmla="*/ 895171573 w 1357"/>
                <a:gd name="T11" fmla="*/ 1577395847 h 1248"/>
                <a:gd name="T12" fmla="*/ 827574817 w 1357"/>
                <a:gd name="T13" fmla="*/ 1504936364 h 1248"/>
                <a:gd name="T14" fmla="*/ 689484357 w 1357"/>
                <a:gd name="T15" fmla="*/ 1302884859 h 1248"/>
                <a:gd name="T16" fmla="*/ 551394880 w 1357"/>
                <a:gd name="T17" fmla="*/ 1018618642 h 1248"/>
                <a:gd name="T18" fmla="*/ 413304420 w 1357"/>
                <a:gd name="T19" fmla="*/ 678615179 h 1248"/>
                <a:gd name="T20" fmla="*/ 343776693 w 1357"/>
                <a:gd name="T21" fmla="*/ 505825817 h 1248"/>
                <a:gd name="T22" fmla="*/ 276179937 w 1357"/>
                <a:gd name="T23" fmla="*/ 344184613 h 1248"/>
                <a:gd name="T24" fmla="*/ 205686233 w 1357"/>
                <a:gd name="T25" fmla="*/ 202051505 h 1248"/>
                <a:gd name="T26" fmla="*/ 138090460 w 1357"/>
                <a:gd name="T27" fmla="*/ 93361689 h 1248"/>
                <a:gd name="T28" fmla="*/ 67596756 w 1357"/>
                <a:gd name="T29" fmla="*/ 23689245 h 1248"/>
                <a:gd name="T30" fmla="*/ 0 w 1357"/>
                <a:gd name="T31" fmla="*/ 0 h 1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7" h="1248">
                  <a:moveTo>
                    <a:pt x="1356" y="1247"/>
                  </a:moveTo>
                  <a:lnTo>
                    <a:pt x="1213" y="1232"/>
                  </a:lnTo>
                  <a:lnTo>
                    <a:pt x="1141" y="1218"/>
                  </a:lnTo>
                  <a:lnTo>
                    <a:pt x="1070" y="1199"/>
                  </a:lnTo>
                  <a:lnTo>
                    <a:pt x="1000" y="1170"/>
                  </a:lnTo>
                  <a:lnTo>
                    <a:pt x="927" y="1132"/>
                  </a:lnTo>
                  <a:lnTo>
                    <a:pt x="857" y="1080"/>
                  </a:lnTo>
                  <a:lnTo>
                    <a:pt x="714" y="935"/>
                  </a:lnTo>
                  <a:lnTo>
                    <a:pt x="571" y="731"/>
                  </a:lnTo>
                  <a:lnTo>
                    <a:pt x="428" y="487"/>
                  </a:lnTo>
                  <a:lnTo>
                    <a:pt x="356" y="363"/>
                  </a:lnTo>
                  <a:lnTo>
                    <a:pt x="286" y="247"/>
                  </a:lnTo>
                  <a:lnTo>
                    <a:pt x="213" y="145"/>
                  </a:lnTo>
                  <a:lnTo>
                    <a:pt x="143" y="67"/>
                  </a:lnTo>
                  <a:lnTo>
                    <a:pt x="70" y="17"/>
                  </a:lnTo>
                  <a:lnTo>
                    <a:pt x="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2" name="Freeform 11">
              <a:extLst>
                <a:ext uri="{FF2B5EF4-FFF2-40B4-BE49-F238E27FC236}">
                  <a16:creationId xmlns:a16="http://schemas.microsoft.com/office/drawing/2014/main" id="{632569AA-EDC6-2F44-B624-48D651B3E378}"/>
                </a:ext>
              </a:extLst>
            </p:cNvPr>
            <p:cNvSpPr>
              <a:spLocks/>
            </p:cNvSpPr>
            <p:nvPr/>
          </p:nvSpPr>
          <p:spPr bwMode="auto">
            <a:xfrm>
              <a:off x="1173162" y="1314177"/>
              <a:ext cx="1316037" cy="1452563"/>
            </a:xfrm>
            <a:custGeom>
              <a:avLst/>
              <a:gdLst>
                <a:gd name="T0" fmla="*/ 0 w 1337"/>
                <a:gd name="T1" fmla="*/ 1715397780 h 1230"/>
                <a:gd name="T2" fmla="*/ 138551037 w 1337"/>
                <a:gd name="T3" fmla="*/ 1694478511 h 1230"/>
                <a:gd name="T4" fmla="*/ 206372713 w 1337"/>
                <a:gd name="T5" fmla="*/ 1674953938 h 1230"/>
                <a:gd name="T6" fmla="*/ 276132517 w 1337"/>
                <a:gd name="T7" fmla="*/ 1648455882 h 1230"/>
                <a:gd name="T8" fmla="*/ 344923750 w 1337"/>
                <a:gd name="T9" fmla="*/ 1608010860 h 1230"/>
                <a:gd name="T10" fmla="*/ 414683554 w 1337"/>
                <a:gd name="T11" fmla="*/ 1555014748 h 1230"/>
                <a:gd name="T12" fmla="*/ 483474786 w 1337"/>
                <a:gd name="T13" fmla="*/ 1482494064 h 1230"/>
                <a:gd name="T14" fmla="*/ 622025823 w 1337"/>
                <a:gd name="T15" fmla="*/ 1280272495 h 1230"/>
                <a:gd name="T16" fmla="*/ 759608288 w 1337"/>
                <a:gd name="T17" fmla="*/ 995767365 h 1230"/>
                <a:gd name="T18" fmla="*/ 898158340 w 1337"/>
                <a:gd name="T19" fmla="*/ 655476730 h 1230"/>
                <a:gd name="T20" fmla="*/ 968887701 w 1337"/>
                <a:gd name="T21" fmla="*/ 482542610 h 1230"/>
                <a:gd name="T22" fmla="*/ 1036709377 w 1337"/>
                <a:gd name="T23" fmla="*/ 320764882 h 1230"/>
                <a:gd name="T24" fmla="*/ 1105500610 w 1337"/>
                <a:gd name="T25" fmla="*/ 178512907 h 1230"/>
                <a:gd name="T26" fmla="*/ 1175260414 w 1337"/>
                <a:gd name="T27" fmla="*/ 69731291 h 1230"/>
                <a:gd name="T28" fmla="*/ 1244051646 w 1337"/>
                <a:gd name="T29" fmla="*/ 0 h 1230"/>
                <a:gd name="T30" fmla="*/ 1295402682 w 1337"/>
                <a:gd name="T31" fmla="*/ 8368180 h 12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37" h="1230">
                  <a:moveTo>
                    <a:pt x="0" y="1230"/>
                  </a:moveTo>
                  <a:lnTo>
                    <a:pt x="143" y="1215"/>
                  </a:lnTo>
                  <a:lnTo>
                    <a:pt x="213" y="1201"/>
                  </a:lnTo>
                  <a:lnTo>
                    <a:pt x="285" y="1182"/>
                  </a:lnTo>
                  <a:lnTo>
                    <a:pt x="356" y="1153"/>
                  </a:lnTo>
                  <a:lnTo>
                    <a:pt x="428" y="1115"/>
                  </a:lnTo>
                  <a:lnTo>
                    <a:pt x="499" y="1063"/>
                  </a:lnTo>
                  <a:lnTo>
                    <a:pt x="642" y="918"/>
                  </a:lnTo>
                  <a:lnTo>
                    <a:pt x="784" y="714"/>
                  </a:lnTo>
                  <a:lnTo>
                    <a:pt x="927" y="470"/>
                  </a:lnTo>
                  <a:lnTo>
                    <a:pt x="1000" y="346"/>
                  </a:lnTo>
                  <a:lnTo>
                    <a:pt x="1070" y="230"/>
                  </a:lnTo>
                  <a:lnTo>
                    <a:pt x="1141" y="128"/>
                  </a:lnTo>
                  <a:lnTo>
                    <a:pt x="1213" y="50"/>
                  </a:lnTo>
                  <a:lnTo>
                    <a:pt x="1284" y="0"/>
                  </a:lnTo>
                  <a:lnTo>
                    <a:pt x="1337" y="6"/>
                  </a:lnTo>
                </a:path>
              </a:pathLst>
            </a:custGeom>
            <a:noFill/>
            <a:ln w="50800" cap="rnd"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3" name="Freeform 12">
              <a:extLst>
                <a:ext uri="{FF2B5EF4-FFF2-40B4-BE49-F238E27FC236}">
                  <a16:creationId xmlns:a16="http://schemas.microsoft.com/office/drawing/2014/main" id="{C989E19E-B48F-F44E-85C9-F10A06178EEC}"/>
                </a:ext>
              </a:extLst>
            </p:cNvPr>
            <p:cNvSpPr>
              <a:spLocks/>
            </p:cNvSpPr>
            <p:nvPr/>
          </p:nvSpPr>
          <p:spPr bwMode="auto">
            <a:xfrm>
              <a:off x="947737" y="1361801"/>
              <a:ext cx="3209925" cy="1474788"/>
            </a:xfrm>
            <a:custGeom>
              <a:avLst/>
              <a:gdLst>
                <a:gd name="T0" fmla="*/ 0 w 2764"/>
                <a:gd name="T1" fmla="*/ 0 h 1245"/>
                <a:gd name="T2" fmla="*/ 0 w 2764"/>
                <a:gd name="T3" fmla="*/ 1745583953 h 1245"/>
                <a:gd name="T4" fmla="*/ 2147483647 w 2764"/>
                <a:gd name="T5" fmla="*/ 1745583953 h 1245"/>
                <a:gd name="T6" fmla="*/ 0 60000 65536"/>
                <a:gd name="T7" fmla="*/ 0 60000 65536"/>
                <a:gd name="T8" fmla="*/ 0 60000 65536"/>
              </a:gdLst>
              <a:ahLst/>
              <a:cxnLst>
                <a:cxn ang="T6">
                  <a:pos x="T0" y="T1"/>
                </a:cxn>
                <a:cxn ang="T7">
                  <a:pos x="T2" y="T3"/>
                </a:cxn>
                <a:cxn ang="T8">
                  <a:pos x="T4" y="T5"/>
                </a:cxn>
              </a:cxnLst>
              <a:rect l="0" t="0" r="r" b="b"/>
              <a:pathLst>
                <a:path w="2764" h="1245">
                  <a:moveTo>
                    <a:pt x="0" y="0"/>
                  </a:moveTo>
                  <a:lnTo>
                    <a:pt x="0" y="1244"/>
                  </a:lnTo>
                  <a:lnTo>
                    <a:pt x="2763" y="124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64" name="Line 23">
              <a:extLst>
                <a:ext uri="{FF2B5EF4-FFF2-40B4-BE49-F238E27FC236}">
                  <a16:creationId xmlns:a16="http://schemas.microsoft.com/office/drawing/2014/main" id="{FD5579C2-D366-6D4D-A413-0A5099128426}"/>
                </a:ext>
              </a:extLst>
            </p:cNvPr>
            <p:cNvSpPr>
              <a:spLocks noChangeShapeType="1"/>
            </p:cNvSpPr>
            <p:nvPr/>
          </p:nvSpPr>
          <p:spPr bwMode="auto">
            <a:xfrm>
              <a:off x="3878261"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65" name="Line 24">
              <a:extLst>
                <a:ext uri="{FF2B5EF4-FFF2-40B4-BE49-F238E27FC236}">
                  <a16:creationId xmlns:a16="http://schemas.microsoft.com/office/drawing/2014/main" id="{AB023AA6-30D5-6F4E-A5F7-8FB64C211A9D}"/>
                </a:ext>
              </a:extLst>
            </p:cNvPr>
            <p:cNvSpPr>
              <a:spLocks noChangeShapeType="1"/>
            </p:cNvSpPr>
            <p:nvPr/>
          </p:nvSpPr>
          <p:spPr bwMode="auto">
            <a:xfrm>
              <a:off x="3606798"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66" name="Line 25">
              <a:extLst>
                <a:ext uri="{FF2B5EF4-FFF2-40B4-BE49-F238E27FC236}">
                  <a16:creationId xmlns:a16="http://schemas.microsoft.com/office/drawing/2014/main" id="{A7C1BCD1-840C-0247-9C66-0E444D4359C9}"/>
                </a:ext>
              </a:extLst>
            </p:cNvPr>
            <p:cNvSpPr>
              <a:spLocks noChangeShapeType="1"/>
            </p:cNvSpPr>
            <p:nvPr/>
          </p:nvSpPr>
          <p:spPr bwMode="auto">
            <a:xfrm>
              <a:off x="3333748"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67" name="Line 26">
              <a:extLst>
                <a:ext uri="{FF2B5EF4-FFF2-40B4-BE49-F238E27FC236}">
                  <a16:creationId xmlns:a16="http://schemas.microsoft.com/office/drawing/2014/main" id="{D9F96E9D-3EE8-784C-B67E-FCF442E56207}"/>
                </a:ext>
              </a:extLst>
            </p:cNvPr>
            <p:cNvSpPr>
              <a:spLocks noChangeShapeType="1"/>
            </p:cNvSpPr>
            <p:nvPr/>
          </p:nvSpPr>
          <p:spPr bwMode="auto">
            <a:xfrm>
              <a:off x="3063873"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68" name="Line 27">
              <a:extLst>
                <a:ext uri="{FF2B5EF4-FFF2-40B4-BE49-F238E27FC236}">
                  <a16:creationId xmlns:a16="http://schemas.microsoft.com/office/drawing/2014/main" id="{9F1954E9-9090-E845-85F6-0095C5F8782B}"/>
                </a:ext>
              </a:extLst>
            </p:cNvPr>
            <p:cNvSpPr>
              <a:spLocks noChangeShapeType="1"/>
            </p:cNvSpPr>
            <p:nvPr/>
          </p:nvSpPr>
          <p:spPr bwMode="auto">
            <a:xfrm>
              <a:off x="2792411"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69" name="Line 28">
              <a:extLst>
                <a:ext uri="{FF2B5EF4-FFF2-40B4-BE49-F238E27FC236}">
                  <a16:creationId xmlns:a16="http://schemas.microsoft.com/office/drawing/2014/main" id="{7F6596F1-A7F8-2D43-95A4-1B4D3564E830}"/>
                </a:ext>
              </a:extLst>
            </p:cNvPr>
            <p:cNvSpPr>
              <a:spLocks noChangeShapeType="1"/>
            </p:cNvSpPr>
            <p:nvPr/>
          </p:nvSpPr>
          <p:spPr bwMode="auto">
            <a:xfrm>
              <a:off x="2519361"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70" name="Line 29">
              <a:extLst>
                <a:ext uri="{FF2B5EF4-FFF2-40B4-BE49-F238E27FC236}">
                  <a16:creationId xmlns:a16="http://schemas.microsoft.com/office/drawing/2014/main" id="{A018EB74-D954-134C-8563-A989A1345C0F}"/>
                </a:ext>
              </a:extLst>
            </p:cNvPr>
            <p:cNvSpPr>
              <a:spLocks noChangeShapeType="1"/>
            </p:cNvSpPr>
            <p:nvPr/>
          </p:nvSpPr>
          <p:spPr bwMode="auto">
            <a:xfrm>
              <a:off x="2247898"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71" name="Line 30">
              <a:extLst>
                <a:ext uri="{FF2B5EF4-FFF2-40B4-BE49-F238E27FC236}">
                  <a16:creationId xmlns:a16="http://schemas.microsoft.com/office/drawing/2014/main" id="{BC79FD68-E8EE-9040-9938-2A807B309014}"/>
                </a:ext>
              </a:extLst>
            </p:cNvPr>
            <p:cNvSpPr>
              <a:spLocks noChangeShapeType="1"/>
            </p:cNvSpPr>
            <p:nvPr/>
          </p:nvSpPr>
          <p:spPr bwMode="auto">
            <a:xfrm>
              <a:off x="1974848"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72" name="Line 31">
              <a:extLst>
                <a:ext uri="{FF2B5EF4-FFF2-40B4-BE49-F238E27FC236}">
                  <a16:creationId xmlns:a16="http://schemas.microsoft.com/office/drawing/2014/main" id="{9BC46281-46F7-A04D-B44B-C4CA88BCAA14}"/>
                </a:ext>
              </a:extLst>
            </p:cNvPr>
            <p:cNvSpPr>
              <a:spLocks noChangeShapeType="1"/>
            </p:cNvSpPr>
            <p:nvPr/>
          </p:nvSpPr>
          <p:spPr bwMode="auto">
            <a:xfrm>
              <a:off x="1704973" y="2812776"/>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74" name="Rectangle 33">
              <a:extLst>
                <a:ext uri="{FF2B5EF4-FFF2-40B4-BE49-F238E27FC236}">
                  <a16:creationId xmlns:a16="http://schemas.microsoft.com/office/drawing/2014/main" id="{4396D885-F9F1-1140-9248-80E226CE50B4}"/>
                </a:ext>
              </a:extLst>
            </p:cNvPr>
            <p:cNvSpPr>
              <a:spLocks noChangeArrowheads="1"/>
            </p:cNvSpPr>
            <p:nvPr/>
          </p:nvSpPr>
          <p:spPr bwMode="auto">
            <a:xfrm>
              <a:off x="930273" y="1992039"/>
              <a:ext cx="57150" cy="13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p:txBody>
        </p:sp>
        <p:sp>
          <p:nvSpPr>
            <p:cNvPr id="35875" name="Rectangle 34">
              <a:extLst>
                <a:ext uri="{FF2B5EF4-FFF2-40B4-BE49-F238E27FC236}">
                  <a16:creationId xmlns:a16="http://schemas.microsoft.com/office/drawing/2014/main" id="{FD711F39-DDFA-B941-B752-243C4EEE13B1}"/>
                </a:ext>
              </a:extLst>
            </p:cNvPr>
            <p:cNvSpPr>
              <a:spLocks noChangeArrowheads="1"/>
            </p:cNvSpPr>
            <p:nvPr/>
          </p:nvSpPr>
          <p:spPr bwMode="auto">
            <a:xfrm>
              <a:off x="3821111" y="2944539"/>
              <a:ext cx="114300" cy="68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p:txBody>
        </p:sp>
        <p:sp>
          <p:nvSpPr>
            <p:cNvPr id="35876" name="Rectangle 35">
              <a:extLst>
                <a:ext uri="{FF2B5EF4-FFF2-40B4-BE49-F238E27FC236}">
                  <a16:creationId xmlns:a16="http://schemas.microsoft.com/office/drawing/2014/main" id="{9AE69796-1A15-5543-8A49-1180D1AF9E9D}"/>
                </a:ext>
              </a:extLst>
            </p:cNvPr>
            <p:cNvSpPr>
              <a:spLocks noChangeArrowheads="1"/>
            </p:cNvSpPr>
            <p:nvPr/>
          </p:nvSpPr>
          <p:spPr bwMode="auto">
            <a:xfrm>
              <a:off x="758823" y="925170"/>
              <a:ext cx="62677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400" i="1" dirty="0">
                  <a:latin typeface="Times New Roman" panose="02020603050405020304" pitchFamily="18" charset="0"/>
                  <a:ea typeface="PMingLiU" panose="02020500000000000000" pitchFamily="18" charset="-120"/>
                  <a:cs typeface="Times New Roman" panose="02020603050405020304" pitchFamily="18" charset="0"/>
                </a:rPr>
                <a:t>f</a:t>
              </a:r>
              <a:r>
                <a:rPr lang="en-US" altLang="zh-TW" sz="2400" dirty="0">
                  <a:latin typeface="Times New Roman" panose="02020603050405020304" pitchFamily="18" charset="0"/>
                  <a:ea typeface="PMingLiU" panose="02020500000000000000" pitchFamily="18" charset="-120"/>
                  <a:cs typeface="Times New Roman" panose="02020603050405020304" pitchFamily="18" charset="0"/>
                </a:rPr>
                <a:t>(</a:t>
              </a:r>
              <a:r>
                <a:rPr lang="en-US" altLang="zh-TW" sz="2400" i="1" dirty="0">
                  <a:latin typeface="Times New Roman" panose="02020603050405020304" pitchFamily="18" charset="0"/>
                  <a:ea typeface="PMingLiU" panose="02020500000000000000" pitchFamily="18" charset="-120"/>
                  <a:cs typeface="Times New Roman" panose="02020603050405020304" pitchFamily="18" charset="0"/>
                </a:rPr>
                <a:t>x</a:t>
              </a:r>
              <a:r>
                <a:rPr lang="en-US" altLang="zh-TW" sz="2400" dirty="0">
                  <a:latin typeface="Times New Roman" panose="02020603050405020304" pitchFamily="18" charset="0"/>
                  <a:ea typeface="PMingLiU" panose="02020500000000000000" pitchFamily="18" charset="-120"/>
                  <a:cs typeface="Times New Roman" panose="02020603050405020304" pitchFamily="18" charset="0"/>
                </a:rPr>
                <a:t>)</a:t>
              </a:r>
            </a:p>
          </p:txBody>
        </p:sp>
        <p:sp>
          <p:nvSpPr>
            <p:cNvPr id="35877" name="Line 43">
              <a:extLst>
                <a:ext uri="{FF2B5EF4-FFF2-40B4-BE49-F238E27FC236}">
                  <a16:creationId xmlns:a16="http://schemas.microsoft.com/office/drawing/2014/main" id="{4F3E55F1-A054-EA46-86A0-BC7ED081785B}"/>
                </a:ext>
              </a:extLst>
            </p:cNvPr>
            <p:cNvSpPr>
              <a:spLocks noChangeShapeType="1"/>
            </p:cNvSpPr>
            <p:nvPr/>
          </p:nvSpPr>
          <p:spPr bwMode="auto">
            <a:xfrm flipH="1">
              <a:off x="2476221" y="1390367"/>
              <a:ext cx="381000" cy="48895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879" name="Text Box 46">
              <a:extLst>
                <a:ext uri="{FF2B5EF4-FFF2-40B4-BE49-F238E27FC236}">
                  <a16:creationId xmlns:a16="http://schemas.microsoft.com/office/drawing/2014/main" id="{E54DFBE0-D3E2-BD49-B93A-BDA6DE444069}"/>
                </a:ext>
              </a:extLst>
            </p:cNvPr>
            <p:cNvSpPr txBox="1">
              <a:spLocks noChangeArrowheads="1"/>
            </p:cNvSpPr>
            <p:nvPr/>
          </p:nvSpPr>
          <p:spPr bwMode="auto">
            <a:xfrm>
              <a:off x="1749423" y="1422127"/>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A1F2484-7D55-D290-F2F4-CF90DA277433}"/>
                    </a:ext>
                  </a:extLst>
                </p:cNvPr>
                <p:cNvSpPr txBox="1"/>
                <p:nvPr/>
              </p:nvSpPr>
              <p:spPr>
                <a:xfrm>
                  <a:off x="1701107" y="863997"/>
                  <a:ext cx="1888229"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sz="2000" i="1" smtClean="0">
                            <a:latin typeface="Cambria Math" panose="02040503050406030204" pitchFamily="18" charset="0"/>
                            <a:cs typeface="Times New Roman" panose="02020603050405020304" pitchFamily="18" charset="0"/>
                          </a:rPr>
                          <m:t>𝑃</m:t>
                        </m:r>
                        <m:d>
                          <m:dPr>
                            <m:ctrlPr>
                              <a:rPr lang="en-AU" altLang="zh-CN" sz="2000" i="1">
                                <a:latin typeface="Cambria Math" panose="02040503050406030204" pitchFamily="18" charset="0"/>
                                <a:cs typeface="Times New Roman" panose="02020603050405020304" pitchFamily="18" charset="0"/>
                              </a:rPr>
                            </m:ctrlPr>
                          </m:dPr>
                          <m:e>
                            <m:r>
                              <a:rPr lang="en-AU" altLang="zh-CN" sz="2000" b="0" i="1" smtClean="0">
                                <a:latin typeface="Cambria Math" panose="02040503050406030204" pitchFamily="18" charset="0"/>
                                <a:cs typeface="Times New Roman" panose="02020603050405020304" pitchFamily="18" charset="0"/>
                              </a:rPr>
                              <m:t>𝑎</m:t>
                            </m:r>
                            <m:r>
                              <a:rPr lang="en-AU" altLang="zh-CN" sz="2000" i="1">
                                <a:latin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cs typeface="Times New Roman" panose="02020603050405020304" pitchFamily="18" charset="0"/>
                              </a:rPr>
                              <m:t>𝑥</m:t>
                            </m:r>
                            <m:r>
                              <a:rPr lang="en-AU" altLang="zh-CN" sz="2000" i="1">
                                <a:latin typeface="Cambria Math" panose="02040503050406030204" pitchFamily="18" charset="0"/>
                                <a:cs typeface="Times New Roman" panose="02020603050405020304" pitchFamily="18" charset="0"/>
                              </a:rPr>
                              <m:t>≤</m:t>
                            </m:r>
                            <m:r>
                              <a:rPr lang="en-AU" altLang="zh-CN" sz="2000" b="0" i="1" smtClean="0">
                                <a:latin typeface="Cambria Math" panose="02040503050406030204" pitchFamily="18" charset="0"/>
                                <a:cs typeface="Times New Roman" panose="02020603050405020304" pitchFamily="18" charset="0"/>
                              </a:rPr>
                              <m:t>𝑏</m:t>
                            </m:r>
                          </m:e>
                        </m:d>
                      </m:oMath>
                    </m:oMathPara>
                  </a14:m>
                  <a:endParaRPr lang="en-AU" sz="2000" dirty="0"/>
                </a:p>
              </p:txBody>
            </p:sp>
          </mc:Choice>
          <mc:Fallback>
            <p:sp>
              <p:nvSpPr>
                <p:cNvPr id="4" name="TextBox 3">
                  <a:extLst>
                    <a:ext uri="{FF2B5EF4-FFF2-40B4-BE49-F238E27FC236}">
                      <a16:creationId xmlns:a16="http://schemas.microsoft.com/office/drawing/2014/main" id="{5A1F2484-7D55-D290-F2F4-CF90DA277433}"/>
                    </a:ext>
                  </a:extLst>
                </p:cNvPr>
                <p:cNvSpPr txBox="1">
                  <a:spLocks noRot="1" noChangeAspect="1" noMove="1" noResize="1" noEditPoints="1" noAdjustHandles="1" noChangeArrowheads="1" noChangeShapeType="1" noTextEdit="1"/>
                </p:cNvSpPr>
                <p:nvPr/>
              </p:nvSpPr>
              <p:spPr>
                <a:xfrm>
                  <a:off x="1701107" y="863997"/>
                  <a:ext cx="1888229" cy="400110"/>
                </a:xfrm>
                <a:prstGeom prst="rect">
                  <a:avLst/>
                </a:prstGeom>
                <a:blipFill>
                  <a:blip r:embed="rId4"/>
                  <a:stretch>
                    <a:fillRect/>
                  </a:stretch>
                </a:blipFill>
              </p:spPr>
              <p:txBody>
                <a:bodyPr/>
                <a:lstStyle/>
                <a:p>
                  <a:r>
                    <a:rPr lang="en-AU">
                      <a:noFill/>
                    </a:rPr>
                    <a:t> </a:t>
                  </a:r>
                </a:p>
              </p:txBody>
            </p:sp>
          </mc:Fallback>
        </mc:AlternateContent>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5F28191-3BB3-A5A1-A736-6B50278E4208}"/>
                  </a:ext>
                </a:extLst>
              </p:cNvPr>
              <p:cNvSpPr txBox="1"/>
              <p:nvPr/>
            </p:nvSpPr>
            <p:spPr>
              <a:xfrm>
                <a:off x="5832385" y="2254935"/>
                <a:ext cx="1784395" cy="830292"/>
              </a:xfrm>
              <a:prstGeom prst="rect">
                <a:avLst/>
              </a:prstGeom>
              <a:noFill/>
            </p:spPr>
            <p:txBody>
              <a:bodyPr wrap="square">
                <a:spAutoFit/>
              </a:bodyPr>
              <a:lstStyle/>
              <a:p>
                <a:pPr>
                  <a:buNone/>
                </a:pPr>
                <a14:m>
                  <m:oMathPara xmlns:m="http://schemas.openxmlformats.org/officeDocument/2006/math">
                    <m:oMathParaPr>
                      <m:jc m:val="left"/>
                    </m:oMathParaPr>
                    <m:oMath xmlns:m="http://schemas.openxmlformats.org/officeDocument/2006/math">
                      <m:r>
                        <a:rPr lang="en-AU" sz="2800" i="1" smtClean="0">
                          <a:solidFill>
                            <a:srgbClr val="000000"/>
                          </a:solidFill>
                          <a:effectLst/>
                          <a:latin typeface="Cambria Math" panose="02040503050406030204" pitchFamily="18" charset="0"/>
                        </a:rPr>
                        <m:t>𝑧</m:t>
                      </m:r>
                      <m:r>
                        <a:rPr lang="en-AU" sz="2800" i="1" smtClean="0">
                          <a:solidFill>
                            <a:srgbClr val="000000"/>
                          </a:solidFill>
                          <a:effectLst/>
                          <a:latin typeface="Cambria Math" panose="02040503050406030204" pitchFamily="18" charset="0"/>
                        </a:rPr>
                        <m:t>=</m:t>
                      </m:r>
                      <m:f>
                        <m:fPr>
                          <m:ctrlPr>
                            <a:rPr lang="en-AU" sz="2800" i="1">
                              <a:solidFill>
                                <a:srgbClr val="000000"/>
                              </a:solidFill>
                              <a:effectLst/>
                              <a:latin typeface="Cambria Math" panose="02040503050406030204" pitchFamily="18" charset="0"/>
                            </a:rPr>
                          </m:ctrlPr>
                        </m:fPr>
                        <m:num>
                          <m:r>
                            <a:rPr lang="en-AU" sz="2800" i="1">
                              <a:solidFill>
                                <a:srgbClr val="000000"/>
                              </a:solidFill>
                              <a:effectLst/>
                              <a:latin typeface="Cambria Math" panose="02040503050406030204" pitchFamily="18" charset="0"/>
                            </a:rPr>
                            <m:t>𝑥</m:t>
                          </m:r>
                          <m:r>
                            <a:rPr lang="en-AU" sz="2800" i="1">
                              <a:solidFill>
                                <a:srgbClr val="000000"/>
                              </a:solidFill>
                              <a:effectLst/>
                              <a:latin typeface="Cambria Math" panose="02040503050406030204" pitchFamily="18" charset="0"/>
                            </a:rPr>
                            <m:t>−</m:t>
                          </m:r>
                          <m:r>
                            <a:rPr lang="en-AU" sz="2800" i="1">
                              <a:solidFill>
                                <a:srgbClr val="000000"/>
                              </a:solidFill>
                              <a:effectLst/>
                              <a:latin typeface="Cambria Math" panose="02040503050406030204" pitchFamily="18" charset="0"/>
                            </a:rPr>
                            <m:t>𝜇</m:t>
                          </m:r>
                        </m:num>
                        <m:den>
                          <m:r>
                            <a:rPr lang="en-AU" sz="2800" i="1">
                              <a:solidFill>
                                <a:srgbClr val="000000"/>
                              </a:solidFill>
                              <a:effectLst/>
                              <a:latin typeface="Cambria Math" panose="02040503050406030204" pitchFamily="18" charset="0"/>
                            </a:rPr>
                            <m:t>𝜎</m:t>
                          </m:r>
                        </m:den>
                      </m:f>
                    </m:oMath>
                  </m:oMathPara>
                </a14:m>
                <a:endParaRPr lang="en-AU" sz="2800" dirty="0">
                  <a:effectLst/>
                </a:endParaRPr>
              </a:p>
            </p:txBody>
          </p:sp>
        </mc:Choice>
        <mc:Fallback xmlns="">
          <p:sp>
            <p:nvSpPr>
              <p:cNvPr id="9" name="TextBox 8">
                <a:extLst>
                  <a:ext uri="{FF2B5EF4-FFF2-40B4-BE49-F238E27FC236}">
                    <a16:creationId xmlns:a16="http://schemas.microsoft.com/office/drawing/2014/main" id="{45F28191-3BB3-A5A1-A736-6B50278E4208}"/>
                  </a:ext>
                </a:extLst>
              </p:cNvPr>
              <p:cNvSpPr txBox="1">
                <a:spLocks noRot="1" noChangeAspect="1" noMove="1" noResize="1" noEditPoints="1" noAdjustHandles="1" noChangeArrowheads="1" noChangeShapeType="1" noTextEdit="1"/>
              </p:cNvSpPr>
              <p:nvPr/>
            </p:nvSpPr>
            <p:spPr>
              <a:xfrm>
                <a:off x="5832385" y="2254935"/>
                <a:ext cx="1784395" cy="830292"/>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BB5A722-BEF0-0BF5-4CE0-CC3BD25F78B6}"/>
                  </a:ext>
                </a:extLst>
              </p:cNvPr>
              <p:cNvSpPr txBox="1"/>
              <p:nvPr/>
            </p:nvSpPr>
            <p:spPr>
              <a:xfrm>
                <a:off x="5443606" y="4645505"/>
                <a:ext cx="6423713" cy="10604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sz="2800" i="1" smtClean="0">
                          <a:latin typeface="Cambria Math" panose="02040503050406030204" pitchFamily="18" charset="0"/>
                          <a:cs typeface="Times New Roman" panose="02020603050405020304" pitchFamily="18" charset="0"/>
                        </a:rPr>
                        <m:t>𝑃</m:t>
                      </m:r>
                      <m:d>
                        <m:dPr>
                          <m:ctrlPr>
                            <a:rPr lang="en-AU" altLang="zh-CN" sz="2800" i="1">
                              <a:latin typeface="Cambria Math" panose="02040503050406030204" pitchFamily="18" charset="0"/>
                              <a:cs typeface="Times New Roman" panose="02020603050405020304" pitchFamily="18" charset="0"/>
                            </a:rPr>
                          </m:ctrlPr>
                        </m:dPr>
                        <m:e>
                          <m:r>
                            <a:rPr lang="en-AU" altLang="zh-CN" sz="2800" b="0" i="1" smtClean="0">
                              <a:latin typeface="Cambria Math" panose="02040503050406030204" pitchFamily="18" charset="0"/>
                              <a:cs typeface="Times New Roman" panose="02020603050405020304" pitchFamily="18" charset="0"/>
                            </a:rPr>
                            <m:t>𝑎</m:t>
                          </m:r>
                          <m:r>
                            <a:rPr lang="en-AU" altLang="zh-CN" sz="2800" i="1">
                              <a:latin typeface="Cambria Math" panose="02040503050406030204" pitchFamily="18" charset="0"/>
                              <a:cs typeface="Times New Roman" panose="02020603050405020304" pitchFamily="18" charset="0"/>
                            </a:rPr>
                            <m:t>≤</m:t>
                          </m:r>
                          <m:r>
                            <a:rPr lang="en-AU" altLang="zh-CN" sz="2800" b="0" i="1" smtClean="0">
                              <a:latin typeface="Cambria Math" panose="02040503050406030204" pitchFamily="18" charset="0"/>
                              <a:cs typeface="Times New Roman" panose="02020603050405020304" pitchFamily="18" charset="0"/>
                            </a:rPr>
                            <m:t>𝑥</m:t>
                          </m:r>
                          <m:r>
                            <a:rPr lang="en-AU" altLang="zh-CN" sz="2800" i="1">
                              <a:latin typeface="Cambria Math" panose="02040503050406030204" pitchFamily="18" charset="0"/>
                              <a:cs typeface="Times New Roman" panose="02020603050405020304" pitchFamily="18" charset="0"/>
                            </a:rPr>
                            <m:t>≤</m:t>
                          </m:r>
                          <m:r>
                            <a:rPr lang="en-AU" altLang="zh-CN" sz="2800" b="0" i="1" smtClean="0">
                              <a:latin typeface="Cambria Math" panose="02040503050406030204" pitchFamily="18" charset="0"/>
                              <a:cs typeface="Times New Roman" panose="02020603050405020304" pitchFamily="18" charset="0"/>
                            </a:rPr>
                            <m:t>𝑏</m:t>
                          </m:r>
                        </m:e>
                      </m:d>
                      <m:r>
                        <a:rPr lang="en-AU" altLang="zh-CN" sz="2800" b="0" i="1" smtClean="0">
                          <a:latin typeface="Cambria Math" panose="02040503050406030204" pitchFamily="18" charset="0"/>
                          <a:cs typeface="Times New Roman" panose="02020603050405020304" pitchFamily="18" charset="0"/>
                        </a:rPr>
                        <m:t>=</m:t>
                      </m:r>
                      <m:r>
                        <a:rPr lang="en-AU" altLang="zh-CN" sz="2800" b="0" i="1" smtClean="0">
                          <a:latin typeface="Cambria Math" panose="02040503050406030204" pitchFamily="18" charset="0"/>
                          <a:cs typeface="Times New Roman" panose="02020603050405020304" pitchFamily="18" charset="0"/>
                        </a:rPr>
                        <m:t>𝑃</m:t>
                      </m:r>
                      <m:d>
                        <m:dPr>
                          <m:ctrlPr>
                            <a:rPr lang="en-AU" altLang="zh-CN" sz="2800" b="0" i="1" smtClean="0">
                              <a:latin typeface="Cambria Math" panose="02040503050406030204" pitchFamily="18" charset="0"/>
                              <a:cs typeface="Times New Roman" panose="02020603050405020304" pitchFamily="18" charset="0"/>
                            </a:rPr>
                          </m:ctrlPr>
                        </m:dPr>
                        <m:e>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𝑎</m:t>
                              </m:r>
                              <m:r>
                                <a:rPr lang="en-AU" sz="2800" i="1">
                                  <a:solidFill>
                                    <a:srgbClr val="000000"/>
                                  </a:solidFill>
                                  <a:latin typeface="Cambria Math" panose="02040503050406030204" pitchFamily="18" charset="0"/>
                                </a:rPr>
                                <m:t>−</m:t>
                              </m:r>
                              <m:r>
                                <a:rPr lang="en-AU" sz="2800" i="1">
                                  <a:solidFill>
                                    <a:srgbClr val="000000"/>
                                  </a:solidFill>
                                  <a:latin typeface="Cambria Math" panose="02040503050406030204" pitchFamily="18" charset="0"/>
                                </a:rPr>
                                <m:t>𝜇</m:t>
                              </m:r>
                            </m:num>
                            <m:den>
                              <m:r>
                                <a:rPr lang="en-AU" sz="2800" i="1">
                                  <a:solidFill>
                                    <a:srgbClr val="000000"/>
                                  </a:solidFill>
                                  <a:latin typeface="Cambria Math" panose="02040503050406030204" pitchFamily="18" charset="0"/>
                                </a:rPr>
                                <m:t>𝜎</m:t>
                              </m:r>
                            </m:den>
                          </m:f>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𝑧</m:t>
                          </m:r>
                          <m:r>
                            <a:rPr lang="en-AU" sz="2800" i="1">
                              <a:solidFill>
                                <a:srgbClr val="000000"/>
                              </a:solidFill>
                              <a:latin typeface="Cambria Math" panose="02040503050406030204" pitchFamily="18" charset="0"/>
                            </a:rPr>
                            <m:t>≤</m:t>
                          </m:r>
                          <m:f>
                            <m:fPr>
                              <m:ctrlPr>
                                <a:rPr lang="en-AU" sz="2800" i="1">
                                  <a:solidFill>
                                    <a:srgbClr val="000000"/>
                                  </a:solidFill>
                                  <a:latin typeface="Cambria Math" panose="02040503050406030204" pitchFamily="18" charset="0"/>
                                </a:rPr>
                              </m:ctrlPr>
                            </m:fPr>
                            <m:num>
                              <m:r>
                                <a:rPr lang="en-AU" sz="2800" i="1">
                                  <a:solidFill>
                                    <a:srgbClr val="000000"/>
                                  </a:solidFill>
                                  <a:latin typeface="Cambria Math" panose="02040503050406030204" pitchFamily="18" charset="0"/>
                                </a:rPr>
                                <m:t>𝑏</m:t>
                              </m:r>
                              <m:r>
                                <a:rPr lang="en-AU" sz="2800" i="1">
                                  <a:solidFill>
                                    <a:srgbClr val="000000"/>
                                  </a:solidFill>
                                  <a:latin typeface="Cambria Math" panose="02040503050406030204" pitchFamily="18" charset="0"/>
                                </a:rPr>
                                <m:t>−</m:t>
                              </m:r>
                              <m:r>
                                <a:rPr lang="en-AU" sz="2800" i="1">
                                  <a:solidFill>
                                    <a:srgbClr val="000000"/>
                                  </a:solidFill>
                                  <a:latin typeface="Cambria Math" panose="02040503050406030204" pitchFamily="18" charset="0"/>
                                </a:rPr>
                                <m:t>𝜇</m:t>
                              </m:r>
                            </m:num>
                            <m:den>
                              <m:r>
                                <a:rPr lang="en-AU" sz="2800" i="1">
                                  <a:solidFill>
                                    <a:srgbClr val="000000"/>
                                  </a:solidFill>
                                  <a:latin typeface="Cambria Math" panose="02040503050406030204" pitchFamily="18" charset="0"/>
                                </a:rPr>
                                <m:t>𝜎</m:t>
                              </m:r>
                            </m:den>
                          </m:f>
                        </m:e>
                      </m:d>
                    </m:oMath>
                  </m:oMathPara>
                </a14:m>
                <a:endParaRPr lang="en-AU" sz="2800" dirty="0"/>
              </a:p>
            </p:txBody>
          </p:sp>
        </mc:Choice>
        <mc:Fallback>
          <p:sp>
            <p:nvSpPr>
              <p:cNvPr id="10" name="TextBox 9">
                <a:extLst>
                  <a:ext uri="{FF2B5EF4-FFF2-40B4-BE49-F238E27FC236}">
                    <a16:creationId xmlns:a16="http://schemas.microsoft.com/office/drawing/2014/main" id="{1BB5A722-BEF0-0BF5-4CE0-CC3BD25F78B6}"/>
                  </a:ext>
                </a:extLst>
              </p:cNvPr>
              <p:cNvSpPr txBox="1">
                <a:spLocks noRot="1" noChangeAspect="1" noMove="1" noResize="1" noEditPoints="1" noAdjustHandles="1" noChangeArrowheads="1" noChangeShapeType="1" noTextEdit="1"/>
              </p:cNvSpPr>
              <p:nvPr/>
            </p:nvSpPr>
            <p:spPr>
              <a:xfrm>
                <a:off x="5443606" y="4645505"/>
                <a:ext cx="6423713" cy="1060483"/>
              </a:xfrm>
              <a:prstGeom prst="rect">
                <a:avLst/>
              </a:prstGeom>
              <a:blipFill>
                <a:blip r:embed="rId6"/>
                <a:stretch>
                  <a:fillRect/>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9C63C26F-57DC-95E8-8430-9C6079AA864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grpSp>
        <p:nvGrpSpPr>
          <p:cNvPr id="13" name="Group 12">
            <a:extLst>
              <a:ext uri="{FF2B5EF4-FFF2-40B4-BE49-F238E27FC236}">
                <a16:creationId xmlns:a16="http://schemas.microsoft.com/office/drawing/2014/main" id="{1D4473DC-47FD-B014-CECC-0E14EA30965C}"/>
              </a:ext>
            </a:extLst>
          </p:cNvPr>
          <p:cNvGrpSpPr/>
          <p:nvPr/>
        </p:nvGrpSpPr>
        <p:grpSpPr>
          <a:xfrm>
            <a:off x="831711" y="3681616"/>
            <a:ext cx="3869498" cy="2703482"/>
            <a:chOff x="831711" y="3681616"/>
            <a:chExt cx="3869498" cy="2703482"/>
          </a:xfrm>
        </p:grpSpPr>
        <p:grpSp>
          <p:nvGrpSpPr>
            <p:cNvPr id="12" name="Group 11">
              <a:extLst>
                <a:ext uri="{FF2B5EF4-FFF2-40B4-BE49-F238E27FC236}">
                  <a16:creationId xmlns:a16="http://schemas.microsoft.com/office/drawing/2014/main" id="{CA53FA94-E8AA-9E83-AC92-AEB744B81F65}"/>
                </a:ext>
              </a:extLst>
            </p:cNvPr>
            <p:cNvGrpSpPr/>
            <p:nvPr/>
          </p:nvGrpSpPr>
          <p:grpSpPr>
            <a:xfrm>
              <a:off x="1155698" y="3681616"/>
              <a:ext cx="3236959" cy="2703482"/>
              <a:chOff x="1155698" y="3681616"/>
              <a:chExt cx="3236959" cy="2703482"/>
            </a:xfrm>
          </p:grpSpPr>
          <p:sp>
            <p:nvSpPr>
              <p:cNvPr id="35881" name="Freeform 51">
                <a:extLst>
                  <a:ext uri="{FF2B5EF4-FFF2-40B4-BE49-F238E27FC236}">
                    <a16:creationId xmlns:a16="http://schemas.microsoft.com/office/drawing/2014/main" id="{1DD67F6D-96BC-C040-90DC-2D8F62267DDD}"/>
                  </a:ext>
                </a:extLst>
              </p:cNvPr>
              <p:cNvSpPr>
                <a:spLocks/>
              </p:cNvSpPr>
              <p:nvPr/>
            </p:nvSpPr>
            <p:spPr bwMode="auto">
              <a:xfrm>
                <a:off x="2054223" y="4165323"/>
                <a:ext cx="933450" cy="1520825"/>
              </a:xfrm>
              <a:custGeom>
                <a:avLst/>
                <a:gdLst>
                  <a:gd name="T0" fmla="*/ 396804682 w 950"/>
                  <a:gd name="T1" fmla="*/ 0 h 1288"/>
                  <a:gd name="T2" fmla="*/ 493350924 w 950"/>
                  <a:gd name="T3" fmla="*/ 47402982 h 1288"/>
                  <a:gd name="T4" fmla="*/ 612102468 w 950"/>
                  <a:gd name="T5" fmla="*/ 191006410 h 1288"/>
                  <a:gd name="T6" fmla="*/ 681615998 w 950"/>
                  <a:gd name="T7" fmla="*/ 369464833 h 1288"/>
                  <a:gd name="T8" fmla="*/ 785885311 w 950"/>
                  <a:gd name="T9" fmla="*/ 591142788 h 1288"/>
                  <a:gd name="T10" fmla="*/ 855398841 w 950"/>
                  <a:gd name="T11" fmla="*/ 793302702 h 1288"/>
                  <a:gd name="T12" fmla="*/ 911396016 w 950"/>
                  <a:gd name="T13" fmla="*/ 929934895 h 1288"/>
                  <a:gd name="T14" fmla="*/ 917188318 w 950"/>
                  <a:gd name="T15" fmla="*/ 1777611814 h 1288"/>
                  <a:gd name="T16" fmla="*/ 324395492 w 950"/>
                  <a:gd name="T17" fmla="*/ 1777611814 h 1288"/>
                  <a:gd name="T18" fmla="*/ 0 w 950"/>
                  <a:gd name="T19" fmla="*/ 1795736553 h 1288"/>
                  <a:gd name="T20" fmla="*/ 0 w 950"/>
                  <a:gd name="T21" fmla="*/ 1353773945 h 1288"/>
                  <a:gd name="T22" fmla="*/ 6758178 w 950"/>
                  <a:gd name="T23" fmla="*/ 902051136 h 1288"/>
                  <a:gd name="T24" fmla="*/ 6758178 w 950"/>
                  <a:gd name="T25" fmla="*/ 691525504 h 1288"/>
                  <a:gd name="T26" fmla="*/ 284811316 w 950"/>
                  <a:gd name="T27" fmla="*/ 47402982 h 1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50" h="1288">
                    <a:moveTo>
                      <a:pt x="411" y="0"/>
                    </a:moveTo>
                    <a:lnTo>
                      <a:pt x="511" y="34"/>
                    </a:lnTo>
                    <a:lnTo>
                      <a:pt x="634" y="137"/>
                    </a:lnTo>
                    <a:lnTo>
                      <a:pt x="706" y="265"/>
                    </a:lnTo>
                    <a:lnTo>
                      <a:pt x="814" y="424"/>
                    </a:lnTo>
                    <a:lnTo>
                      <a:pt x="886" y="569"/>
                    </a:lnTo>
                    <a:lnTo>
                      <a:pt x="944" y="667"/>
                    </a:lnTo>
                    <a:lnTo>
                      <a:pt x="950" y="1275"/>
                    </a:lnTo>
                    <a:lnTo>
                      <a:pt x="336" y="1275"/>
                    </a:lnTo>
                    <a:lnTo>
                      <a:pt x="0" y="1288"/>
                    </a:lnTo>
                    <a:lnTo>
                      <a:pt x="0" y="971"/>
                    </a:lnTo>
                    <a:lnTo>
                      <a:pt x="7" y="647"/>
                    </a:lnTo>
                    <a:lnTo>
                      <a:pt x="7" y="496"/>
                    </a:lnTo>
                    <a:lnTo>
                      <a:pt x="295" y="34"/>
                    </a:lnTo>
                  </a:path>
                </a:pathLst>
              </a:custGeom>
              <a:solidFill>
                <a:schemeClr val="accent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83" name="Freeform 53">
                <a:extLst>
                  <a:ext uri="{FF2B5EF4-FFF2-40B4-BE49-F238E27FC236}">
                    <a16:creationId xmlns:a16="http://schemas.microsoft.com/office/drawing/2014/main" id="{AC034C84-7BAF-7D4C-AFC0-26695FB25368}"/>
                  </a:ext>
                </a:extLst>
              </p:cNvPr>
              <p:cNvSpPr>
                <a:spLocks/>
              </p:cNvSpPr>
              <p:nvPr/>
            </p:nvSpPr>
            <p:spPr bwMode="auto">
              <a:xfrm>
                <a:off x="2478087" y="4166911"/>
                <a:ext cx="198437" cy="155575"/>
              </a:xfrm>
              <a:custGeom>
                <a:avLst/>
                <a:gdLst>
                  <a:gd name="T0" fmla="*/ 0 w 203"/>
                  <a:gd name="T1" fmla="*/ 2777957 h 132"/>
                  <a:gd name="T2" fmla="*/ 25799743 w 203"/>
                  <a:gd name="T3" fmla="*/ 0 h 132"/>
                  <a:gd name="T4" fmla="*/ 51599485 w 203"/>
                  <a:gd name="T5" fmla="*/ 4167524 h 132"/>
                  <a:gd name="T6" fmla="*/ 75488172 w 203"/>
                  <a:gd name="T7" fmla="*/ 19446875 h 132"/>
                  <a:gd name="T8" fmla="*/ 96510764 w 203"/>
                  <a:gd name="T9" fmla="*/ 38894929 h 132"/>
                  <a:gd name="T10" fmla="*/ 115621322 w 203"/>
                  <a:gd name="T11" fmla="*/ 62509328 h 132"/>
                  <a:gd name="T12" fmla="*/ 128998713 w 203"/>
                  <a:gd name="T13" fmla="*/ 93069208 h 132"/>
                  <a:gd name="T14" fmla="*/ 193020550 w 203"/>
                  <a:gd name="T15" fmla="*/ 181970892 h 13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3" h="132">
                    <a:moveTo>
                      <a:pt x="0" y="2"/>
                    </a:moveTo>
                    <a:lnTo>
                      <a:pt x="27" y="0"/>
                    </a:lnTo>
                    <a:lnTo>
                      <a:pt x="54" y="3"/>
                    </a:lnTo>
                    <a:lnTo>
                      <a:pt x="79" y="14"/>
                    </a:lnTo>
                    <a:lnTo>
                      <a:pt x="101" y="28"/>
                    </a:lnTo>
                    <a:lnTo>
                      <a:pt x="121" y="45"/>
                    </a:lnTo>
                    <a:lnTo>
                      <a:pt x="135" y="67"/>
                    </a:lnTo>
                    <a:lnTo>
                      <a:pt x="202" y="131"/>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85" name="Rectangle 55">
                <a:extLst>
                  <a:ext uri="{FF2B5EF4-FFF2-40B4-BE49-F238E27FC236}">
                    <a16:creationId xmlns:a16="http://schemas.microsoft.com/office/drawing/2014/main" id="{DE56CBBD-CE10-7B4E-BD23-305536ACBA1C}"/>
                  </a:ext>
                </a:extLst>
              </p:cNvPr>
              <p:cNvSpPr>
                <a:spLocks noChangeArrowheads="1"/>
              </p:cNvSpPr>
              <p:nvPr/>
            </p:nvSpPr>
            <p:spPr bwMode="auto">
              <a:xfrm>
                <a:off x="4073660" y="5636576"/>
                <a:ext cx="31899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400" dirty="0">
                    <a:latin typeface="Times New Roman" panose="02020603050405020304" pitchFamily="18" charset="0"/>
                    <a:ea typeface="PMingLiU" panose="02020500000000000000" pitchFamily="18" charset="-120"/>
                    <a:cs typeface="Times New Roman" panose="02020603050405020304" pitchFamily="18" charset="0"/>
                  </a:rPr>
                  <a:t>z</a:t>
                </a:r>
              </a:p>
            </p:txBody>
          </p:sp>
          <p:sp>
            <p:nvSpPr>
              <p:cNvPr id="35886" name="Freeform 56">
                <a:extLst>
                  <a:ext uri="{FF2B5EF4-FFF2-40B4-BE49-F238E27FC236}">
                    <a16:creationId xmlns:a16="http://schemas.microsoft.com/office/drawing/2014/main" id="{0867814E-C460-654D-B793-956BAF29215E}"/>
                  </a:ext>
                </a:extLst>
              </p:cNvPr>
              <p:cNvSpPr>
                <a:spLocks/>
              </p:cNvSpPr>
              <p:nvPr/>
            </p:nvSpPr>
            <p:spPr bwMode="auto">
              <a:xfrm rot="21439892">
                <a:off x="2497964" y="4160146"/>
                <a:ext cx="1333500" cy="1473200"/>
              </a:xfrm>
              <a:custGeom>
                <a:avLst/>
                <a:gdLst>
                  <a:gd name="T0" fmla="*/ 1309440987 w 1357"/>
                  <a:gd name="T1" fmla="*/ 1737644122 h 1248"/>
                  <a:gd name="T2" fmla="*/ 1171351510 w 1357"/>
                  <a:gd name="T3" fmla="*/ 1716741916 h 1248"/>
                  <a:gd name="T4" fmla="*/ 1101823783 w 1357"/>
                  <a:gd name="T5" fmla="*/ 1697233821 h 1248"/>
                  <a:gd name="T6" fmla="*/ 1033261050 w 1357"/>
                  <a:gd name="T7" fmla="*/ 1670757537 h 1248"/>
                  <a:gd name="T8" fmla="*/ 965664294 w 1357"/>
                  <a:gd name="T9" fmla="*/ 1630347236 h 1248"/>
                  <a:gd name="T10" fmla="*/ 895171573 w 1357"/>
                  <a:gd name="T11" fmla="*/ 1577395847 h 1248"/>
                  <a:gd name="T12" fmla="*/ 827574817 w 1357"/>
                  <a:gd name="T13" fmla="*/ 1504936364 h 1248"/>
                  <a:gd name="T14" fmla="*/ 689484357 w 1357"/>
                  <a:gd name="T15" fmla="*/ 1302884859 h 1248"/>
                  <a:gd name="T16" fmla="*/ 551394880 w 1357"/>
                  <a:gd name="T17" fmla="*/ 1018618642 h 1248"/>
                  <a:gd name="T18" fmla="*/ 413304420 w 1357"/>
                  <a:gd name="T19" fmla="*/ 678615179 h 1248"/>
                  <a:gd name="T20" fmla="*/ 343776693 w 1357"/>
                  <a:gd name="T21" fmla="*/ 505825817 h 1248"/>
                  <a:gd name="T22" fmla="*/ 276179937 w 1357"/>
                  <a:gd name="T23" fmla="*/ 344184613 h 1248"/>
                  <a:gd name="T24" fmla="*/ 205686233 w 1357"/>
                  <a:gd name="T25" fmla="*/ 202051505 h 1248"/>
                  <a:gd name="T26" fmla="*/ 138090460 w 1357"/>
                  <a:gd name="T27" fmla="*/ 93361689 h 1248"/>
                  <a:gd name="T28" fmla="*/ 67596756 w 1357"/>
                  <a:gd name="T29" fmla="*/ 23689245 h 1248"/>
                  <a:gd name="T30" fmla="*/ 0 w 1357"/>
                  <a:gd name="T31" fmla="*/ 0 h 1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57" h="1248">
                    <a:moveTo>
                      <a:pt x="1356" y="1247"/>
                    </a:moveTo>
                    <a:lnTo>
                      <a:pt x="1213" y="1232"/>
                    </a:lnTo>
                    <a:lnTo>
                      <a:pt x="1141" y="1218"/>
                    </a:lnTo>
                    <a:lnTo>
                      <a:pt x="1070" y="1199"/>
                    </a:lnTo>
                    <a:lnTo>
                      <a:pt x="1000" y="1170"/>
                    </a:lnTo>
                    <a:lnTo>
                      <a:pt x="927" y="1132"/>
                    </a:lnTo>
                    <a:lnTo>
                      <a:pt x="857" y="1080"/>
                    </a:lnTo>
                    <a:lnTo>
                      <a:pt x="714" y="935"/>
                    </a:lnTo>
                    <a:lnTo>
                      <a:pt x="571" y="731"/>
                    </a:lnTo>
                    <a:lnTo>
                      <a:pt x="428" y="487"/>
                    </a:lnTo>
                    <a:lnTo>
                      <a:pt x="356" y="363"/>
                    </a:lnTo>
                    <a:lnTo>
                      <a:pt x="286" y="247"/>
                    </a:lnTo>
                    <a:lnTo>
                      <a:pt x="213" y="145"/>
                    </a:lnTo>
                    <a:lnTo>
                      <a:pt x="143" y="67"/>
                    </a:lnTo>
                    <a:lnTo>
                      <a:pt x="70" y="17"/>
                    </a:lnTo>
                    <a:lnTo>
                      <a:pt x="0" y="0"/>
                    </a:lnTo>
                  </a:path>
                </a:pathLst>
              </a:custGeom>
              <a:noFill/>
              <a:ln w="50800" cap="rnd"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87" name="Freeform 57">
                <a:extLst>
                  <a:ext uri="{FF2B5EF4-FFF2-40B4-BE49-F238E27FC236}">
                    <a16:creationId xmlns:a16="http://schemas.microsoft.com/office/drawing/2014/main" id="{0072F745-20FF-7D44-9007-BA44CE59E730}"/>
                  </a:ext>
                </a:extLst>
              </p:cNvPr>
              <p:cNvSpPr>
                <a:spLocks/>
              </p:cNvSpPr>
              <p:nvPr/>
            </p:nvSpPr>
            <p:spPr bwMode="auto">
              <a:xfrm>
                <a:off x="1155698" y="4157385"/>
                <a:ext cx="1316038" cy="1452562"/>
              </a:xfrm>
              <a:custGeom>
                <a:avLst/>
                <a:gdLst>
                  <a:gd name="T0" fmla="*/ 0 w 1337"/>
                  <a:gd name="T1" fmla="*/ 1715395418 h 1230"/>
                  <a:gd name="T2" fmla="*/ 138551142 w 1337"/>
                  <a:gd name="T3" fmla="*/ 1694476163 h 1230"/>
                  <a:gd name="T4" fmla="*/ 206373854 w 1337"/>
                  <a:gd name="T5" fmla="*/ 1674951604 h 1230"/>
                  <a:gd name="T6" fmla="*/ 276133711 w 1337"/>
                  <a:gd name="T7" fmla="*/ 1648453567 h 1230"/>
                  <a:gd name="T8" fmla="*/ 344924012 w 1337"/>
                  <a:gd name="T9" fmla="*/ 1608008572 h 1230"/>
                  <a:gd name="T10" fmla="*/ 414684853 w 1337"/>
                  <a:gd name="T11" fmla="*/ 1555012497 h 1230"/>
                  <a:gd name="T12" fmla="*/ 483475154 w 1337"/>
                  <a:gd name="T13" fmla="*/ 1482491863 h 1230"/>
                  <a:gd name="T14" fmla="*/ 622026296 w 1337"/>
                  <a:gd name="T15" fmla="*/ 1280270433 h 1230"/>
                  <a:gd name="T16" fmla="*/ 759608865 w 1337"/>
                  <a:gd name="T17" fmla="*/ 995766679 h 1230"/>
                  <a:gd name="T18" fmla="*/ 898160007 w 1337"/>
                  <a:gd name="T19" fmla="*/ 655476279 h 1230"/>
                  <a:gd name="T20" fmla="*/ 968889421 w 1337"/>
                  <a:gd name="T21" fmla="*/ 482542277 h 1230"/>
                  <a:gd name="T22" fmla="*/ 1036711149 w 1337"/>
                  <a:gd name="T23" fmla="*/ 320764661 h 1230"/>
                  <a:gd name="T24" fmla="*/ 1105502434 w 1337"/>
                  <a:gd name="T25" fmla="*/ 178512784 h 1230"/>
                  <a:gd name="T26" fmla="*/ 1175262291 w 1337"/>
                  <a:gd name="T27" fmla="*/ 69731243 h 1230"/>
                  <a:gd name="T28" fmla="*/ 1244053576 w 1337"/>
                  <a:gd name="T29" fmla="*/ 0 h 1230"/>
                  <a:gd name="T30" fmla="*/ 1295404650 w 1337"/>
                  <a:gd name="T31" fmla="*/ 8368174 h 12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37" h="1230">
                    <a:moveTo>
                      <a:pt x="0" y="1230"/>
                    </a:moveTo>
                    <a:lnTo>
                      <a:pt x="143" y="1215"/>
                    </a:lnTo>
                    <a:lnTo>
                      <a:pt x="213" y="1201"/>
                    </a:lnTo>
                    <a:lnTo>
                      <a:pt x="285" y="1182"/>
                    </a:lnTo>
                    <a:lnTo>
                      <a:pt x="356" y="1153"/>
                    </a:lnTo>
                    <a:lnTo>
                      <a:pt x="428" y="1115"/>
                    </a:lnTo>
                    <a:lnTo>
                      <a:pt x="499" y="1063"/>
                    </a:lnTo>
                    <a:lnTo>
                      <a:pt x="642" y="918"/>
                    </a:lnTo>
                    <a:lnTo>
                      <a:pt x="784" y="714"/>
                    </a:lnTo>
                    <a:lnTo>
                      <a:pt x="927" y="470"/>
                    </a:lnTo>
                    <a:lnTo>
                      <a:pt x="1000" y="346"/>
                    </a:lnTo>
                    <a:lnTo>
                      <a:pt x="1070" y="230"/>
                    </a:lnTo>
                    <a:lnTo>
                      <a:pt x="1141" y="128"/>
                    </a:lnTo>
                    <a:lnTo>
                      <a:pt x="1213" y="50"/>
                    </a:lnTo>
                    <a:lnTo>
                      <a:pt x="1284" y="0"/>
                    </a:lnTo>
                    <a:lnTo>
                      <a:pt x="1337" y="6"/>
                    </a:lnTo>
                  </a:path>
                </a:pathLst>
              </a:custGeom>
              <a:noFill/>
              <a:ln w="50800" cap="rnd" cmpd="sng">
                <a:solidFill>
                  <a:srgbClr val="008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99" name="Line 69">
                <a:extLst>
                  <a:ext uri="{FF2B5EF4-FFF2-40B4-BE49-F238E27FC236}">
                    <a16:creationId xmlns:a16="http://schemas.microsoft.com/office/drawing/2014/main" id="{96745A08-BEAB-2643-BBF5-C21B76096882}"/>
                  </a:ext>
                </a:extLst>
              </p:cNvPr>
              <p:cNvSpPr>
                <a:spLocks noChangeShapeType="1"/>
              </p:cNvSpPr>
              <p:nvPr/>
            </p:nvSpPr>
            <p:spPr bwMode="auto">
              <a:xfrm>
                <a:off x="3860798"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0" name="Line 70">
                <a:extLst>
                  <a:ext uri="{FF2B5EF4-FFF2-40B4-BE49-F238E27FC236}">
                    <a16:creationId xmlns:a16="http://schemas.microsoft.com/office/drawing/2014/main" id="{219E66FD-3B85-9F47-95FB-19E1F2A4EBF5}"/>
                  </a:ext>
                </a:extLst>
              </p:cNvPr>
              <p:cNvSpPr>
                <a:spLocks noChangeShapeType="1"/>
              </p:cNvSpPr>
              <p:nvPr/>
            </p:nvSpPr>
            <p:spPr bwMode="auto">
              <a:xfrm>
                <a:off x="3589336"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1" name="Line 71">
                <a:extLst>
                  <a:ext uri="{FF2B5EF4-FFF2-40B4-BE49-F238E27FC236}">
                    <a16:creationId xmlns:a16="http://schemas.microsoft.com/office/drawing/2014/main" id="{9F4D5D91-3433-8241-90F5-F4F65569E352}"/>
                  </a:ext>
                </a:extLst>
              </p:cNvPr>
              <p:cNvSpPr>
                <a:spLocks noChangeShapeType="1"/>
              </p:cNvSpPr>
              <p:nvPr/>
            </p:nvSpPr>
            <p:spPr bwMode="auto">
              <a:xfrm>
                <a:off x="3316286"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2" name="Line 72">
                <a:extLst>
                  <a:ext uri="{FF2B5EF4-FFF2-40B4-BE49-F238E27FC236}">
                    <a16:creationId xmlns:a16="http://schemas.microsoft.com/office/drawing/2014/main" id="{858D5A88-C58B-A245-BAB7-C1525A7EE294}"/>
                  </a:ext>
                </a:extLst>
              </p:cNvPr>
              <p:cNvSpPr>
                <a:spLocks noChangeShapeType="1"/>
              </p:cNvSpPr>
              <p:nvPr/>
            </p:nvSpPr>
            <p:spPr bwMode="auto">
              <a:xfrm>
                <a:off x="3046411"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3" name="Line 73">
                <a:extLst>
                  <a:ext uri="{FF2B5EF4-FFF2-40B4-BE49-F238E27FC236}">
                    <a16:creationId xmlns:a16="http://schemas.microsoft.com/office/drawing/2014/main" id="{E444D3DD-5032-8D4C-A151-727A08233529}"/>
                  </a:ext>
                </a:extLst>
              </p:cNvPr>
              <p:cNvSpPr>
                <a:spLocks noChangeShapeType="1"/>
              </p:cNvSpPr>
              <p:nvPr/>
            </p:nvSpPr>
            <p:spPr bwMode="auto">
              <a:xfrm>
                <a:off x="2774948"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4" name="Line 74">
                <a:extLst>
                  <a:ext uri="{FF2B5EF4-FFF2-40B4-BE49-F238E27FC236}">
                    <a16:creationId xmlns:a16="http://schemas.microsoft.com/office/drawing/2014/main" id="{6EA039D5-E075-074B-88C3-02CE36BF186C}"/>
                  </a:ext>
                </a:extLst>
              </p:cNvPr>
              <p:cNvSpPr>
                <a:spLocks noChangeShapeType="1"/>
              </p:cNvSpPr>
              <p:nvPr/>
            </p:nvSpPr>
            <p:spPr bwMode="auto">
              <a:xfrm>
                <a:off x="2501898"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5" name="Line 75">
                <a:extLst>
                  <a:ext uri="{FF2B5EF4-FFF2-40B4-BE49-F238E27FC236}">
                    <a16:creationId xmlns:a16="http://schemas.microsoft.com/office/drawing/2014/main" id="{9E2C45BE-F2D9-B440-AD57-A9D1D17608E6}"/>
                  </a:ext>
                </a:extLst>
              </p:cNvPr>
              <p:cNvSpPr>
                <a:spLocks noChangeShapeType="1"/>
              </p:cNvSpPr>
              <p:nvPr/>
            </p:nvSpPr>
            <p:spPr bwMode="auto">
              <a:xfrm>
                <a:off x="2230436"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06" name="Line 76">
                <a:extLst>
                  <a:ext uri="{FF2B5EF4-FFF2-40B4-BE49-F238E27FC236}">
                    <a16:creationId xmlns:a16="http://schemas.microsoft.com/office/drawing/2014/main" id="{B7E2BE34-67BF-A64B-8A1E-91C9058435ED}"/>
                  </a:ext>
                </a:extLst>
              </p:cNvPr>
              <p:cNvSpPr>
                <a:spLocks noChangeShapeType="1"/>
              </p:cNvSpPr>
              <p:nvPr/>
            </p:nvSpPr>
            <p:spPr bwMode="auto">
              <a:xfrm>
                <a:off x="1957386" y="5655985"/>
                <a:ext cx="0" cy="0"/>
              </a:xfrm>
              <a:prstGeom prst="line">
                <a:avLst/>
              </a:prstGeom>
              <a:noFill/>
              <a:ln w="25400">
                <a:solidFill>
                  <a:srgbClr val="CDCDC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10" name="Rectangle 80">
                <a:extLst>
                  <a:ext uri="{FF2B5EF4-FFF2-40B4-BE49-F238E27FC236}">
                    <a16:creationId xmlns:a16="http://schemas.microsoft.com/office/drawing/2014/main" id="{0D6363A7-8229-9948-A38A-F8ABA3FF75B2}"/>
                  </a:ext>
                </a:extLst>
              </p:cNvPr>
              <p:cNvSpPr>
                <a:spLocks noChangeArrowheads="1"/>
              </p:cNvSpPr>
              <p:nvPr/>
            </p:nvSpPr>
            <p:spPr bwMode="auto">
              <a:xfrm>
                <a:off x="3803648" y="5787748"/>
                <a:ext cx="114300" cy="6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p:txBody>
          </p:sp>
          <p:sp>
            <p:nvSpPr>
              <p:cNvPr id="35911" name="Line 82">
                <a:extLst>
                  <a:ext uri="{FF2B5EF4-FFF2-40B4-BE49-F238E27FC236}">
                    <a16:creationId xmlns:a16="http://schemas.microsoft.com/office/drawing/2014/main" id="{4F2885A6-E17B-CB4F-AB9D-0B64279EAB14}"/>
                  </a:ext>
                </a:extLst>
              </p:cNvPr>
              <p:cNvSpPr>
                <a:spLocks noChangeShapeType="1"/>
              </p:cNvSpPr>
              <p:nvPr/>
            </p:nvSpPr>
            <p:spPr bwMode="auto">
              <a:xfrm flipH="1">
                <a:off x="2827336" y="4300261"/>
                <a:ext cx="330200" cy="5111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5912" name="Text Box 83">
                <a:extLst>
                  <a:ext uri="{FF2B5EF4-FFF2-40B4-BE49-F238E27FC236}">
                    <a16:creationId xmlns:a16="http://schemas.microsoft.com/office/drawing/2014/main" id="{593BAD44-CE44-8540-896E-AD8B1C9882CE}"/>
                  </a:ext>
                </a:extLst>
              </p:cNvPr>
              <p:cNvSpPr txBox="1">
                <a:spLocks noChangeArrowheads="1"/>
              </p:cNvSpPr>
              <p:nvPr/>
            </p:nvSpPr>
            <p:spPr bwMode="auto">
              <a:xfrm>
                <a:off x="1731961" y="4265335"/>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zh-CN" sz="180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899A66D-9EA9-4349-0545-05C146D3B626}"/>
                      </a:ext>
                    </a:extLst>
                  </p:cNvPr>
                  <p:cNvSpPr txBox="1"/>
                  <p:nvPr/>
                </p:nvSpPr>
                <p:spPr>
                  <a:xfrm>
                    <a:off x="1721677" y="5766787"/>
                    <a:ext cx="1186621" cy="58217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AU" sz="1800" i="1" smtClean="0">
                                  <a:solidFill>
                                    <a:srgbClr val="000000"/>
                                  </a:solidFill>
                                  <a:latin typeface="Cambria Math" panose="02040503050406030204" pitchFamily="18" charset="0"/>
                                </a:rPr>
                              </m:ctrlPr>
                            </m:fPr>
                            <m:num>
                              <m:r>
                                <a:rPr lang="en-AU" sz="1800" i="1">
                                  <a:solidFill>
                                    <a:srgbClr val="000000"/>
                                  </a:solidFill>
                                  <a:latin typeface="Cambria Math" panose="02040503050406030204" pitchFamily="18" charset="0"/>
                                </a:rPr>
                                <m:t>𝑎</m:t>
                              </m:r>
                              <m:r>
                                <a:rPr lang="en-AU" sz="1800" i="1">
                                  <a:solidFill>
                                    <a:srgbClr val="000000"/>
                                  </a:solidFill>
                                  <a:latin typeface="Cambria Math" panose="02040503050406030204" pitchFamily="18" charset="0"/>
                                </a:rPr>
                                <m:t>−</m:t>
                              </m:r>
                              <m:r>
                                <a:rPr lang="en-AU" sz="1800" i="1">
                                  <a:solidFill>
                                    <a:srgbClr val="000000"/>
                                  </a:solidFill>
                                  <a:latin typeface="Cambria Math" panose="02040503050406030204" pitchFamily="18" charset="0"/>
                                </a:rPr>
                                <m:t>𝜇</m:t>
                              </m:r>
                            </m:num>
                            <m:den>
                              <m:r>
                                <a:rPr lang="en-AU" sz="1800" i="1">
                                  <a:solidFill>
                                    <a:srgbClr val="000000"/>
                                  </a:solidFill>
                                  <a:latin typeface="Cambria Math" panose="02040503050406030204" pitchFamily="18" charset="0"/>
                                </a:rPr>
                                <m:t>𝜎</m:t>
                              </m:r>
                            </m:den>
                          </m:f>
                        </m:oMath>
                      </m:oMathPara>
                    </a14:m>
                    <a:endParaRPr lang="en-AU" dirty="0"/>
                  </a:p>
                </p:txBody>
              </p:sp>
            </mc:Choice>
            <mc:Fallback>
              <p:sp>
                <p:nvSpPr>
                  <p:cNvPr id="14" name="TextBox 13">
                    <a:extLst>
                      <a:ext uri="{FF2B5EF4-FFF2-40B4-BE49-F238E27FC236}">
                        <a16:creationId xmlns:a16="http://schemas.microsoft.com/office/drawing/2014/main" id="{D899A66D-9EA9-4349-0545-05C146D3B626}"/>
                      </a:ext>
                    </a:extLst>
                  </p:cNvPr>
                  <p:cNvSpPr txBox="1">
                    <a:spLocks noRot="1" noChangeAspect="1" noMove="1" noResize="1" noEditPoints="1" noAdjustHandles="1" noChangeArrowheads="1" noChangeShapeType="1" noTextEdit="1"/>
                  </p:cNvSpPr>
                  <p:nvPr/>
                </p:nvSpPr>
                <p:spPr>
                  <a:xfrm>
                    <a:off x="1721677" y="5766787"/>
                    <a:ext cx="1186621" cy="582177"/>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3A84A245-1DB5-5AED-B501-E08C99688196}"/>
                      </a:ext>
                    </a:extLst>
                  </p:cNvPr>
                  <p:cNvSpPr txBox="1"/>
                  <p:nvPr/>
                </p:nvSpPr>
                <p:spPr>
                  <a:xfrm>
                    <a:off x="2800348" y="5766787"/>
                    <a:ext cx="1186621" cy="61831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AU" sz="1800" i="1" smtClean="0">
                                  <a:solidFill>
                                    <a:srgbClr val="000000"/>
                                  </a:solidFill>
                                  <a:latin typeface="Cambria Math" panose="02040503050406030204" pitchFamily="18" charset="0"/>
                                </a:rPr>
                              </m:ctrlPr>
                            </m:fPr>
                            <m:num>
                              <m:r>
                                <a:rPr lang="en-AU" sz="1800" b="0" i="1" smtClean="0">
                                  <a:solidFill>
                                    <a:srgbClr val="000000"/>
                                  </a:solidFill>
                                  <a:latin typeface="Cambria Math" panose="02040503050406030204" pitchFamily="18" charset="0"/>
                                </a:rPr>
                                <m:t>𝑏</m:t>
                              </m:r>
                              <m:r>
                                <a:rPr lang="en-AU" sz="1800" i="1">
                                  <a:solidFill>
                                    <a:srgbClr val="000000"/>
                                  </a:solidFill>
                                  <a:latin typeface="Cambria Math" panose="02040503050406030204" pitchFamily="18" charset="0"/>
                                </a:rPr>
                                <m:t>−</m:t>
                              </m:r>
                              <m:r>
                                <a:rPr lang="en-AU" sz="1800" i="1">
                                  <a:solidFill>
                                    <a:srgbClr val="000000"/>
                                  </a:solidFill>
                                  <a:latin typeface="Cambria Math" panose="02040503050406030204" pitchFamily="18" charset="0"/>
                                </a:rPr>
                                <m:t>𝜇</m:t>
                              </m:r>
                            </m:num>
                            <m:den>
                              <m:r>
                                <a:rPr lang="en-AU" sz="1800" i="1">
                                  <a:solidFill>
                                    <a:srgbClr val="000000"/>
                                  </a:solidFill>
                                  <a:latin typeface="Cambria Math" panose="02040503050406030204" pitchFamily="18" charset="0"/>
                                </a:rPr>
                                <m:t>𝜎</m:t>
                              </m:r>
                            </m:den>
                          </m:f>
                        </m:oMath>
                      </m:oMathPara>
                    </a14:m>
                    <a:endParaRPr lang="en-AU" dirty="0"/>
                  </a:p>
                </p:txBody>
              </p:sp>
            </mc:Choice>
            <mc:Fallback>
              <p:sp>
                <p:nvSpPr>
                  <p:cNvPr id="15" name="TextBox 14">
                    <a:extLst>
                      <a:ext uri="{FF2B5EF4-FFF2-40B4-BE49-F238E27FC236}">
                        <a16:creationId xmlns:a16="http://schemas.microsoft.com/office/drawing/2014/main" id="{3A84A245-1DB5-5AED-B501-E08C99688196}"/>
                      </a:ext>
                    </a:extLst>
                  </p:cNvPr>
                  <p:cNvSpPr txBox="1">
                    <a:spLocks noRot="1" noChangeAspect="1" noMove="1" noResize="1" noEditPoints="1" noAdjustHandles="1" noChangeArrowheads="1" noChangeShapeType="1" noTextEdit="1"/>
                  </p:cNvSpPr>
                  <p:nvPr/>
                </p:nvSpPr>
                <p:spPr>
                  <a:xfrm>
                    <a:off x="2800348" y="5766787"/>
                    <a:ext cx="1186621" cy="618311"/>
                  </a:xfrm>
                  <a:prstGeom prst="rect">
                    <a:avLst/>
                  </a:prstGeom>
                  <a:blipFill>
                    <a:blip r:embed="rId8"/>
                    <a:stretch>
                      <a:fillRect/>
                    </a:stretch>
                  </a:blipFill>
                </p:spPr>
                <p:txBody>
                  <a:bodyPr/>
                  <a:lstStyle/>
                  <a:p>
                    <a:r>
                      <a:rPr lang="en-AU">
                        <a:noFill/>
                      </a:rPr>
                      <a:t> </a:t>
                    </a:r>
                  </a:p>
                </p:txBody>
              </p:sp>
            </mc:Fallback>
          </mc:AlternateContent>
          <p:sp>
            <p:nvSpPr>
              <p:cNvPr id="52" name="Rectangle 35">
                <a:extLst>
                  <a:ext uri="{FF2B5EF4-FFF2-40B4-BE49-F238E27FC236}">
                    <a16:creationId xmlns:a16="http://schemas.microsoft.com/office/drawing/2014/main" id="{CBE8D25D-0F72-9515-7E61-DF8C63C1BA8A}"/>
                  </a:ext>
                </a:extLst>
              </p:cNvPr>
              <p:cNvSpPr>
                <a:spLocks noChangeArrowheads="1"/>
              </p:cNvSpPr>
              <p:nvPr/>
            </p:nvSpPr>
            <p:spPr bwMode="auto">
              <a:xfrm>
                <a:off x="1676538" y="3681616"/>
                <a:ext cx="59311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400" i="1" dirty="0">
                    <a:latin typeface="Times New Roman" panose="02020603050405020304" pitchFamily="18" charset="0"/>
                    <a:ea typeface="PMingLiU" panose="02020500000000000000" pitchFamily="18" charset="-120"/>
                    <a:cs typeface="Times New Roman" panose="02020603050405020304" pitchFamily="18" charset="0"/>
                  </a:rPr>
                  <a:t>f</a:t>
                </a:r>
                <a:r>
                  <a:rPr lang="en-US" altLang="zh-TW" sz="2400" dirty="0">
                    <a:latin typeface="Times New Roman" panose="02020603050405020304" pitchFamily="18" charset="0"/>
                    <a:ea typeface="PMingLiU" panose="02020500000000000000" pitchFamily="18" charset="-120"/>
                    <a:cs typeface="Times New Roman" panose="02020603050405020304" pitchFamily="18" charset="0"/>
                  </a:rPr>
                  <a:t>(</a:t>
                </a:r>
                <a:r>
                  <a:rPr lang="en-US" altLang="zh-TW" sz="2400" i="1" dirty="0">
                    <a:latin typeface="Times New Roman" panose="02020603050405020304" pitchFamily="18" charset="0"/>
                    <a:ea typeface="PMingLiU" panose="02020500000000000000" pitchFamily="18" charset="-120"/>
                    <a:cs typeface="Times New Roman" panose="02020603050405020304" pitchFamily="18" charset="0"/>
                  </a:rPr>
                  <a:t>z</a:t>
                </a:r>
                <a:r>
                  <a:rPr lang="en-US" altLang="zh-TW" sz="2400" dirty="0">
                    <a:latin typeface="Times New Roman" panose="02020603050405020304" pitchFamily="18" charset="0"/>
                    <a:ea typeface="PMingLiU" panose="02020500000000000000" pitchFamily="18" charset="-120"/>
                    <a:cs typeface="Times New Roman" panose="02020603050405020304" pitchFamily="18" charset="0"/>
                  </a:rPr>
                  <a:t>)</a:t>
                </a:r>
              </a:p>
            </p:txBody>
          </p:sp>
        </p:grpSp>
        <p:cxnSp>
          <p:nvCxnSpPr>
            <p:cNvPr id="5" name="Straight Connector 4">
              <a:extLst>
                <a:ext uri="{FF2B5EF4-FFF2-40B4-BE49-F238E27FC236}">
                  <a16:creationId xmlns:a16="http://schemas.microsoft.com/office/drawing/2014/main" id="{D98D9AA2-52CF-C17C-AC52-90C52E978C9E}"/>
                </a:ext>
              </a:extLst>
            </p:cNvPr>
            <p:cNvCxnSpPr/>
            <p:nvPr/>
          </p:nvCxnSpPr>
          <p:spPr>
            <a:xfrm flipV="1">
              <a:off x="2412102" y="3681616"/>
              <a:ext cx="17463" cy="1974369"/>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39A930E-9DA1-CD37-A727-645D237BF59F}"/>
                </a:ext>
              </a:extLst>
            </p:cNvPr>
            <p:cNvCxnSpPr>
              <a:cxnSpLocks/>
            </p:cNvCxnSpPr>
            <p:nvPr/>
          </p:nvCxnSpPr>
          <p:spPr>
            <a:xfrm>
              <a:off x="831711" y="5661320"/>
              <a:ext cx="3869498" cy="460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8" name="Text Box 87">
                <a:extLst>
                  <a:ext uri="{FF2B5EF4-FFF2-40B4-BE49-F238E27FC236}">
                    <a16:creationId xmlns:a16="http://schemas.microsoft.com/office/drawing/2014/main" id="{6EA20507-68EA-0641-0AAA-B864D938F95D}"/>
                  </a:ext>
                </a:extLst>
              </p:cNvPr>
              <p:cNvSpPr txBox="1">
                <a:spLocks noChangeArrowheads="1"/>
              </p:cNvSpPr>
              <p:nvPr/>
            </p:nvSpPr>
            <p:spPr bwMode="auto">
              <a:xfrm>
                <a:off x="5371158" y="3316597"/>
                <a:ext cx="6406249" cy="11437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a:solidFill>
                      <a:schemeClr val="tx1"/>
                    </a:solidFill>
                    <a:latin typeface="Times New Roman" panose="02020603050405020304" pitchFamily="18" charset="0"/>
                    <a:cs typeface="Times New Roman" panose="02020603050405020304" pitchFamily="18" charset="0"/>
                  </a:rPr>
                  <a:t>The probability for </a:t>
                </a:r>
                <a14:m>
                  <m:oMath xmlns:m="http://schemas.openxmlformats.org/officeDocument/2006/math">
                    <m:r>
                      <a:rPr lang="en-AU" altLang="zh-CN" sz="2800" i="1" smtClean="0">
                        <a:solidFill>
                          <a:srgbClr val="0000FF"/>
                        </a:solidFill>
                        <a:latin typeface="Cambria Math" panose="02040503050406030204" pitchFamily="18" charset="0"/>
                        <a:cs typeface="Times New Roman" panose="02020603050405020304" pitchFamily="18" charset="0"/>
                      </a:rPr>
                      <m:t>𝑎</m:t>
                    </m:r>
                    <m:r>
                      <a:rPr lang="en-AU" altLang="zh-CN" sz="2800" i="1" smtClean="0">
                        <a:solidFill>
                          <a:srgbClr val="0000FF"/>
                        </a:solidFill>
                        <a:latin typeface="Cambria Math" panose="02040503050406030204" pitchFamily="18" charset="0"/>
                        <a:cs typeface="Times New Roman" panose="02020603050405020304" pitchFamily="18" charset="0"/>
                      </a:rPr>
                      <m:t>≤</m:t>
                    </m:r>
                    <m:r>
                      <a:rPr lang="en-AU" altLang="zh-CN" sz="2800" i="1" smtClean="0">
                        <a:solidFill>
                          <a:srgbClr val="0000FF"/>
                        </a:solidFill>
                        <a:latin typeface="Cambria Math" panose="02040503050406030204" pitchFamily="18" charset="0"/>
                        <a:cs typeface="Times New Roman" panose="02020603050405020304" pitchFamily="18" charset="0"/>
                      </a:rPr>
                      <m:t>𝑥</m:t>
                    </m:r>
                    <m:r>
                      <a:rPr lang="en-AU" altLang="zh-CN" sz="2800" i="1" smtClean="0">
                        <a:solidFill>
                          <a:srgbClr val="0000FF"/>
                        </a:solidFill>
                        <a:latin typeface="Cambria Math" panose="02040503050406030204" pitchFamily="18" charset="0"/>
                        <a:cs typeface="Times New Roman" panose="02020603050405020304" pitchFamily="18" charset="0"/>
                      </a:rPr>
                      <m:t>≤</m:t>
                    </m:r>
                    <m:r>
                      <a:rPr lang="en-AU" altLang="zh-CN" sz="2800" b="0" i="1" smtClean="0">
                        <a:solidFill>
                          <a:srgbClr val="0000FF"/>
                        </a:solidFill>
                        <a:latin typeface="Cambria Math" panose="02040503050406030204" pitchFamily="18" charset="0"/>
                        <a:cs typeface="Times New Roman" panose="02020603050405020304" pitchFamily="18" charset="0"/>
                      </a:rPr>
                      <m:t>𝑏</m:t>
                    </m:r>
                    <m:r>
                      <a:rPr lang="en-AU" altLang="zh-CN" sz="2800" b="0" i="1" smtClean="0">
                        <a:solidFill>
                          <a:srgbClr val="0000FF"/>
                        </a:solidFill>
                        <a:latin typeface="Cambria Math" panose="02040503050406030204" pitchFamily="18" charset="0"/>
                        <a:cs typeface="Times New Roman" panose="02020603050405020304" pitchFamily="18" charset="0"/>
                      </a:rPr>
                      <m:t> </m:t>
                    </m:r>
                  </m:oMath>
                </a14:m>
                <a:r>
                  <a:rPr lang="en-US" altLang="zh-CN" sz="2800" dirty="0">
                    <a:solidFill>
                      <a:schemeClr val="tx1"/>
                    </a:solidFill>
                    <a:latin typeface="Times New Roman" panose="02020603050405020304" pitchFamily="18" charset="0"/>
                    <a:cs typeface="Times New Roman" panose="02020603050405020304" pitchFamily="18" charset="0"/>
                  </a:rPr>
                  <a:t>is equivalent to the probability for </a:t>
                </a:r>
                <a14:m>
                  <m:oMath xmlns:m="http://schemas.openxmlformats.org/officeDocument/2006/math">
                    <m:f>
                      <m:fPr>
                        <m:ctrlPr>
                          <a:rPr lang="en-AU" sz="2800" i="1" smtClean="0">
                            <a:solidFill>
                              <a:srgbClr val="0000FF"/>
                            </a:solidFill>
                            <a:latin typeface="Cambria Math" panose="02040503050406030204" pitchFamily="18" charset="0"/>
                          </a:rPr>
                        </m:ctrlPr>
                      </m:fPr>
                      <m:num>
                        <m:r>
                          <a:rPr lang="en-AU" sz="2800" i="1">
                            <a:solidFill>
                              <a:srgbClr val="0000FF"/>
                            </a:solidFill>
                            <a:latin typeface="Cambria Math" panose="02040503050406030204" pitchFamily="18" charset="0"/>
                          </a:rPr>
                          <m:t>𝑎</m:t>
                        </m:r>
                        <m:r>
                          <a:rPr lang="en-AU" sz="2800" i="1">
                            <a:solidFill>
                              <a:srgbClr val="0000FF"/>
                            </a:solidFill>
                            <a:latin typeface="Cambria Math" panose="02040503050406030204" pitchFamily="18" charset="0"/>
                          </a:rPr>
                          <m:t>−</m:t>
                        </m:r>
                        <m:r>
                          <a:rPr lang="en-AU" sz="2800" i="1">
                            <a:solidFill>
                              <a:srgbClr val="0000FF"/>
                            </a:solidFill>
                            <a:latin typeface="Cambria Math" panose="02040503050406030204" pitchFamily="18" charset="0"/>
                          </a:rPr>
                          <m:t>𝜇</m:t>
                        </m:r>
                      </m:num>
                      <m:den>
                        <m:r>
                          <a:rPr lang="en-AU" sz="2800" i="1">
                            <a:solidFill>
                              <a:srgbClr val="0000FF"/>
                            </a:solidFill>
                            <a:latin typeface="Cambria Math" panose="02040503050406030204" pitchFamily="18" charset="0"/>
                          </a:rPr>
                          <m:t>𝜎</m:t>
                        </m:r>
                      </m:den>
                    </m:f>
                    <m:r>
                      <a:rPr lang="en-AU" sz="2800" i="1">
                        <a:solidFill>
                          <a:srgbClr val="0000FF"/>
                        </a:solidFill>
                        <a:latin typeface="Cambria Math" panose="02040503050406030204" pitchFamily="18" charset="0"/>
                      </a:rPr>
                      <m:t>≤</m:t>
                    </m:r>
                    <m:r>
                      <a:rPr lang="en-AU" sz="2800" i="1">
                        <a:solidFill>
                          <a:srgbClr val="0000FF"/>
                        </a:solidFill>
                        <a:latin typeface="Cambria Math" panose="02040503050406030204" pitchFamily="18" charset="0"/>
                      </a:rPr>
                      <m:t>𝑧</m:t>
                    </m:r>
                    <m:r>
                      <a:rPr lang="en-AU" sz="2800" i="1">
                        <a:solidFill>
                          <a:srgbClr val="0000FF"/>
                        </a:solidFill>
                        <a:latin typeface="Cambria Math" panose="02040503050406030204" pitchFamily="18" charset="0"/>
                      </a:rPr>
                      <m:t>≤</m:t>
                    </m:r>
                    <m:f>
                      <m:fPr>
                        <m:ctrlPr>
                          <a:rPr lang="en-AU" sz="2800" i="1">
                            <a:solidFill>
                              <a:srgbClr val="0000FF"/>
                            </a:solidFill>
                            <a:latin typeface="Cambria Math" panose="02040503050406030204" pitchFamily="18" charset="0"/>
                          </a:rPr>
                        </m:ctrlPr>
                      </m:fPr>
                      <m:num>
                        <m:r>
                          <a:rPr lang="en-AU" sz="2800" i="1">
                            <a:solidFill>
                              <a:srgbClr val="0000FF"/>
                            </a:solidFill>
                            <a:latin typeface="Cambria Math" panose="02040503050406030204" pitchFamily="18" charset="0"/>
                          </a:rPr>
                          <m:t>𝑏</m:t>
                        </m:r>
                        <m:r>
                          <a:rPr lang="en-AU" sz="2800" i="1">
                            <a:solidFill>
                              <a:srgbClr val="0000FF"/>
                            </a:solidFill>
                            <a:latin typeface="Cambria Math" panose="02040503050406030204" pitchFamily="18" charset="0"/>
                          </a:rPr>
                          <m:t>−</m:t>
                        </m:r>
                        <m:r>
                          <a:rPr lang="en-AU" sz="2800" i="1">
                            <a:solidFill>
                              <a:srgbClr val="0000FF"/>
                            </a:solidFill>
                            <a:latin typeface="Cambria Math" panose="02040503050406030204" pitchFamily="18" charset="0"/>
                          </a:rPr>
                          <m:t>𝜇</m:t>
                        </m:r>
                      </m:num>
                      <m:den>
                        <m:r>
                          <a:rPr lang="en-AU" sz="2800" i="1">
                            <a:solidFill>
                              <a:srgbClr val="0000FF"/>
                            </a:solidFill>
                            <a:latin typeface="Cambria Math" panose="02040503050406030204" pitchFamily="18" charset="0"/>
                          </a:rPr>
                          <m:t>𝜎</m:t>
                        </m:r>
                      </m:den>
                    </m:f>
                  </m:oMath>
                </a14:m>
                <a:r>
                  <a:rPr lang="en-US" altLang="zh-CN" sz="2800" dirty="0">
                    <a:solidFill>
                      <a:schemeClr val="tx1"/>
                    </a:solidFill>
                    <a:latin typeface="Times New Roman" panose="02020603050405020304" pitchFamily="18" charset="0"/>
                    <a:cs typeface="Times New Roman" panose="02020603050405020304" pitchFamily="18" charset="0"/>
                  </a:rPr>
                  <a:t> </a:t>
                </a:r>
              </a:p>
            </p:txBody>
          </p:sp>
        </mc:Choice>
        <mc:Fallback>
          <p:sp>
            <p:nvSpPr>
              <p:cNvPr id="18" name="Text Box 87">
                <a:extLst>
                  <a:ext uri="{FF2B5EF4-FFF2-40B4-BE49-F238E27FC236}">
                    <a16:creationId xmlns:a16="http://schemas.microsoft.com/office/drawing/2014/main" id="{6EA20507-68EA-0641-0AAA-B864D938F95D}"/>
                  </a:ext>
                </a:extLst>
              </p:cNvPr>
              <p:cNvSpPr txBox="1">
                <a:spLocks noRot="1" noChangeAspect="1" noMove="1" noResize="1" noEditPoints="1" noAdjustHandles="1" noChangeArrowheads="1" noChangeShapeType="1" noTextEdit="1"/>
              </p:cNvSpPr>
              <p:nvPr/>
            </p:nvSpPr>
            <p:spPr bwMode="auto">
              <a:xfrm>
                <a:off x="5371158" y="3316597"/>
                <a:ext cx="6406249" cy="1143775"/>
              </a:xfrm>
              <a:prstGeom prst="rect">
                <a:avLst/>
              </a:prstGeom>
              <a:blipFill>
                <a:blip r:embed="rId9"/>
                <a:stretch>
                  <a:fillRect l="-1903" t="-5319" r="-3235" b="-531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Tree>
    <p:extLst>
      <p:ext uri="{BB962C8B-B14F-4D97-AF65-F5344CB8AC3E}">
        <p14:creationId xmlns:p14="http://schemas.microsoft.com/office/powerpoint/2010/main" val="545868550"/>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3795" name="Rectangle 2">
                <a:extLst>
                  <a:ext uri="{FF2B5EF4-FFF2-40B4-BE49-F238E27FC236}">
                    <a16:creationId xmlns:a16="http://schemas.microsoft.com/office/drawing/2014/main" id="{59530787-BDDF-2242-AE38-CB7F08482CBA}"/>
                  </a:ext>
                </a:extLst>
              </p:cNvPr>
              <p:cNvSpPr>
                <a:spLocks noGrp="1" noChangeArrowheads="1"/>
              </p:cNvSpPr>
              <p:nvPr>
                <p:ph type="title"/>
              </p:nvPr>
            </p:nvSpPr>
            <p:spPr>
              <a:xfrm>
                <a:off x="231499" y="183668"/>
                <a:ext cx="10383491" cy="563563"/>
              </a:xfrm>
              <a:noFill/>
              <a:extLst>
                <a:ext uri="{91240B29-F687-4F45-9708-019B960494DF}">
                  <a14:hiddenLine w="12700">
                    <a:solidFill>
                      <a:schemeClr val="tx1"/>
                    </a:solidFill>
                    <a:miter lim="800000"/>
                    <a:headEnd/>
                    <a:tailEnd/>
                  </a14:hiddenLine>
                </a:ext>
              </a:extLst>
            </p:spPr>
            <p:txBody>
              <a:bodyPr vert="horz" lIns="90488" tIns="44450" rIns="90488" bIns="44450" rtlCol="0" anchor="b">
                <a:noAutofit/>
              </a:bodyPr>
              <a:lstStyle/>
              <a:p>
                <a:r>
                  <a:rPr lang="en-AU" sz="2800" b="1" dirty="0">
                    <a:solidFill>
                      <a:srgbClr val="FF0000"/>
                    </a:solidFill>
                    <a:latin typeface="Times New Roman" panose="02020603050405020304" pitchFamily="18" charset="0"/>
                    <a:cs typeface="Times New Roman" panose="02020603050405020304" pitchFamily="18" charset="0"/>
                  </a:rPr>
                  <a:t>Figure 6.15 </a:t>
                </a:r>
                <a:r>
                  <a:rPr lang="en-AU" sz="2800" b="1" dirty="0">
                    <a:latin typeface="Times New Roman" panose="02020603050405020304" pitchFamily="18" charset="0"/>
                    <a:cs typeface="Times New Roman" panose="02020603050405020304" pitchFamily="18" charset="0"/>
                  </a:rPr>
                  <a:t>Some Areas under the Standard Normal Curve </a:t>
                </a:r>
                <a14:m>
                  <m:oMath xmlns:m="http://schemas.openxmlformats.org/officeDocument/2006/math">
                    <m:r>
                      <a:rPr lang="en-AU" altLang="zh-CN" sz="2800" b="1" i="1">
                        <a:solidFill>
                          <a:srgbClr val="FF0000"/>
                        </a:solidFill>
                        <a:latin typeface="Cambria Math" panose="02040503050406030204" pitchFamily="18" charset="0"/>
                        <a:cs typeface="Times New Roman" panose="02020603050405020304" pitchFamily="18" charset="0"/>
                      </a:rPr>
                      <m:t>𝒇</m:t>
                    </m:r>
                    <m:r>
                      <a:rPr lang="en-AU" altLang="zh-CN" sz="2800" b="1" i="1">
                        <a:solidFill>
                          <a:srgbClr val="FF0000"/>
                        </a:solidFill>
                        <a:latin typeface="Cambria Math" panose="02040503050406030204" pitchFamily="18" charset="0"/>
                        <a:cs typeface="Times New Roman" panose="02020603050405020304" pitchFamily="18" charset="0"/>
                      </a:rPr>
                      <m:t>(</m:t>
                    </m:r>
                    <m:r>
                      <a:rPr lang="en-AU" altLang="zh-CN" sz="2800" b="1" i="1" smtClean="0">
                        <a:solidFill>
                          <a:srgbClr val="FF0000"/>
                        </a:solidFill>
                        <a:latin typeface="Cambria Math" panose="02040503050406030204" pitchFamily="18" charset="0"/>
                        <a:cs typeface="Times New Roman" panose="02020603050405020304" pitchFamily="18" charset="0"/>
                      </a:rPr>
                      <m:t>𝒛</m:t>
                    </m:r>
                    <m:r>
                      <a:rPr lang="en-AU" altLang="zh-CN" sz="2800" b="1" i="1">
                        <a:solidFill>
                          <a:srgbClr val="FF0000"/>
                        </a:solidFill>
                        <a:latin typeface="Cambria Math" panose="02040503050406030204" pitchFamily="18" charset="0"/>
                        <a:cs typeface="Times New Roman" panose="02020603050405020304" pitchFamily="18" charset="0"/>
                      </a:rPr>
                      <m:t>)</m:t>
                    </m:r>
                  </m:oMath>
                </a14:m>
                <a:r>
                  <a:rPr lang="en-AU" sz="2800" b="1" dirty="0">
                    <a:latin typeface="Times New Roman" panose="02020603050405020304" pitchFamily="18" charset="0"/>
                    <a:cs typeface="Times New Roman" panose="02020603050405020304" pitchFamily="18" charset="0"/>
                  </a:rPr>
                  <a:t> </a:t>
                </a:r>
                <a:endParaRPr lang="en-US" altLang="zh-CN" sz="2800" b="1" dirty="0">
                  <a:solidFill>
                    <a:srgbClr val="FF3300"/>
                  </a:solidFill>
                  <a:latin typeface="Times New Roman" panose="02020603050405020304" pitchFamily="18" charset="0"/>
                  <a:cs typeface="Times New Roman" panose="02020603050405020304" pitchFamily="18" charset="0"/>
                </a:endParaRPr>
              </a:p>
            </p:txBody>
          </p:sp>
        </mc:Choice>
        <mc:Fallback>
          <p:sp>
            <p:nvSpPr>
              <p:cNvPr id="33795" name="Rectangle 2">
                <a:extLst>
                  <a:ext uri="{FF2B5EF4-FFF2-40B4-BE49-F238E27FC236}">
                    <a16:creationId xmlns:a16="http://schemas.microsoft.com/office/drawing/2014/main" id="{59530787-BDDF-2242-AE38-CB7F08482CBA}"/>
                  </a:ext>
                </a:extLst>
              </p:cNvPr>
              <p:cNvSpPr>
                <a:spLocks noGrp="1" noRot="1" noChangeAspect="1" noMove="1" noResize="1" noEditPoints="1" noAdjustHandles="1" noChangeArrowheads="1" noChangeShapeType="1" noTextEdit="1"/>
              </p:cNvSpPr>
              <p:nvPr>
                <p:ph type="title"/>
              </p:nvPr>
            </p:nvSpPr>
            <p:spPr>
              <a:xfrm>
                <a:off x="231499" y="183668"/>
                <a:ext cx="10383491" cy="563563"/>
              </a:xfrm>
              <a:blipFill>
                <a:blip r:embed="rId3"/>
                <a:stretch>
                  <a:fillRect l="-1233" t="-3226" b="-30108"/>
                </a:stretch>
              </a:blipFill>
              <a:extLst>
                <a:ext uri="{91240B29-F687-4F45-9708-019B960494DF}">
                  <a14:hiddenLine xmlns:a14="http://schemas.microsoft.com/office/drawing/2010/main" w="12700">
                    <a:solidFill>
                      <a:schemeClr val="tx1"/>
                    </a:solidFill>
                    <a:miter lim="800000"/>
                    <a:headEnd/>
                    <a:tailEnd/>
                  </a14:hiddenLine>
                </a:ext>
              </a:extLst>
            </p:spPr>
            <p:txBody>
              <a:bodyPr/>
              <a:lstStyle/>
              <a:p>
                <a:r>
                  <a:rPr lang="en-AU">
                    <a:noFill/>
                  </a:rPr>
                  <a:t> </a:t>
                </a:r>
              </a:p>
            </p:txBody>
          </p:sp>
        </mc:Fallback>
      </mc:AlternateContent>
      <p:pic>
        <p:nvPicPr>
          <p:cNvPr id="4" name="Picture 3">
            <a:extLst>
              <a:ext uri="{FF2B5EF4-FFF2-40B4-BE49-F238E27FC236}">
                <a16:creationId xmlns:a16="http://schemas.microsoft.com/office/drawing/2014/main" id="{5AF50FE9-D548-EA46-36AE-8BE4D8350DF7}"/>
              </a:ext>
            </a:extLst>
          </p:cNvPr>
          <p:cNvPicPr>
            <a:picLocks noChangeAspect="1"/>
          </p:cNvPicPr>
          <p:nvPr/>
        </p:nvPicPr>
        <p:blipFill>
          <a:blip r:embed="rId4"/>
          <a:stretch>
            <a:fillRect/>
          </a:stretch>
        </p:blipFill>
        <p:spPr>
          <a:xfrm>
            <a:off x="231500" y="1179560"/>
            <a:ext cx="6838950" cy="444817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E70979A-AB65-180A-A4BD-789739B1985A}"/>
                  </a:ext>
                </a:extLst>
              </p:cNvPr>
              <p:cNvSpPr txBox="1"/>
              <p:nvPr/>
            </p:nvSpPr>
            <p:spPr>
              <a:xfrm>
                <a:off x="7243143" y="1194714"/>
                <a:ext cx="4663937" cy="2308324"/>
              </a:xfrm>
              <a:prstGeom prst="rect">
                <a:avLst/>
              </a:prstGeom>
              <a:noFill/>
            </p:spPr>
            <p:txBody>
              <a:bodyPr wrap="square">
                <a:spAutoFit/>
              </a:bodyPr>
              <a:lstStyle/>
              <a:p>
                <a:pPr algn="just"/>
                <a14:m>
                  <m:oMath xmlns:m="http://schemas.openxmlformats.org/officeDocument/2006/math">
                    <m:r>
                      <a:rPr lang="en-AU" altLang="zh-CN" i="1" smtClean="0">
                        <a:latin typeface="Cambria Math" panose="02040503050406030204" pitchFamily="18" charset="0"/>
                        <a:cs typeface="Times New Roman" panose="02020603050405020304" pitchFamily="18" charset="0"/>
                      </a:rPr>
                      <m:t>𝑃</m:t>
                    </m:r>
                    <m:d>
                      <m:dPr>
                        <m:ctrlPr>
                          <a:rPr lang="en-AU" altLang="zh-CN" i="1">
                            <a:latin typeface="Cambria Math" panose="02040503050406030204" pitchFamily="18" charset="0"/>
                            <a:cs typeface="Times New Roman" panose="02020603050405020304" pitchFamily="18" charset="0"/>
                          </a:rPr>
                        </m:ctrlPr>
                      </m:dPr>
                      <m:e>
                        <m:r>
                          <a:rPr lang="en-AU" altLang="zh-CN" i="1">
                            <a:latin typeface="Cambria Math" panose="02040503050406030204" pitchFamily="18" charset="0"/>
                            <a:cs typeface="Times New Roman" panose="02020603050405020304" pitchFamily="18" charset="0"/>
                          </a:rPr>
                          <m:t>−</m:t>
                        </m:r>
                        <m:r>
                          <a:rPr lang="en-AU" altLang="zh-CN" b="0" i="1" smtClean="0">
                            <a:latin typeface="Cambria Math" panose="02040503050406030204" pitchFamily="18" charset="0"/>
                            <a:cs typeface="Times New Roman" panose="02020603050405020304" pitchFamily="18" charset="0"/>
                          </a:rPr>
                          <m:t>1</m:t>
                        </m:r>
                        <m:r>
                          <a:rPr lang="en-AU" altLang="zh-CN" i="1">
                            <a:latin typeface="Cambria Math" panose="02040503050406030204" pitchFamily="18" charset="0"/>
                            <a:cs typeface="Times New Roman" panose="02020603050405020304" pitchFamily="18" charset="0"/>
                          </a:rPr>
                          <m:t>≤</m:t>
                        </m:r>
                        <m:r>
                          <a:rPr lang="en-AU" altLang="zh-CN" i="1">
                            <a:latin typeface="Cambria Math" panose="02040503050406030204" pitchFamily="18" charset="0"/>
                            <a:cs typeface="Times New Roman" panose="02020603050405020304" pitchFamily="18" charset="0"/>
                          </a:rPr>
                          <m:t>𝑧</m:t>
                        </m:r>
                        <m:r>
                          <a:rPr lang="en-AU" altLang="zh-CN" i="1">
                            <a:latin typeface="Cambria Math" panose="02040503050406030204" pitchFamily="18" charset="0"/>
                            <a:cs typeface="Times New Roman" panose="02020603050405020304" pitchFamily="18" charset="0"/>
                          </a:rPr>
                          <m:t>≤1</m:t>
                        </m:r>
                      </m:e>
                    </m:d>
                    <m:r>
                      <a:rPr lang="en-AU" altLang="zh-CN" i="1">
                        <a:latin typeface="Cambria Math" panose="02040503050406030204" pitchFamily="18" charset="0"/>
                        <a:cs typeface="Times New Roman" panose="02020603050405020304" pitchFamily="18" charset="0"/>
                      </a:rPr>
                      <m:t>=</m:t>
                    </m:r>
                    <m:r>
                      <a:rPr lang="en-AU" altLang="zh-CN" b="0" i="1" smtClean="0">
                        <a:latin typeface="Cambria Math" panose="02040503050406030204" pitchFamily="18" charset="0"/>
                        <a:cs typeface="Times New Roman" panose="02020603050405020304" pitchFamily="18" charset="0"/>
                      </a:rPr>
                      <m:t>0.6826</m:t>
                    </m:r>
                  </m:oMath>
                </a14:m>
                <a:r>
                  <a:rPr lang="en-AU" dirty="0">
                    <a:latin typeface="Times New Roman" panose="02020603050405020304" pitchFamily="18" charset="0"/>
                    <a:cs typeface="Times New Roman" panose="02020603050405020304" pitchFamily="18" charset="0"/>
                  </a:rPr>
                  <a:t>. We know that 68.26 percent of all possible observed values of </a:t>
                </a:r>
                <a:r>
                  <a:rPr lang="en-AU" i="1" dirty="0">
                    <a:latin typeface="Times New Roman" panose="02020603050405020304" pitchFamily="18" charset="0"/>
                    <a:cs typeface="Times New Roman" panose="02020603050405020304" pitchFamily="18" charset="0"/>
                  </a:rPr>
                  <a:t>x</a:t>
                </a:r>
                <a:r>
                  <a:rPr lang="en-AU" dirty="0">
                    <a:latin typeface="Times New Roman" panose="02020603050405020304" pitchFamily="18" charset="0"/>
                    <a:cs typeface="Times New Roman" panose="02020603050405020304" pitchFamily="18" charset="0"/>
                  </a:rPr>
                  <a:t> are between a point that is one standard deviation below </a:t>
                </a:r>
                <a:r>
                  <a:rPr lang="en-AU" dirty="0">
                    <a:latin typeface="Times New Roman" panose="02020603050405020304" pitchFamily="18" charset="0"/>
                    <a:cs typeface="Times New Roman" panose="02020603050405020304" pitchFamily="18" charset="0"/>
                    <a:sym typeface="Symbol" panose="05050102010706020507" pitchFamily="18" charset="2"/>
                  </a:rPr>
                  <a:t></a:t>
                </a:r>
                <a:r>
                  <a:rPr lang="en-AU" dirty="0">
                    <a:latin typeface="Times New Roman" panose="02020603050405020304" pitchFamily="18" charset="0"/>
                    <a:cs typeface="Times New Roman" panose="02020603050405020304" pitchFamily="18" charset="0"/>
                  </a:rPr>
                  <a:t> (where </a:t>
                </a:r>
                <a:r>
                  <a:rPr lang="en-AU" i="1" dirty="0">
                    <a:latin typeface="Times New Roman" panose="02020603050405020304" pitchFamily="18" charset="0"/>
                    <a:cs typeface="Times New Roman" panose="02020603050405020304" pitchFamily="18" charset="0"/>
                  </a:rPr>
                  <a:t>z</a:t>
                </a:r>
                <a:r>
                  <a:rPr lang="en-AU" dirty="0">
                    <a:latin typeface="Times New Roman" panose="02020603050405020304" pitchFamily="18" charset="0"/>
                    <a:cs typeface="Times New Roman" panose="02020603050405020304" pitchFamily="18" charset="0"/>
                  </a:rPr>
                  <a:t> equals 1) and a point that is one standard deviation</a:t>
                </a:r>
                <a:r>
                  <a:rPr lang="en-AU" dirty="0">
                    <a:latin typeface="Times New Roman" panose="02020603050405020304" pitchFamily="18" charset="0"/>
                    <a:cs typeface="Times New Roman" panose="02020603050405020304" pitchFamily="18" charset="0"/>
                    <a:sym typeface="Symbol" panose="05050102010706020507" pitchFamily="18" charset="2"/>
                  </a:rPr>
                  <a:t> </a:t>
                </a:r>
                <a:r>
                  <a:rPr lang="en-AU" dirty="0">
                    <a:latin typeface="Times New Roman" panose="02020603050405020304" pitchFamily="18" charset="0"/>
                    <a:cs typeface="Times New Roman" panose="02020603050405020304" pitchFamily="18" charset="0"/>
                  </a:rPr>
                  <a:t>above </a:t>
                </a:r>
                <a:r>
                  <a:rPr lang="en-AU" dirty="0">
                    <a:latin typeface="Times New Roman" panose="02020603050405020304" pitchFamily="18" charset="0"/>
                    <a:cs typeface="Times New Roman" panose="02020603050405020304" pitchFamily="18" charset="0"/>
                    <a:sym typeface="Symbol" panose="05050102010706020507" pitchFamily="18" charset="2"/>
                  </a:rPr>
                  <a:t></a:t>
                </a:r>
                <a:r>
                  <a:rPr lang="en-AU" dirty="0">
                    <a:latin typeface="Times New Roman" panose="02020603050405020304" pitchFamily="18" charset="0"/>
                    <a:cs typeface="Times New Roman" panose="02020603050405020304" pitchFamily="18" charset="0"/>
                  </a:rPr>
                  <a:t> (where </a:t>
                </a:r>
                <a:r>
                  <a:rPr lang="en-AU" i="1" dirty="0">
                    <a:latin typeface="Times New Roman" panose="02020603050405020304" pitchFamily="18" charset="0"/>
                    <a:cs typeface="Times New Roman" panose="02020603050405020304" pitchFamily="18" charset="0"/>
                  </a:rPr>
                  <a:t>z</a:t>
                </a:r>
                <a:r>
                  <a:rPr lang="en-AU" dirty="0">
                    <a:latin typeface="Times New Roman" panose="02020603050405020304" pitchFamily="18" charset="0"/>
                    <a:cs typeface="Times New Roman" panose="02020603050405020304" pitchFamily="18" charset="0"/>
                  </a:rPr>
                  <a:t> equals 1). That is, </a:t>
                </a:r>
                <a:r>
                  <a:rPr lang="en-AU" dirty="0">
                    <a:highlight>
                      <a:srgbClr val="FFFF00"/>
                    </a:highlight>
                    <a:latin typeface="Times New Roman" panose="02020603050405020304" pitchFamily="18" charset="0"/>
                    <a:cs typeface="Times New Roman" panose="02020603050405020304" pitchFamily="18" charset="0"/>
                  </a:rPr>
                  <a:t>68.26 percent </a:t>
                </a:r>
                <a:r>
                  <a:rPr lang="en-AU" dirty="0">
                    <a:latin typeface="Times New Roman" panose="02020603050405020304" pitchFamily="18" charset="0"/>
                    <a:cs typeface="Times New Roman" panose="02020603050405020304" pitchFamily="18" charset="0"/>
                  </a:rPr>
                  <a:t>of all possible observed values of </a:t>
                </a:r>
                <a:r>
                  <a:rPr lang="en-AU" i="1" dirty="0">
                    <a:latin typeface="Times New Roman" panose="02020603050405020304" pitchFamily="18" charset="0"/>
                    <a:cs typeface="Times New Roman" panose="02020603050405020304" pitchFamily="18" charset="0"/>
                  </a:rPr>
                  <a:t>x</a:t>
                </a:r>
                <a:r>
                  <a:rPr lang="en-AU" dirty="0">
                    <a:latin typeface="Times New Roman" panose="02020603050405020304" pitchFamily="18" charset="0"/>
                    <a:cs typeface="Times New Roman" panose="02020603050405020304" pitchFamily="18" charset="0"/>
                  </a:rPr>
                  <a:t> are within (plus or minus) one standard deviation of the mean </a:t>
                </a:r>
                <a:r>
                  <a:rPr lang="en-AU" dirty="0">
                    <a:latin typeface="Times New Roman" panose="02020603050405020304" pitchFamily="18" charset="0"/>
                    <a:cs typeface="Times New Roman" panose="02020603050405020304" pitchFamily="18" charset="0"/>
                    <a:sym typeface="Symbol" panose="05050102010706020507" pitchFamily="18" charset="2"/>
                  </a:rPr>
                  <a:t>.</a:t>
                </a:r>
                <a:endParaRPr lang="en-AU"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3E70979A-AB65-180A-A4BD-789739B1985A}"/>
                  </a:ext>
                </a:extLst>
              </p:cNvPr>
              <p:cNvSpPr txBox="1">
                <a:spLocks noRot="1" noChangeAspect="1" noMove="1" noResize="1" noEditPoints="1" noAdjustHandles="1" noChangeArrowheads="1" noChangeShapeType="1" noTextEdit="1"/>
              </p:cNvSpPr>
              <p:nvPr/>
            </p:nvSpPr>
            <p:spPr>
              <a:xfrm>
                <a:off x="7243143" y="1194714"/>
                <a:ext cx="4663937" cy="2308324"/>
              </a:xfrm>
              <a:prstGeom prst="rect">
                <a:avLst/>
              </a:prstGeom>
              <a:blipFill>
                <a:blip r:embed="rId5"/>
                <a:stretch>
                  <a:fillRect l="-1046" t="-1583" r="-1176" b="-3166"/>
                </a:stretch>
              </a:blipFill>
            </p:spPr>
            <p:txBody>
              <a:bodyPr/>
              <a:lstStyle/>
              <a:p>
                <a:r>
                  <a:rPr lang="en-AU">
                    <a:noFill/>
                  </a:rPr>
                  <a:t> </a:t>
                </a:r>
              </a:p>
            </p:txBody>
          </p:sp>
        </mc:Fallback>
      </mc:AlternateContent>
      <p:sp>
        <p:nvSpPr>
          <p:cNvPr id="8" name="TextBox 7">
            <a:extLst>
              <a:ext uri="{FF2B5EF4-FFF2-40B4-BE49-F238E27FC236}">
                <a16:creationId xmlns:a16="http://schemas.microsoft.com/office/drawing/2014/main" id="{0FC8A5F4-FB95-BADD-E611-65FF809ECD7F}"/>
              </a:ext>
            </a:extLst>
          </p:cNvPr>
          <p:cNvSpPr txBox="1"/>
          <p:nvPr/>
        </p:nvSpPr>
        <p:spPr>
          <a:xfrm>
            <a:off x="7243143" y="3553743"/>
            <a:ext cx="4789833" cy="923330"/>
          </a:xfrm>
          <a:prstGeom prst="rect">
            <a:avLst/>
          </a:prstGeom>
          <a:noFill/>
        </p:spPr>
        <p:txBody>
          <a:bodyPr wrap="square">
            <a:spAutoFit/>
          </a:bodyPr>
          <a:lstStyle/>
          <a:p>
            <a:pPr algn="just"/>
            <a:r>
              <a:rPr lang="en-AU" dirty="0">
                <a:highlight>
                  <a:srgbClr val="FFFF00"/>
                </a:highlight>
                <a:latin typeface="Times New Roman" panose="02020603050405020304" pitchFamily="18" charset="0"/>
                <a:cs typeface="Times New Roman" panose="02020603050405020304" pitchFamily="18" charset="0"/>
              </a:rPr>
              <a:t>95.44 percent </a:t>
            </a:r>
            <a:r>
              <a:rPr lang="en-AU" dirty="0">
                <a:latin typeface="Times New Roman" panose="02020603050405020304" pitchFamily="18" charset="0"/>
                <a:cs typeface="Times New Roman" panose="02020603050405020304" pitchFamily="18" charset="0"/>
              </a:rPr>
              <a:t>of all possible observed values of </a:t>
            </a:r>
            <a:r>
              <a:rPr lang="en-AU" i="1" dirty="0">
                <a:latin typeface="Times New Roman" panose="02020603050405020304" pitchFamily="18" charset="0"/>
                <a:cs typeface="Times New Roman" panose="02020603050405020304" pitchFamily="18" charset="0"/>
              </a:rPr>
              <a:t>x</a:t>
            </a:r>
            <a:r>
              <a:rPr lang="en-AU" dirty="0">
                <a:latin typeface="Times New Roman" panose="02020603050405020304" pitchFamily="18" charset="0"/>
                <a:cs typeface="Times New Roman" panose="02020603050405020304" pitchFamily="18" charset="0"/>
              </a:rPr>
              <a:t> are within (plus or minus) two standard deviations of the mean </a:t>
            </a:r>
            <a:r>
              <a:rPr lang="en-AU" dirty="0">
                <a:latin typeface="Times New Roman" panose="02020603050405020304" pitchFamily="18" charset="0"/>
                <a:cs typeface="Times New Roman" panose="02020603050405020304" pitchFamily="18" charset="0"/>
                <a:sym typeface="Symbol" panose="05050102010706020507" pitchFamily="18" charset="2"/>
              </a:rPr>
              <a:t></a:t>
            </a:r>
            <a:r>
              <a:rPr lang="en-AU"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7EC57F33-75D3-F5E0-9E73-EBD0330A4E8A}"/>
              </a:ext>
            </a:extLst>
          </p:cNvPr>
          <p:cNvSpPr txBox="1"/>
          <p:nvPr/>
        </p:nvSpPr>
        <p:spPr>
          <a:xfrm>
            <a:off x="7270475" y="4556944"/>
            <a:ext cx="4789833" cy="923330"/>
          </a:xfrm>
          <a:prstGeom prst="rect">
            <a:avLst/>
          </a:prstGeom>
          <a:noFill/>
        </p:spPr>
        <p:txBody>
          <a:bodyPr wrap="square">
            <a:spAutoFit/>
          </a:bodyPr>
          <a:lstStyle/>
          <a:p>
            <a:pPr algn="just"/>
            <a:r>
              <a:rPr lang="en-AU" dirty="0">
                <a:highlight>
                  <a:srgbClr val="FFFF00"/>
                </a:highlight>
                <a:latin typeface="Times New Roman" panose="02020603050405020304" pitchFamily="18" charset="0"/>
                <a:cs typeface="Times New Roman" panose="02020603050405020304" pitchFamily="18" charset="0"/>
              </a:rPr>
              <a:t>99.73 percent </a:t>
            </a:r>
            <a:r>
              <a:rPr lang="en-AU" dirty="0">
                <a:latin typeface="Times New Roman" panose="02020603050405020304" pitchFamily="18" charset="0"/>
                <a:cs typeface="Times New Roman" panose="02020603050405020304" pitchFamily="18" charset="0"/>
              </a:rPr>
              <a:t>of all possible observed values of </a:t>
            </a:r>
            <a:r>
              <a:rPr lang="en-AU" i="1" dirty="0">
                <a:latin typeface="Times New Roman" panose="02020603050405020304" pitchFamily="18" charset="0"/>
                <a:cs typeface="Times New Roman" panose="02020603050405020304" pitchFamily="18" charset="0"/>
              </a:rPr>
              <a:t>x</a:t>
            </a:r>
            <a:r>
              <a:rPr lang="en-AU" dirty="0">
                <a:latin typeface="Times New Roman" panose="02020603050405020304" pitchFamily="18" charset="0"/>
                <a:cs typeface="Times New Roman" panose="02020603050405020304" pitchFamily="18" charset="0"/>
              </a:rPr>
              <a:t> are within (plus or minus) three standard deviations of the mean </a:t>
            </a:r>
            <a:r>
              <a:rPr lang="en-AU" dirty="0">
                <a:latin typeface="Times New Roman" panose="02020603050405020304" pitchFamily="18" charset="0"/>
                <a:cs typeface="Times New Roman" panose="02020603050405020304" pitchFamily="18" charset="0"/>
                <a:sym typeface="Symbol" panose="05050102010706020507" pitchFamily="18" charset="2"/>
              </a:rPr>
              <a:t>.</a:t>
            </a:r>
            <a:r>
              <a:rPr lang="en-AU" dirty="0">
                <a:latin typeface="Times New Roman" panose="02020603050405020304" pitchFamily="18" charset="0"/>
                <a:cs typeface="Times New Roman" panose="02020603050405020304" pitchFamily="18" charset="0"/>
              </a:rPr>
              <a:t> </a:t>
            </a:r>
          </a:p>
        </p:txBody>
      </p:sp>
      <p:sp>
        <p:nvSpPr>
          <p:cNvPr id="2" name="灯片编号占位符 16">
            <a:extLst>
              <a:ext uri="{FF2B5EF4-FFF2-40B4-BE49-F238E27FC236}">
                <a16:creationId xmlns:a16="http://schemas.microsoft.com/office/drawing/2014/main" id="{F5A176D2-CEFD-607C-D9E5-50E8F59E0C4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517321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867" name="Rectangle 2">
                <a:extLst>
                  <a:ext uri="{FF2B5EF4-FFF2-40B4-BE49-F238E27FC236}">
                    <a16:creationId xmlns:a16="http://schemas.microsoft.com/office/drawing/2014/main" id="{7455DD0F-4C18-B345-A818-79E2EF088101}"/>
                  </a:ext>
                </a:extLst>
              </p:cNvPr>
              <p:cNvSpPr>
                <a:spLocks noGrp="1" noChangeArrowheads="1"/>
              </p:cNvSpPr>
              <p:nvPr>
                <p:ph type="title"/>
              </p:nvPr>
            </p:nvSpPr>
            <p:spPr>
              <a:xfrm>
                <a:off x="838201" y="103361"/>
                <a:ext cx="8437562" cy="671892"/>
              </a:xfrm>
              <a:noFill/>
            </p:spPr>
            <p:txBody>
              <a:bodyPr>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Three Important Areas under the Normal Curve </a:t>
                </a:r>
                <a14:m>
                  <m:oMath xmlns:m="http://schemas.openxmlformats.org/officeDocument/2006/math">
                    <m:r>
                      <a:rPr lang="en-AU" altLang="zh-CN" sz="2800" b="1" i="1" smtClean="0">
                        <a:solidFill>
                          <a:srgbClr val="FF0000"/>
                        </a:solidFill>
                        <a:latin typeface="Cambria Math" panose="02040503050406030204" pitchFamily="18" charset="0"/>
                        <a:cs typeface="Times New Roman" panose="02020603050405020304" pitchFamily="18" charset="0"/>
                      </a:rPr>
                      <m:t>𝒇</m:t>
                    </m:r>
                    <m:r>
                      <a:rPr lang="en-AU" altLang="zh-CN" sz="2800" b="1" i="1" smtClean="0">
                        <a:solidFill>
                          <a:srgbClr val="FF0000"/>
                        </a:solidFill>
                        <a:latin typeface="Cambria Math" panose="02040503050406030204" pitchFamily="18" charset="0"/>
                        <a:cs typeface="Times New Roman" panose="02020603050405020304" pitchFamily="18" charset="0"/>
                      </a:rPr>
                      <m:t>(</m:t>
                    </m:r>
                    <m:r>
                      <a:rPr lang="en-AU" altLang="zh-CN" sz="2800" b="1" i="1" smtClean="0">
                        <a:solidFill>
                          <a:srgbClr val="FF0000"/>
                        </a:solidFill>
                        <a:latin typeface="Cambria Math" panose="02040503050406030204" pitchFamily="18" charset="0"/>
                        <a:cs typeface="Times New Roman" panose="02020603050405020304" pitchFamily="18" charset="0"/>
                      </a:rPr>
                      <m:t>𝒙</m:t>
                    </m:r>
                    <m:r>
                      <a:rPr lang="en-AU" altLang="zh-CN" sz="2800" b="1" i="1" smtClean="0">
                        <a:solidFill>
                          <a:srgbClr val="FF0000"/>
                        </a:solidFill>
                        <a:latin typeface="Cambria Math" panose="02040503050406030204" pitchFamily="18" charset="0"/>
                        <a:cs typeface="Times New Roman" panose="02020603050405020304" pitchFamily="18" charset="0"/>
                      </a:rPr>
                      <m:t>)</m:t>
                    </m:r>
                  </m:oMath>
                </a14:m>
                <a:endParaRPr lang="en-US" altLang="zh-CN" sz="2800" b="1" dirty="0">
                  <a:solidFill>
                    <a:srgbClr val="0000FF"/>
                  </a:solidFill>
                  <a:latin typeface="Times New Roman" panose="02020603050405020304" pitchFamily="18" charset="0"/>
                  <a:cs typeface="Times New Roman" panose="02020603050405020304" pitchFamily="18" charset="0"/>
                </a:endParaRPr>
              </a:p>
            </p:txBody>
          </p:sp>
        </mc:Choice>
        <mc:Fallback>
          <p:sp>
            <p:nvSpPr>
              <p:cNvPr id="36867" name="Rectangle 2">
                <a:extLst>
                  <a:ext uri="{FF2B5EF4-FFF2-40B4-BE49-F238E27FC236}">
                    <a16:creationId xmlns:a16="http://schemas.microsoft.com/office/drawing/2014/main" id="{7455DD0F-4C18-B345-A818-79E2EF088101}"/>
                  </a:ext>
                </a:extLst>
              </p:cNvPr>
              <p:cNvSpPr>
                <a:spLocks noGrp="1" noRot="1" noChangeAspect="1" noMove="1" noResize="1" noEditPoints="1" noAdjustHandles="1" noChangeArrowheads="1" noChangeShapeType="1" noTextEdit="1"/>
              </p:cNvSpPr>
              <p:nvPr>
                <p:ph type="title"/>
              </p:nvPr>
            </p:nvSpPr>
            <p:spPr>
              <a:xfrm>
                <a:off x="838201" y="103361"/>
                <a:ext cx="8437562" cy="671892"/>
              </a:xfrm>
              <a:blipFill>
                <a:blip r:embed="rId2"/>
                <a:stretch>
                  <a:fillRect l="-1517" t="-909" b="-10909"/>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8DD83F42-50AB-0396-C27C-B4F5F0BCB6A8}"/>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3FF1D1F-BADF-61D6-C3F8-19094E2DA620}"/>
                  </a:ext>
                </a:extLst>
              </p:cNvPr>
              <p:cNvSpPr txBox="1"/>
              <p:nvPr/>
            </p:nvSpPr>
            <p:spPr>
              <a:xfrm>
                <a:off x="838201" y="942576"/>
                <a:ext cx="11022496" cy="5223994"/>
              </a:xfrm>
              <a:prstGeom prst="rect">
                <a:avLst/>
              </a:prstGeom>
              <a:noFill/>
            </p:spPr>
            <p:txBody>
              <a:bodyPr wrap="square">
                <a:spAutoFit/>
              </a:bodyPr>
              <a:lstStyle/>
              <a:p>
                <a:pPr marL="520700" indent="-520700">
                  <a:lnSpc>
                    <a:spcPct val="130000"/>
                  </a:lnSpc>
                  <a:spcBef>
                    <a:spcPts val="600"/>
                  </a:spcBef>
                  <a:buNone/>
                </a:pPr>
                <a:r>
                  <a:rPr lang="en-US" altLang="zh-CN" sz="2800" b="1" dirty="0">
                    <a:solidFill>
                      <a:srgbClr val="FF0000"/>
                    </a:solidFill>
                    <a:latin typeface="Times New Roman" panose="02020603050405020304" pitchFamily="18" charset="0"/>
                    <a:cs typeface="Times New Roman" panose="02020603050405020304" pitchFamily="18" charset="0"/>
                  </a:rPr>
                  <a:t>1.    </a:t>
                </a:r>
                <a14:m>
                  <m:oMath xmlns:m="http://schemas.openxmlformats.org/officeDocument/2006/math">
                    <m:r>
                      <a:rPr lang="en-AU" altLang="zh-CN" sz="2800" i="1">
                        <a:latin typeface="Cambria Math" panose="02040503050406030204" pitchFamily="18" charset="0"/>
                        <a:cs typeface="Times New Roman" panose="02020603050405020304" pitchFamily="18" charset="0"/>
                      </a:rPr>
                      <m:t>𝑃</m:t>
                    </m:r>
                    <m:d>
                      <m:dPr>
                        <m:ctrlPr>
                          <a:rPr lang="en-AU" altLang="zh-CN" sz="2800" i="1">
                            <a:latin typeface="Cambria Math" panose="02040503050406030204" pitchFamily="18" charset="0"/>
                            <a:cs typeface="Times New Roman" panose="02020603050405020304" pitchFamily="18" charset="0"/>
                          </a:rPr>
                        </m:ctrlPr>
                      </m:dPr>
                      <m:e>
                        <m:r>
                          <a:rPr lang="zh-CN" altLang="en-AU" sz="2800" i="1" smtClean="0">
                            <a:latin typeface="Cambria Math" panose="02040503050406030204" pitchFamily="18" charset="0"/>
                            <a:cs typeface="Times New Roman" panose="02020603050405020304" pitchFamily="18" charset="0"/>
                          </a:rPr>
                          <m:t>𝜇</m:t>
                        </m:r>
                        <m:r>
                          <a:rPr lang="en-AU" altLang="zh-CN" sz="2800" b="0" i="1" smtClean="0">
                            <a:latin typeface="Cambria Math" panose="02040503050406030204" pitchFamily="18" charset="0"/>
                            <a:cs typeface="Times New Roman" panose="02020603050405020304" pitchFamily="18" charset="0"/>
                          </a:rPr>
                          <m:t>−</m:t>
                        </m:r>
                        <m:r>
                          <a:rPr lang="zh-CN" altLang="en-AU" sz="2800" b="0" i="1" smtClean="0">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b="0" i="1" smtClean="0">
                            <a:latin typeface="Cambria Math" panose="02040503050406030204" pitchFamily="18" charset="0"/>
                            <a:cs typeface="Times New Roman" panose="02020603050405020304" pitchFamily="18" charset="0"/>
                          </a:rPr>
                          <m:t>+</m:t>
                        </m:r>
                        <m:r>
                          <a:rPr lang="zh-CN" altLang="en-AU" sz="2800" i="1">
                            <a:latin typeface="Cambria Math" panose="02040503050406030204" pitchFamily="18" charset="0"/>
                            <a:cs typeface="Times New Roman" panose="02020603050405020304" pitchFamily="18" charset="0"/>
                          </a:rPr>
                          <m:t>𝜎</m:t>
                        </m:r>
                      </m:e>
                    </m:d>
                    <m:r>
                      <a:rPr lang="en-AU" altLang="zh-CN" sz="2800" b="0" i="1" smtClean="0">
                        <a:latin typeface="Cambria Math" panose="02040503050406030204" pitchFamily="18" charset="0"/>
                        <a:cs typeface="Times New Roman" panose="02020603050405020304" pitchFamily="18" charset="0"/>
                      </a:rPr>
                      <m:t>=0.6826</m:t>
                    </m:r>
                  </m:oMath>
                </a14:m>
                <a:r>
                  <a:rPr lang="en-US" altLang="zh-CN" sz="2800" dirty="0">
                    <a:solidFill>
                      <a:srgbClr val="FF3300"/>
                    </a:solidFill>
                    <a:latin typeface="Times New Roman" panose="02020603050405020304" pitchFamily="18" charset="0"/>
                    <a:cs typeface="Times New Roman" panose="02020603050405020304" pitchFamily="18" charset="0"/>
                  </a:rPr>
                  <a:t>.</a:t>
                </a:r>
              </a:p>
              <a:p>
                <a:pPr marL="920750" lvl="1" indent="-285750">
                  <a:lnSpc>
                    <a:spcPct val="120000"/>
                  </a:lnSpc>
                  <a:spcBef>
                    <a:spcPts val="600"/>
                  </a:spcBef>
                </a:pPr>
                <a:r>
                  <a:rPr lang="en-US" altLang="zh-CN" sz="2800" dirty="0">
                    <a:latin typeface="Times New Roman" panose="02020603050405020304" pitchFamily="18" charset="0"/>
                    <a:cs typeface="Times New Roman" panose="02020603050405020304" pitchFamily="18" charset="0"/>
                  </a:rPr>
                  <a:t>So </a:t>
                </a:r>
                <a:r>
                  <a:rPr lang="en-US" altLang="zh-CN" sz="2800" dirty="0">
                    <a:solidFill>
                      <a:srgbClr val="FF3300"/>
                    </a:solidFill>
                    <a:latin typeface="Times New Roman" panose="02020603050405020304" pitchFamily="18" charset="0"/>
                    <a:cs typeface="Times New Roman" panose="02020603050405020304" pitchFamily="18" charset="0"/>
                  </a:rPr>
                  <a:t>68.26%</a:t>
                </a:r>
                <a:r>
                  <a:rPr lang="en-US" altLang="zh-CN" sz="2800" dirty="0">
                    <a:latin typeface="Times New Roman" panose="02020603050405020304" pitchFamily="18" charset="0"/>
                    <a:cs typeface="Times New Roman" panose="02020603050405020304" pitchFamily="18" charset="0"/>
                  </a:rPr>
                  <a:t> of all possible observed values of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are within (plus or minus) one standard deviation of </a:t>
                </a:r>
                <a14:m>
                  <m:oMath xmlns:m="http://schemas.openxmlformats.org/officeDocument/2006/math">
                    <m:r>
                      <a:rPr lang="en-AU" sz="2800" i="1">
                        <a:solidFill>
                          <a:srgbClr val="000000"/>
                        </a:solidFill>
                        <a:latin typeface="Cambria Math" panose="02040503050406030204" pitchFamily="18" charset="0"/>
                      </a:rPr>
                      <m:t>𝜇</m:t>
                    </m:r>
                  </m:oMath>
                </a14:m>
                <a:r>
                  <a:rPr lang="en-US" altLang="zh-CN" sz="2800" dirty="0">
                    <a:latin typeface="Times New Roman" panose="02020603050405020304" pitchFamily="18" charset="0"/>
                    <a:cs typeface="Times New Roman" panose="02020603050405020304" pitchFamily="18" charset="0"/>
                  </a:rPr>
                  <a:t>.</a:t>
                </a:r>
              </a:p>
              <a:p>
                <a:pPr marL="520700" indent="-520700">
                  <a:lnSpc>
                    <a:spcPct val="130000"/>
                  </a:lnSpc>
                  <a:spcBef>
                    <a:spcPts val="600"/>
                  </a:spcBef>
                  <a:buNone/>
                </a:pPr>
                <a:r>
                  <a:rPr lang="en-US" altLang="zh-CN" sz="2800" b="1" dirty="0">
                    <a:solidFill>
                      <a:srgbClr val="FF0000"/>
                    </a:solidFill>
                    <a:latin typeface="Times New Roman" panose="02020603050405020304" pitchFamily="18" charset="0"/>
                    <a:cs typeface="Times New Roman" panose="02020603050405020304" pitchFamily="18" charset="0"/>
                  </a:rPr>
                  <a:t>2</a:t>
                </a:r>
                <a:r>
                  <a:rPr lang="en-US" altLang="zh-CN" sz="2800" b="1" i="1" dirty="0">
                    <a:solidFill>
                      <a:srgbClr val="FF0000"/>
                    </a:solidFill>
                    <a:latin typeface="Times New Roman" panose="02020603050405020304" pitchFamily="18" charset="0"/>
                    <a:cs typeface="Times New Roman" panose="02020603050405020304" pitchFamily="18" charset="0"/>
                  </a:rPr>
                  <a:t>.	</a:t>
                </a:r>
                <a:r>
                  <a:rPr lang="en-US" altLang="zh-CN" sz="2800" i="1" noProof="1">
                    <a:latin typeface="Times New Roman" panose="02020603050405020304" pitchFamily="18" charset="0"/>
                    <a:cs typeface="Times New Roman" panose="02020603050405020304" pitchFamily="18" charset="0"/>
                  </a:rPr>
                  <a:t> </a:t>
                </a:r>
                <a14:m>
                  <m:oMath xmlns:m="http://schemas.openxmlformats.org/officeDocument/2006/math">
                    <m:r>
                      <a:rPr lang="en-AU" altLang="zh-CN" sz="2800" i="1">
                        <a:latin typeface="Cambria Math" panose="02040503050406030204" pitchFamily="18" charset="0"/>
                        <a:cs typeface="Times New Roman" panose="02020603050405020304" pitchFamily="18" charset="0"/>
                      </a:rPr>
                      <m:t>𝑃</m:t>
                    </m:r>
                    <m:d>
                      <m:dPr>
                        <m:ctrlPr>
                          <a:rPr lang="en-AU" altLang="zh-CN" sz="2800" i="1">
                            <a:latin typeface="Cambria Math" panose="02040503050406030204" pitchFamily="18" charset="0"/>
                            <a:cs typeface="Times New Roman" panose="02020603050405020304" pitchFamily="18" charset="0"/>
                          </a:rPr>
                        </m:ctrlPr>
                      </m:dPr>
                      <m:e>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−2</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b="0" i="1" smtClean="0">
                            <a:latin typeface="Cambria Math" panose="02040503050406030204" pitchFamily="18" charset="0"/>
                            <a:cs typeface="Times New Roman" panose="02020603050405020304" pitchFamily="18" charset="0"/>
                          </a:rPr>
                          <m:t>+</m:t>
                        </m:r>
                        <m:r>
                          <a:rPr lang="en-AU" altLang="zh-CN" sz="2800" i="1">
                            <a:latin typeface="Cambria Math" panose="02040503050406030204" pitchFamily="18" charset="0"/>
                            <a:cs typeface="Times New Roman" panose="02020603050405020304" pitchFamily="18" charset="0"/>
                          </a:rPr>
                          <m:t>2</m:t>
                        </m:r>
                        <m:r>
                          <a:rPr lang="zh-CN" altLang="en-AU" sz="2800" i="1">
                            <a:latin typeface="Cambria Math" panose="02040503050406030204" pitchFamily="18" charset="0"/>
                            <a:cs typeface="Times New Roman" panose="02020603050405020304" pitchFamily="18" charset="0"/>
                          </a:rPr>
                          <m:t>𝜎</m:t>
                        </m:r>
                      </m:e>
                    </m:d>
                    <m:r>
                      <a:rPr lang="en-AU" altLang="zh-CN" sz="2800" i="1">
                        <a:latin typeface="Cambria Math" panose="02040503050406030204" pitchFamily="18" charset="0"/>
                        <a:cs typeface="Times New Roman" panose="02020603050405020304" pitchFamily="18" charset="0"/>
                      </a:rPr>
                      <m:t>=0.</m:t>
                    </m:r>
                    <m:r>
                      <a:rPr lang="en-AU" altLang="zh-CN" sz="2800" b="0" i="1" smtClean="0">
                        <a:latin typeface="Cambria Math" panose="02040503050406030204" pitchFamily="18" charset="0"/>
                        <a:cs typeface="Times New Roman" panose="02020603050405020304" pitchFamily="18" charset="0"/>
                      </a:rPr>
                      <m:t>9544</m:t>
                    </m:r>
                  </m:oMath>
                </a14:m>
                <a:r>
                  <a:rPr lang="en-US" altLang="zh-CN" sz="2800" dirty="0">
                    <a:solidFill>
                      <a:srgbClr val="FF3300"/>
                    </a:solidFill>
                    <a:latin typeface="Times New Roman" panose="02020603050405020304" pitchFamily="18" charset="0"/>
                    <a:cs typeface="Times New Roman" panose="02020603050405020304" pitchFamily="18" charset="0"/>
                  </a:rPr>
                  <a:t>.</a:t>
                </a:r>
              </a:p>
              <a:p>
                <a:pPr marL="920750" lvl="1" indent="-285750">
                  <a:lnSpc>
                    <a:spcPct val="120000"/>
                  </a:lnSpc>
                  <a:spcBef>
                    <a:spcPts val="600"/>
                  </a:spcBef>
                </a:pPr>
                <a:r>
                  <a:rPr lang="en-US" altLang="zh-CN" sz="2800" dirty="0">
                    <a:latin typeface="Times New Roman" panose="02020603050405020304" pitchFamily="18" charset="0"/>
                    <a:cs typeface="Times New Roman" panose="02020603050405020304" pitchFamily="18" charset="0"/>
                  </a:rPr>
                  <a:t>So </a:t>
                </a:r>
                <a:r>
                  <a:rPr lang="en-US" altLang="zh-CN" sz="2800" dirty="0">
                    <a:solidFill>
                      <a:srgbClr val="FF3300"/>
                    </a:solidFill>
                    <a:latin typeface="Times New Roman" panose="02020603050405020304" pitchFamily="18" charset="0"/>
                    <a:cs typeface="Times New Roman" panose="02020603050405020304" pitchFamily="18" charset="0"/>
                  </a:rPr>
                  <a:t>95.44%</a:t>
                </a:r>
                <a:r>
                  <a:rPr lang="en-US" altLang="zh-CN" sz="2800" dirty="0">
                    <a:latin typeface="Times New Roman" panose="02020603050405020304" pitchFamily="18" charset="0"/>
                    <a:cs typeface="Times New Roman" panose="02020603050405020304" pitchFamily="18" charset="0"/>
                  </a:rPr>
                  <a:t> of all possible observed values of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are within (plus or minus) two standard deviations of </a:t>
                </a:r>
                <a14:m>
                  <m:oMath xmlns:m="http://schemas.openxmlformats.org/officeDocument/2006/math">
                    <m:r>
                      <a:rPr lang="en-AU" sz="2800" i="1">
                        <a:solidFill>
                          <a:srgbClr val="000000"/>
                        </a:solidFill>
                        <a:latin typeface="Cambria Math" panose="02040503050406030204" pitchFamily="18" charset="0"/>
                      </a:rPr>
                      <m:t>𝜇</m:t>
                    </m:r>
                  </m:oMath>
                </a14:m>
                <a:r>
                  <a:rPr lang="en-US" altLang="zh-CN" sz="2800" dirty="0">
                    <a:latin typeface="Times New Roman" panose="02020603050405020304" pitchFamily="18" charset="0"/>
                    <a:cs typeface="Times New Roman" panose="02020603050405020304" pitchFamily="18" charset="0"/>
                  </a:rPr>
                  <a:t>.</a:t>
                </a:r>
              </a:p>
              <a:p>
                <a:pPr marL="520700" indent="-520700">
                  <a:lnSpc>
                    <a:spcPct val="130000"/>
                  </a:lnSpc>
                  <a:spcBef>
                    <a:spcPts val="600"/>
                  </a:spcBef>
                  <a:buNone/>
                </a:pPr>
                <a:r>
                  <a:rPr lang="en-US" altLang="zh-CN" sz="2800" b="1" dirty="0">
                    <a:solidFill>
                      <a:srgbClr val="FF0000"/>
                    </a:solidFill>
                    <a:latin typeface="Times New Roman" panose="02020603050405020304" pitchFamily="18" charset="0"/>
                    <a:cs typeface="Times New Roman" panose="02020603050405020304" pitchFamily="18" charset="0"/>
                  </a:rPr>
                  <a:t>3</a:t>
                </a:r>
                <a:r>
                  <a:rPr lang="en-US" altLang="zh-CN" sz="2800" b="1" i="1" dirty="0">
                    <a:solidFill>
                      <a:srgbClr val="FF0000"/>
                    </a:solidFill>
                    <a:latin typeface="Times New Roman" panose="02020603050405020304" pitchFamily="18" charset="0"/>
                    <a:cs typeface="Times New Roman" panose="02020603050405020304" pitchFamily="18" charset="0"/>
                  </a:rPr>
                  <a:t>.	</a:t>
                </a:r>
                <a:r>
                  <a:rPr lang="en-US" altLang="zh-CN" sz="2800" i="1" noProof="1">
                    <a:latin typeface="Times New Roman" panose="02020603050405020304" pitchFamily="18" charset="0"/>
                    <a:cs typeface="Times New Roman" panose="02020603050405020304" pitchFamily="18" charset="0"/>
                  </a:rPr>
                  <a:t> </a:t>
                </a:r>
                <a14:m>
                  <m:oMath xmlns:m="http://schemas.openxmlformats.org/officeDocument/2006/math">
                    <m:r>
                      <a:rPr lang="en-AU" altLang="zh-CN" sz="2800" i="1">
                        <a:latin typeface="Cambria Math" panose="02040503050406030204" pitchFamily="18" charset="0"/>
                        <a:cs typeface="Times New Roman" panose="02020603050405020304" pitchFamily="18" charset="0"/>
                      </a:rPr>
                      <m:t>𝑃</m:t>
                    </m:r>
                    <m:d>
                      <m:dPr>
                        <m:ctrlPr>
                          <a:rPr lang="en-AU" altLang="zh-CN" sz="2800" i="1">
                            <a:latin typeface="Cambria Math" panose="02040503050406030204" pitchFamily="18" charset="0"/>
                            <a:cs typeface="Times New Roman" panose="02020603050405020304" pitchFamily="18" charset="0"/>
                          </a:rPr>
                        </m:ctrlPr>
                      </m:dPr>
                      <m:e>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m:t>
                        </m:r>
                        <m:r>
                          <a:rPr lang="en-AU" altLang="zh-CN" sz="2800" b="0" i="1" smtClean="0">
                            <a:latin typeface="Cambria Math" panose="02040503050406030204" pitchFamily="18" charset="0"/>
                            <a:cs typeface="Times New Roman" panose="02020603050405020304" pitchFamily="18" charset="0"/>
                          </a:rPr>
                          <m:t>3</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en-AU" sz="2800" b="0" i="1" smtClean="0">
                            <a:solidFill>
                              <a:srgbClr val="000000"/>
                            </a:solidFill>
                            <a:latin typeface="Cambria Math" panose="02040503050406030204" pitchFamily="18" charset="0"/>
                          </a:rPr>
                          <m:t>𝑥</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m:t>
                        </m:r>
                        <m:r>
                          <a:rPr lang="en-AU" altLang="zh-CN" sz="2800" b="0" i="1" smtClean="0">
                            <a:latin typeface="Cambria Math" panose="02040503050406030204" pitchFamily="18" charset="0"/>
                            <a:cs typeface="Times New Roman" panose="02020603050405020304" pitchFamily="18" charset="0"/>
                          </a:rPr>
                          <m:t>3</m:t>
                        </m:r>
                        <m:r>
                          <a:rPr lang="zh-CN" altLang="en-AU" sz="2800" i="1">
                            <a:latin typeface="Cambria Math" panose="02040503050406030204" pitchFamily="18" charset="0"/>
                            <a:cs typeface="Times New Roman" panose="02020603050405020304" pitchFamily="18" charset="0"/>
                          </a:rPr>
                          <m:t>𝜎</m:t>
                        </m:r>
                      </m:e>
                    </m:d>
                    <m:r>
                      <a:rPr lang="en-AU" sz="2800" b="0" i="1" smtClean="0">
                        <a:solidFill>
                          <a:srgbClr val="000000"/>
                        </a:solidFill>
                        <a:latin typeface="Cambria Math" panose="02040503050406030204" pitchFamily="18" charset="0"/>
                      </a:rPr>
                      <m:t>=0.9973</m:t>
                    </m:r>
                  </m:oMath>
                </a14:m>
                <a:r>
                  <a:rPr lang="en-US" altLang="zh-CN" sz="2800" dirty="0">
                    <a:solidFill>
                      <a:srgbClr val="FF3300"/>
                    </a:solidFill>
                    <a:latin typeface="Times New Roman" panose="02020603050405020304" pitchFamily="18" charset="0"/>
                    <a:cs typeface="Times New Roman" panose="02020603050405020304" pitchFamily="18" charset="0"/>
                  </a:rPr>
                  <a:t>.</a:t>
                </a:r>
              </a:p>
              <a:p>
                <a:pPr marL="920750" lvl="1" indent="-285750">
                  <a:lnSpc>
                    <a:spcPct val="120000"/>
                  </a:lnSpc>
                  <a:spcBef>
                    <a:spcPts val="600"/>
                  </a:spcBef>
                </a:pPr>
                <a:r>
                  <a:rPr lang="en-US" altLang="zh-CN" sz="2800" dirty="0">
                    <a:latin typeface="Times New Roman" panose="02020603050405020304" pitchFamily="18" charset="0"/>
                    <a:cs typeface="Times New Roman" panose="02020603050405020304" pitchFamily="18" charset="0"/>
                  </a:rPr>
                  <a:t>So </a:t>
                </a:r>
                <a:r>
                  <a:rPr lang="en-US" altLang="zh-CN" sz="2800" dirty="0">
                    <a:solidFill>
                      <a:srgbClr val="FF3300"/>
                    </a:solidFill>
                    <a:latin typeface="Times New Roman" panose="02020603050405020304" pitchFamily="18" charset="0"/>
                    <a:cs typeface="Times New Roman" panose="02020603050405020304" pitchFamily="18" charset="0"/>
                  </a:rPr>
                  <a:t>99.73%</a:t>
                </a:r>
                <a:r>
                  <a:rPr lang="en-US" altLang="zh-CN" sz="2800" dirty="0">
                    <a:latin typeface="Times New Roman" panose="02020603050405020304" pitchFamily="18" charset="0"/>
                    <a:cs typeface="Times New Roman" panose="02020603050405020304" pitchFamily="18" charset="0"/>
                  </a:rPr>
                  <a:t> of all possible observed values of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are within (plus or minus) three standard deviations of </a:t>
                </a:r>
                <a14:m>
                  <m:oMath xmlns:m="http://schemas.openxmlformats.org/officeDocument/2006/math">
                    <m:r>
                      <a:rPr lang="en-AU" sz="2800" i="1">
                        <a:solidFill>
                          <a:srgbClr val="000000"/>
                        </a:solidFill>
                        <a:latin typeface="Cambria Math" panose="02040503050406030204" pitchFamily="18" charset="0"/>
                      </a:rPr>
                      <m:t>𝜇</m:t>
                    </m:r>
                  </m:oMath>
                </a14:m>
                <a:endParaRPr lang="en-AU" sz="2800" dirty="0"/>
              </a:p>
            </p:txBody>
          </p:sp>
        </mc:Choice>
        <mc:Fallback>
          <p:sp>
            <p:nvSpPr>
              <p:cNvPr id="6" name="TextBox 5">
                <a:extLst>
                  <a:ext uri="{FF2B5EF4-FFF2-40B4-BE49-F238E27FC236}">
                    <a16:creationId xmlns:a16="http://schemas.microsoft.com/office/drawing/2014/main" id="{63FF1D1F-BADF-61D6-C3F8-19094E2DA620}"/>
                  </a:ext>
                </a:extLst>
              </p:cNvPr>
              <p:cNvSpPr txBox="1">
                <a:spLocks noRot="1" noChangeAspect="1" noMove="1" noResize="1" noEditPoints="1" noAdjustHandles="1" noChangeArrowheads="1" noChangeShapeType="1" noTextEdit="1"/>
              </p:cNvSpPr>
              <p:nvPr/>
            </p:nvSpPr>
            <p:spPr>
              <a:xfrm>
                <a:off x="838201" y="942576"/>
                <a:ext cx="11022496" cy="5223994"/>
              </a:xfrm>
              <a:prstGeom prst="rect">
                <a:avLst/>
              </a:prstGeom>
              <a:blipFill>
                <a:blip r:embed="rId3"/>
                <a:stretch>
                  <a:fillRect l="-1162" b="-2217"/>
                </a:stretch>
              </a:blipFill>
            </p:spPr>
            <p:txBody>
              <a:bodyPr/>
              <a:lstStyle/>
              <a:p>
                <a:r>
                  <a:rPr lang="en-AU">
                    <a:noFill/>
                  </a:rPr>
                  <a:t> </a:t>
                </a:r>
              </a:p>
            </p:txBody>
          </p:sp>
        </mc:Fallback>
      </mc:AlternateContent>
    </p:spTree>
    <p:extLst>
      <p:ext uri="{BB962C8B-B14F-4D97-AF65-F5344CB8AC3E}">
        <p14:creationId xmlns:p14="http://schemas.microsoft.com/office/powerpoint/2010/main" val="37056560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0ADE9-5AC3-D5B8-F67A-E4CA5329A2BE}"/>
            </a:ext>
          </a:extLst>
        </p:cNvPr>
        <p:cNvGrpSpPr/>
        <p:nvPr/>
      </p:nvGrpSpPr>
      <p:grpSpPr>
        <a:xfrm>
          <a:off x="0" y="0"/>
          <a:ext cx="0" cy="0"/>
          <a:chOff x="0" y="0"/>
          <a:chExt cx="0" cy="0"/>
        </a:xfrm>
      </p:grpSpPr>
      <p:sp>
        <p:nvSpPr>
          <p:cNvPr id="36867" name="Rectangle 2">
            <a:extLst>
              <a:ext uri="{FF2B5EF4-FFF2-40B4-BE49-F238E27FC236}">
                <a16:creationId xmlns:a16="http://schemas.microsoft.com/office/drawing/2014/main" id="{2AC765B0-4BE0-E31B-FDEF-B1991D0075D9}"/>
              </a:ext>
            </a:extLst>
          </p:cNvPr>
          <p:cNvSpPr>
            <a:spLocks noGrp="1" noChangeArrowheads="1"/>
          </p:cNvSpPr>
          <p:nvPr>
            <p:ph type="title"/>
          </p:nvPr>
        </p:nvSpPr>
        <p:spPr>
          <a:xfrm>
            <a:off x="808384" y="610256"/>
            <a:ext cx="8437562" cy="671892"/>
          </a:xfrm>
          <a:noFill/>
        </p:spPr>
        <p:txBody>
          <a:bodyPr>
            <a:normAutofit/>
          </a:bodyPr>
          <a:lstStyle/>
          <a:p>
            <a:r>
              <a:rPr lang="en-US" altLang="zh-CN" sz="2800" b="1" dirty="0">
                <a:latin typeface="Times New Roman" panose="02020603050405020304" pitchFamily="18" charset="0"/>
                <a:cs typeface="Times New Roman" panose="02020603050405020304" pitchFamily="18" charset="0"/>
              </a:rPr>
              <a:t>The </a:t>
            </a:r>
            <a:r>
              <a:rPr lang="en-US" altLang="zh-CN" sz="2800" b="1" dirty="0">
                <a:solidFill>
                  <a:srgbClr val="FF0000"/>
                </a:solidFill>
                <a:latin typeface="Times New Roman" panose="02020603050405020304" pitchFamily="18" charset="0"/>
                <a:cs typeface="Times New Roman" panose="02020603050405020304" pitchFamily="18" charset="0"/>
              </a:rPr>
              <a:t>Empirical </a:t>
            </a:r>
            <a:r>
              <a:rPr lang="en-US" altLang="zh-CN" sz="2800" b="1" dirty="0">
                <a:latin typeface="Times New Roman" panose="02020603050405020304" pitchFamily="18" charset="0"/>
                <a:cs typeface="Times New Roman" panose="02020603050405020304" pitchFamily="18" charset="0"/>
              </a:rPr>
              <a:t>Rule for Normal Populations</a:t>
            </a:r>
          </a:p>
        </p:txBody>
      </p:sp>
      <p:sp>
        <p:nvSpPr>
          <p:cNvPr id="2" name="灯片编号占位符 16">
            <a:extLst>
              <a:ext uri="{FF2B5EF4-FFF2-40B4-BE49-F238E27FC236}">
                <a16:creationId xmlns:a16="http://schemas.microsoft.com/office/drawing/2014/main" id="{0F7596A3-CA5D-A0A4-373F-F8FE41F5B43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9DE0AB-76A0-700E-6548-0488A74E41F1}"/>
                  </a:ext>
                </a:extLst>
              </p:cNvPr>
              <p:cNvSpPr txBox="1"/>
              <p:nvPr/>
            </p:nvSpPr>
            <p:spPr>
              <a:xfrm>
                <a:off x="808384" y="1455461"/>
                <a:ext cx="10015329" cy="4278094"/>
              </a:xfrm>
              <a:prstGeom prst="rect">
                <a:avLst/>
              </a:prstGeom>
              <a:noFill/>
            </p:spPr>
            <p:txBody>
              <a:bodyPr wrap="square">
                <a:spAutoFit/>
              </a:bodyPr>
              <a:lstStyle/>
              <a:p>
                <a:pPr algn="just">
                  <a:spcBef>
                    <a:spcPct val="0"/>
                  </a:spcBef>
                  <a:buClr>
                    <a:schemeClr val="tx1"/>
                  </a:buClr>
                </a:pPr>
                <a:r>
                  <a:rPr lang="en-US" altLang="zh-CN" sz="2800" dirty="0">
                    <a:latin typeface="Times New Roman" panose="02020603050405020304" pitchFamily="18" charset="0"/>
                    <a:cs typeface="Times New Roman" panose="02020603050405020304" pitchFamily="18" charset="0"/>
                  </a:rPr>
                  <a:t>If a population has mean </a:t>
                </a:r>
                <a14:m>
                  <m:oMath xmlns:m="http://schemas.openxmlformats.org/officeDocument/2006/math">
                    <m:r>
                      <a:rPr lang="en-AU" sz="2800" i="1">
                        <a:solidFill>
                          <a:srgbClr val="000000"/>
                        </a:solidFill>
                        <a:latin typeface="Cambria Math" panose="02040503050406030204" pitchFamily="18" charset="0"/>
                      </a:rPr>
                      <m:t>𝜇</m:t>
                    </m:r>
                  </m:oMath>
                </a14:m>
                <a:r>
                  <a:rPr lang="en-US" altLang="zh-CN" sz="2800" dirty="0">
                    <a:latin typeface="Times New Roman" panose="02020603050405020304" pitchFamily="18" charset="0"/>
                    <a:cs typeface="Times New Roman" panose="02020603050405020304" pitchFamily="18" charset="0"/>
                  </a:rPr>
                  <a:t> and standard deviation </a:t>
                </a:r>
                <a14:m>
                  <m:oMath xmlns:m="http://schemas.openxmlformats.org/officeDocument/2006/math">
                    <m:r>
                      <a:rPr lang="en-AU" sz="2800" i="1">
                        <a:solidFill>
                          <a:srgbClr val="000000"/>
                        </a:solidFill>
                        <a:latin typeface="Cambria Math" panose="02040503050406030204" pitchFamily="18" charset="0"/>
                        <a:sym typeface="Symbol" panose="05050102010706020507" pitchFamily="18" charset="2"/>
                      </a:rPr>
                      <m:t></m:t>
                    </m:r>
                  </m:oMath>
                </a14:m>
                <a:r>
                  <a:rPr lang="en-US" altLang="zh-CN" sz="2800" dirty="0">
                    <a:latin typeface="Times New Roman" panose="02020603050405020304" pitchFamily="18" charset="0"/>
                    <a:cs typeface="Times New Roman" panose="02020603050405020304" pitchFamily="18" charset="0"/>
                  </a:rPr>
                  <a:t> and is </a:t>
                </a:r>
                <a:r>
                  <a:rPr lang="en-US" altLang="zh-CN" sz="2800" dirty="0">
                    <a:solidFill>
                      <a:srgbClr val="FF0000"/>
                    </a:solidFill>
                    <a:latin typeface="Times New Roman" panose="02020603050405020304" pitchFamily="18" charset="0"/>
                    <a:cs typeface="Times New Roman" panose="02020603050405020304" pitchFamily="18" charset="0"/>
                  </a:rPr>
                  <a:t>described by a normal curve (</a:t>
                </a:r>
                <a:r>
                  <a:rPr lang="en-US" altLang="zh-CN" sz="2800" dirty="0">
                    <a:latin typeface="Times New Roman" panose="02020603050405020304" pitchFamily="18" charset="0"/>
                    <a:cs typeface="Times New Roman" panose="02020603050405020304" pitchFamily="18" charset="0"/>
                  </a:rPr>
                  <a:t>symmetrical, bell-shaped distribution), then </a:t>
                </a:r>
              </a:p>
              <a:p>
                <a:pPr algn="just">
                  <a:spcBef>
                    <a:spcPct val="0"/>
                  </a:spcBef>
                  <a:buClr>
                    <a:schemeClr val="tx1"/>
                  </a:buClr>
                </a:pPr>
                <a:endParaRPr lang="en-US" altLang="zh-CN" sz="2800" dirty="0">
                  <a:solidFill>
                    <a:srgbClr val="FF0000"/>
                  </a:solidFill>
                  <a:latin typeface="Times New Roman" panose="02020603050405020304" pitchFamily="18" charset="0"/>
                  <a:cs typeface="Times New Roman" panose="02020603050405020304" pitchFamily="18" charset="0"/>
                </a:endParaRPr>
              </a:p>
              <a:p>
                <a:pPr algn="just">
                  <a:spcBef>
                    <a:spcPct val="0"/>
                  </a:spcBef>
                  <a:buClr>
                    <a:schemeClr val="tx1"/>
                  </a:buClr>
                </a:pPr>
                <a:r>
                  <a:rPr lang="en-US" altLang="zh-CN" sz="2800" b="1" dirty="0">
                    <a:solidFill>
                      <a:srgbClr val="0000FF"/>
                    </a:solidFill>
                    <a:latin typeface="Times New Roman" panose="02020603050405020304" pitchFamily="18" charset="0"/>
                    <a:cs typeface="Times New Roman" panose="02020603050405020304" pitchFamily="18" charset="0"/>
                  </a:rPr>
                  <a:t>1. </a:t>
                </a:r>
                <a:r>
                  <a:rPr lang="en-US" altLang="zh-CN" sz="2800" dirty="0">
                    <a:solidFill>
                      <a:srgbClr val="FF0000"/>
                    </a:solidFill>
                    <a:latin typeface="Times New Roman" panose="02020603050405020304" pitchFamily="18" charset="0"/>
                    <a:cs typeface="Times New Roman" panose="02020603050405020304" pitchFamily="18" charset="0"/>
                  </a:rPr>
                  <a:t>68.26%</a:t>
                </a:r>
                <a:r>
                  <a:rPr lang="en-US" altLang="zh-CN" sz="2800" dirty="0">
                    <a:latin typeface="Times New Roman" panose="02020603050405020304" pitchFamily="18" charset="0"/>
                    <a:cs typeface="Times New Roman" panose="02020603050405020304" pitchFamily="18" charset="0"/>
                  </a:rPr>
                  <a:t> of the population measurements lie within </a:t>
                </a:r>
                <a:r>
                  <a:rPr lang="en-US" altLang="zh-CN" sz="2800" dirty="0">
                    <a:solidFill>
                      <a:srgbClr val="0000FF"/>
                    </a:solidFill>
                    <a:latin typeface="Times New Roman" panose="02020603050405020304" pitchFamily="18" charset="0"/>
                    <a:cs typeface="Times New Roman" panose="02020603050405020304" pitchFamily="18" charset="0"/>
                  </a:rPr>
                  <a:t>one</a:t>
                </a:r>
                <a:r>
                  <a:rPr lang="en-US" altLang="zh-CN" sz="2800" dirty="0">
                    <a:latin typeface="Times New Roman" panose="02020603050405020304" pitchFamily="18" charset="0"/>
                    <a:cs typeface="Times New Roman" panose="02020603050405020304" pitchFamily="18" charset="0"/>
                  </a:rPr>
                  <a:t> standard deviation of the mean: </a:t>
                </a:r>
                <a14:m>
                  <m:oMath xmlns:m="http://schemas.openxmlformats.org/officeDocument/2006/math">
                    <m:r>
                      <a:rPr lang="en-AU" sz="2800">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b="0" i="1" smtClean="0">
                        <a:latin typeface="Cambria Math" panose="02040503050406030204" pitchFamily="18" charset="0"/>
                        <a:cs typeface="Times New Roman" panose="02020603050405020304" pitchFamily="18" charset="0"/>
                      </a:rPr>
                      <m:t>+</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oMath>
                </a14:m>
                <a:r>
                  <a:rPr lang="en-US" altLang="zh-CN" sz="2800" dirty="0">
                    <a:solidFill>
                      <a:srgbClr val="FF0000"/>
                    </a:solidFill>
                    <a:latin typeface="Times New Roman" panose="02020603050405020304" pitchFamily="18" charset="0"/>
                    <a:cs typeface="Times New Roman" panose="02020603050405020304" pitchFamily="18" charset="0"/>
                  </a:rPr>
                  <a:t>.</a:t>
                </a:r>
              </a:p>
              <a:p>
                <a:pPr algn="just">
                  <a:spcBef>
                    <a:spcPts val="1200"/>
                  </a:spcBef>
                  <a:buClr>
                    <a:schemeClr val="tx1"/>
                  </a:buClr>
                </a:pPr>
                <a:r>
                  <a:rPr lang="en-US" altLang="zh-CN" sz="2800" b="1" dirty="0">
                    <a:solidFill>
                      <a:srgbClr val="0000FF"/>
                    </a:solidFill>
                    <a:latin typeface="Times New Roman" panose="02020603050405020304" pitchFamily="18" charset="0"/>
                    <a:cs typeface="Times New Roman" panose="02020603050405020304" pitchFamily="18" charset="0"/>
                  </a:rPr>
                  <a:t>2. </a:t>
                </a:r>
                <a:r>
                  <a:rPr lang="en-US" altLang="zh-CN" sz="2800" dirty="0">
                    <a:solidFill>
                      <a:srgbClr val="FF0000"/>
                    </a:solidFill>
                    <a:latin typeface="Times New Roman" panose="02020603050405020304" pitchFamily="18" charset="0"/>
                    <a:cs typeface="Times New Roman" panose="02020603050405020304" pitchFamily="18" charset="0"/>
                  </a:rPr>
                  <a:t>95.44%</a:t>
                </a:r>
                <a:r>
                  <a:rPr lang="en-US" altLang="zh-CN" sz="2800" dirty="0">
                    <a:latin typeface="Times New Roman" panose="02020603050405020304" pitchFamily="18" charset="0"/>
                    <a:cs typeface="Times New Roman" panose="02020603050405020304" pitchFamily="18" charset="0"/>
                  </a:rPr>
                  <a:t> of the population measurements lie within </a:t>
                </a:r>
                <a:r>
                  <a:rPr lang="en-US" altLang="zh-CN" sz="2800" dirty="0">
                    <a:solidFill>
                      <a:srgbClr val="0000FF"/>
                    </a:solidFill>
                    <a:latin typeface="Times New Roman" panose="02020603050405020304" pitchFamily="18" charset="0"/>
                    <a:cs typeface="Times New Roman" panose="02020603050405020304" pitchFamily="18" charset="0"/>
                  </a:rPr>
                  <a:t>two</a:t>
                </a:r>
                <a:r>
                  <a:rPr lang="en-US" altLang="zh-CN" sz="2800" dirty="0">
                    <a:latin typeface="Times New Roman" panose="02020603050405020304" pitchFamily="18" charset="0"/>
                    <a:cs typeface="Times New Roman" panose="02020603050405020304" pitchFamily="18" charset="0"/>
                  </a:rPr>
                  <a:t> standard deviations of the mean: </a:t>
                </a:r>
                <a14:m>
                  <m:oMath xmlns:m="http://schemas.openxmlformats.org/officeDocument/2006/math">
                    <m:r>
                      <a:rPr lang="en-AU" sz="2800">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−2</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+2</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oMath>
                </a14:m>
                <a:r>
                  <a:rPr lang="en-US" altLang="zh-CN" sz="2800" dirty="0">
                    <a:solidFill>
                      <a:srgbClr val="FF0000"/>
                    </a:solidFill>
                    <a:latin typeface="Times New Roman" panose="02020603050405020304" pitchFamily="18" charset="0"/>
                    <a:cs typeface="Times New Roman" panose="02020603050405020304" pitchFamily="18" charset="0"/>
                  </a:rPr>
                  <a:t>.</a:t>
                </a:r>
              </a:p>
              <a:p>
                <a:pPr algn="just">
                  <a:spcBef>
                    <a:spcPts val="1200"/>
                  </a:spcBef>
                  <a:buClr>
                    <a:schemeClr val="tx1"/>
                  </a:buClr>
                </a:pPr>
                <a:r>
                  <a:rPr lang="en-US" altLang="zh-CN" sz="2800" b="1" dirty="0">
                    <a:solidFill>
                      <a:srgbClr val="0000FF"/>
                    </a:solidFill>
                    <a:latin typeface="Times New Roman" panose="02020603050405020304" pitchFamily="18" charset="0"/>
                    <a:cs typeface="Times New Roman" panose="02020603050405020304" pitchFamily="18" charset="0"/>
                  </a:rPr>
                  <a:t>3. </a:t>
                </a:r>
                <a:r>
                  <a:rPr lang="en-US" altLang="zh-CN" sz="2800" dirty="0">
                    <a:solidFill>
                      <a:srgbClr val="FF0000"/>
                    </a:solidFill>
                    <a:latin typeface="Times New Roman" panose="02020603050405020304" pitchFamily="18" charset="0"/>
                    <a:cs typeface="Times New Roman" panose="02020603050405020304" pitchFamily="18" charset="0"/>
                  </a:rPr>
                  <a:t>99.73%</a:t>
                </a:r>
                <a:r>
                  <a:rPr lang="en-US" altLang="zh-CN" sz="2800" dirty="0">
                    <a:latin typeface="Times New Roman" panose="02020603050405020304" pitchFamily="18" charset="0"/>
                    <a:cs typeface="Times New Roman" panose="02020603050405020304" pitchFamily="18" charset="0"/>
                  </a:rPr>
                  <a:t> of the population measurements lie within three standard deviations of the mean: </a:t>
                </a:r>
                <a14:m>
                  <m:oMath xmlns:m="http://schemas.openxmlformats.org/officeDocument/2006/math">
                    <m:r>
                      <a:rPr lang="en-AU" sz="2800">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−3</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r>
                      <a:rPr lang="zh-CN" altLang="en-AU" sz="2800" i="1">
                        <a:latin typeface="Cambria Math" panose="02040503050406030204" pitchFamily="18" charset="0"/>
                        <a:cs typeface="Times New Roman" panose="02020603050405020304" pitchFamily="18" charset="0"/>
                      </a:rPr>
                      <m:t>𝜇</m:t>
                    </m:r>
                    <m:r>
                      <a:rPr lang="en-AU" altLang="zh-CN" sz="2800" i="1">
                        <a:latin typeface="Cambria Math" panose="02040503050406030204" pitchFamily="18" charset="0"/>
                        <a:cs typeface="Times New Roman" panose="02020603050405020304" pitchFamily="18" charset="0"/>
                      </a:rPr>
                      <m:t>+3</m:t>
                    </m:r>
                    <m:r>
                      <a:rPr lang="zh-CN" altLang="en-AU" sz="2800" i="1">
                        <a:latin typeface="Cambria Math" panose="02040503050406030204" pitchFamily="18" charset="0"/>
                        <a:cs typeface="Times New Roman" panose="02020603050405020304" pitchFamily="18" charset="0"/>
                      </a:rPr>
                      <m:t>𝜎</m:t>
                    </m:r>
                    <m:r>
                      <a:rPr lang="en-AU" sz="2800" i="1">
                        <a:solidFill>
                          <a:srgbClr val="000000"/>
                        </a:solidFill>
                        <a:latin typeface="Cambria Math" panose="02040503050406030204" pitchFamily="18" charset="0"/>
                      </a:rPr>
                      <m:t>]</m:t>
                    </m:r>
                  </m:oMath>
                </a14:m>
                <a:r>
                  <a:rPr lang="en-US" altLang="zh-CN" sz="2800" dirty="0">
                    <a:solidFill>
                      <a:srgbClr val="FF0000"/>
                    </a:solidFill>
                    <a:latin typeface="Times New Roman" panose="02020603050405020304" pitchFamily="18" charset="0"/>
                    <a:cs typeface="Times New Roman" panose="02020603050405020304" pitchFamily="18" charset="0"/>
                  </a:rPr>
                  <a:t>.</a:t>
                </a:r>
                <a:endParaRPr lang="en-AU" sz="2800" dirty="0"/>
              </a:p>
            </p:txBody>
          </p:sp>
        </mc:Choice>
        <mc:Fallback xmlns="">
          <p:sp>
            <p:nvSpPr>
              <p:cNvPr id="6" name="TextBox 5">
                <a:extLst>
                  <a:ext uri="{FF2B5EF4-FFF2-40B4-BE49-F238E27FC236}">
                    <a16:creationId xmlns:a16="http://schemas.microsoft.com/office/drawing/2014/main" id="{B29DE0AB-76A0-700E-6548-0488A74E41F1}"/>
                  </a:ext>
                </a:extLst>
              </p:cNvPr>
              <p:cNvSpPr txBox="1">
                <a:spLocks noRot="1" noChangeAspect="1" noMove="1" noResize="1" noEditPoints="1" noAdjustHandles="1" noChangeArrowheads="1" noChangeShapeType="1" noTextEdit="1"/>
              </p:cNvSpPr>
              <p:nvPr/>
            </p:nvSpPr>
            <p:spPr>
              <a:xfrm>
                <a:off x="808384" y="1455461"/>
                <a:ext cx="10015329" cy="4278094"/>
              </a:xfrm>
              <a:prstGeom prst="rect">
                <a:avLst/>
              </a:prstGeom>
              <a:blipFill>
                <a:blip r:embed="rId2"/>
                <a:stretch>
                  <a:fillRect l="-1278" t="-1567" r="-1217" b="-2849"/>
                </a:stretch>
              </a:blipFill>
            </p:spPr>
            <p:txBody>
              <a:bodyPr/>
              <a:lstStyle/>
              <a:p>
                <a:r>
                  <a:rPr lang="en-AU">
                    <a:noFill/>
                  </a:rPr>
                  <a:t> </a:t>
                </a:r>
              </a:p>
            </p:txBody>
          </p:sp>
        </mc:Fallback>
      </mc:AlternateContent>
    </p:spTree>
    <p:extLst>
      <p:ext uri="{BB962C8B-B14F-4D97-AF65-F5344CB8AC3E}">
        <p14:creationId xmlns:p14="http://schemas.microsoft.com/office/powerpoint/2010/main" val="41567424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24">
            <a:extLst>
              <a:ext uri="{FF2B5EF4-FFF2-40B4-BE49-F238E27FC236}">
                <a16:creationId xmlns:a16="http://schemas.microsoft.com/office/drawing/2014/main" id="{7B04E5FC-054E-0E40-8A6D-D0E09906F2C8}"/>
              </a:ext>
            </a:extLst>
          </p:cNvPr>
          <p:cNvSpPr>
            <a:spLocks noChangeArrowheads="1"/>
          </p:cNvSpPr>
          <p:nvPr/>
        </p:nvSpPr>
        <p:spPr bwMode="auto">
          <a:xfrm>
            <a:off x="1377260" y="255106"/>
            <a:ext cx="6239442" cy="518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3200" rIns="90000" bIns="43200">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b="1" dirty="0">
                <a:solidFill>
                  <a:srgbClr val="0000FF"/>
                </a:solidFill>
                <a:latin typeface="Times New Roman" panose="02020603050405020304" pitchFamily="18" charset="0"/>
                <a:cs typeface="Times New Roman" panose="02020603050405020304" pitchFamily="18" charset="0"/>
              </a:rPr>
              <a:t>Empirical Rule</a:t>
            </a:r>
            <a:r>
              <a:rPr lang="en-US" altLang="zh-CN" sz="2800" b="1" dirty="0">
                <a:solidFill>
                  <a:srgbClr val="0000FF"/>
                </a:solidFill>
                <a:latin typeface="Times New Roman" panose="02020603050405020304" pitchFamily="18" charset="0"/>
              </a:rPr>
              <a:t> for Normal Populations</a:t>
            </a:r>
            <a:endParaRPr lang="en-US" altLang="zh-CN" sz="2800" b="1" dirty="0">
              <a:solidFill>
                <a:srgbClr val="0000FF"/>
              </a:solidFill>
              <a:latin typeface="Times New Roman" panose="02020603050405020304" pitchFamily="18" charset="0"/>
              <a:cs typeface="Times New Roman" panose="02020603050405020304" pitchFamily="18" charset="0"/>
            </a:endParaRPr>
          </a:p>
        </p:txBody>
      </p:sp>
      <p:sp>
        <p:nvSpPr>
          <p:cNvPr id="2" name="灯片编号占位符 16">
            <a:extLst>
              <a:ext uri="{FF2B5EF4-FFF2-40B4-BE49-F238E27FC236}">
                <a16:creationId xmlns:a16="http://schemas.microsoft.com/office/drawing/2014/main" id="{E70932C6-AF22-AB13-760F-A9636A21870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 name="Picture 5">
            <a:extLst>
              <a:ext uri="{FF2B5EF4-FFF2-40B4-BE49-F238E27FC236}">
                <a16:creationId xmlns:a16="http://schemas.microsoft.com/office/drawing/2014/main" id="{25BD2402-3811-05ED-AFC1-2D6DEC015514}"/>
              </a:ext>
            </a:extLst>
          </p:cNvPr>
          <p:cNvPicPr>
            <a:picLocks noChangeAspect="1"/>
          </p:cNvPicPr>
          <p:nvPr/>
        </p:nvPicPr>
        <p:blipFill>
          <a:blip r:embed="rId3"/>
          <a:stretch>
            <a:fillRect/>
          </a:stretch>
        </p:blipFill>
        <p:spPr>
          <a:xfrm>
            <a:off x="1504536" y="1164742"/>
            <a:ext cx="9078158" cy="4371353"/>
          </a:xfrm>
          <a:prstGeom prst="rect">
            <a:avLst/>
          </a:prstGeom>
        </p:spPr>
      </p:pic>
    </p:spTree>
    <p:extLst>
      <p:ext uri="{BB962C8B-B14F-4D97-AF65-F5344CB8AC3E}">
        <p14:creationId xmlns:p14="http://schemas.microsoft.com/office/powerpoint/2010/main" val="2966399855"/>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
            <a:extLst>
              <a:ext uri="{FF2B5EF4-FFF2-40B4-BE49-F238E27FC236}">
                <a16:creationId xmlns:a16="http://schemas.microsoft.com/office/drawing/2014/main" id="{5B2DC47A-EC71-2B4B-B2EC-E2CCDFCC08DE}"/>
              </a:ext>
            </a:extLst>
          </p:cNvPr>
          <p:cNvSpPr txBox="1">
            <a:spLocks noChangeArrowheads="1"/>
          </p:cNvSpPr>
          <p:nvPr/>
        </p:nvSpPr>
        <p:spPr bwMode="auto">
          <a:xfrm>
            <a:off x="1204231" y="1159404"/>
            <a:ext cx="10414612" cy="391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eaLnBrk="0" hangingPunct="0">
              <a:spcBef>
                <a:spcPct val="20000"/>
              </a:spcBef>
              <a:buClr>
                <a:schemeClr val="accent1"/>
              </a:buClr>
              <a:buSzPct val="65000"/>
              <a:buFont typeface="Wingdings" pitchFamily="2" charset="2"/>
              <a:buChar char="n"/>
              <a:tabLst>
                <a:tab pos="287338" algn="l"/>
              </a:tabLst>
              <a:defRPr sz="3000">
                <a:solidFill>
                  <a:schemeClr val="tx1"/>
                </a:solidFill>
                <a:latin typeface="Arial" panose="020B0604020202020204" pitchFamily="34" charset="0"/>
                <a:ea typeface="宋体" panose="02010600030101010101" pitchFamily="2" charset="-122"/>
              </a:defRPr>
            </a:lvl1pPr>
            <a:lvl2pPr marL="393700" indent="-279400" defTabSz="968375" eaLnBrk="0" hangingPunct="0">
              <a:spcBef>
                <a:spcPct val="20000"/>
              </a:spcBef>
              <a:buClr>
                <a:schemeClr val="accent2"/>
              </a:buClr>
              <a:buSzPct val="60000"/>
              <a:buFont typeface="Wingdings" pitchFamily="2" charset="2"/>
              <a:buChar char="q"/>
              <a:tabLst>
                <a:tab pos="287338" algn="l"/>
              </a:tabLst>
              <a:defRPr sz="2600">
                <a:solidFill>
                  <a:schemeClr val="tx1"/>
                </a:solidFill>
                <a:latin typeface="Arial" panose="020B0604020202020204" pitchFamily="34" charset="0"/>
                <a:ea typeface="宋体" panose="02010600030101010101" pitchFamily="2" charset="-122"/>
              </a:defRPr>
            </a:lvl2pPr>
            <a:lvl3pPr marL="1536700" indent="-457200" defTabSz="968375" eaLnBrk="0" hangingPunct="0">
              <a:spcBef>
                <a:spcPct val="20000"/>
              </a:spcBef>
              <a:buClr>
                <a:schemeClr val="accent1"/>
              </a:buClr>
              <a:buSzPct val="65000"/>
              <a:buFont typeface="Wingdings" pitchFamily="2" charset="2"/>
              <a:buChar char="n"/>
              <a:tabLst>
                <a:tab pos="287338" algn="l"/>
              </a:tabLst>
              <a:defRPr sz="2200">
                <a:solidFill>
                  <a:schemeClr val="tx1"/>
                </a:solidFill>
                <a:latin typeface="Arial" panose="020B0604020202020204" pitchFamily="34" charset="0"/>
                <a:ea typeface="宋体" panose="02010600030101010101" pitchFamily="2" charset="-122"/>
              </a:defRPr>
            </a:lvl3pPr>
            <a:lvl4pPr marL="2108200" indent="-457200" defTabSz="968375" eaLnBrk="0" hangingPunct="0">
              <a:spcBef>
                <a:spcPct val="20000"/>
              </a:spcBef>
              <a:buClr>
                <a:schemeClr val="accent2"/>
              </a:buClr>
              <a:buSzPct val="70000"/>
              <a:buFont typeface="Wingdings" pitchFamily="2" charset="2"/>
              <a:buChar char="q"/>
              <a:tabLst>
                <a:tab pos="287338" algn="l"/>
              </a:tabLst>
              <a:defRPr sz="2000">
                <a:solidFill>
                  <a:schemeClr val="tx1"/>
                </a:solidFill>
                <a:latin typeface="Arial" panose="020B0604020202020204" pitchFamily="34" charset="0"/>
                <a:ea typeface="宋体" panose="02010600030101010101" pitchFamily="2" charset="-122"/>
              </a:defRPr>
            </a:lvl4pPr>
            <a:lvl5pPr marL="2679700" indent="-457200" defTabSz="968375" eaLnBrk="0" hangingPunct="0">
              <a:spcBef>
                <a:spcPct val="20000"/>
              </a:spcBef>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5pPr>
            <a:lvl6pPr marL="31369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6pPr>
            <a:lvl7pPr marL="35941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7pPr>
            <a:lvl8pPr marL="40513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8pPr>
            <a:lvl9pPr marL="45085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9pPr>
          </a:lstStyle>
          <a:p>
            <a:pPr>
              <a:lnSpc>
                <a:spcPct val="110000"/>
              </a:lnSpc>
              <a:spcBef>
                <a:spcPts val="0"/>
              </a:spcBef>
              <a:buClrTx/>
              <a:buSzTx/>
              <a:buFontTx/>
              <a:buNone/>
            </a:pPr>
            <a:r>
              <a:rPr lang="en-US" altLang="zh-CN" sz="2800" b="1" dirty="0">
                <a:solidFill>
                  <a:srgbClr val="FF0000"/>
                </a:solidFill>
                <a:latin typeface="Times New Roman" panose="02020603050405020304" pitchFamily="18" charset="0"/>
              </a:rPr>
              <a:t>Want</a:t>
            </a:r>
            <a:r>
              <a:rPr lang="en-US" altLang="zh-CN" sz="2800" dirty="0">
                <a:solidFill>
                  <a:srgbClr val="FF0000"/>
                </a:solidFill>
                <a:latin typeface="Times New Roman" panose="02020603050405020304" pitchFamily="18" charset="0"/>
              </a:rPr>
              <a:t>: </a:t>
            </a:r>
            <a:r>
              <a:rPr lang="en-US" altLang="zh-CN" sz="2800" dirty="0">
                <a:latin typeface="Times New Roman" panose="02020603050405020304" pitchFamily="18" charset="0"/>
              </a:rPr>
              <a:t>the probability that the mileage of a randomly selected midsize car will be between 32 and 35 mpg.</a:t>
            </a:r>
          </a:p>
          <a:p>
            <a:pPr lvl="1">
              <a:lnSpc>
                <a:spcPct val="110000"/>
              </a:lnSpc>
              <a:spcBef>
                <a:spcPts val="1200"/>
              </a:spcBef>
              <a:buClrTx/>
              <a:buSzTx/>
              <a:buFontTx/>
              <a:buChar char="•"/>
            </a:pPr>
            <a:r>
              <a:rPr lang="en-US" altLang="zh-CN" sz="2800" dirty="0">
                <a:latin typeface="Times New Roman" panose="02020603050405020304" pitchFamily="18" charset="0"/>
              </a:rPr>
              <a:t>Let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be the random variable of mileage of midsize cars, in mpg</a:t>
            </a:r>
          </a:p>
          <a:p>
            <a:pPr lvl="1">
              <a:lnSpc>
                <a:spcPct val="110000"/>
              </a:lnSpc>
              <a:spcBef>
                <a:spcPts val="1200"/>
              </a:spcBef>
              <a:buClrTx/>
              <a:buSzTx/>
              <a:buFontTx/>
              <a:buChar char="•"/>
            </a:pPr>
            <a:r>
              <a:rPr lang="en-US" altLang="zh-CN" sz="2800" dirty="0">
                <a:latin typeface="Times New Roman" panose="02020603050405020304" pitchFamily="18" charset="0"/>
              </a:rPr>
              <a:t>Want to know </a:t>
            </a:r>
            <a:r>
              <a:rPr lang="en-US" altLang="zh-CN" sz="2800" i="1" dirty="0">
                <a:latin typeface="Times New Roman" panose="02020603050405020304" pitchFamily="18" charset="0"/>
              </a:rPr>
              <a:t>P</a:t>
            </a:r>
            <a:r>
              <a:rPr lang="en-US" altLang="zh-CN" sz="2800" dirty="0">
                <a:latin typeface="Times New Roman" panose="02020603050405020304" pitchFamily="18" charset="0"/>
              </a:rPr>
              <a:t>(32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rPr>
              <a:t>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 35 mpg)</a:t>
            </a:r>
          </a:p>
          <a:p>
            <a:pPr>
              <a:lnSpc>
                <a:spcPct val="110000"/>
              </a:lnSpc>
              <a:spcBef>
                <a:spcPts val="1800"/>
              </a:spcBef>
              <a:buClrTx/>
              <a:buSzTx/>
              <a:buFontTx/>
              <a:buNone/>
            </a:pPr>
            <a:r>
              <a:rPr lang="en-US" altLang="zh-CN" sz="2800" b="1" dirty="0">
                <a:solidFill>
                  <a:srgbClr val="0000FF"/>
                </a:solidFill>
                <a:latin typeface="Times New Roman" panose="02020603050405020304" pitchFamily="18" charset="0"/>
              </a:rPr>
              <a:t>Given: </a:t>
            </a:r>
            <a:r>
              <a:rPr lang="en-US" altLang="zh-CN" sz="2800" i="1" dirty="0">
                <a:latin typeface="Times New Roman" panose="02020603050405020304" pitchFamily="18" charset="0"/>
              </a:rPr>
              <a:t>x</a:t>
            </a:r>
            <a:r>
              <a:rPr lang="en-US" altLang="zh-CN" sz="2800" dirty="0">
                <a:latin typeface="Times New Roman" panose="02020603050405020304" pitchFamily="18" charset="0"/>
              </a:rPr>
              <a:t> is normally distributed</a:t>
            </a:r>
          </a:p>
          <a:p>
            <a:pPr>
              <a:lnSpc>
                <a:spcPct val="110000"/>
              </a:lnSpc>
              <a:spcBef>
                <a:spcPts val="0"/>
              </a:spcBef>
              <a:buClrTx/>
              <a:buSzTx/>
              <a:buFontTx/>
              <a:buNone/>
            </a:pPr>
            <a:r>
              <a:rPr lang="en-US" altLang="zh-CN" sz="2400" dirty="0">
                <a:latin typeface="Times New Roman" panose="02020603050405020304" pitchFamily="18" charset="0"/>
              </a:rPr>
              <a:t>		  </a:t>
            </a:r>
            <a:r>
              <a:rPr lang="en-US" altLang="zh-CN" sz="2400" dirty="0">
                <a:latin typeface="Symbol" pitchFamily="2" charset="2"/>
              </a:rPr>
              <a:t>m</a:t>
            </a:r>
            <a:r>
              <a:rPr lang="en-US" altLang="zh-CN" sz="2400" dirty="0">
                <a:latin typeface="Times New Roman" panose="02020603050405020304" pitchFamily="18" charset="0"/>
              </a:rPr>
              <a:t> </a:t>
            </a:r>
            <a:r>
              <a:rPr lang="en-US" altLang="zh-CN" sz="2800" dirty="0">
                <a:latin typeface="Times New Roman" panose="02020603050405020304" pitchFamily="18" charset="0"/>
              </a:rPr>
              <a:t>= 33 mpg</a:t>
            </a:r>
          </a:p>
          <a:p>
            <a:pPr>
              <a:lnSpc>
                <a:spcPct val="110000"/>
              </a:lnSpc>
              <a:spcBef>
                <a:spcPts val="0"/>
              </a:spcBef>
              <a:buClrTx/>
              <a:buSzTx/>
              <a:buFontTx/>
              <a:buNone/>
            </a:pPr>
            <a:r>
              <a:rPr lang="en-US" altLang="zh-CN" sz="2400" dirty="0">
                <a:latin typeface="Times New Roman" panose="02020603050405020304" pitchFamily="18" charset="0"/>
              </a:rPr>
              <a:t>		  </a:t>
            </a:r>
            <a:r>
              <a:rPr lang="en-US" altLang="zh-CN" sz="2400" dirty="0">
                <a:latin typeface="Symbol" pitchFamily="2" charset="2"/>
              </a:rPr>
              <a:t>s</a:t>
            </a:r>
            <a:r>
              <a:rPr lang="en-US" altLang="zh-CN" sz="2400" dirty="0">
                <a:latin typeface="Times New Roman" panose="02020603050405020304" pitchFamily="18" charset="0"/>
              </a:rPr>
              <a:t> </a:t>
            </a:r>
            <a:r>
              <a:rPr lang="en-US" altLang="zh-CN" sz="2800" dirty="0">
                <a:latin typeface="Times New Roman" panose="02020603050405020304" pitchFamily="18" charset="0"/>
              </a:rPr>
              <a:t>= 0.7 mpg</a:t>
            </a:r>
          </a:p>
        </p:txBody>
      </p:sp>
      <p:sp>
        <p:nvSpPr>
          <p:cNvPr id="4" name="TextBox 3">
            <a:extLst>
              <a:ext uri="{FF2B5EF4-FFF2-40B4-BE49-F238E27FC236}">
                <a16:creationId xmlns:a16="http://schemas.microsoft.com/office/drawing/2014/main" id="{1E5054E4-34DE-863F-97F4-F167563659AE}"/>
              </a:ext>
            </a:extLst>
          </p:cNvPr>
          <p:cNvSpPr txBox="1"/>
          <p:nvPr/>
        </p:nvSpPr>
        <p:spPr>
          <a:xfrm>
            <a:off x="1134657" y="272534"/>
            <a:ext cx="9371004"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Example 6.2 </a:t>
            </a:r>
            <a:r>
              <a:rPr lang="en-AU" sz="2800" b="1" dirty="0">
                <a:latin typeface="Times New Roman" panose="02020603050405020304" pitchFamily="18" charset="0"/>
                <a:cs typeface="Times New Roman" panose="02020603050405020304" pitchFamily="18" charset="0"/>
              </a:rPr>
              <a:t>The Car Mileage Case: Estimating Mileage</a:t>
            </a:r>
          </a:p>
        </p:txBody>
      </p:sp>
      <p:sp>
        <p:nvSpPr>
          <p:cNvPr id="2" name="灯片编号占位符 16">
            <a:extLst>
              <a:ext uri="{FF2B5EF4-FFF2-40B4-BE49-F238E27FC236}">
                <a16:creationId xmlns:a16="http://schemas.microsoft.com/office/drawing/2014/main" id="{07579B8B-7D9F-5B53-A267-86F739C63E03}"/>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70669499"/>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32D4-7B41-9EF8-D38C-4D20D8E960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940" name="Text Box 3">
                <a:extLst>
                  <a:ext uri="{FF2B5EF4-FFF2-40B4-BE49-F238E27FC236}">
                    <a16:creationId xmlns:a16="http://schemas.microsoft.com/office/drawing/2014/main" id="{F903D70E-03FE-FDDE-EE91-FD229B2F54E9}"/>
                  </a:ext>
                </a:extLst>
              </p:cNvPr>
              <p:cNvSpPr txBox="1">
                <a:spLocks noChangeArrowheads="1"/>
              </p:cNvSpPr>
              <p:nvPr/>
            </p:nvSpPr>
            <p:spPr bwMode="auto">
              <a:xfrm>
                <a:off x="220259" y="245004"/>
                <a:ext cx="5875742" cy="10472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eaLnBrk="0" hangingPunct="0">
                  <a:spcBef>
                    <a:spcPct val="20000"/>
                  </a:spcBef>
                  <a:buClr>
                    <a:schemeClr val="accent1"/>
                  </a:buClr>
                  <a:buSzPct val="65000"/>
                  <a:buFont typeface="Wingdings" pitchFamily="2" charset="2"/>
                  <a:buChar char="n"/>
                  <a:tabLst>
                    <a:tab pos="287338" algn="l"/>
                  </a:tabLst>
                  <a:defRPr sz="3000">
                    <a:solidFill>
                      <a:schemeClr val="tx1"/>
                    </a:solidFill>
                    <a:latin typeface="Arial" panose="020B0604020202020204" pitchFamily="34" charset="0"/>
                    <a:ea typeface="宋体" panose="02010600030101010101" pitchFamily="2" charset="-122"/>
                  </a:defRPr>
                </a:lvl1pPr>
                <a:lvl2pPr marL="393700" indent="-279400" defTabSz="968375" eaLnBrk="0" hangingPunct="0">
                  <a:spcBef>
                    <a:spcPct val="20000"/>
                  </a:spcBef>
                  <a:buClr>
                    <a:schemeClr val="accent2"/>
                  </a:buClr>
                  <a:buSzPct val="60000"/>
                  <a:buFont typeface="Wingdings" pitchFamily="2" charset="2"/>
                  <a:buChar char="q"/>
                  <a:tabLst>
                    <a:tab pos="287338" algn="l"/>
                  </a:tabLst>
                  <a:defRPr sz="2600">
                    <a:solidFill>
                      <a:schemeClr val="tx1"/>
                    </a:solidFill>
                    <a:latin typeface="Arial" panose="020B0604020202020204" pitchFamily="34" charset="0"/>
                    <a:ea typeface="宋体" panose="02010600030101010101" pitchFamily="2" charset="-122"/>
                  </a:defRPr>
                </a:lvl2pPr>
                <a:lvl3pPr marL="1536700" indent="-457200" defTabSz="968375" eaLnBrk="0" hangingPunct="0">
                  <a:spcBef>
                    <a:spcPct val="20000"/>
                  </a:spcBef>
                  <a:buClr>
                    <a:schemeClr val="accent1"/>
                  </a:buClr>
                  <a:buSzPct val="65000"/>
                  <a:buFont typeface="Wingdings" pitchFamily="2" charset="2"/>
                  <a:buChar char="n"/>
                  <a:tabLst>
                    <a:tab pos="287338" algn="l"/>
                  </a:tabLst>
                  <a:defRPr sz="2200">
                    <a:solidFill>
                      <a:schemeClr val="tx1"/>
                    </a:solidFill>
                    <a:latin typeface="Arial" panose="020B0604020202020204" pitchFamily="34" charset="0"/>
                    <a:ea typeface="宋体" panose="02010600030101010101" pitchFamily="2" charset="-122"/>
                  </a:defRPr>
                </a:lvl3pPr>
                <a:lvl4pPr marL="2108200" indent="-457200" defTabSz="968375" eaLnBrk="0" hangingPunct="0">
                  <a:spcBef>
                    <a:spcPct val="20000"/>
                  </a:spcBef>
                  <a:buClr>
                    <a:schemeClr val="accent2"/>
                  </a:buClr>
                  <a:buSzPct val="70000"/>
                  <a:buFont typeface="Wingdings" pitchFamily="2" charset="2"/>
                  <a:buChar char="q"/>
                  <a:tabLst>
                    <a:tab pos="287338" algn="l"/>
                  </a:tabLst>
                  <a:defRPr sz="2000">
                    <a:solidFill>
                      <a:schemeClr val="tx1"/>
                    </a:solidFill>
                    <a:latin typeface="Arial" panose="020B0604020202020204" pitchFamily="34" charset="0"/>
                    <a:ea typeface="宋体" panose="02010600030101010101" pitchFamily="2" charset="-122"/>
                  </a:defRPr>
                </a:lvl4pPr>
                <a:lvl5pPr marL="2679700" indent="-457200" defTabSz="968375" eaLnBrk="0" hangingPunct="0">
                  <a:spcBef>
                    <a:spcPct val="20000"/>
                  </a:spcBef>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5pPr>
                <a:lvl6pPr marL="31369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6pPr>
                <a:lvl7pPr marL="35941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7pPr>
                <a:lvl8pPr marL="40513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8pPr>
                <a:lvl9pPr marL="45085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0"/>
                  </a:spcBef>
                  <a:buClrTx/>
                  <a:buSzTx/>
                  <a:buFontTx/>
                  <a:buNone/>
                </a:pPr>
                <a:r>
                  <a:rPr lang="en-US" altLang="zh-CN" sz="2200" b="1" dirty="0">
                    <a:solidFill>
                      <a:srgbClr val="FF0000"/>
                    </a:solidFill>
                    <a:latin typeface="Times New Roman" panose="02020603050405020304" pitchFamily="18" charset="0"/>
                    <a:cs typeface="Times New Roman" panose="02020603050405020304" pitchFamily="18" charset="0"/>
                  </a:rPr>
                  <a:t>Original</a:t>
                </a:r>
                <a:r>
                  <a:rPr lang="en-US" altLang="zh-CN" sz="2200" b="1" dirty="0">
                    <a:solidFill>
                      <a:srgbClr val="0000FF"/>
                    </a:solidFill>
                    <a:latin typeface="Times New Roman" panose="02020603050405020304" pitchFamily="18" charset="0"/>
                    <a:cs typeface="Times New Roman" panose="02020603050405020304" pitchFamily="18" charset="0"/>
                  </a:rPr>
                  <a:t> question: </a:t>
                </a:r>
                <a:r>
                  <a:rPr lang="en-US" altLang="zh-CN" sz="2200" dirty="0">
                    <a:latin typeface="Times New Roman" panose="02020603050405020304" pitchFamily="18" charset="0"/>
                    <a:cs typeface="Times New Roman" panose="02020603050405020304" pitchFamily="18" charset="0"/>
                  </a:rPr>
                  <a:t>Find</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(32 </a:t>
                </a:r>
                <a14:m>
                  <m:oMath xmlns:m="http://schemas.openxmlformats.org/officeDocument/2006/math">
                    <m:r>
                      <a:rPr lang="en-AU" sz="2200">
                        <a:solidFill>
                          <a:srgbClr val="000000"/>
                        </a:solidFill>
                        <a:latin typeface="Cambria Math" panose="02040503050406030204" pitchFamily="18" charset="0"/>
                      </a:rPr>
                      <m:t>≤</m:t>
                    </m:r>
                    <m:r>
                      <a:rPr lang="en-AU" sz="2200" b="0" i="1" smtClean="0">
                        <a:solidFill>
                          <a:srgbClr val="000000"/>
                        </a:solidFill>
                        <a:latin typeface="Cambria Math" panose="02040503050406030204" pitchFamily="18" charset="0"/>
                      </a:rPr>
                      <m:t>𝑥</m:t>
                    </m:r>
                    <m:r>
                      <a:rPr lang="en-AU" sz="2200">
                        <a:solidFill>
                          <a:srgbClr val="000000"/>
                        </a:solidFill>
                        <a:latin typeface="Cambria Math" panose="02040503050406030204" pitchFamily="18" charset="0"/>
                      </a:rPr>
                      <m:t>≤</m:t>
                    </m:r>
                    <m:r>
                      <a:rPr lang="en-AU" sz="2200" i="1">
                        <a:solidFill>
                          <a:srgbClr val="000000"/>
                        </a:solidFill>
                        <a:latin typeface="Cambria Math" panose="02040503050406030204" pitchFamily="18" charset="0"/>
                      </a:rPr>
                      <m:t> </m:t>
                    </m:r>
                  </m:oMath>
                </a14:m>
                <a:r>
                  <a:rPr lang="en-US" altLang="zh-CN" sz="2200" dirty="0">
                    <a:latin typeface="Times New Roman" panose="02020603050405020304" pitchFamily="18" charset="0"/>
                    <a:cs typeface="Times New Roman" panose="02020603050405020304" pitchFamily="18" charset="0"/>
                  </a:rPr>
                  <a:t>35 mpg) for </a:t>
                </a:r>
                <a14:m>
                  <m:oMath xmlns:m="http://schemas.openxmlformats.org/officeDocument/2006/math">
                    <m:r>
                      <a:rPr lang="en-AU" sz="2200" i="1">
                        <a:solidFill>
                          <a:srgbClr val="000000"/>
                        </a:solidFill>
                        <a:latin typeface="Cambria Math" panose="02040503050406030204" pitchFamily="18" charset="0"/>
                      </a:rPr>
                      <m:t>𝜇</m:t>
                    </m:r>
                  </m:oMath>
                </a14:m>
                <a:r>
                  <a:rPr lang="en-US" altLang="zh-CN" sz="2200" dirty="0">
                    <a:latin typeface="Times New Roman" panose="02020603050405020304" pitchFamily="18" charset="0"/>
                    <a:cs typeface="Times New Roman" panose="02020603050405020304" pitchFamily="18" charset="0"/>
                  </a:rPr>
                  <a:t> = 33 mpg and </a:t>
                </a:r>
                <a14:m>
                  <m:oMath xmlns:m="http://schemas.openxmlformats.org/officeDocument/2006/math">
                    <m:r>
                      <a:rPr lang="zh-CN" altLang="en-US" sz="2200" i="1">
                        <a:latin typeface="Cambria Math" panose="02040503050406030204" pitchFamily="18" charset="0"/>
                        <a:cs typeface="Times New Roman" panose="02020603050405020304" pitchFamily="18" charset="0"/>
                      </a:rPr>
                      <m:t>𝜎</m:t>
                    </m:r>
                    <m:r>
                      <a:rPr lang="en-AU" altLang="zh-CN" sz="2200" b="0" i="1" smtClean="0">
                        <a:latin typeface="Cambria Math" panose="02040503050406030204" pitchFamily="18" charset="0"/>
                        <a:cs typeface="Times New Roman" panose="02020603050405020304" pitchFamily="18" charset="0"/>
                      </a:rPr>
                      <m:t>=0.7</m:t>
                    </m:r>
                  </m:oMath>
                </a14:m>
                <a:r>
                  <a:rPr lang="en-US" altLang="zh-CN" sz="2200" dirty="0">
                    <a:latin typeface="Times New Roman" panose="02020603050405020304" pitchFamily="18" charset="0"/>
                    <a:cs typeface="Times New Roman" panose="02020603050405020304" pitchFamily="18" charset="0"/>
                  </a:rPr>
                  <a:t> mpg</a:t>
                </a:r>
              </a:p>
            </p:txBody>
          </p:sp>
        </mc:Choice>
        <mc:Fallback xmlns="">
          <p:sp>
            <p:nvSpPr>
              <p:cNvPr id="39940" name="Text Box 3">
                <a:extLst>
                  <a:ext uri="{FF2B5EF4-FFF2-40B4-BE49-F238E27FC236}">
                    <a16:creationId xmlns:a16="http://schemas.microsoft.com/office/drawing/2014/main" id="{F903D70E-03FE-FDDE-EE91-FD229B2F54E9}"/>
                  </a:ext>
                </a:extLst>
              </p:cNvPr>
              <p:cNvSpPr txBox="1">
                <a:spLocks noRot="1" noChangeAspect="1" noMove="1" noResize="1" noEditPoints="1" noAdjustHandles="1" noChangeArrowheads="1" noChangeShapeType="1" noTextEdit="1"/>
              </p:cNvSpPr>
              <p:nvPr/>
            </p:nvSpPr>
            <p:spPr bwMode="auto">
              <a:xfrm>
                <a:off x="220259" y="245004"/>
                <a:ext cx="5875742" cy="1047210"/>
              </a:xfrm>
              <a:prstGeom prst="rect">
                <a:avLst/>
              </a:prstGeom>
              <a:blipFill>
                <a:blip r:embed="rId3"/>
                <a:stretch>
                  <a:fillRect l="-1349" r="-622" b="-1104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 name="Text Box 3">
                <a:extLst>
                  <a:ext uri="{FF2B5EF4-FFF2-40B4-BE49-F238E27FC236}">
                    <a16:creationId xmlns:a16="http://schemas.microsoft.com/office/drawing/2014/main" id="{76156588-B1B7-16E7-CA43-55ABEC34F9DB}"/>
                  </a:ext>
                </a:extLst>
              </p:cNvPr>
              <p:cNvSpPr txBox="1">
                <a:spLocks noChangeArrowheads="1"/>
              </p:cNvSpPr>
              <p:nvPr/>
            </p:nvSpPr>
            <p:spPr bwMode="auto">
              <a:xfrm>
                <a:off x="220258" y="1328369"/>
                <a:ext cx="6051334" cy="126797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eaLnBrk="0" hangingPunct="0">
                  <a:spcBef>
                    <a:spcPct val="20000"/>
                  </a:spcBef>
                  <a:buClr>
                    <a:schemeClr val="accent1"/>
                  </a:buClr>
                  <a:buSzPct val="65000"/>
                  <a:buFont typeface="Wingdings" pitchFamily="2" charset="2"/>
                  <a:buChar char="n"/>
                  <a:tabLst>
                    <a:tab pos="287338" algn="l"/>
                  </a:tabLst>
                  <a:defRPr sz="3000">
                    <a:solidFill>
                      <a:schemeClr val="tx1"/>
                    </a:solidFill>
                    <a:latin typeface="Arial" panose="020B0604020202020204" pitchFamily="34" charset="0"/>
                    <a:ea typeface="宋体" panose="02010600030101010101" pitchFamily="2" charset="-122"/>
                  </a:defRPr>
                </a:lvl1pPr>
                <a:lvl2pPr marL="393700" indent="-279400" defTabSz="968375" eaLnBrk="0" hangingPunct="0">
                  <a:spcBef>
                    <a:spcPct val="20000"/>
                  </a:spcBef>
                  <a:buClr>
                    <a:schemeClr val="accent2"/>
                  </a:buClr>
                  <a:buSzPct val="60000"/>
                  <a:buFont typeface="Wingdings" pitchFamily="2" charset="2"/>
                  <a:buChar char="q"/>
                  <a:tabLst>
                    <a:tab pos="287338" algn="l"/>
                  </a:tabLst>
                  <a:defRPr sz="2600">
                    <a:solidFill>
                      <a:schemeClr val="tx1"/>
                    </a:solidFill>
                    <a:latin typeface="Arial" panose="020B0604020202020204" pitchFamily="34" charset="0"/>
                    <a:ea typeface="宋体" panose="02010600030101010101" pitchFamily="2" charset="-122"/>
                  </a:defRPr>
                </a:lvl2pPr>
                <a:lvl3pPr marL="1536700" indent="-457200" defTabSz="968375" eaLnBrk="0" hangingPunct="0">
                  <a:spcBef>
                    <a:spcPct val="20000"/>
                  </a:spcBef>
                  <a:buClr>
                    <a:schemeClr val="accent1"/>
                  </a:buClr>
                  <a:buSzPct val="65000"/>
                  <a:buFont typeface="Wingdings" pitchFamily="2" charset="2"/>
                  <a:buChar char="n"/>
                  <a:tabLst>
                    <a:tab pos="287338" algn="l"/>
                  </a:tabLst>
                  <a:defRPr sz="2200">
                    <a:solidFill>
                      <a:schemeClr val="tx1"/>
                    </a:solidFill>
                    <a:latin typeface="Arial" panose="020B0604020202020204" pitchFamily="34" charset="0"/>
                    <a:ea typeface="宋体" panose="02010600030101010101" pitchFamily="2" charset="-122"/>
                  </a:defRPr>
                </a:lvl3pPr>
                <a:lvl4pPr marL="2108200" indent="-457200" defTabSz="968375" eaLnBrk="0" hangingPunct="0">
                  <a:spcBef>
                    <a:spcPct val="20000"/>
                  </a:spcBef>
                  <a:buClr>
                    <a:schemeClr val="accent2"/>
                  </a:buClr>
                  <a:buSzPct val="70000"/>
                  <a:buFont typeface="Wingdings" pitchFamily="2" charset="2"/>
                  <a:buChar char="q"/>
                  <a:tabLst>
                    <a:tab pos="287338" algn="l"/>
                  </a:tabLst>
                  <a:defRPr sz="2000">
                    <a:solidFill>
                      <a:schemeClr val="tx1"/>
                    </a:solidFill>
                    <a:latin typeface="Arial" panose="020B0604020202020204" pitchFamily="34" charset="0"/>
                    <a:ea typeface="宋体" panose="02010600030101010101" pitchFamily="2" charset="-122"/>
                  </a:defRPr>
                </a:lvl4pPr>
                <a:lvl5pPr marL="2679700" indent="-457200" defTabSz="968375" eaLnBrk="0" hangingPunct="0">
                  <a:spcBef>
                    <a:spcPct val="20000"/>
                  </a:spcBef>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5pPr>
                <a:lvl6pPr marL="31369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6pPr>
                <a:lvl7pPr marL="35941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7pPr>
                <a:lvl8pPr marL="40513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8pPr>
                <a:lvl9pPr marL="45085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0"/>
                  </a:spcBef>
                  <a:buClrTx/>
                  <a:buSzTx/>
                  <a:buFontTx/>
                  <a:buNone/>
                </a:pPr>
                <a:r>
                  <a:rPr lang="en-US" altLang="zh-CN" sz="2200" b="1" dirty="0">
                    <a:solidFill>
                      <a:srgbClr val="FF0000"/>
                    </a:solidFill>
                    <a:latin typeface="Times New Roman" panose="02020603050405020304" pitchFamily="18" charset="0"/>
                    <a:cs typeface="Times New Roman" panose="02020603050405020304" pitchFamily="18" charset="0"/>
                  </a:rPr>
                  <a:t>Equivalent</a:t>
                </a:r>
                <a:r>
                  <a:rPr lang="en-US" altLang="zh-CN" sz="2200" b="1" dirty="0">
                    <a:solidFill>
                      <a:srgbClr val="0000FF"/>
                    </a:solidFill>
                    <a:latin typeface="Times New Roman" panose="02020603050405020304" pitchFamily="18" charset="0"/>
                    <a:cs typeface="Times New Roman" panose="02020603050405020304" pitchFamily="18" charset="0"/>
                  </a:rPr>
                  <a:t> question: </a:t>
                </a:r>
                <a:r>
                  <a:rPr lang="en-US" altLang="zh-CN" sz="2200" dirty="0">
                    <a:latin typeface="Times New Roman" panose="02020603050405020304" pitchFamily="18" charset="0"/>
                    <a:cs typeface="Times New Roman" panose="02020603050405020304" pitchFamily="18" charset="0"/>
                  </a:rPr>
                  <a:t>Find</a:t>
                </a:r>
                <a:r>
                  <a:rPr lang="en-US" altLang="zh-CN" sz="2200" i="1" dirty="0">
                    <a:latin typeface="Times New Roman" panose="02020603050405020304" pitchFamily="18" charset="0"/>
                    <a:cs typeface="Times New Roman" panose="02020603050405020304" pitchFamily="18" charset="0"/>
                  </a:rPr>
                  <a:t> P</a:t>
                </a:r>
                <a:r>
                  <a:rPr lang="en-US" altLang="zh-CN" sz="2200" dirty="0">
                    <a:latin typeface="Times New Roman" panose="02020603050405020304" pitchFamily="18" charset="0"/>
                    <a:cs typeface="Times New Roman" panose="02020603050405020304" pitchFamily="18" charset="0"/>
                  </a:rPr>
                  <a:t>(</a:t>
                </a:r>
                <a14:m>
                  <m:oMath xmlns:m="http://schemas.openxmlformats.org/officeDocument/2006/math">
                    <m:f>
                      <m:fPr>
                        <m:ctrlPr>
                          <a:rPr lang="en-AU" sz="2200" i="1">
                            <a:solidFill>
                              <a:srgbClr val="000000"/>
                            </a:solidFill>
                            <a:latin typeface="Cambria Math" panose="02040503050406030204" pitchFamily="18" charset="0"/>
                          </a:rPr>
                        </m:ctrlPr>
                      </m:fPr>
                      <m:num>
                        <m:r>
                          <a:rPr lang="en-AU" sz="2200" b="0" i="1" smtClean="0">
                            <a:solidFill>
                              <a:srgbClr val="000000"/>
                            </a:solidFill>
                            <a:latin typeface="Cambria Math" panose="02040503050406030204" pitchFamily="18" charset="0"/>
                          </a:rPr>
                          <m:t>32</m:t>
                        </m:r>
                        <m:r>
                          <a:rPr lang="en-AU" sz="2200" i="1">
                            <a:solidFill>
                              <a:srgbClr val="000000"/>
                            </a:solidFill>
                            <a:latin typeface="Cambria Math" panose="02040503050406030204" pitchFamily="18" charset="0"/>
                          </a:rPr>
                          <m:t>−</m:t>
                        </m:r>
                        <m:r>
                          <a:rPr lang="en-AU" sz="2200" b="0" i="1" smtClean="0">
                            <a:solidFill>
                              <a:srgbClr val="000000"/>
                            </a:solidFill>
                            <a:latin typeface="Cambria Math" panose="02040503050406030204" pitchFamily="18" charset="0"/>
                          </a:rPr>
                          <m:t>33</m:t>
                        </m:r>
                      </m:num>
                      <m:den>
                        <m:r>
                          <a:rPr lang="en-AU" sz="2200" b="0" i="1" smtClean="0">
                            <a:solidFill>
                              <a:srgbClr val="000000"/>
                            </a:solidFill>
                            <a:latin typeface="Cambria Math" panose="02040503050406030204" pitchFamily="18" charset="0"/>
                          </a:rPr>
                          <m:t>0.7</m:t>
                        </m:r>
                      </m:den>
                    </m:f>
                  </m:oMath>
                </a14:m>
                <a:r>
                  <a:rPr lang="en-US" altLang="zh-CN" sz="2200" dirty="0">
                    <a:latin typeface="Times New Roman" panose="02020603050405020304" pitchFamily="18" charset="0"/>
                    <a:cs typeface="Times New Roman" panose="02020603050405020304" pitchFamily="18" charset="0"/>
                  </a:rPr>
                  <a:t> </a:t>
                </a:r>
                <a14:m>
                  <m:oMath xmlns:m="http://schemas.openxmlformats.org/officeDocument/2006/math">
                    <m:r>
                      <a:rPr lang="en-AU" sz="2200">
                        <a:solidFill>
                          <a:srgbClr val="000000"/>
                        </a:solidFill>
                        <a:latin typeface="Cambria Math" panose="02040503050406030204" pitchFamily="18" charset="0"/>
                      </a:rPr>
                      <m:t>≤</m:t>
                    </m:r>
                    <m:r>
                      <a:rPr lang="en-AU" sz="2200" i="1">
                        <a:solidFill>
                          <a:srgbClr val="000000"/>
                        </a:solidFill>
                        <a:latin typeface="Cambria Math" panose="02040503050406030204" pitchFamily="18" charset="0"/>
                      </a:rPr>
                      <m:t>𝑧</m:t>
                    </m:r>
                    <m:r>
                      <a:rPr lang="en-AU" sz="2200">
                        <a:solidFill>
                          <a:srgbClr val="000000"/>
                        </a:solidFill>
                        <a:latin typeface="Cambria Math" panose="02040503050406030204" pitchFamily="18" charset="0"/>
                      </a:rPr>
                      <m:t>≤</m:t>
                    </m:r>
                    <m:r>
                      <a:rPr lang="en-AU" sz="2200" i="1">
                        <a:solidFill>
                          <a:srgbClr val="000000"/>
                        </a:solidFill>
                        <a:latin typeface="Cambria Math" panose="02040503050406030204" pitchFamily="18" charset="0"/>
                      </a:rPr>
                      <m:t> </m:t>
                    </m:r>
                    <m:f>
                      <m:fPr>
                        <m:ctrlPr>
                          <a:rPr lang="en-AU" sz="2200" i="1">
                            <a:solidFill>
                              <a:srgbClr val="000000"/>
                            </a:solidFill>
                            <a:latin typeface="Cambria Math" panose="02040503050406030204" pitchFamily="18" charset="0"/>
                          </a:rPr>
                        </m:ctrlPr>
                      </m:fPr>
                      <m:num>
                        <m:r>
                          <a:rPr lang="en-AU" sz="2200" b="0" i="1" smtClean="0">
                            <a:solidFill>
                              <a:srgbClr val="000000"/>
                            </a:solidFill>
                            <a:latin typeface="Cambria Math" panose="02040503050406030204" pitchFamily="18" charset="0"/>
                          </a:rPr>
                          <m:t>35</m:t>
                        </m:r>
                        <m:r>
                          <a:rPr lang="en-AU" sz="2200" i="1">
                            <a:solidFill>
                              <a:srgbClr val="000000"/>
                            </a:solidFill>
                            <a:latin typeface="Cambria Math" panose="02040503050406030204" pitchFamily="18" charset="0"/>
                          </a:rPr>
                          <m:t>−</m:t>
                        </m:r>
                        <m:r>
                          <a:rPr lang="en-AU" sz="2200" b="0" i="1" smtClean="0">
                            <a:solidFill>
                              <a:srgbClr val="000000"/>
                            </a:solidFill>
                            <a:latin typeface="Cambria Math" panose="02040503050406030204" pitchFamily="18" charset="0"/>
                          </a:rPr>
                          <m:t>33</m:t>
                        </m:r>
                      </m:num>
                      <m:den>
                        <m:r>
                          <a:rPr lang="en-AU" sz="2200" b="0" i="1" smtClean="0">
                            <a:solidFill>
                              <a:srgbClr val="000000"/>
                            </a:solidFill>
                            <a:latin typeface="Cambria Math" panose="02040503050406030204" pitchFamily="18" charset="0"/>
                          </a:rPr>
                          <m:t>0.7</m:t>
                        </m:r>
                      </m:den>
                    </m:f>
                  </m:oMath>
                </a14:m>
                <a:r>
                  <a:rPr lang="en-US" altLang="zh-CN" sz="2200" dirty="0">
                    <a:latin typeface="Times New Roman" panose="02020603050405020304" pitchFamily="18" charset="0"/>
                    <a:cs typeface="Times New Roman" panose="02020603050405020304" pitchFamily="18" charset="0"/>
                  </a:rPr>
                  <a:t>) for </a:t>
                </a:r>
                <a14:m>
                  <m:oMath xmlns:m="http://schemas.openxmlformats.org/officeDocument/2006/math">
                    <m:r>
                      <a:rPr lang="en-AU" sz="2200" i="1">
                        <a:solidFill>
                          <a:srgbClr val="000000"/>
                        </a:solidFill>
                        <a:latin typeface="Cambria Math" panose="02040503050406030204" pitchFamily="18" charset="0"/>
                      </a:rPr>
                      <m:t>𝜇</m:t>
                    </m:r>
                    <m:r>
                      <a:rPr lang="en-AU" sz="2200" b="0" i="1" smtClean="0">
                        <a:solidFill>
                          <a:srgbClr val="000000"/>
                        </a:solidFill>
                        <a:latin typeface="Cambria Math" panose="02040503050406030204" pitchFamily="18" charset="0"/>
                      </a:rPr>
                      <m:t>=0</m:t>
                    </m:r>
                  </m:oMath>
                </a14:m>
                <a:r>
                  <a:rPr lang="en-US" altLang="zh-CN" sz="2200" dirty="0">
                    <a:latin typeface="Times New Roman" panose="02020603050405020304" pitchFamily="18" charset="0"/>
                    <a:cs typeface="Times New Roman" panose="02020603050405020304" pitchFamily="18" charset="0"/>
                  </a:rPr>
                  <a:t> mpg and </a:t>
                </a:r>
                <a14:m>
                  <m:oMath xmlns:m="http://schemas.openxmlformats.org/officeDocument/2006/math">
                    <m:r>
                      <a:rPr lang="zh-CN" altLang="en-US" sz="2200" i="1" smtClean="0">
                        <a:latin typeface="Cambria Math" panose="02040503050406030204" pitchFamily="18" charset="0"/>
                        <a:cs typeface="Times New Roman" panose="02020603050405020304" pitchFamily="18" charset="0"/>
                      </a:rPr>
                      <m:t>𝜎</m:t>
                    </m:r>
                    <m:r>
                      <a:rPr lang="en-AU" altLang="zh-CN" sz="2200" b="0" i="1" smtClean="0">
                        <a:latin typeface="Cambria Math" panose="02040503050406030204" pitchFamily="18" charset="0"/>
                        <a:cs typeface="Times New Roman" panose="02020603050405020304" pitchFamily="18" charset="0"/>
                      </a:rPr>
                      <m:t>=1</m:t>
                    </m:r>
                  </m:oMath>
                </a14:m>
                <a:endParaRPr lang="en-US" altLang="zh-CN" sz="2200" dirty="0">
                  <a:latin typeface="Times New Roman" panose="02020603050405020304" pitchFamily="18" charset="0"/>
                  <a:cs typeface="Times New Roman" panose="02020603050405020304" pitchFamily="18" charset="0"/>
                </a:endParaRPr>
              </a:p>
            </p:txBody>
          </p:sp>
        </mc:Choice>
        <mc:Fallback xmlns="">
          <p:sp>
            <p:nvSpPr>
              <p:cNvPr id="2" name="Text Box 3">
                <a:extLst>
                  <a:ext uri="{FF2B5EF4-FFF2-40B4-BE49-F238E27FC236}">
                    <a16:creationId xmlns:a16="http://schemas.microsoft.com/office/drawing/2014/main" id="{76156588-B1B7-16E7-CA43-55ABEC34F9DB}"/>
                  </a:ext>
                </a:extLst>
              </p:cNvPr>
              <p:cNvSpPr txBox="1">
                <a:spLocks noRot="1" noChangeAspect="1" noMove="1" noResize="1" noEditPoints="1" noAdjustHandles="1" noChangeArrowheads="1" noChangeShapeType="1" noTextEdit="1"/>
              </p:cNvSpPr>
              <p:nvPr/>
            </p:nvSpPr>
            <p:spPr bwMode="auto">
              <a:xfrm>
                <a:off x="220258" y="1328369"/>
                <a:ext cx="6051334" cy="1267976"/>
              </a:xfrm>
              <a:prstGeom prst="rect">
                <a:avLst/>
              </a:prstGeom>
              <a:blipFill>
                <a:blip r:embed="rId4"/>
                <a:stretch>
                  <a:fillRect l="-1309" b="-86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81B0B98-0D4E-6C7E-45E1-56E0AA9A1028}"/>
                  </a:ext>
                </a:extLst>
              </p:cNvPr>
              <p:cNvSpPr txBox="1"/>
              <p:nvPr/>
            </p:nvSpPr>
            <p:spPr>
              <a:xfrm>
                <a:off x="336047" y="2743792"/>
                <a:ext cx="2576119" cy="545406"/>
              </a:xfrm>
              <a:prstGeom prst="rect">
                <a:avLst/>
              </a:prstGeom>
              <a:noFill/>
            </p:spPr>
            <p:txBody>
              <a:bodyPr wrap="square">
                <a:spAutoFit/>
              </a:bodyPr>
              <a:lstStyle/>
              <a:p>
                <a:pPr>
                  <a:buNone/>
                </a:pPr>
                <a:r>
                  <a:rPr lang="en-AU" sz="2200" b="1" dirty="0">
                    <a:solidFill>
                      <a:srgbClr val="000000"/>
                    </a:solidFill>
                    <a:effectLst/>
                    <a:latin typeface="Times New Roman" panose="02020603050405020304" pitchFamily="18" charset="0"/>
                    <a:cs typeface="Times New Roman" panose="02020603050405020304" pitchFamily="18" charset="0"/>
                  </a:rPr>
                  <a:t>Note: </a:t>
                </a:r>
                <a14:m>
                  <m:oMath xmlns:m="http://schemas.openxmlformats.org/officeDocument/2006/math">
                    <m:r>
                      <a:rPr lang="en-AU" sz="2200" i="1" smtClean="0">
                        <a:solidFill>
                          <a:srgbClr val="000000"/>
                        </a:solidFill>
                        <a:effectLst/>
                        <a:latin typeface="Cambria Math" panose="02040503050406030204" pitchFamily="18" charset="0"/>
                      </a:rPr>
                      <m:t>𝑧</m:t>
                    </m:r>
                    <m:r>
                      <a:rPr lang="en-AU" sz="2200" i="1" smtClean="0">
                        <a:solidFill>
                          <a:srgbClr val="000000"/>
                        </a:solidFill>
                        <a:effectLst/>
                        <a:latin typeface="Cambria Math" panose="02040503050406030204" pitchFamily="18" charset="0"/>
                      </a:rPr>
                      <m:t>=</m:t>
                    </m:r>
                    <m:f>
                      <m:fPr>
                        <m:ctrlPr>
                          <a:rPr lang="en-AU" sz="2200" i="1">
                            <a:solidFill>
                              <a:srgbClr val="000000"/>
                            </a:solidFill>
                            <a:effectLst/>
                            <a:latin typeface="Cambria Math" panose="02040503050406030204" pitchFamily="18" charset="0"/>
                          </a:rPr>
                        </m:ctrlPr>
                      </m:fPr>
                      <m:num>
                        <m:r>
                          <a:rPr lang="en-AU" sz="2200" i="1">
                            <a:solidFill>
                              <a:srgbClr val="000000"/>
                            </a:solidFill>
                            <a:effectLst/>
                            <a:latin typeface="Cambria Math" panose="02040503050406030204" pitchFamily="18" charset="0"/>
                          </a:rPr>
                          <m:t>𝑥</m:t>
                        </m:r>
                        <m:r>
                          <a:rPr lang="en-AU" sz="2200" i="1">
                            <a:solidFill>
                              <a:srgbClr val="000000"/>
                            </a:solidFill>
                            <a:effectLst/>
                            <a:latin typeface="Cambria Math" panose="02040503050406030204" pitchFamily="18" charset="0"/>
                          </a:rPr>
                          <m:t>−</m:t>
                        </m:r>
                        <m:r>
                          <a:rPr lang="en-AU" sz="2200" i="1">
                            <a:solidFill>
                              <a:srgbClr val="000000"/>
                            </a:solidFill>
                            <a:effectLst/>
                            <a:latin typeface="Cambria Math" panose="02040503050406030204" pitchFamily="18" charset="0"/>
                          </a:rPr>
                          <m:t>𝜇</m:t>
                        </m:r>
                      </m:num>
                      <m:den>
                        <m:r>
                          <a:rPr lang="en-AU" sz="2200" i="1">
                            <a:solidFill>
                              <a:srgbClr val="000000"/>
                            </a:solidFill>
                            <a:effectLst/>
                            <a:latin typeface="Cambria Math" panose="02040503050406030204" pitchFamily="18" charset="0"/>
                          </a:rPr>
                          <m:t>𝜎</m:t>
                        </m:r>
                      </m:den>
                    </m:f>
                  </m:oMath>
                </a14:m>
                <a:endParaRPr lang="en-AU" sz="2200" dirty="0">
                  <a:effectLst/>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381B0B98-0D4E-6C7E-45E1-56E0AA9A1028}"/>
                  </a:ext>
                </a:extLst>
              </p:cNvPr>
              <p:cNvSpPr txBox="1">
                <a:spLocks noRot="1" noChangeAspect="1" noMove="1" noResize="1" noEditPoints="1" noAdjustHandles="1" noChangeArrowheads="1" noChangeShapeType="1" noTextEdit="1"/>
              </p:cNvSpPr>
              <p:nvPr/>
            </p:nvSpPr>
            <p:spPr>
              <a:xfrm>
                <a:off x="336047" y="2743792"/>
                <a:ext cx="2576119" cy="545406"/>
              </a:xfrm>
              <a:prstGeom prst="rect">
                <a:avLst/>
              </a:prstGeom>
              <a:blipFill>
                <a:blip r:embed="rId5"/>
                <a:stretch>
                  <a:fillRect l="-3073" t="-1111" b="-777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 Box 3">
                <a:extLst>
                  <a:ext uri="{FF2B5EF4-FFF2-40B4-BE49-F238E27FC236}">
                    <a16:creationId xmlns:a16="http://schemas.microsoft.com/office/drawing/2014/main" id="{26101524-5289-01DE-8EDE-3F8DCB5BF421}"/>
                  </a:ext>
                </a:extLst>
              </p:cNvPr>
              <p:cNvSpPr txBox="1">
                <a:spLocks noChangeArrowheads="1"/>
              </p:cNvSpPr>
              <p:nvPr/>
            </p:nvSpPr>
            <p:spPr bwMode="auto">
              <a:xfrm>
                <a:off x="264342" y="3414457"/>
                <a:ext cx="4148631" cy="155504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eaLnBrk="0" hangingPunct="0">
                  <a:spcBef>
                    <a:spcPct val="20000"/>
                  </a:spcBef>
                  <a:buClr>
                    <a:schemeClr val="accent1"/>
                  </a:buClr>
                  <a:buSzPct val="65000"/>
                  <a:buFont typeface="Wingdings" pitchFamily="2" charset="2"/>
                  <a:buChar char="n"/>
                  <a:tabLst>
                    <a:tab pos="287338" algn="l"/>
                  </a:tabLst>
                  <a:defRPr sz="3000">
                    <a:solidFill>
                      <a:schemeClr val="tx1"/>
                    </a:solidFill>
                    <a:latin typeface="Arial" panose="020B0604020202020204" pitchFamily="34" charset="0"/>
                    <a:ea typeface="宋体" panose="02010600030101010101" pitchFamily="2" charset="-122"/>
                  </a:defRPr>
                </a:lvl1pPr>
                <a:lvl2pPr marL="393700" indent="-279400" defTabSz="968375" eaLnBrk="0" hangingPunct="0">
                  <a:spcBef>
                    <a:spcPct val="20000"/>
                  </a:spcBef>
                  <a:buClr>
                    <a:schemeClr val="accent2"/>
                  </a:buClr>
                  <a:buSzPct val="60000"/>
                  <a:buFont typeface="Wingdings" pitchFamily="2" charset="2"/>
                  <a:buChar char="q"/>
                  <a:tabLst>
                    <a:tab pos="287338" algn="l"/>
                  </a:tabLst>
                  <a:defRPr sz="2600">
                    <a:solidFill>
                      <a:schemeClr val="tx1"/>
                    </a:solidFill>
                    <a:latin typeface="Arial" panose="020B0604020202020204" pitchFamily="34" charset="0"/>
                    <a:ea typeface="宋体" panose="02010600030101010101" pitchFamily="2" charset="-122"/>
                  </a:defRPr>
                </a:lvl2pPr>
                <a:lvl3pPr marL="1536700" indent="-457200" defTabSz="968375" eaLnBrk="0" hangingPunct="0">
                  <a:spcBef>
                    <a:spcPct val="20000"/>
                  </a:spcBef>
                  <a:buClr>
                    <a:schemeClr val="accent1"/>
                  </a:buClr>
                  <a:buSzPct val="65000"/>
                  <a:buFont typeface="Wingdings" pitchFamily="2" charset="2"/>
                  <a:buChar char="n"/>
                  <a:tabLst>
                    <a:tab pos="287338" algn="l"/>
                  </a:tabLst>
                  <a:defRPr sz="2200">
                    <a:solidFill>
                      <a:schemeClr val="tx1"/>
                    </a:solidFill>
                    <a:latin typeface="Arial" panose="020B0604020202020204" pitchFamily="34" charset="0"/>
                    <a:ea typeface="宋体" panose="02010600030101010101" pitchFamily="2" charset="-122"/>
                  </a:defRPr>
                </a:lvl3pPr>
                <a:lvl4pPr marL="2108200" indent="-457200" defTabSz="968375" eaLnBrk="0" hangingPunct="0">
                  <a:spcBef>
                    <a:spcPct val="20000"/>
                  </a:spcBef>
                  <a:buClr>
                    <a:schemeClr val="accent2"/>
                  </a:buClr>
                  <a:buSzPct val="70000"/>
                  <a:buFont typeface="Wingdings" pitchFamily="2" charset="2"/>
                  <a:buChar char="q"/>
                  <a:tabLst>
                    <a:tab pos="287338" algn="l"/>
                  </a:tabLst>
                  <a:defRPr sz="2000">
                    <a:solidFill>
                      <a:schemeClr val="tx1"/>
                    </a:solidFill>
                    <a:latin typeface="Arial" panose="020B0604020202020204" pitchFamily="34" charset="0"/>
                    <a:ea typeface="宋体" panose="02010600030101010101" pitchFamily="2" charset="-122"/>
                  </a:defRPr>
                </a:lvl4pPr>
                <a:lvl5pPr marL="2679700" indent="-457200" defTabSz="968375" eaLnBrk="0" hangingPunct="0">
                  <a:spcBef>
                    <a:spcPct val="20000"/>
                  </a:spcBef>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5pPr>
                <a:lvl6pPr marL="31369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6pPr>
                <a:lvl7pPr marL="35941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7pPr>
                <a:lvl8pPr marL="40513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8pPr>
                <a:lvl9pPr marL="4508500" indent="-457200" defTabSz="968375" eaLnBrk="0" fontAlgn="base" hangingPunct="0">
                  <a:spcBef>
                    <a:spcPct val="20000"/>
                  </a:spcBef>
                  <a:spcAft>
                    <a:spcPct val="0"/>
                  </a:spcAft>
                  <a:buClr>
                    <a:schemeClr val="accent1"/>
                  </a:buClr>
                  <a:buSzPct val="75000"/>
                  <a:buFont typeface="Wingdings" pitchFamily="2" charset="2"/>
                  <a:buChar char="§"/>
                  <a:tabLst>
                    <a:tab pos="287338" algn="l"/>
                  </a:tabLst>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0"/>
                  </a:spcBef>
                  <a:buClrTx/>
                  <a:buSzTx/>
                  <a:buFontTx/>
                  <a:buNone/>
                </a:pPr>
                <a:r>
                  <a:rPr lang="en-US" altLang="zh-CN" sz="2200" b="1" dirty="0">
                    <a:solidFill>
                      <a:srgbClr val="FF0000"/>
                    </a:solidFill>
                    <a:latin typeface="Times New Roman" panose="02020603050405020304" pitchFamily="18" charset="0"/>
                    <a:cs typeface="Times New Roman" panose="02020603050405020304" pitchFamily="18" charset="0"/>
                  </a:rPr>
                  <a:t>From the normal table</a:t>
                </a:r>
                <a:r>
                  <a:rPr lang="en-US" altLang="zh-CN" sz="2200" b="1" dirty="0">
                    <a:solidFill>
                      <a:srgbClr val="0000FF"/>
                    </a:solidFill>
                    <a:latin typeface="Times New Roman" panose="02020603050405020304" pitchFamily="18" charset="0"/>
                    <a:cs typeface="Times New Roman" panose="02020603050405020304" pitchFamily="18" charset="0"/>
                  </a:rPr>
                  <a:t>:</a:t>
                </a:r>
              </a:p>
              <a:p>
                <a:pPr>
                  <a:lnSpc>
                    <a:spcPct val="150000"/>
                  </a:lnSpc>
                  <a:spcBef>
                    <a:spcPts val="0"/>
                  </a:spcBef>
                  <a:buClrTx/>
                  <a:buSzTx/>
                  <a:buFontTx/>
                  <a:buNone/>
                </a:pPr>
                <a:r>
                  <a:rPr lang="en-US" altLang="zh-CN" sz="2200" i="1" dirty="0">
                    <a:latin typeface="Times New Roman" panose="02020603050405020304" pitchFamily="18" charset="0"/>
                    <a:cs typeface="Times New Roman" panose="02020603050405020304" pitchFamily="18" charset="0"/>
                  </a:rPr>
                  <a:t>P</a:t>
                </a:r>
                <a:r>
                  <a:rPr lang="en-US" altLang="zh-CN" sz="2200" dirty="0">
                    <a:latin typeface="Times New Roman" panose="02020603050405020304" pitchFamily="18" charset="0"/>
                    <a:cs typeface="Times New Roman" panose="02020603050405020304" pitchFamily="18" charset="0"/>
                  </a:rPr>
                  <a:t>(</a:t>
                </a:r>
                <a14:m>
                  <m:oMath xmlns:m="http://schemas.openxmlformats.org/officeDocument/2006/math">
                    <m:r>
                      <a:rPr lang="en-AU" sz="2200" b="0" i="0" smtClean="0">
                        <a:solidFill>
                          <a:srgbClr val="000000"/>
                        </a:solidFill>
                        <a:latin typeface="Cambria Math" panose="02040503050406030204" pitchFamily="18" charset="0"/>
                      </a:rPr>
                      <m:t>−1.43≤</m:t>
                    </m:r>
                    <m:r>
                      <a:rPr lang="en-AU" sz="2200" b="0" i="1" smtClean="0">
                        <a:solidFill>
                          <a:srgbClr val="000000"/>
                        </a:solidFill>
                        <a:latin typeface="Cambria Math" panose="02040503050406030204" pitchFamily="18" charset="0"/>
                      </a:rPr>
                      <m:t>𝑧</m:t>
                    </m:r>
                    <m:r>
                      <a:rPr lang="en-AU" sz="2200" b="0" i="0" smtClean="0">
                        <a:solidFill>
                          <a:srgbClr val="000000"/>
                        </a:solidFill>
                        <a:latin typeface="Cambria Math" panose="02040503050406030204" pitchFamily="18" charset="0"/>
                      </a:rPr>
                      <m:t>≤2.86)</m:t>
                    </m:r>
                  </m:oMath>
                </a14:m>
                <a:endParaRPr lang="en-AU" sz="2200" b="0" i="0" dirty="0">
                  <a:solidFill>
                    <a:srgbClr val="000000"/>
                  </a:solidFill>
                  <a:latin typeface="Cambria Math" panose="02040503050406030204" pitchFamily="18" charset="0"/>
                </a:endParaRPr>
              </a:p>
              <a:p>
                <a:pPr>
                  <a:lnSpc>
                    <a:spcPct val="150000"/>
                  </a:lnSpc>
                  <a:spcBef>
                    <a:spcPts val="0"/>
                  </a:spcBef>
                  <a:buClrTx/>
                  <a:buSzTx/>
                  <a:buFontTx/>
                  <a:buNone/>
                </a:pPr>
                <a14:m>
                  <m:oMath xmlns:m="http://schemas.openxmlformats.org/officeDocument/2006/math">
                    <m:r>
                      <a:rPr lang="en-AU" sz="2200" b="0" i="0" smtClean="0">
                        <a:solidFill>
                          <a:srgbClr val="000000"/>
                        </a:solidFill>
                        <a:latin typeface="Cambria Math" panose="02040503050406030204" pitchFamily="18" charset="0"/>
                      </a:rPr>
                      <m:t>=0.9979−0.0764=0.9215</m:t>
                    </m:r>
                  </m:oMath>
                </a14:m>
                <a:r>
                  <a:rPr lang="en-US" altLang="zh-CN" sz="2200" dirty="0">
                    <a:latin typeface="Times New Roman" panose="02020603050405020304" pitchFamily="18" charset="0"/>
                    <a:cs typeface="Times New Roman" panose="02020603050405020304" pitchFamily="18" charset="0"/>
                  </a:rPr>
                  <a:t>.</a:t>
                </a:r>
              </a:p>
            </p:txBody>
          </p:sp>
        </mc:Choice>
        <mc:Fallback xmlns="">
          <p:sp>
            <p:nvSpPr>
              <p:cNvPr id="5" name="Text Box 3">
                <a:extLst>
                  <a:ext uri="{FF2B5EF4-FFF2-40B4-BE49-F238E27FC236}">
                    <a16:creationId xmlns:a16="http://schemas.microsoft.com/office/drawing/2014/main" id="{26101524-5289-01DE-8EDE-3F8DCB5BF421}"/>
                  </a:ext>
                </a:extLst>
              </p:cNvPr>
              <p:cNvSpPr txBox="1">
                <a:spLocks noRot="1" noChangeAspect="1" noMove="1" noResize="1" noEditPoints="1" noAdjustHandles="1" noChangeArrowheads="1" noChangeShapeType="1" noTextEdit="1"/>
              </p:cNvSpPr>
              <p:nvPr/>
            </p:nvSpPr>
            <p:spPr bwMode="auto">
              <a:xfrm>
                <a:off x="264342" y="3414457"/>
                <a:ext cx="4148631" cy="1555041"/>
              </a:xfrm>
              <a:prstGeom prst="rect">
                <a:avLst/>
              </a:prstGeom>
              <a:blipFill>
                <a:blip r:embed="rId6"/>
                <a:stretch>
                  <a:fillRect l="-1909" b="-74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pic>
        <p:nvPicPr>
          <p:cNvPr id="7" name="Picture 6">
            <a:extLst>
              <a:ext uri="{FF2B5EF4-FFF2-40B4-BE49-F238E27FC236}">
                <a16:creationId xmlns:a16="http://schemas.microsoft.com/office/drawing/2014/main" id="{54C89B41-0309-70A4-C594-781859E6E36B}"/>
              </a:ext>
            </a:extLst>
          </p:cNvPr>
          <p:cNvPicPr>
            <a:picLocks noChangeAspect="1"/>
          </p:cNvPicPr>
          <p:nvPr/>
        </p:nvPicPr>
        <p:blipFill>
          <a:blip r:embed="rId7"/>
          <a:stretch>
            <a:fillRect/>
          </a:stretch>
        </p:blipFill>
        <p:spPr>
          <a:xfrm>
            <a:off x="6316258" y="245004"/>
            <a:ext cx="5724525" cy="4705350"/>
          </a:xfrm>
          <a:prstGeom prst="rect">
            <a:avLst/>
          </a:prstGeom>
        </p:spPr>
      </p:pic>
      <p:sp>
        <p:nvSpPr>
          <p:cNvPr id="9" name="TextBox 8">
            <a:extLst>
              <a:ext uri="{FF2B5EF4-FFF2-40B4-BE49-F238E27FC236}">
                <a16:creationId xmlns:a16="http://schemas.microsoft.com/office/drawing/2014/main" id="{7044FFE4-5E81-B39D-DD3C-B22079C46DA1}"/>
              </a:ext>
            </a:extLst>
          </p:cNvPr>
          <p:cNvSpPr txBox="1"/>
          <p:nvPr/>
        </p:nvSpPr>
        <p:spPr>
          <a:xfrm>
            <a:off x="336047" y="5572166"/>
            <a:ext cx="9954981" cy="430887"/>
          </a:xfrm>
          <a:prstGeom prst="rect">
            <a:avLst/>
          </a:prstGeom>
          <a:noFill/>
        </p:spPr>
        <p:txBody>
          <a:bodyPr wrap="square">
            <a:spAutoFit/>
          </a:bodyPr>
          <a:lstStyle/>
          <a:p>
            <a:r>
              <a:rPr lang="en-AU" sz="2200" dirty="0">
                <a:latin typeface="Times New Roman" panose="02020603050405020304" pitchFamily="18" charset="0"/>
                <a:cs typeface="Times New Roman" panose="02020603050405020304" pitchFamily="18" charset="0"/>
              </a:rPr>
              <a:t>92.15 percent of all of midsize cars will get mileages between 32 mpg and 35 mpg.</a:t>
            </a:r>
          </a:p>
        </p:txBody>
      </p:sp>
      <p:sp>
        <p:nvSpPr>
          <p:cNvPr id="4" name="灯片编号占位符 16">
            <a:extLst>
              <a:ext uri="{FF2B5EF4-FFF2-40B4-BE49-F238E27FC236}">
                <a16:creationId xmlns:a16="http://schemas.microsoft.com/office/drawing/2014/main" id="{00D7902F-C5F5-60B7-2A57-9E458E2F8BDA}"/>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2783380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a:extLst>
              <a:ext uri="{FF2B5EF4-FFF2-40B4-BE49-F238E27FC236}">
                <a16:creationId xmlns:a16="http://schemas.microsoft.com/office/drawing/2014/main" id="{EBE5CAF9-CA2B-A244-86FD-3CE10D98A5DD}"/>
              </a:ext>
            </a:extLst>
          </p:cNvPr>
          <p:cNvSpPr>
            <a:spLocks noGrp="1" noChangeArrowheads="1"/>
          </p:cNvSpPr>
          <p:nvPr>
            <p:ph type="title" idx="4294967295"/>
          </p:nvPr>
        </p:nvSpPr>
        <p:spPr>
          <a:xfrm>
            <a:off x="623868" y="139152"/>
            <a:ext cx="2776330" cy="566528"/>
          </a:xfrm>
        </p:spPr>
        <p:txBody>
          <a:bodyPr>
            <a:normAutofit/>
          </a:bodyPr>
          <a:lstStyle/>
          <a:p>
            <a:pPr eaLnBrk="1" hangingPunct="1"/>
            <a:r>
              <a:rPr lang="en-US" altLang="zh-CN" sz="2800" b="1" dirty="0">
                <a:solidFill>
                  <a:srgbClr val="FF0000"/>
                </a:solidFill>
                <a:latin typeface="Times New Roman" panose="02020603050405020304" pitchFamily="18" charset="0"/>
                <a:cs typeface="Times New Roman" panose="02020603050405020304" pitchFamily="18" charset="0"/>
              </a:rPr>
              <a:t>Problem </a:t>
            </a:r>
          </a:p>
        </p:txBody>
      </p:sp>
      <p:sp>
        <p:nvSpPr>
          <p:cNvPr id="45060" name="Rectangle 4">
            <a:extLst>
              <a:ext uri="{FF2B5EF4-FFF2-40B4-BE49-F238E27FC236}">
                <a16:creationId xmlns:a16="http://schemas.microsoft.com/office/drawing/2014/main" id="{159934A9-7887-1A45-9A4A-24BB257C1767}"/>
              </a:ext>
            </a:extLst>
          </p:cNvPr>
          <p:cNvSpPr>
            <a:spLocks noChangeArrowheads="1"/>
          </p:cNvSpPr>
          <p:nvPr/>
        </p:nvSpPr>
        <p:spPr bwMode="auto">
          <a:xfrm>
            <a:off x="623868" y="1020882"/>
            <a:ext cx="1025948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en-US" altLang="zh-CN" sz="2800" dirty="0">
                <a:latin typeface="Times New Roman" panose="02020603050405020304" pitchFamily="18" charset="0"/>
              </a:rPr>
              <a:t>The daily water usage per person in Providence, Rhode Island is normally distributed with a </a:t>
            </a:r>
            <a:r>
              <a:rPr lang="en-US" altLang="zh-CN" sz="2800" dirty="0">
                <a:solidFill>
                  <a:srgbClr val="0000FF"/>
                </a:solidFill>
                <a:latin typeface="Times New Roman" panose="02020603050405020304" pitchFamily="18" charset="0"/>
              </a:rPr>
              <a:t>mean</a:t>
            </a:r>
            <a:r>
              <a:rPr lang="en-US" altLang="zh-CN" sz="2800" dirty="0">
                <a:latin typeface="Times New Roman" panose="02020603050405020304" pitchFamily="18" charset="0"/>
              </a:rPr>
              <a:t> of </a:t>
            </a:r>
            <a:r>
              <a:rPr lang="en-US" altLang="zh-CN" sz="2800" dirty="0">
                <a:solidFill>
                  <a:srgbClr val="0000FF"/>
                </a:solidFill>
                <a:latin typeface="Times New Roman" panose="02020603050405020304" pitchFamily="18" charset="0"/>
              </a:rPr>
              <a:t>20</a:t>
            </a:r>
            <a:r>
              <a:rPr lang="en-US" altLang="zh-CN" sz="2800" dirty="0">
                <a:latin typeface="Times New Roman" panose="02020603050405020304" pitchFamily="18" charset="0"/>
              </a:rPr>
              <a:t> gallons and a </a:t>
            </a:r>
            <a:r>
              <a:rPr lang="en-US" altLang="zh-CN" sz="2800" dirty="0">
                <a:highlight>
                  <a:srgbClr val="FFFF00"/>
                </a:highlight>
                <a:latin typeface="Times New Roman" panose="02020603050405020304" pitchFamily="18" charset="0"/>
              </a:rPr>
              <a:t>standard deviation</a:t>
            </a:r>
            <a:r>
              <a:rPr lang="en-US" altLang="zh-CN" sz="2800" dirty="0">
                <a:latin typeface="Times New Roman" panose="02020603050405020304" pitchFamily="18" charset="0"/>
              </a:rPr>
              <a:t> of </a:t>
            </a:r>
            <a:r>
              <a:rPr lang="en-US" altLang="zh-CN" sz="2800" dirty="0">
                <a:highlight>
                  <a:srgbClr val="FFFF00"/>
                </a:highlight>
                <a:latin typeface="Times New Roman" panose="02020603050405020304" pitchFamily="18" charset="0"/>
              </a:rPr>
              <a:t>5</a:t>
            </a:r>
            <a:r>
              <a:rPr lang="en-US" altLang="zh-CN" sz="2800" dirty="0">
                <a:latin typeface="Times New Roman" panose="02020603050405020304" pitchFamily="18" charset="0"/>
              </a:rPr>
              <a:t> gallons. What percent of the population use between 18 and 26 gallons per day? </a:t>
            </a:r>
          </a:p>
        </p:txBody>
      </p:sp>
      <p:sp>
        <p:nvSpPr>
          <p:cNvPr id="2" name="Rectangle 2">
            <a:extLst>
              <a:ext uri="{FF2B5EF4-FFF2-40B4-BE49-F238E27FC236}">
                <a16:creationId xmlns:a16="http://schemas.microsoft.com/office/drawing/2014/main" id="{732C5588-ECCA-1067-4CAF-26CE63D14B3E}"/>
              </a:ext>
            </a:extLst>
          </p:cNvPr>
          <p:cNvSpPr txBox="1">
            <a:spLocks noChangeArrowheads="1"/>
          </p:cNvSpPr>
          <p:nvPr/>
        </p:nvSpPr>
        <p:spPr>
          <a:xfrm>
            <a:off x="623868" y="3039949"/>
            <a:ext cx="2776330" cy="5665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dirty="0">
                <a:solidFill>
                  <a:srgbClr val="0000FF"/>
                </a:solidFill>
                <a:latin typeface="Times New Roman" panose="02020603050405020304" pitchFamily="18" charset="0"/>
                <a:cs typeface="Times New Roman" panose="02020603050405020304" pitchFamily="18" charset="0"/>
              </a:rPr>
              <a:t>Solution: </a:t>
            </a:r>
          </a:p>
        </p:txBody>
      </p:sp>
      <p:sp>
        <p:nvSpPr>
          <p:cNvPr id="3" name="Rectangle 10">
            <a:extLst>
              <a:ext uri="{FF2B5EF4-FFF2-40B4-BE49-F238E27FC236}">
                <a16:creationId xmlns:a16="http://schemas.microsoft.com/office/drawing/2014/main" id="{301C0CC2-2C8C-DF79-5BD3-AF301D384CBA}"/>
              </a:ext>
            </a:extLst>
          </p:cNvPr>
          <p:cNvSpPr>
            <a:spLocks noChangeArrowheads="1"/>
          </p:cNvSpPr>
          <p:nvPr/>
        </p:nvSpPr>
        <p:spPr bwMode="auto">
          <a:xfrm>
            <a:off x="791176" y="3924559"/>
            <a:ext cx="2441713" cy="83157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en-US" altLang="zh-CN" sz="1800"/>
          </a:p>
        </p:txBody>
      </p:sp>
      <p:sp>
        <p:nvSpPr>
          <p:cNvPr id="4" name="灯片编号占位符 16">
            <a:extLst>
              <a:ext uri="{FF2B5EF4-FFF2-40B4-BE49-F238E27FC236}">
                <a16:creationId xmlns:a16="http://schemas.microsoft.com/office/drawing/2014/main" id="{B3C99919-26B8-0CF4-1D3C-B9FD5066BC8F}"/>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179064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39F9BD-1213-52AA-9D58-8972F550A180}"/>
              </a:ext>
            </a:extLst>
          </p:cNvPr>
          <p:cNvSpPr txBox="1"/>
          <p:nvPr/>
        </p:nvSpPr>
        <p:spPr>
          <a:xfrm>
            <a:off x="169489" y="272534"/>
            <a:ext cx="11528868" cy="492443"/>
          </a:xfrm>
          <a:prstGeom prst="rect">
            <a:avLst/>
          </a:prstGeom>
          <a:noFill/>
        </p:spPr>
        <p:txBody>
          <a:bodyPr wrap="square">
            <a:spAutoFit/>
          </a:bodyPr>
          <a:lstStyle/>
          <a:p>
            <a:r>
              <a:rPr lang="en-AU" sz="2600" b="1" dirty="0">
                <a:solidFill>
                  <a:srgbClr val="0000FF"/>
                </a:solidFill>
                <a:latin typeface="Times New Roman" panose="02020603050405020304" pitchFamily="18" charset="0"/>
                <a:cs typeface="Times New Roman" panose="02020603050405020304" pitchFamily="18" charset="0"/>
              </a:rPr>
              <a:t>Example 6.4 </a:t>
            </a:r>
            <a:r>
              <a:rPr lang="en-AU" sz="2600" b="1" dirty="0">
                <a:latin typeface="Times New Roman" panose="02020603050405020304" pitchFamily="18" charset="0"/>
                <a:cs typeface="Times New Roman" panose="02020603050405020304" pitchFamily="18" charset="0"/>
              </a:rPr>
              <a:t>The Coffee Temperature Case: Meeting Customer Requirements</a:t>
            </a: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A5866818-3CCB-D82D-9D86-FC708D1DDCD8}"/>
                  </a:ext>
                </a:extLst>
              </p:cNvPr>
              <p:cNvSpPr txBox="1">
                <a:spLocks noChangeArrowheads="1"/>
              </p:cNvSpPr>
              <p:nvPr/>
            </p:nvSpPr>
            <p:spPr bwMode="auto">
              <a:xfrm>
                <a:off x="149087" y="1013861"/>
                <a:ext cx="11837504" cy="40934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spcBef>
                    <a:spcPct val="30000"/>
                  </a:spcBef>
                  <a:defRPr/>
                </a:pPr>
                <a:r>
                  <a:rPr lang="en-AU" sz="2600" dirty="0">
                    <a:latin typeface="Times New Roman" panose="02020603050405020304" pitchFamily="18" charset="0"/>
                    <a:cs typeface="Times New Roman" panose="02020603050405020304" pitchFamily="18" charset="0"/>
                  </a:rPr>
                  <a:t>Recall that marketing research done by a fast-food restaurant indicates that coffee tastes </a:t>
                </a:r>
                <a:r>
                  <a:rPr lang="en-AU" sz="2600" dirty="0">
                    <a:solidFill>
                      <a:srgbClr val="0000FF"/>
                    </a:solidFill>
                    <a:latin typeface="Times New Roman" panose="02020603050405020304" pitchFamily="18" charset="0"/>
                    <a:cs typeface="Times New Roman" panose="02020603050405020304" pitchFamily="18" charset="0"/>
                  </a:rPr>
                  <a:t>best if its temperature is between 153 (F) and 167 (F). </a:t>
                </a:r>
                <a:r>
                  <a:rPr lang="en-AU" sz="2600" dirty="0">
                    <a:latin typeface="Times New Roman" panose="02020603050405020304" pitchFamily="18" charset="0"/>
                    <a:cs typeface="Times New Roman" panose="02020603050405020304" pitchFamily="18" charset="0"/>
                  </a:rPr>
                  <a:t>The restaurant has sampled the coffee it serves and observed the 48 temperature readings in Table 1.10 on page 17 (Also see Chapter 1 of teaching notes). The temperature readings have a mean </a:t>
                </a:r>
                <a14:m>
                  <m:oMath xmlns:m="http://schemas.openxmlformats.org/officeDocument/2006/math">
                    <m:acc>
                      <m:accPr>
                        <m:chr m:val="̅"/>
                        <m:ctrlPr>
                          <a:rPr lang="en-AU" sz="2600" i="1" smtClean="0">
                            <a:solidFill>
                              <a:srgbClr val="0000FF"/>
                            </a:solidFill>
                            <a:latin typeface="Cambria Math" panose="02040503050406030204" pitchFamily="18" charset="0"/>
                          </a:rPr>
                        </m:ctrlPr>
                      </m:accPr>
                      <m:e>
                        <m:r>
                          <a:rPr lang="en-AU" sz="2600" b="0" i="1" smtClean="0">
                            <a:solidFill>
                              <a:srgbClr val="0000FF"/>
                            </a:solidFill>
                            <a:latin typeface="Cambria Math" panose="02040503050406030204" pitchFamily="18" charset="0"/>
                          </a:rPr>
                          <m:t>𝑥</m:t>
                        </m:r>
                      </m:e>
                    </m:acc>
                    <m:r>
                      <a:rPr lang="en-AU" sz="2600" b="0" i="1" smtClean="0">
                        <a:solidFill>
                          <a:srgbClr val="0000FF"/>
                        </a:solidFill>
                        <a:latin typeface="Cambria Math" panose="02040503050406030204" pitchFamily="18" charset="0"/>
                      </a:rPr>
                      <m:t>=159.3958</m:t>
                    </m:r>
                  </m:oMath>
                </a14:m>
                <a:r>
                  <a:rPr lang="en-AU" sz="2600" dirty="0">
                    <a:solidFill>
                      <a:srgbClr val="0000FF"/>
                    </a:solidFill>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and a standard deviation </a:t>
                </a:r>
                <a:r>
                  <a:rPr lang="en-AU" sz="2600" i="1" dirty="0">
                    <a:solidFill>
                      <a:srgbClr val="0000FF"/>
                    </a:solidFill>
                    <a:latin typeface="Times New Roman" panose="02020603050405020304" pitchFamily="18" charset="0"/>
                    <a:cs typeface="Times New Roman" panose="02020603050405020304" pitchFamily="18" charset="0"/>
                  </a:rPr>
                  <a:t>s = </a:t>
                </a:r>
                <a:r>
                  <a:rPr lang="en-AU" sz="2600" dirty="0">
                    <a:solidFill>
                      <a:srgbClr val="0000FF"/>
                    </a:solidFill>
                    <a:latin typeface="Times New Roman" panose="02020603050405020304" pitchFamily="18" charset="0"/>
                    <a:cs typeface="Times New Roman" panose="02020603050405020304" pitchFamily="18" charset="0"/>
                  </a:rPr>
                  <a:t>6.4238 </a:t>
                </a:r>
                <a:r>
                  <a:rPr lang="en-AU" sz="2600" dirty="0">
                    <a:latin typeface="Times New Roman" panose="02020603050405020304" pitchFamily="18" charset="0"/>
                    <a:cs typeface="Times New Roman" panose="02020603050405020304" pitchFamily="18" charset="0"/>
                  </a:rPr>
                  <a:t>and are described by a bell-shaped histogram. Using </a:t>
                </a:r>
                <a14:m>
                  <m:oMath xmlns:m="http://schemas.openxmlformats.org/officeDocument/2006/math">
                    <m:acc>
                      <m:accPr>
                        <m:chr m:val="̅"/>
                        <m:ctrlPr>
                          <a:rPr lang="en-AU" sz="2600" i="1" smtClean="0">
                            <a:solidFill>
                              <a:srgbClr val="0000FF"/>
                            </a:solidFill>
                            <a:latin typeface="Cambria Math" panose="02040503050406030204" pitchFamily="18" charset="0"/>
                          </a:rPr>
                        </m:ctrlPr>
                      </m:accPr>
                      <m:e>
                        <m:r>
                          <a:rPr lang="en-AU" sz="2600" i="1">
                            <a:solidFill>
                              <a:srgbClr val="0000FF"/>
                            </a:solidFill>
                            <a:latin typeface="Cambria Math" panose="02040503050406030204" pitchFamily="18" charset="0"/>
                          </a:rPr>
                          <m:t>𝑥</m:t>
                        </m:r>
                      </m:e>
                    </m:acc>
                    <m:r>
                      <a:rPr lang="en-AU" sz="2600" i="1">
                        <a:solidFill>
                          <a:srgbClr val="0000FF"/>
                        </a:solidFill>
                        <a:latin typeface="Cambria Math" panose="02040503050406030204" pitchFamily="18" charset="0"/>
                      </a:rPr>
                      <m:t> </m:t>
                    </m:r>
                  </m:oMath>
                </a14:m>
                <a:r>
                  <a:rPr lang="en-AU" sz="2600" dirty="0">
                    <a:solidFill>
                      <a:srgbClr val="0000FF"/>
                    </a:solidFill>
                    <a:latin typeface="Times New Roman" panose="02020603050405020304" pitchFamily="18" charset="0"/>
                    <a:cs typeface="Times New Roman" panose="02020603050405020304" pitchFamily="18" charset="0"/>
                  </a:rPr>
                  <a:t> and </a:t>
                </a:r>
                <a:r>
                  <a:rPr lang="en-AU" sz="2600" i="1" dirty="0">
                    <a:solidFill>
                      <a:srgbClr val="0000FF"/>
                    </a:solidFill>
                    <a:latin typeface="Times New Roman" panose="02020603050405020304" pitchFamily="18" charset="0"/>
                    <a:cs typeface="Times New Roman" panose="02020603050405020304" pitchFamily="18" charset="0"/>
                  </a:rPr>
                  <a:t>s</a:t>
                </a:r>
                <a:r>
                  <a:rPr lang="en-AU" sz="2600" dirty="0">
                    <a:solidFill>
                      <a:srgbClr val="0000FF"/>
                    </a:solidFill>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as point estimates of the mean </a:t>
                </a:r>
                <a:r>
                  <a:rPr lang="en-AU" sz="2600" i="1"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AU" sz="2600" dirty="0">
                    <a:solidFill>
                      <a:srgbClr val="0000FF"/>
                    </a:solidFill>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and</a:t>
                </a:r>
                <a:r>
                  <a:rPr lang="en-AU" sz="2600" dirty="0">
                    <a:solidFill>
                      <a:srgbClr val="0000FF"/>
                    </a:solidFill>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the standard deviation </a:t>
                </a:r>
                <a:r>
                  <a:rPr lang="en-AU" sz="2600" dirty="0">
                    <a:solidFill>
                      <a:srgbClr val="0000FF"/>
                    </a:solidFill>
                    <a:latin typeface="Times New Roman" panose="02020603050405020304" pitchFamily="18" charset="0"/>
                    <a:cs typeface="Times New Roman" panose="02020603050405020304" pitchFamily="18" charset="0"/>
                    <a:sym typeface="Symbol" panose="05050102010706020507" pitchFamily="18" charset="2"/>
                  </a:rPr>
                  <a:t></a:t>
                </a:r>
                <a:r>
                  <a:rPr lang="en-AU" sz="2600" dirty="0">
                    <a:solidFill>
                      <a:srgbClr val="0000FF"/>
                    </a:solidFill>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of the population of all possible coffee temperatures, we wish to calculate the probability that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the temperature of a randomly selected cup of coffee, is outside the customer requirements for best-testing coffee (that is, less than 153°or greater than 167°). In order to compute the probability </a:t>
                </a:r>
                <a14:m>
                  <m:oMath xmlns:m="http://schemas.openxmlformats.org/officeDocument/2006/math">
                    <m:r>
                      <a:rPr lang="en-AU" sz="2600" b="0" i="1" smtClean="0">
                        <a:solidFill>
                          <a:srgbClr val="0000FF"/>
                        </a:solidFill>
                        <a:latin typeface="Cambria Math" panose="02040503050406030204" pitchFamily="18" charset="0"/>
                        <a:cs typeface="Times New Roman" panose="02020603050405020304" pitchFamily="18" charset="0"/>
                      </a:rPr>
                      <m:t>𝑃</m:t>
                    </m:r>
                    <m:r>
                      <a:rPr lang="en-AU" sz="2600" b="0" i="1" smtClean="0">
                        <a:solidFill>
                          <a:srgbClr val="0000FF"/>
                        </a:solidFill>
                        <a:latin typeface="Cambria Math" panose="02040503050406030204" pitchFamily="18" charset="0"/>
                        <a:cs typeface="Times New Roman" panose="02020603050405020304" pitchFamily="18" charset="0"/>
                      </a:rPr>
                      <m:t>(</m:t>
                    </m:r>
                    <m:r>
                      <a:rPr lang="en-AU" sz="2600" b="0" i="1" smtClean="0">
                        <a:solidFill>
                          <a:srgbClr val="0000FF"/>
                        </a:solidFill>
                        <a:latin typeface="Cambria Math" panose="02040503050406030204" pitchFamily="18" charset="0"/>
                        <a:cs typeface="Times New Roman" panose="02020603050405020304" pitchFamily="18" charset="0"/>
                      </a:rPr>
                      <m:t>𝑥</m:t>
                    </m:r>
                    <m:r>
                      <a:rPr lang="en-AU" sz="2600" b="0" i="1" smtClean="0">
                        <a:solidFill>
                          <a:srgbClr val="0000FF"/>
                        </a:solidFill>
                        <a:latin typeface="Cambria Math" panose="02040503050406030204" pitchFamily="18" charset="0"/>
                        <a:cs typeface="Times New Roman" panose="02020603050405020304" pitchFamily="18" charset="0"/>
                      </a:rPr>
                      <m:t>&lt;153 </m:t>
                    </m:r>
                  </m:oMath>
                </a14:m>
                <a:r>
                  <a:rPr lang="en-AU" sz="2600" dirty="0">
                    <a:solidFill>
                      <a:srgbClr val="0000FF"/>
                    </a:solidFill>
                    <a:latin typeface="Times New Roman" panose="02020603050405020304" pitchFamily="18" charset="0"/>
                    <a:cs typeface="Times New Roman" panose="02020603050405020304" pitchFamily="18" charset="0"/>
                  </a:rPr>
                  <a:t>or </a:t>
                </a:r>
                <a14:m>
                  <m:oMath xmlns:m="http://schemas.openxmlformats.org/officeDocument/2006/math">
                    <m:r>
                      <a:rPr lang="en-AU" sz="2600" b="0" i="1" smtClean="0">
                        <a:solidFill>
                          <a:srgbClr val="0000FF"/>
                        </a:solidFill>
                        <a:latin typeface="Cambria Math" panose="02040503050406030204" pitchFamily="18" charset="0"/>
                        <a:cs typeface="Times New Roman" panose="02020603050405020304" pitchFamily="18" charset="0"/>
                      </a:rPr>
                      <m:t>𝑥</m:t>
                    </m:r>
                    <m:r>
                      <a:rPr lang="en-AU" sz="2600" b="0" i="1" smtClean="0">
                        <a:solidFill>
                          <a:srgbClr val="0000FF"/>
                        </a:solidFill>
                        <a:latin typeface="Cambria Math" panose="02040503050406030204" pitchFamily="18" charset="0"/>
                        <a:cs typeface="Times New Roman" panose="02020603050405020304" pitchFamily="18" charset="0"/>
                      </a:rPr>
                      <m:t>&gt;167)</m:t>
                    </m:r>
                  </m:oMath>
                </a14:m>
                <a:r>
                  <a:rPr lang="en-AU" sz="2600" dirty="0">
                    <a:solidFill>
                      <a:srgbClr val="0000FF"/>
                    </a:solidFill>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A5866818-3CCB-D82D-9D86-FC708D1DDCD8}"/>
                  </a:ext>
                </a:extLst>
              </p:cNvPr>
              <p:cNvSpPr txBox="1">
                <a:spLocks noRot="1" noChangeAspect="1" noMove="1" noResize="1" noEditPoints="1" noAdjustHandles="1" noChangeArrowheads="1" noChangeShapeType="1" noTextEdit="1"/>
              </p:cNvSpPr>
              <p:nvPr/>
            </p:nvSpPr>
            <p:spPr bwMode="auto">
              <a:xfrm>
                <a:off x="149087" y="1013861"/>
                <a:ext cx="11837504" cy="4093428"/>
              </a:xfrm>
              <a:prstGeom prst="rect">
                <a:avLst/>
              </a:prstGeom>
              <a:blipFill>
                <a:blip r:embed="rId3"/>
                <a:stretch>
                  <a:fillRect l="-927" t="-1339" r="-927" b="-297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0678FE5E-6846-5003-2DC6-AB3094FE642B}"/>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69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4984078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45EB-7B9E-7755-36EE-E4FEF99D32E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CCBBE8A-5DF9-142D-EA78-B2D54319EFC2}"/>
              </a:ext>
            </a:extLst>
          </p:cNvPr>
          <p:cNvPicPr>
            <a:picLocks noChangeAspect="1"/>
          </p:cNvPicPr>
          <p:nvPr/>
        </p:nvPicPr>
        <p:blipFill>
          <a:blip r:embed="rId3"/>
          <a:stretch>
            <a:fillRect/>
          </a:stretch>
        </p:blipFill>
        <p:spPr>
          <a:xfrm>
            <a:off x="5960992" y="294491"/>
            <a:ext cx="6153150" cy="47244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D49097F-4F7D-686F-93AA-784F1CB66AC7}"/>
                  </a:ext>
                </a:extLst>
              </p:cNvPr>
              <p:cNvSpPr txBox="1"/>
              <p:nvPr/>
            </p:nvSpPr>
            <p:spPr>
              <a:xfrm>
                <a:off x="286164" y="176350"/>
                <a:ext cx="4693754" cy="61831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b="0" i="1" smtClean="0">
                          <a:solidFill>
                            <a:srgbClr val="0000FF"/>
                          </a:solidFill>
                          <a:effectLst/>
                          <a:latin typeface="Cambria Math" panose="02040503050406030204" pitchFamily="18" charset="0"/>
                        </a:rPr>
                        <m:t>𝑧</m:t>
                      </m:r>
                      <m:r>
                        <a:rPr lang="en-US" altLang="zh-CN" b="0" i="1" smtClean="0">
                          <a:solidFill>
                            <a:srgbClr val="0000FF"/>
                          </a:solidFill>
                          <a:effectLst/>
                          <a:latin typeface="Cambria Math" panose="02040503050406030204" pitchFamily="18" charset="0"/>
                        </a:rPr>
                        <m:t>=</m:t>
                      </m:r>
                      <m:f>
                        <m:fPr>
                          <m:ctrlPr>
                            <a:rPr lang="en-US" altLang="zh-CN" b="0" i="1" smtClean="0">
                              <a:solidFill>
                                <a:srgbClr val="0000FF"/>
                              </a:solidFill>
                              <a:effectLst/>
                              <a:latin typeface="Cambria Math" panose="02040503050406030204" pitchFamily="18" charset="0"/>
                            </a:rPr>
                          </m:ctrlPr>
                        </m:fPr>
                        <m:num>
                          <m:r>
                            <a:rPr lang="en-AU" altLang="zh-CN" b="0" i="1" smtClean="0">
                              <a:solidFill>
                                <a:srgbClr val="0000FF"/>
                              </a:solidFill>
                              <a:effectLst/>
                              <a:latin typeface="Cambria Math" panose="02040503050406030204" pitchFamily="18" charset="0"/>
                            </a:rPr>
                            <m:t>153−</m:t>
                          </m:r>
                          <m:r>
                            <a:rPr lang="en-AU" i="1">
                              <a:solidFill>
                                <a:srgbClr val="0000FF"/>
                              </a:solidFill>
                              <a:latin typeface="Cambria Math" panose="02040503050406030204" pitchFamily="18" charset="0"/>
                            </a:rPr>
                            <m:t>159.3958</m:t>
                          </m:r>
                        </m:num>
                        <m:den>
                          <m:r>
                            <a:rPr lang="en-AU" altLang="zh-CN" b="0" i="1" smtClean="0">
                              <a:solidFill>
                                <a:srgbClr val="0000FF"/>
                              </a:solidFill>
                              <a:effectLst/>
                              <a:latin typeface="Cambria Math" panose="02040503050406030204" pitchFamily="18" charset="0"/>
                              <a:ea typeface="Cambria Math" panose="02040503050406030204" pitchFamily="18" charset="0"/>
                            </a:rPr>
                            <m:t>6.4238</m:t>
                          </m:r>
                        </m:den>
                      </m:f>
                      <m:r>
                        <a:rPr lang="en-US" altLang="zh-CN" b="0" i="1" smtClean="0">
                          <a:solidFill>
                            <a:srgbClr val="0000FF"/>
                          </a:solidFill>
                          <a:effectLst/>
                          <a:latin typeface="Cambria Math" panose="02040503050406030204" pitchFamily="18" charset="0"/>
                        </a:rPr>
                        <m:t>=</m:t>
                      </m:r>
                      <m:r>
                        <a:rPr lang="en-AU" altLang="zh-CN" b="0" i="1" smtClean="0">
                          <a:solidFill>
                            <a:srgbClr val="0000FF"/>
                          </a:solidFill>
                          <a:effectLst/>
                          <a:latin typeface="Cambria Math" panose="02040503050406030204" pitchFamily="18" charset="0"/>
                        </a:rPr>
                        <m:t>−1.00</m:t>
                      </m:r>
                    </m:oMath>
                  </m:oMathPara>
                </a14:m>
                <a:endParaRPr lang="en-AU" dirty="0">
                  <a:solidFill>
                    <a:srgbClr val="0000FF"/>
                  </a:solidFill>
                </a:endParaRPr>
              </a:p>
            </p:txBody>
          </p:sp>
        </mc:Choice>
        <mc:Fallback xmlns="">
          <p:sp>
            <p:nvSpPr>
              <p:cNvPr id="8" name="TextBox 7">
                <a:extLst>
                  <a:ext uri="{FF2B5EF4-FFF2-40B4-BE49-F238E27FC236}">
                    <a16:creationId xmlns:a16="http://schemas.microsoft.com/office/drawing/2014/main" id="{8D49097F-4F7D-686F-93AA-784F1CB66AC7}"/>
                  </a:ext>
                </a:extLst>
              </p:cNvPr>
              <p:cNvSpPr txBox="1">
                <a:spLocks noRot="1" noChangeAspect="1" noMove="1" noResize="1" noEditPoints="1" noAdjustHandles="1" noChangeArrowheads="1" noChangeShapeType="1" noTextEdit="1"/>
              </p:cNvSpPr>
              <p:nvPr/>
            </p:nvSpPr>
            <p:spPr>
              <a:xfrm>
                <a:off x="286164" y="176350"/>
                <a:ext cx="4693754" cy="618311"/>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EEDB62-B09E-6F53-3E64-7C0C5BBB39A4}"/>
                  </a:ext>
                </a:extLst>
              </p:cNvPr>
              <p:cNvSpPr txBox="1"/>
              <p:nvPr/>
            </p:nvSpPr>
            <p:spPr>
              <a:xfrm>
                <a:off x="286164" y="970499"/>
                <a:ext cx="4693754" cy="61831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b="0" i="1" smtClean="0">
                          <a:solidFill>
                            <a:srgbClr val="0000FF"/>
                          </a:solidFill>
                          <a:effectLst/>
                          <a:latin typeface="Cambria Math" panose="02040503050406030204" pitchFamily="18" charset="0"/>
                        </a:rPr>
                        <m:t>𝑧</m:t>
                      </m:r>
                      <m:r>
                        <a:rPr lang="en-US" altLang="zh-CN" b="0" i="1" smtClean="0">
                          <a:solidFill>
                            <a:srgbClr val="0000FF"/>
                          </a:solidFill>
                          <a:effectLst/>
                          <a:latin typeface="Cambria Math" panose="02040503050406030204" pitchFamily="18" charset="0"/>
                        </a:rPr>
                        <m:t>=</m:t>
                      </m:r>
                      <m:f>
                        <m:fPr>
                          <m:ctrlPr>
                            <a:rPr lang="en-US" altLang="zh-CN" b="0" i="1" smtClean="0">
                              <a:solidFill>
                                <a:srgbClr val="0000FF"/>
                              </a:solidFill>
                              <a:effectLst/>
                              <a:latin typeface="Cambria Math" panose="02040503050406030204" pitchFamily="18" charset="0"/>
                            </a:rPr>
                          </m:ctrlPr>
                        </m:fPr>
                        <m:num>
                          <m:r>
                            <a:rPr lang="en-AU" altLang="zh-CN" b="0" i="1" smtClean="0">
                              <a:solidFill>
                                <a:srgbClr val="0000FF"/>
                              </a:solidFill>
                              <a:effectLst/>
                              <a:latin typeface="Cambria Math" panose="02040503050406030204" pitchFamily="18" charset="0"/>
                            </a:rPr>
                            <m:t>167−</m:t>
                          </m:r>
                          <m:r>
                            <a:rPr lang="en-AU" i="1">
                              <a:solidFill>
                                <a:srgbClr val="0000FF"/>
                              </a:solidFill>
                              <a:latin typeface="Cambria Math" panose="02040503050406030204" pitchFamily="18" charset="0"/>
                            </a:rPr>
                            <m:t>159.3958</m:t>
                          </m:r>
                        </m:num>
                        <m:den>
                          <m:r>
                            <a:rPr lang="en-AU" altLang="zh-CN" b="0" i="1" smtClean="0">
                              <a:solidFill>
                                <a:srgbClr val="0000FF"/>
                              </a:solidFill>
                              <a:effectLst/>
                              <a:latin typeface="Cambria Math" panose="02040503050406030204" pitchFamily="18" charset="0"/>
                              <a:ea typeface="Cambria Math" panose="02040503050406030204" pitchFamily="18" charset="0"/>
                            </a:rPr>
                            <m:t>6.4238</m:t>
                          </m:r>
                        </m:den>
                      </m:f>
                      <m:r>
                        <a:rPr lang="en-US" altLang="zh-CN" b="0" i="1" smtClean="0">
                          <a:solidFill>
                            <a:srgbClr val="0000FF"/>
                          </a:solidFill>
                          <a:effectLst/>
                          <a:latin typeface="Cambria Math" panose="02040503050406030204" pitchFamily="18" charset="0"/>
                        </a:rPr>
                        <m:t>=</m:t>
                      </m:r>
                      <m:r>
                        <a:rPr lang="en-AU" altLang="zh-CN" b="0" i="1" smtClean="0">
                          <a:solidFill>
                            <a:srgbClr val="0000FF"/>
                          </a:solidFill>
                          <a:effectLst/>
                          <a:latin typeface="Cambria Math" panose="02040503050406030204" pitchFamily="18" charset="0"/>
                        </a:rPr>
                        <m:t>1.18</m:t>
                      </m:r>
                    </m:oMath>
                  </m:oMathPara>
                </a14:m>
                <a:endParaRPr lang="en-AU" dirty="0">
                  <a:solidFill>
                    <a:srgbClr val="0000FF"/>
                  </a:solidFill>
                </a:endParaRPr>
              </a:p>
            </p:txBody>
          </p:sp>
        </mc:Choice>
        <mc:Fallback xmlns="">
          <p:sp>
            <p:nvSpPr>
              <p:cNvPr id="9" name="TextBox 8">
                <a:extLst>
                  <a:ext uri="{FF2B5EF4-FFF2-40B4-BE49-F238E27FC236}">
                    <a16:creationId xmlns:a16="http://schemas.microsoft.com/office/drawing/2014/main" id="{1AEEDB62-B09E-6F53-3E64-7C0C5BBB39A4}"/>
                  </a:ext>
                </a:extLst>
              </p:cNvPr>
              <p:cNvSpPr txBox="1">
                <a:spLocks noRot="1" noChangeAspect="1" noMove="1" noResize="1" noEditPoints="1" noAdjustHandles="1" noChangeArrowheads="1" noChangeShapeType="1" noTextEdit="1"/>
              </p:cNvSpPr>
              <p:nvPr/>
            </p:nvSpPr>
            <p:spPr>
              <a:xfrm>
                <a:off x="286164" y="970499"/>
                <a:ext cx="4693754" cy="61831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BAE3B90-C887-D1B4-CEF4-DE6ACD676F37}"/>
                  </a:ext>
                </a:extLst>
              </p:cNvPr>
              <p:cNvSpPr txBox="1"/>
              <p:nvPr/>
            </p:nvSpPr>
            <p:spPr>
              <a:xfrm>
                <a:off x="199198" y="1809583"/>
                <a:ext cx="5674828" cy="369332"/>
              </a:xfrm>
              <a:prstGeom prst="rect">
                <a:avLst/>
              </a:prstGeom>
              <a:noFill/>
            </p:spPr>
            <p:txBody>
              <a:bodyPr wrap="square">
                <a:spAutoFit/>
              </a:bodyPr>
              <a:lstStyle/>
              <a:p>
                <a14:m>
                  <m:oMath xmlns:m="http://schemas.openxmlformats.org/officeDocument/2006/math">
                    <m:r>
                      <a:rPr lang="en-AU" i="1" smtClean="0">
                        <a:solidFill>
                          <a:srgbClr val="0000FF"/>
                        </a:solidFill>
                        <a:latin typeface="Cambria Math" panose="02040503050406030204" pitchFamily="18" charset="0"/>
                        <a:cs typeface="Times New Roman" panose="02020603050405020304" pitchFamily="18" charset="0"/>
                      </a:rPr>
                      <m:t>𝑃</m:t>
                    </m:r>
                    <m:r>
                      <a:rPr lang="en-AU" i="1" smtClean="0">
                        <a:solidFill>
                          <a:srgbClr val="0000FF"/>
                        </a:solidFill>
                        <a:latin typeface="Cambria Math" panose="02040503050406030204" pitchFamily="18" charset="0"/>
                        <a:cs typeface="Times New Roman" panose="02020603050405020304" pitchFamily="18" charset="0"/>
                      </a:rPr>
                      <m:t>(</m:t>
                    </m:r>
                    <m:r>
                      <a:rPr lang="en-AU" i="1" smtClean="0">
                        <a:solidFill>
                          <a:srgbClr val="0000FF"/>
                        </a:solidFill>
                        <a:latin typeface="Cambria Math" panose="02040503050406030204" pitchFamily="18" charset="0"/>
                        <a:cs typeface="Times New Roman" panose="02020603050405020304" pitchFamily="18" charset="0"/>
                      </a:rPr>
                      <m:t>𝑥</m:t>
                    </m:r>
                    <m:r>
                      <a:rPr lang="en-AU" i="1" smtClean="0">
                        <a:solidFill>
                          <a:srgbClr val="0000FF"/>
                        </a:solidFill>
                        <a:latin typeface="Cambria Math" panose="02040503050406030204" pitchFamily="18" charset="0"/>
                        <a:cs typeface="Times New Roman" panose="02020603050405020304" pitchFamily="18" charset="0"/>
                      </a:rPr>
                      <m:t>&lt;153 </m:t>
                    </m:r>
                  </m:oMath>
                </a14:m>
                <a:r>
                  <a:rPr lang="en-AU" dirty="0">
                    <a:solidFill>
                      <a:srgbClr val="0000FF"/>
                    </a:solidFill>
                    <a:latin typeface="Times New Roman" panose="02020603050405020304" pitchFamily="18" charset="0"/>
                    <a:cs typeface="Times New Roman" panose="02020603050405020304" pitchFamily="18" charset="0"/>
                  </a:rPr>
                  <a:t>or </a:t>
                </a:r>
                <a14:m>
                  <m:oMath xmlns:m="http://schemas.openxmlformats.org/officeDocument/2006/math">
                    <m:r>
                      <a:rPr lang="en-AU" i="1">
                        <a:solidFill>
                          <a:srgbClr val="0000FF"/>
                        </a:solidFill>
                        <a:latin typeface="Cambria Math" panose="02040503050406030204" pitchFamily="18" charset="0"/>
                        <a:cs typeface="Times New Roman" panose="02020603050405020304" pitchFamily="18" charset="0"/>
                      </a:rPr>
                      <m:t>𝑥</m:t>
                    </m:r>
                    <m:r>
                      <a:rPr lang="en-AU" i="1">
                        <a:solidFill>
                          <a:srgbClr val="0000FF"/>
                        </a:solidFill>
                        <a:latin typeface="Cambria Math" panose="02040503050406030204" pitchFamily="18" charset="0"/>
                        <a:cs typeface="Times New Roman" panose="02020603050405020304" pitchFamily="18" charset="0"/>
                      </a:rPr>
                      <m:t>&gt;167)=</m:t>
                    </m:r>
                    <m:r>
                      <a:rPr lang="en-AU" i="1">
                        <a:solidFill>
                          <a:srgbClr val="0000FF"/>
                        </a:solidFill>
                        <a:latin typeface="Cambria Math" panose="02040503050406030204" pitchFamily="18" charset="0"/>
                        <a:cs typeface="Times New Roman" panose="02020603050405020304" pitchFamily="18" charset="0"/>
                      </a:rPr>
                      <m:t>𝑃</m:t>
                    </m:r>
                    <m:d>
                      <m:dPr>
                        <m:ctrlPr>
                          <a:rPr lang="en-AU" i="1">
                            <a:solidFill>
                              <a:srgbClr val="0000FF"/>
                            </a:solidFill>
                            <a:latin typeface="Cambria Math" panose="02040503050406030204" pitchFamily="18" charset="0"/>
                            <a:cs typeface="Times New Roman" panose="02020603050405020304" pitchFamily="18" charset="0"/>
                          </a:rPr>
                        </m:ctrlPr>
                      </m:dPr>
                      <m:e>
                        <m:r>
                          <a:rPr lang="en-AU" i="1">
                            <a:solidFill>
                              <a:srgbClr val="0000FF"/>
                            </a:solidFill>
                            <a:latin typeface="Cambria Math" panose="02040503050406030204" pitchFamily="18" charset="0"/>
                            <a:cs typeface="Times New Roman" panose="02020603050405020304" pitchFamily="18" charset="0"/>
                          </a:rPr>
                          <m:t>𝑥</m:t>
                        </m:r>
                        <m:r>
                          <a:rPr lang="en-AU" i="1">
                            <a:solidFill>
                              <a:srgbClr val="0000FF"/>
                            </a:solidFill>
                            <a:latin typeface="Cambria Math" panose="02040503050406030204" pitchFamily="18" charset="0"/>
                            <a:cs typeface="Times New Roman" panose="02020603050405020304" pitchFamily="18" charset="0"/>
                          </a:rPr>
                          <m:t>&lt;153</m:t>
                        </m:r>
                      </m:e>
                    </m:d>
                    <m:r>
                      <a:rPr lang="en-AU" b="0" i="1" smtClean="0">
                        <a:solidFill>
                          <a:srgbClr val="0000FF"/>
                        </a:solidFill>
                        <a:latin typeface="Cambria Math" panose="02040503050406030204" pitchFamily="18" charset="0"/>
                        <a:cs typeface="Times New Roman" panose="02020603050405020304" pitchFamily="18" charset="0"/>
                      </a:rPr>
                      <m:t>+</m:t>
                    </m:r>
                    <m:r>
                      <a:rPr lang="en-AU" b="0" i="1" smtClean="0">
                        <a:solidFill>
                          <a:srgbClr val="0000FF"/>
                        </a:solidFill>
                        <a:latin typeface="Cambria Math" panose="02040503050406030204" pitchFamily="18" charset="0"/>
                        <a:cs typeface="Times New Roman" panose="02020603050405020304" pitchFamily="18" charset="0"/>
                      </a:rPr>
                      <m:t>𝑃</m:t>
                    </m:r>
                    <m:r>
                      <a:rPr lang="en-AU" b="0" i="1" smtClean="0">
                        <a:solidFill>
                          <a:srgbClr val="0000FF"/>
                        </a:solidFill>
                        <a:latin typeface="Cambria Math" panose="02040503050406030204" pitchFamily="18" charset="0"/>
                        <a:cs typeface="Times New Roman" panose="02020603050405020304" pitchFamily="18" charset="0"/>
                      </a:rPr>
                      <m:t>(</m:t>
                    </m:r>
                    <m:r>
                      <a:rPr lang="en-AU" i="1">
                        <a:solidFill>
                          <a:srgbClr val="0000FF"/>
                        </a:solidFill>
                        <a:latin typeface="Cambria Math" panose="02040503050406030204" pitchFamily="18" charset="0"/>
                        <a:cs typeface="Times New Roman" panose="02020603050405020304" pitchFamily="18" charset="0"/>
                      </a:rPr>
                      <m:t>𝑥</m:t>
                    </m:r>
                    <m:r>
                      <a:rPr lang="en-AU" i="1">
                        <a:solidFill>
                          <a:srgbClr val="0000FF"/>
                        </a:solidFill>
                        <a:latin typeface="Cambria Math" panose="02040503050406030204" pitchFamily="18" charset="0"/>
                        <a:cs typeface="Times New Roman" panose="02020603050405020304" pitchFamily="18" charset="0"/>
                      </a:rPr>
                      <m:t>&gt;167)</m:t>
                    </m:r>
                  </m:oMath>
                </a14:m>
                <a:endParaRPr lang="en-AU" dirty="0"/>
              </a:p>
            </p:txBody>
          </p:sp>
        </mc:Choice>
        <mc:Fallback xmlns="">
          <p:sp>
            <p:nvSpPr>
              <p:cNvPr id="11" name="TextBox 10">
                <a:extLst>
                  <a:ext uri="{FF2B5EF4-FFF2-40B4-BE49-F238E27FC236}">
                    <a16:creationId xmlns:a16="http://schemas.microsoft.com/office/drawing/2014/main" id="{6BAE3B90-C887-D1B4-CEF4-DE6ACD676F37}"/>
                  </a:ext>
                </a:extLst>
              </p:cNvPr>
              <p:cNvSpPr txBox="1">
                <a:spLocks noRot="1" noChangeAspect="1" noMove="1" noResize="1" noEditPoints="1" noAdjustHandles="1" noChangeArrowheads="1" noChangeShapeType="1" noTextEdit="1"/>
              </p:cNvSpPr>
              <p:nvPr/>
            </p:nvSpPr>
            <p:spPr>
              <a:xfrm>
                <a:off x="199198" y="1809583"/>
                <a:ext cx="5674828" cy="369332"/>
              </a:xfrm>
              <a:prstGeom prst="rect">
                <a:avLst/>
              </a:prstGeom>
              <a:blipFill>
                <a:blip r:embed="rId6"/>
                <a:stretch>
                  <a:fillRect t="-11667" b="-2500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D37000A-D5FB-0970-9AAD-1E0989706A22}"/>
                  </a:ext>
                </a:extLst>
              </p:cNvPr>
              <p:cNvSpPr txBox="1"/>
              <p:nvPr/>
            </p:nvSpPr>
            <p:spPr>
              <a:xfrm>
                <a:off x="199198" y="2364255"/>
                <a:ext cx="4303228"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b="0" i="1" smtClean="0">
                          <a:solidFill>
                            <a:srgbClr val="0000FF"/>
                          </a:solidFill>
                          <a:latin typeface="Cambria Math" panose="02040503050406030204" pitchFamily="18" charset="0"/>
                          <a:cs typeface="Times New Roman" panose="02020603050405020304" pitchFamily="18" charset="0"/>
                        </a:rPr>
                        <m:t>=</m:t>
                      </m:r>
                      <m:r>
                        <a:rPr lang="en-AU" i="1">
                          <a:solidFill>
                            <a:srgbClr val="0000FF"/>
                          </a:solidFill>
                          <a:latin typeface="Cambria Math" panose="02040503050406030204" pitchFamily="18" charset="0"/>
                          <a:cs typeface="Times New Roman" panose="02020603050405020304" pitchFamily="18" charset="0"/>
                        </a:rPr>
                        <m:t>𝑃</m:t>
                      </m:r>
                      <m:d>
                        <m:dPr>
                          <m:ctrlPr>
                            <a:rPr lang="en-AU" i="1">
                              <a:solidFill>
                                <a:srgbClr val="0000FF"/>
                              </a:solidFill>
                              <a:latin typeface="Cambria Math" panose="02040503050406030204" pitchFamily="18" charset="0"/>
                              <a:cs typeface="Times New Roman" panose="02020603050405020304" pitchFamily="18" charset="0"/>
                            </a:rPr>
                          </m:ctrlPr>
                        </m:dPr>
                        <m:e>
                          <m:r>
                            <a:rPr lang="en-AU" b="0" i="1" smtClean="0">
                              <a:solidFill>
                                <a:srgbClr val="0000FF"/>
                              </a:solidFill>
                              <a:latin typeface="Cambria Math" panose="02040503050406030204" pitchFamily="18" charset="0"/>
                              <a:cs typeface="Times New Roman" panose="02020603050405020304" pitchFamily="18" charset="0"/>
                            </a:rPr>
                            <m:t>𝑧</m:t>
                          </m:r>
                          <m:r>
                            <a:rPr lang="en-AU" i="1">
                              <a:solidFill>
                                <a:srgbClr val="0000FF"/>
                              </a:solidFill>
                              <a:latin typeface="Cambria Math" panose="02040503050406030204" pitchFamily="18" charset="0"/>
                              <a:cs typeface="Times New Roman" panose="02020603050405020304" pitchFamily="18" charset="0"/>
                            </a:rPr>
                            <m:t>&lt;</m:t>
                          </m:r>
                          <m:r>
                            <a:rPr lang="en-AU" b="0" i="1" smtClean="0">
                              <a:solidFill>
                                <a:srgbClr val="0000FF"/>
                              </a:solidFill>
                              <a:latin typeface="Cambria Math" panose="02040503050406030204" pitchFamily="18" charset="0"/>
                              <a:cs typeface="Times New Roman" panose="02020603050405020304" pitchFamily="18" charset="0"/>
                            </a:rPr>
                            <m:t>−1.0</m:t>
                          </m:r>
                        </m:e>
                      </m:d>
                      <m:r>
                        <a:rPr lang="en-AU" b="0" i="1" smtClean="0">
                          <a:solidFill>
                            <a:srgbClr val="0000FF"/>
                          </a:solidFill>
                          <a:latin typeface="Cambria Math" panose="02040503050406030204" pitchFamily="18" charset="0"/>
                          <a:cs typeface="Times New Roman" panose="02020603050405020304" pitchFamily="18" charset="0"/>
                        </a:rPr>
                        <m:t>+</m:t>
                      </m:r>
                      <m:r>
                        <a:rPr lang="en-AU" b="0" i="1" smtClean="0">
                          <a:solidFill>
                            <a:srgbClr val="0000FF"/>
                          </a:solidFill>
                          <a:latin typeface="Cambria Math" panose="02040503050406030204" pitchFamily="18" charset="0"/>
                          <a:cs typeface="Times New Roman" panose="02020603050405020304" pitchFamily="18" charset="0"/>
                        </a:rPr>
                        <m:t>𝑃</m:t>
                      </m:r>
                      <m:r>
                        <a:rPr lang="en-AU" b="0" i="1" smtClean="0">
                          <a:solidFill>
                            <a:srgbClr val="0000FF"/>
                          </a:solidFill>
                          <a:latin typeface="Cambria Math" panose="02040503050406030204" pitchFamily="18" charset="0"/>
                          <a:cs typeface="Times New Roman" panose="02020603050405020304" pitchFamily="18" charset="0"/>
                        </a:rPr>
                        <m:t>(</m:t>
                      </m:r>
                      <m:r>
                        <a:rPr lang="en-AU" b="0" i="1" smtClean="0">
                          <a:solidFill>
                            <a:srgbClr val="0000FF"/>
                          </a:solidFill>
                          <a:latin typeface="Cambria Math" panose="02040503050406030204" pitchFamily="18" charset="0"/>
                          <a:cs typeface="Times New Roman" panose="02020603050405020304" pitchFamily="18" charset="0"/>
                        </a:rPr>
                        <m:t>𝑧</m:t>
                      </m:r>
                      <m:r>
                        <a:rPr lang="en-AU" i="1">
                          <a:solidFill>
                            <a:srgbClr val="0000FF"/>
                          </a:solidFill>
                          <a:latin typeface="Cambria Math" panose="02040503050406030204" pitchFamily="18" charset="0"/>
                          <a:cs typeface="Times New Roman" panose="02020603050405020304" pitchFamily="18" charset="0"/>
                        </a:rPr>
                        <m:t>&gt;</m:t>
                      </m:r>
                      <m:r>
                        <a:rPr lang="en-AU" b="0" i="1" smtClean="0">
                          <a:solidFill>
                            <a:srgbClr val="0000FF"/>
                          </a:solidFill>
                          <a:latin typeface="Cambria Math" panose="02040503050406030204" pitchFamily="18" charset="0"/>
                          <a:cs typeface="Times New Roman" panose="02020603050405020304" pitchFamily="18" charset="0"/>
                        </a:rPr>
                        <m:t>1.18</m:t>
                      </m:r>
                      <m:r>
                        <a:rPr lang="en-AU" i="1">
                          <a:solidFill>
                            <a:srgbClr val="0000FF"/>
                          </a:solidFill>
                          <a:latin typeface="Cambria Math" panose="02040503050406030204" pitchFamily="18" charset="0"/>
                          <a:cs typeface="Times New Roman" panose="02020603050405020304" pitchFamily="18" charset="0"/>
                        </a:rPr>
                        <m:t>)</m:t>
                      </m:r>
                    </m:oMath>
                  </m:oMathPara>
                </a14:m>
                <a:endParaRPr lang="en-AU" dirty="0"/>
              </a:p>
            </p:txBody>
          </p:sp>
        </mc:Choice>
        <mc:Fallback xmlns="">
          <p:sp>
            <p:nvSpPr>
              <p:cNvPr id="12" name="TextBox 11">
                <a:extLst>
                  <a:ext uri="{FF2B5EF4-FFF2-40B4-BE49-F238E27FC236}">
                    <a16:creationId xmlns:a16="http://schemas.microsoft.com/office/drawing/2014/main" id="{9D37000A-D5FB-0970-9AAD-1E0989706A22}"/>
                  </a:ext>
                </a:extLst>
              </p:cNvPr>
              <p:cNvSpPr txBox="1">
                <a:spLocks noRot="1" noChangeAspect="1" noMove="1" noResize="1" noEditPoints="1" noAdjustHandles="1" noChangeArrowheads="1" noChangeShapeType="1" noTextEdit="1"/>
              </p:cNvSpPr>
              <p:nvPr/>
            </p:nvSpPr>
            <p:spPr>
              <a:xfrm>
                <a:off x="199198" y="2364255"/>
                <a:ext cx="4303228" cy="369332"/>
              </a:xfrm>
              <a:prstGeom prst="rect">
                <a:avLst/>
              </a:prstGeom>
              <a:blipFill>
                <a:blip r:embed="rId7"/>
                <a:stretch>
                  <a:fillRect b="-1333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4DE0115-C675-FE02-AAB5-A7DE2F60D765}"/>
                  </a:ext>
                </a:extLst>
              </p:cNvPr>
              <p:cNvSpPr txBox="1"/>
              <p:nvPr/>
            </p:nvSpPr>
            <p:spPr>
              <a:xfrm>
                <a:off x="199198" y="3065163"/>
                <a:ext cx="4303228"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b="0" i="1" smtClean="0">
                          <a:solidFill>
                            <a:srgbClr val="0000FF"/>
                          </a:solidFill>
                          <a:latin typeface="Cambria Math" panose="02040503050406030204" pitchFamily="18" charset="0"/>
                          <a:cs typeface="Times New Roman" panose="02020603050405020304" pitchFamily="18" charset="0"/>
                        </a:rPr>
                        <m:t>=0.1587+0.1190=0.2777</m:t>
                      </m:r>
                    </m:oMath>
                  </m:oMathPara>
                </a14:m>
                <a:endParaRPr lang="en-AU" dirty="0"/>
              </a:p>
            </p:txBody>
          </p:sp>
        </mc:Choice>
        <mc:Fallback xmlns="">
          <p:sp>
            <p:nvSpPr>
              <p:cNvPr id="13" name="TextBox 12">
                <a:extLst>
                  <a:ext uri="{FF2B5EF4-FFF2-40B4-BE49-F238E27FC236}">
                    <a16:creationId xmlns:a16="http://schemas.microsoft.com/office/drawing/2014/main" id="{A4DE0115-C675-FE02-AAB5-A7DE2F60D765}"/>
                  </a:ext>
                </a:extLst>
              </p:cNvPr>
              <p:cNvSpPr txBox="1">
                <a:spLocks noRot="1" noChangeAspect="1" noMove="1" noResize="1" noEditPoints="1" noAdjustHandles="1" noChangeArrowheads="1" noChangeShapeType="1" noTextEdit="1"/>
              </p:cNvSpPr>
              <p:nvPr/>
            </p:nvSpPr>
            <p:spPr>
              <a:xfrm>
                <a:off x="199198" y="3065163"/>
                <a:ext cx="4303228" cy="369332"/>
              </a:xfrm>
              <a:prstGeom prst="rect">
                <a:avLst/>
              </a:prstGeom>
              <a:blipFill>
                <a:blip r:embed="rId8"/>
                <a:stretch>
                  <a:fillRect/>
                </a:stretch>
              </a:blipFill>
            </p:spPr>
            <p:txBody>
              <a:bodyPr/>
              <a:lstStyle/>
              <a:p>
                <a:r>
                  <a:rPr lang="en-AU">
                    <a:noFill/>
                  </a:rPr>
                  <a:t> </a:t>
                </a:r>
              </a:p>
            </p:txBody>
          </p:sp>
        </mc:Fallback>
      </mc:AlternateContent>
      <p:sp>
        <p:nvSpPr>
          <p:cNvPr id="15" name="TextBox 14">
            <a:extLst>
              <a:ext uri="{FF2B5EF4-FFF2-40B4-BE49-F238E27FC236}">
                <a16:creationId xmlns:a16="http://schemas.microsoft.com/office/drawing/2014/main" id="{6EDCE2CC-F41A-0350-5BAB-4360E6E28EA4}"/>
              </a:ext>
            </a:extLst>
          </p:cNvPr>
          <p:cNvSpPr txBox="1"/>
          <p:nvPr/>
        </p:nvSpPr>
        <p:spPr>
          <a:xfrm>
            <a:off x="286164" y="3723693"/>
            <a:ext cx="5587862" cy="2554545"/>
          </a:xfrm>
          <a:prstGeom prst="rect">
            <a:avLst/>
          </a:prstGeom>
          <a:noFill/>
        </p:spPr>
        <p:txBody>
          <a:bodyPr wrap="square">
            <a:spAutoFit/>
          </a:bodyPr>
          <a:lstStyle/>
          <a:p>
            <a:pPr algn="just"/>
            <a:r>
              <a:rPr lang="en-AU" sz="2000" dirty="0">
                <a:latin typeface="Times New Roman" panose="02020603050405020304" pitchFamily="18" charset="0"/>
                <a:cs typeface="Times New Roman" panose="02020603050405020304" pitchFamily="18" charset="0"/>
              </a:rPr>
              <a:t>This calculation is illustrated in Figure 6.18. The probability of 0.2777 implies that 27.77 percent of the coffee temperatures do not meet customer requirements and 72.23 percent of the coffee temperatures do meet these requirements. If management wishes a very high percentage of its coffee temperatures to meet customer requirements, the coffee-making process must be improved.</a:t>
            </a:r>
          </a:p>
        </p:txBody>
      </p:sp>
      <p:sp>
        <p:nvSpPr>
          <p:cNvPr id="2" name="灯片编号占位符 16">
            <a:extLst>
              <a:ext uri="{FF2B5EF4-FFF2-40B4-BE49-F238E27FC236}">
                <a16:creationId xmlns:a16="http://schemas.microsoft.com/office/drawing/2014/main" id="{10B19785-7D2C-6EC0-CDC8-9E2863FC999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300976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94FCB404-0AEF-E84E-8D40-C637D798DDDA}"/>
              </a:ext>
            </a:extLst>
          </p:cNvPr>
          <p:cNvSpPr>
            <a:spLocks noGrp="1" noChangeArrowheads="1"/>
          </p:cNvSpPr>
          <p:nvPr>
            <p:ph type="title"/>
          </p:nvPr>
        </p:nvSpPr>
        <p:spPr>
          <a:xfrm>
            <a:off x="295763" y="112754"/>
            <a:ext cx="7628613" cy="481976"/>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pPr eaLnBrk="1" hangingPunct="1"/>
            <a:r>
              <a:rPr lang="en-US" altLang="zh-CN" sz="2800" b="1" dirty="0">
                <a:solidFill>
                  <a:srgbClr val="0000FF"/>
                </a:solidFill>
                <a:latin typeface="Times New Roman" panose="02020603050405020304" pitchFamily="18" charset="0"/>
              </a:rPr>
              <a:t>Finding </a:t>
            </a:r>
            <a:r>
              <a:rPr lang="en-US" altLang="zh-CN" sz="2800" b="1" i="1" dirty="0">
                <a:solidFill>
                  <a:srgbClr val="0000FF"/>
                </a:solidFill>
                <a:latin typeface="Times New Roman" panose="02020603050405020304" pitchFamily="18" charset="0"/>
              </a:rPr>
              <a:t>z</a:t>
            </a:r>
            <a:r>
              <a:rPr lang="en-US" altLang="zh-CN" sz="2800" b="1" dirty="0">
                <a:solidFill>
                  <a:srgbClr val="0000FF"/>
                </a:solidFill>
                <a:latin typeface="Times New Roman" panose="02020603050405020304" pitchFamily="18" charset="0"/>
              </a:rPr>
              <a:t> Points on a Standard Normal Curve</a:t>
            </a:r>
          </a:p>
        </p:txBody>
      </p:sp>
      <p:pic>
        <p:nvPicPr>
          <p:cNvPr id="4" name="Picture 3">
            <a:extLst>
              <a:ext uri="{FF2B5EF4-FFF2-40B4-BE49-F238E27FC236}">
                <a16:creationId xmlns:a16="http://schemas.microsoft.com/office/drawing/2014/main" id="{7227D82D-5D8A-CD83-E9DA-9B63AED83E49}"/>
              </a:ext>
            </a:extLst>
          </p:cNvPr>
          <p:cNvPicPr>
            <a:picLocks noChangeAspect="1"/>
          </p:cNvPicPr>
          <p:nvPr/>
        </p:nvPicPr>
        <p:blipFill>
          <a:blip r:embed="rId3"/>
          <a:stretch>
            <a:fillRect/>
          </a:stretch>
        </p:blipFill>
        <p:spPr>
          <a:xfrm>
            <a:off x="3582726" y="874851"/>
            <a:ext cx="8365253" cy="530224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2FBABD-0458-B0D6-28D7-A635B01DBFBB}"/>
                  </a:ext>
                </a:extLst>
              </p:cNvPr>
              <p:cNvSpPr txBox="1"/>
              <p:nvPr/>
            </p:nvSpPr>
            <p:spPr>
              <a:xfrm>
                <a:off x="325176" y="1300519"/>
                <a:ext cx="3048828" cy="2677656"/>
              </a:xfrm>
              <a:prstGeom prst="rect">
                <a:avLst/>
              </a:prstGeom>
              <a:noFill/>
            </p:spPr>
            <p:txBody>
              <a:bodyPr wrap="square">
                <a:spAutoFit/>
              </a:bodyPr>
              <a:lstStyle/>
              <a:p>
                <a:pPr algn="just"/>
                <a:r>
                  <a:rPr lang="en-AU" sz="2400" dirty="0">
                    <a:latin typeface="Times New Roman" panose="02020603050405020304" pitchFamily="18" charset="0"/>
                    <a:cs typeface="Times New Roman" panose="02020603050405020304" pitchFamily="18" charset="0"/>
                  </a:rPr>
                  <a:t>In general, we let </a:t>
                </a:r>
                <a14:m>
                  <m:oMath xmlns:m="http://schemas.openxmlformats.org/officeDocument/2006/math">
                    <m:sSub>
                      <m:sSubPr>
                        <m:ctrlPr>
                          <a:rPr lang="en-AU" sz="2400" i="1" smtClean="0">
                            <a:solidFill>
                              <a:srgbClr val="FF0000"/>
                            </a:solidFill>
                            <a:latin typeface="Cambria Math" panose="02040503050406030204" pitchFamily="18" charset="0"/>
                            <a:cs typeface="Times New Roman" panose="02020603050405020304" pitchFamily="18" charset="0"/>
                          </a:rPr>
                        </m:ctrlPr>
                      </m:sSubPr>
                      <m:e>
                        <m:r>
                          <a:rPr lang="en-AU" sz="2400" b="0" i="1" smtClean="0">
                            <a:solidFill>
                              <a:srgbClr val="FF0000"/>
                            </a:solidFill>
                            <a:latin typeface="Cambria Math" panose="02040503050406030204" pitchFamily="18" charset="0"/>
                            <a:cs typeface="Times New Roman" panose="02020603050405020304" pitchFamily="18" charset="0"/>
                          </a:rPr>
                          <m:t>𝑧</m:t>
                        </m:r>
                      </m:e>
                      <m:sub>
                        <m:r>
                          <a:rPr lang="en-AU" sz="2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AU" sz="2400" dirty="0">
                    <a:latin typeface="Times New Roman" panose="02020603050405020304" pitchFamily="18" charset="0"/>
                    <a:cs typeface="Times New Roman" panose="02020603050405020304" pitchFamily="18" charset="0"/>
                  </a:rPr>
                  <a:t> denote the point on the horizontal axis under the standard normal curve that gives a r</a:t>
                </a:r>
                <a:r>
                  <a:rPr lang="en-AU" sz="2400" dirty="0">
                    <a:solidFill>
                      <a:srgbClr val="FF0000"/>
                    </a:solidFill>
                    <a:latin typeface="Times New Roman" panose="02020603050405020304" pitchFamily="18" charset="0"/>
                    <a:cs typeface="Times New Roman" panose="02020603050405020304" pitchFamily="18" charset="0"/>
                  </a:rPr>
                  <a:t>ight-hand</a:t>
                </a:r>
                <a:r>
                  <a:rPr lang="en-AU" sz="2400" dirty="0">
                    <a:latin typeface="Times New Roman" panose="02020603050405020304" pitchFamily="18" charset="0"/>
                    <a:cs typeface="Times New Roman" panose="02020603050405020304" pitchFamily="18" charset="0"/>
                  </a:rPr>
                  <a:t> tail </a:t>
                </a:r>
                <a:r>
                  <a:rPr lang="en-AU" sz="2400" dirty="0">
                    <a:solidFill>
                      <a:srgbClr val="FF0000"/>
                    </a:solidFill>
                    <a:latin typeface="Times New Roman" panose="02020603050405020304" pitchFamily="18" charset="0"/>
                    <a:cs typeface="Times New Roman" panose="02020603050405020304" pitchFamily="18" charset="0"/>
                  </a:rPr>
                  <a:t>area</a:t>
                </a:r>
                <a:r>
                  <a:rPr lang="en-AU" sz="2400" dirty="0">
                    <a:latin typeface="Times New Roman" panose="02020603050405020304" pitchFamily="18" charset="0"/>
                    <a:cs typeface="Times New Roman" panose="02020603050405020304" pitchFamily="18" charset="0"/>
                  </a:rPr>
                  <a:t> equal to </a:t>
                </a:r>
                <a14:m>
                  <m:oMath xmlns:m="http://schemas.openxmlformats.org/officeDocument/2006/math">
                    <m:r>
                      <a:rPr lang="en-AU" sz="2400" i="1" smtClean="0">
                        <a:latin typeface="Cambria Math" panose="02040503050406030204" pitchFamily="18" charset="0"/>
                        <a:ea typeface="Cambria Math" panose="02040503050406030204" pitchFamily="18" charset="0"/>
                        <a:cs typeface="Times New Roman" panose="02020603050405020304" pitchFamily="18" charset="0"/>
                      </a:rPr>
                      <m:t>𝛼</m:t>
                    </m:r>
                  </m:oMath>
                </a14:m>
                <a:r>
                  <a:rPr lang="en-AU" sz="2400" dirty="0">
                    <a:latin typeface="Times New Roman" panose="02020603050405020304" pitchFamily="18" charset="0"/>
                    <a:cs typeface="Times New Roman" panose="02020603050405020304" pitchFamily="18" charset="0"/>
                  </a:rPr>
                  <a:t>. </a:t>
                </a:r>
              </a:p>
            </p:txBody>
          </p:sp>
        </mc:Choice>
        <mc:Fallback xmlns="">
          <p:sp>
            <p:nvSpPr>
              <p:cNvPr id="3" name="TextBox 2">
                <a:extLst>
                  <a:ext uri="{FF2B5EF4-FFF2-40B4-BE49-F238E27FC236}">
                    <a16:creationId xmlns:a16="http://schemas.microsoft.com/office/drawing/2014/main" id="{D42FBABD-0458-B0D6-28D7-A635B01DBFBB}"/>
                  </a:ext>
                </a:extLst>
              </p:cNvPr>
              <p:cNvSpPr txBox="1">
                <a:spLocks noRot="1" noChangeAspect="1" noMove="1" noResize="1" noEditPoints="1" noAdjustHandles="1" noChangeArrowheads="1" noChangeShapeType="1" noTextEdit="1"/>
              </p:cNvSpPr>
              <p:nvPr/>
            </p:nvSpPr>
            <p:spPr>
              <a:xfrm>
                <a:off x="325176" y="1300519"/>
                <a:ext cx="3048828" cy="2677656"/>
              </a:xfrm>
              <a:prstGeom prst="rect">
                <a:avLst/>
              </a:prstGeom>
              <a:blipFill>
                <a:blip r:embed="rId4"/>
                <a:stretch>
                  <a:fillRect l="-3000" t="-1818" r="-3200" b="-4091"/>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3139636B-A5E0-0E68-7D65-4E0F42F3108D}"/>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659863-ABF7-0992-0F62-FC74511041CE}"/>
                  </a:ext>
                </a:extLst>
              </p:cNvPr>
              <p:cNvSpPr txBox="1"/>
              <p:nvPr/>
            </p:nvSpPr>
            <p:spPr>
              <a:xfrm>
                <a:off x="325176" y="4316333"/>
                <a:ext cx="3048828" cy="1200329"/>
              </a:xfrm>
              <a:prstGeom prst="rect">
                <a:avLst/>
              </a:prstGeom>
              <a:noFill/>
            </p:spPr>
            <p:txBody>
              <a:bodyPr wrap="square">
                <a:spAutoFit/>
              </a:bodyPr>
              <a:lstStyle/>
              <a:p>
                <a:pPr marL="342900" indent="-342900" algn="just">
                  <a:buFont typeface="Arial" panose="020B0604020202020204" pitchFamily="34" charset="0"/>
                  <a:buChar char="•"/>
                </a:pPr>
                <a14:m>
                  <m:oMath xmlns:m="http://schemas.openxmlformats.org/officeDocument/2006/math">
                    <m:sSub>
                      <m:sSubPr>
                        <m:ctrlPr>
                          <a:rPr lang="en-AU" sz="2400" i="1" smtClean="0">
                            <a:solidFill>
                              <a:srgbClr val="FF0000"/>
                            </a:solidFill>
                            <a:latin typeface="Cambria Math" panose="02040503050406030204" pitchFamily="18" charset="0"/>
                            <a:cs typeface="Times New Roman" panose="02020603050405020304" pitchFamily="18" charset="0"/>
                          </a:rPr>
                        </m:ctrlPr>
                      </m:sSubPr>
                      <m:e>
                        <m:r>
                          <a:rPr lang="en-AU" sz="2400" b="0" i="1" smtClean="0">
                            <a:solidFill>
                              <a:srgbClr val="FF0000"/>
                            </a:solidFill>
                            <a:latin typeface="Cambria Math" panose="02040503050406030204" pitchFamily="18" charset="0"/>
                            <a:cs typeface="Times New Roman" panose="02020603050405020304" pitchFamily="18" charset="0"/>
                          </a:rPr>
                          <m:t>𝑧</m:t>
                        </m:r>
                      </m:e>
                      <m:sub>
                        <m:r>
                          <a:rPr lang="en-AU" sz="24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AU" sz="2400" dirty="0">
                    <a:solidFill>
                      <a:srgbClr val="FF0000"/>
                    </a:solidFill>
                    <a:latin typeface="Times New Roman" panose="02020603050405020304" pitchFamily="18" charset="0"/>
                    <a:cs typeface="Times New Roman" panose="02020603050405020304" pitchFamily="18" charset="0"/>
                  </a:rPr>
                  <a:t> is a point,</a:t>
                </a:r>
              </a:p>
              <a:p>
                <a:pPr marL="342900" indent="-342900" algn="just">
                  <a:buFont typeface="Arial" panose="020B0604020202020204" pitchFamily="34" charset="0"/>
                  <a:buChar char="•"/>
                </a:pPr>
                <a14:m>
                  <m:oMath xmlns:m="http://schemas.openxmlformats.org/officeDocument/2006/math">
                    <m:r>
                      <a:rPr lang="en-AU" sz="2400" i="1" smtClean="0">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oMath>
                </a14:m>
                <a:r>
                  <a:rPr lang="en-AU" sz="2400" dirty="0">
                    <a:solidFill>
                      <a:srgbClr val="0000FF"/>
                    </a:solidFill>
                    <a:latin typeface="Times New Roman" panose="02020603050405020304" pitchFamily="18" charset="0"/>
                    <a:cs typeface="Times New Roman" panose="02020603050405020304" pitchFamily="18" charset="0"/>
                  </a:rPr>
                  <a:t> is the area on the right side of </a:t>
                </a:r>
                <a14:m>
                  <m:oMath xmlns:m="http://schemas.openxmlformats.org/officeDocument/2006/math">
                    <m:sSub>
                      <m:sSubPr>
                        <m:ctrlPr>
                          <a:rPr lang="en-AU" sz="2400" i="1">
                            <a:solidFill>
                              <a:srgbClr val="0000FF"/>
                            </a:solidFill>
                            <a:latin typeface="Cambria Math" panose="02040503050406030204" pitchFamily="18" charset="0"/>
                            <a:cs typeface="Times New Roman" panose="02020603050405020304" pitchFamily="18" charset="0"/>
                          </a:rPr>
                        </m:ctrlPr>
                      </m:sSubPr>
                      <m:e>
                        <m:r>
                          <a:rPr lang="en-AU" sz="2400" i="1">
                            <a:solidFill>
                              <a:srgbClr val="0000FF"/>
                            </a:solidFill>
                            <a:latin typeface="Cambria Math" panose="02040503050406030204" pitchFamily="18" charset="0"/>
                            <a:cs typeface="Times New Roman" panose="02020603050405020304" pitchFamily="18" charset="0"/>
                          </a:rPr>
                          <m:t>𝑧</m:t>
                        </m:r>
                      </m:e>
                      <m:sub>
                        <m:r>
                          <a:rPr lang="en-AU" sz="24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t>𝛼</m:t>
                        </m:r>
                      </m:sub>
                    </m:sSub>
                  </m:oMath>
                </a14:m>
                <a:r>
                  <a:rPr lang="en-AU" sz="2400" dirty="0">
                    <a:solidFill>
                      <a:srgbClr val="0000FF"/>
                    </a:solidFill>
                    <a:latin typeface="Times New Roman" panose="02020603050405020304" pitchFamily="18"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77659863-ABF7-0992-0F62-FC74511041CE}"/>
                  </a:ext>
                </a:extLst>
              </p:cNvPr>
              <p:cNvSpPr txBox="1">
                <a:spLocks noRot="1" noChangeAspect="1" noMove="1" noResize="1" noEditPoints="1" noAdjustHandles="1" noChangeArrowheads="1" noChangeShapeType="1" noTextEdit="1"/>
              </p:cNvSpPr>
              <p:nvPr/>
            </p:nvSpPr>
            <p:spPr>
              <a:xfrm>
                <a:off x="325176" y="4316333"/>
                <a:ext cx="3048828" cy="1200329"/>
              </a:xfrm>
              <a:prstGeom prst="rect">
                <a:avLst/>
              </a:prstGeom>
              <a:blipFill>
                <a:blip r:embed="rId5"/>
                <a:stretch>
                  <a:fillRect l="-2600" t="-4061" r="-3200" b="-10660"/>
                </a:stretch>
              </a:blipFill>
            </p:spPr>
            <p:txBody>
              <a:bodyPr/>
              <a:lstStyle/>
              <a:p>
                <a:r>
                  <a:rPr lang="en-AU">
                    <a:noFill/>
                  </a:rPr>
                  <a:t> </a:t>
                </a:r>
              </a:p>
            </p:txBody>
          </p:sp>
        </mc:Fallback>
      </mc:AlternateContent>
      <p:sp>
        <p:nvSpPr>
          <p:cNvPr id="6" name="TextBox 5">
            <a:extLst>
              <a:ext uri="{FF2B5EF4-FFF2-40B4-BE49-F238E27FC236}">
                <a16:creationId xmlns:a16="http://schemas.microsoft.com/office/drawing/2014/main" id="{429425BE-5244-8AD5-4DDD-0FA2F1F5E32B}"/>
              </a:ext>
            </a:extLst>
          </p:cNvPr>
          <p:cNvSpPr txBox="1"/>
          <p:nvPr/>
        </p:nvSpPr>
        <p:spPr>
          <a:xfrm>
            <a:off x="325176" y="5516662"/>
            <a:ext cx="3048828" cy="830997"/>
          </a:xfrm>
          <a:prstGeom prst="rect">
            <a:avLst/>
          </a:prstGeom>
          <a:noFill/>
        </p:spPr>
        <p:txBody>
          <a:bodyPr wrap="square">
            <a:spAutoFit/>
          </a:bodyPr>
          <a:lstStyle/>
          <a:p>
            <a:pPr marL="342900" indent="-342900" algn="just">
              <a:buFont typeface="Arial" panose="020B0604020202020204" pitchFamily="34" charset="0"/>
              <a:buChar char="•"/>
            </a:pPr>
            <a:r>
              <a:rPr lang="en-AU" sz="2400" dirty="0">
                <a:highlight>
                  <a:srgbClr val="FFFF00"/>
                </a:highlight>
                <a:latin typeface="Times New Roman" panose="02020603050405020304" pitchFamily="18" charset="0"/>
                <a:cs typeface="Times New Roman" panose="02020603050405020304" pitchFamily="18" charset="0"/>
              </a:rPr>
              <a:t>We will use this in Chapter 8.</a:t>
            </a:r>
          </a:p>
        </p:txBody>
      </p:sp>
    </p:spTree>
    <p:extLst>
      <p:ext uri="{BB962C8B-B14F-4D97-AF65-F5344CB8AC3E}">
        <p14:creationId xmlns:p14="http://schemas.microsoft.com/office/powerpoint/2010/main" val="1911154517"/>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F3FB-B22F-97FE-C3D7-01E6B60C9D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30A22D-E97C-3515-D6F7-67E8F45F6A98}"/>
              </a:ext>
            </a:extLst>
          </p:cNvPr>
          <p:cNvSpPr txBox="1"/>
          <p:nvPr/>
        </p:nvSpPr>
        <p:spPr>
          <a:xfrm>
            <a:off x="866302" y="272534"/>
            <a:ext cx="8436726"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Example 6.5 </a:t>
            </a:r>
            <a:r>
              <a:rPr lang="en-AU" sz="2800" b="1" dirty="0">
                <a:latin typeface="Times New Roman" panose="02020603050405020304" pitchFamily="18" charset="0"/>
                <a:cs typeface="Times New Roman" panose="02020603050405020304" pitchFamily="18" charset="0"/>
              </a:rPr>
              <a:t>The DVD Case: Managing Inventory</a:t>
            </a:r>
          </a:p>
        </p:txBody>
      </p:sp>
      <p:sp>
        <p:nvSpPr>
          <p:cNvPr id="3" name="Text Box 2">
            <a:extLst>
              <a:ext uri="{FF2B5EF4-FFF2-40B4-BE49-F238E27FC236}">
                <a16:creationId xmlns:a16="http://schemas.microsoft.com/office/drawing/2014/main" id="{10BA9003-D6D6-AED3-6489-483330CF2659}"/>
              </a:ext>
            </a:extLst>
          </p:cNvPr>
          <p:cNvSpPr txBox="1">
            <a:spLocks noChangeArrowheads="1"/>
          </p:cNvSpPr>
          <p:nvPr/>
        </p:nvSpPr>
        <p:spPr bwMode="auto">
          <a:xfrm>
            <a:off x="866302" y="1013861"/>
            <a:ext cx="11040776" cy="4487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marL="457200" indent="-457200" algn="just" eaLnBrk="0" hangingPunct="0">
              <a:spcBef>
                <a:spcPct val="30000"/>
              </a:spcBef>
              <a:buFont typeface="Arial" panose="020B0604020202020204" pitchFamily="34" charset="0"/>
              <a:buChar char="•"/>
              <a:defRPr/>
            </a:pPr>
            <a:r>
              <a:rPr lang="en-US" altLang="zh-CN" sz="2800" dirty="0">
                <a:latin typeface="Times New Roman" panose="02020603050405020304" pitchFamily="18" charset="0"/>
                <a:cs typeface="Times New Roman" panose="02020603050405020304" pitchFamily="18" charset="0"/>
              </a:rPr>
              <a:t>A large discount store sells DVD cases. </a:t>
            </a:r>
          </a:p>
          <a:p>
            <a:pPr marL="457200" indent="-457200" algn="just" eaLnBrk="0" hangingPunct="0">
              <a:spcBef>
                <a:spcPct val="30000"/>
              </a:spcBef>
              <a:buFont typeface="Arial" panose="020B0604020202020204" pitchFamily="34" charset="0"/>
              <a:buChar char="•"/>
              <a:defRPr/>
            </a:pPr>
            <a:r>
              <a:rPr lang="en-US" altLang="zh-CN" sz="2800" dirty="0">
                <a:latin typeface="Times New Roman" panose="02020603050405020304" pitchFamily="18" charset="0"/>
                <a:cs typeface="Times New Roman" panose="02020603050405020304" pitchFamily="18" charset="0"/>
              </a:rPr>
              <a:t>If the store keep too many DVD cases, the holding cost is high.</a:t>
            </a:r>
          </a:p>
          <a:p>
            <a:pPr marL="457200" indent="-457200" algn="just" eaLnBrk="0" hangingPunct="0">
              <a:spcBef>
                <a:spcPct val="30000"/>
              </a:spcBef>
              <a:buFont typeface="Arial" panose="020B0604020202020204" pitchFamily="34" charset="0"/>
              <a:buChar char="•"/>
              <a:defRPr/>
            </a:pPr>
            <a:r>
              <a:rPr lang="en-US" altLang="zh-CN" sz="2800" dirty="0">
                <a:latin typeface="Times New Roman" panose="02020603050405020304" pitchFamily="18" charset="0"/>
                <a:cs typeface="Times New Roman" panose="02020603050405020304" pitchFamily="18" charset="0"/>
              </a:rPr>
              <a:t>If the store keep too fewer DVD cases, they may be not enough to meet the demand of the customers.</a:t>
            </a:r>
          </a:p>
          <a:p>
            <a:pPr marL="457200" indent="-457200" algn="just" eaLnBrk="0" hangingPunct="0">
              <a:spcBef>
                <a:spcPct val="30000"/>
              </a:spcBef>
              <a:buFont typeface="Arial" panose="020B0604020202020204" pitchFamily="34" charset="0"/>
              <a:buChar char="•"/>
              <a:defRPr/>
            </a:pPr>
            <a:r>
              <a:rPr lang="en-US" altLang="zh-CN" sz="2800" dirty="0">
                <a:latin typeface="Times New Roman" panose="02020603050405020304" pitchFamily="18" charset="0"/>
                <a:cs typeface="Times New Roman" panose="02020603050405020304" pitchFamily="18" charset="0"/>
              </a:rPr>
              <a:t>The store manager wants to know how many DVD cases to keep (at the beginning of the week) so that there is only a 5 percent chance of “No enough DVD cases” during the week.</a:t>
            </a:r>
          </a:p>
          <a:p>
            <a:pPr marL="457200" indent="-457200" algn="just" eaLnBrk="0" hangingPunct="0">
              <a:spcBef>
                <a:spcPct val="30000"/>
              </a:spcBef>
              <a:buFont typeface="Arial" panose="020B0604020202020204" pitchFamily="34" charset="0"/>
              <a:buChar char="•"/>
              <a:defRPr/>
            </a:pPr>
            <a:r>
              <a:rPr lang="en-US" altLang="zh-CN" sz="2800" dirty="0">
                <a:latin typeface="Times New Roman" panose="02020603050405020304" pitchFamily="18" charset="0"/>
                <a:cs typeface="Times New Roman" panose="02020603050405020304" pitchFamily="18" charset="0"/>
              </a:rPr>
              <a:t>Known: the demand is normally distributed with </a:t>
            </a:r>
            <a:r>
              <a:rPr lang="en-US" altLang="zh-CN" sz="2800" i="1" dirty="0">
                <a:latin typeface="Times New Roman" panose="02020603050405020304" pitchFamily="18" charset="0"/>
                <a:cs typeface="Times New Roman" panose="02020603050405020304" pitchFamily="18" charset="0"/>
              </a:rPr>
              <a:t>m</a:t>
            </a:r>
            <a:r>
              <a:rPr lang="en-US" altLang="zh-CN" sz="2800" dirty="0">
                <a:latin typeface="Times New Roman" panose="02020603050405020304" pitchFamily="18" charset="0"/>
                <a:cs typeface="Times New Roman" panose="02020603050405020304" pitchFamily="18" charset="0"/>
              </a:rPr>
              <a:t> = 100 tapes and </a:t>
            </a:r>
            <a:r>
              <a:rPr lang="en-US" altLang="zh-CN" sz="2800" i="1" dirty="0">
                <a:latin typeface="Times New Roman" panose="02020603050405020304" pitchFamily="18" charset="0"/>
                <a:cs typeface="Times New Roman" panose="02020603050405020304" pitchFamily="18" charset="0"/>
              </a:rPr>
              <a:t>s</a:t>
            </a:r>
            <a:r>
              <a:rPr lang="en-US" altLang="zh-CN" sz="2800" dirty="0">
                <a:latin typeface="Times New Roman" panose="02020603050405020304" pitchFamily="18" charset="0"/>
                <a:cs typeface="Times New Roman" panose="02020603050405020304" pitchFamily="18" charset="0"/>
              </a:rPr>
              <a:t> = 10 tapes.</a:t>
            </a:r>
          </a:p>
        </p:txBody>
      </p:sp>
      <p:sp>
        <p:nvSpPr>
          <p:cNvPr id="4" name="灯片编号占位符 16">
            <a:extLst>
              <a:ext uri="{FF2B5EF4-FFF2-40B4-BE49-F238E27FC236}">
                <a16:creationId xmlns:a16="http://schemas.microsoft.com/office/drawing/2014/main" id="{D5FEAE48-B69B-D80E-0E96-31D8DDC54EA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28701858"/>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DFBDC-BACF-2B6C-8B73-73C5255723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4ECE94-BC0E-A7FE-5BFE-0C593B0254D9}"/>
              </a:ext>
            </a:extLst>
          </p:cNvPr>
          <p:cNvSpPr txBox="1"/>
          <p:nvPr/>
        </p:nvSpPr>
        <p:spPr>
          <a:xfrm>
            <a:off x="1306935" y="272534"/>
            <a:ext cx="4789065" cy="523220"/>
          </a:xfrm>
          <a:prstGeom prst="rect">
            <a:avLst/>
          </a:prstGeom>
          <a:noFill/>
        </p:spPr>
        <p:txBody>
          <a:bodyPr wrap="square">
            <a:spAutoFit/>
          </a:bodyPr>
          <a:lstStyle/>
          <a:p>
            <a:r>
              <a:rPr lang="en-AU" sz="2800" dirty="0">
                <a:solidFill>
                  <a:srgbClr val="0000FF"/>
                </a:solidFill>
                <a:latin typeface="Times New Roman" panose="02020603050405020304" pitchFamily="18" charset="0"/>
                <a:cs typeface="Times New Roman" panose="02020603050405020304" pitchFamily="18" charset="0"/>
              </a:rPr>
              <a:t>Checking the conditions</a:t>
            </a:r>
            <a:endParaRPr lang="en-AU" sz="2800" dirty="0">
              <a:latin typeface="Times New Roman" panose="02020603050405020304" pitchFamily="18" charset="0"/>
              <a:cs typeface="Times New Roman" panose="02020603050405020304" pitchFamily="18" charset="0"/>
            </a:endParaRPr>
          </a:p>
        </p:txBody>
      </p:sp>
      <p:sp>
        <p:nvSpPr>
          <p:cNvPr id="3" name="Text Box 2">
            <a:extLst>
              <a:ext uri="{FF2B5EF4-FFF2-40B4-BE49-F238E27FC236}">
                <a16:creationId xmlns:a16="http://schemas.microsoft.com/office/drawing/2014/main" id="{E1DD95B5-AD66-F306-194F-138445D5ABCC}"/>
              </a:ext>
            </a:extLst>
          </p:cNvPr>
          <p:cNvSpPr txBox="1">
            <a:spLocks noChangeArrowheads="1"/>
          </p:cNvSpPr>
          <p:nvPr/>
        </p:nvSpPr>
        <p:spPr bwMode="auto">
          <a:xfrm>
            <a:off x="1134657" y="1013861"/>
            <a:ext cx="10563700" cy="3065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lvl="1" algn="just" eaLnBrk="0" hangingPunct="0">
              <a:spcBef>
                <a:spcPct val="30000"/>
              </a:spcBef>
              <a:buFontTx/>
              <a:buChar char="•"/>
              <a:defRPr/>
            </a:pPr>
            <a:r>
              <a:rPr lang="en-US" altLang="zh-CN" sz="2800" dirty="0">
                <a:latin typeface="Times New Roman" panose="02020603050405020304" pitchFamily="18" charset="0"/>
                <a:cs typeface="Times New Roman" panose="02020603050405020304" pitchFamily="18" charset="0"/>
              </a:rPr>
              <a:t>Let </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be the random variable of weekly demand.</a:t>
            </a:r>
          </a:p>
          <a:p>
            <a:pPr lvl="1" algn="just" eaLnBrk="0" hangingPunct="0">
              <a:spcBef>
                <a:spcPct val="30000"/>
              </a:spcBef>
              <a:buFontTx/>
              <a:buChar char="•"/>
              <a:defRPr/>
            </a:pPr>
            <a:r>
              <a:rPr lang="en-US" altLang="zh-CN" sz="2800" dirty="0">
                <a:latin typeface="Times New Roman" panose="02020603050405020304" pitchFamily="18" charset="0"/>
                <a:cs typeface="Times New Roman" panose="02020603050405020304" pitchFamily="18" charset="0"/>
              </a:rPr>
              <a:t>Let </a:t>
            </a:r>
            <a:r>
              <a:rPr lang="en-US" altLang="zh-CN" sz="2800" i="1" dirty="0" err="1">
                <a:latin typeface="Times New Roman" panose="02020603050405020304" pitchFamily="18" charset="0"/>
                <a:cs typeface="Times New Roman" panose="02020603050405020304" pitchFamily="18" charset="0"/>
              </a:rPr>
              <a:t>st</a:t>
            </a:r>
            <a:r>
              <a:rPr lang="en-US" altLang="zh-CN" sz="2800" dirty="0">
                <a:latin typeface="Times New Roman" panose="02020603050405020304" pitchFamily="18" charset="0"/>
                <a:cs typeface="Times New Roman" panose="02020603050405020304" pitchFamily="18" charset="0"/>
              </a:rPr>
              <a:t> be the number of tapes so that there is only a 5% probability that weekly demand will exceed </a:t>
            </a:r>
            <a:r>
              <a:rPr lang="en-US" altLang="zh-CN" sz="2800" i="1" dirty="0" err="1">
                <a:latin typeface="Times New Roman" panose="02020603050405020304" pitchFamily="18" charset="0"/>
                <a:cs typeface="Times New Roman" panose="02020603050405020304" pitchFamily="18" charset="0"/>
              </a:rPr>
              <a:t>st.</a:t>
            </a:r>
            <a:endParaRPr lang="en-US" altLang="zh-CN" sz="2800" dirty="0">
              <a:latin typeface="Times New Roman" panose="02020603050405020304" pitchFamily="18" charset="0"/>
              <a:cs typeface="Times New Roman" panose="02020603050405020304" pitchFamily="18" charset="0"/>
            </a:endParaRPr>
          </a:p>
          <a:p>
            <a:pPr lvl="1" algn="just" eaLnBrk="0" hangingPunct="0">
              <a:spcBef>
                <a:spcPct val="30000"/>
              </a:spcBef>
              <a:buFontTx/>
              <a:buChar char="•"/>
              <a:defRPr/>
            </a:pPr>
            <a:r>
              <a:rPr lang="en-US" altLang="zh-CN" sz="2800" dirty="0">
                <a:latin typeface="Times New Roman" panose="02020603050405020304" pitchFamily="18" charset="0"/>
                <a:cs typeface="Times New Roman" panose="02020603050405020304" pitchFamily="18" charset="0"/>
              </a:rPr>
              <a:t>Want to find the value of </a:t>
            </a:r>
            <a:r>
              <a:rPr lang="en-US" altLang="zh-CN" sz="2800" i="1" dirty="0" err="1">
                <a:latin typeface="Times New Roman" panose="02020603050405020304" pitchFamily="18" charset="0"/>
                <a:cs typeface="Times New Roman" panose="02020603050405020304" pitchFamily="18" charset="0"/>
              </a:rPr>
              <a:t>st</a:t>
            </a:r>
            <a:r>
              <a:rPr lang="en-US" altLang="zh-CN" sz="2800" dirty="0">
                <a:latin typeface="Times New Roman" panose="02020603050405020304" pitchFamily="18" charset="0"/>
                <a:cs typeface="Times New Roman" panose="02020603050405020304" pitchFamily="18" charset="0"/>
              </a:rPr>
              <a:t> for </a:t>
            </a: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x</a:t>
            </a:r>
            <a:r>
              <a:rPr lang="en-US" altLang="zh-CN" sz="2800" dirty="0">
                <a:latin typeface="Times New Roman" panose="02020603050405020304" pitchFamily="18" charset="0"/>
                <a:cs typeface="Times New Roman" panose="02020603050405020304" pitchFamily="18" charset="0"/>
              </a:rPr>
              <a:t> ≥ </a:t>
            </a:r>
            <a:r>
              <a:rPr lang="en-US" altLang="zh-CN" sz="2800" i="1" dirty="0" err="1">
                <a:latin typeface="Times New Roman" panose="02020603050405020304" pitchFamily="18" charset="0"/>
                <a:cs typeface="Times New Roman" panose="02020603050405020304" pitchFamily="18" charset="0"/>
              </a:rPr>
              <a:t>st</a:t>
            </a:r>
            <a:r>
              <a:rPr lang="en-US" altLang="zh-CN" sz="2800" dirty="0">
                <a:latin typeface="Times New Roman" panose="02020603050405020304" pitchFamily="18" charset="0"/>
                <a:cs typeface="Times New Roman" panose="02020603050405020304" pitchFamily="18" charset="0"/>
              </a:rPr>
              <a:t>) = 0.05.</a:t>
            </a:r>
          </a:p>
          <a:p>
            <a:pPr lvl="1" algn="just" eaLnBrk="0" hangingPunct="0">
              <a:spcBef>
                <a:spcPct val="30000"/>
              </a:spcBef>
              <a:buFontTx/>
              <a:buChar char="•"/>
              <a:defRPr/>
            </a:pPr>
            <a:r>
              <a:rPr lang="en-US" altLang="zh-CN" sz="2800" dirty="0">
                <a:latin typeface="Times New Roman" panose="02020603050405020304" pitchFamily="18" charset="0"/>
                <a:cs typeface="Times New Roman" panose="02020603050405020304" pitchFamily="18" charset="0"/>
              </a:rPr>
              <a:t>Known: the demand is normally distributed with </a:t>
            </a:r>
            <a:r>
              <a:rPr lang="en-US" altLang="zh-CN" sz="2800" i="1" dirty="0">
                <a:latin typeface="Times New Roman" panose="02020603050405020304" pitchFamily="18" charset="0"/>
                <a:cs typeface="Times New Roman" panose="02020603050405020304" pitchFamily="18" charset="0"/>
              </a:rPr>
              <a:t>m</a:t>
            </a:r>
            <a:r>
              <a:rPr lang="en-US" altLang="zh-CN" sz="2800" dirty="0">
                <a:latin typeface="Times New Roman" panose="02020603050405020304" pitchFamily="18" charset="0"/>
                <a:cs typeface="Times New Roman" panose="02020603050405020304" pitchFamily="18" charset="0"/>
              </a:rPr>
              <a:t> = 100 tapes and </a:t>
            </a:r>
            <a:r>
              <a:rPr lang="en-US" altLang="zh-CN" sz="2800" i="1" dirty="0">
                <a:latin typeface="Times New Roman" panose="02020603050405020304" pitchFamily="18" charset="0"/>
                <a:cs typeface="Times New Roman" panose="02020603050405020304" pitchFamily="18" charset="0"/>
              </a:rPr>
              <a:t>s</a:t>
            </a:r>
            <a:r>
              <a:rPr lang="en-US" altLang="zh-CN" sz="2800" dirty="0">
                <a:latin typeface="Times New Roman" panose="02020603050405020304" pitchFamily="18" charset="0"/>
                <a:cs typeface="Times New Roman" panose="02020603050405020304" pitchFamily="18" charset="0"/>
              </a:rPr>
              <a:t> = 10 tapes.</a:t>
            </a:r>
          </a:p>
        </p:txBody>
      </p:sp>
      <p:sp>
        <p:nvSpPr>
          <p:cNvPr id="4" name="灯片编号占位符 16">
            <a:extLst>
              <a:ext uri="{FF2B5EF4-FFF2-40B4-BE49-F238E27FC236}">
                <a16:creationId xmlns:a16="http://schemas.microsoft.com/office/drawing/2014/main" id="{B148EF04-6713-4ED2-08A7-BFD4C3401D68}"/>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0924030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6E1D-FF89-A809-3D2B-FDF08A324D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F535556-0C39-8795-1BDF-DDE935D284DA}"/>
              </a:ext>
            </a:extLst>
          </p:cNvPr>
          <p:cNvPicPr>
            <a:picLocks noChangeAspect="1"/>
          </p:cNvPicPr>
          <p:nvPr/>
        </p:nvPicPr>
        <p:blipFill>
          <a:blip r:embed="rId3"/>
          <a:stretch>
            <a:fillRect/>
          </a:stretch>
        </p:blipFill>
        <p:spPr>
          <a:xfrm>
            <a:off x="1068377" y="547654"/>
            <a:ext cx="9937079" cy="5529504"/>
          </a:xfrm>
          <a:prstGeom prst="rect">
            <a:avLst/>
          </a:prstGeom>
        </p:spPr>
      </p:pic>
      <p:sp>
        <p:nvSpPr>
          <p:cNvPr id="2" name="灯片编号占位符 16">
            <a:extLst>
              <a:ext uri="{FF2B5EF4-FFF2-40B4-BE49-F238E27FC236}">
                <a16:creationId xmlns:a16="http://schemas.microsoft.com/office/drawing/2014/main" id="{3350D11E-C656-B597-2562-7440724EA08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84614580"/>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9E7EF-CCCC-06F5-2155-AF8D7B498B73}"/>
            </a:ext>
          </a:extLst>
        </p:cNvPr>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9C5070DC-B1F1-05ED-358F-0D5287C05DAD}"/>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5" name="Picture 4">
            <a:extLst>
              <a:ext uri="{FF2B5EF4-FFF2-40B4-BE49-F238E27FC236}">
                <a16:creationId xmlns:a16="http://schemas.microsoft.com/office/drawing/2014/main" id="{22241FD6-B92D-9262-1F47-E33F3E73CE1F}"/>
              </a:ext>
            </a:extLst>
          </p:cNvPr>
          <p:cNvPicPr>
            <a:picLocks noChangeAspect="1"/>
          </p:cNvPicPr>
          <p:nvPr/>
        </p:nvPicPr>
        <p:blipFill>
          <a:blip r:embed="rId3"/>
          <a:stretch>
            <a:fillRect/>
          </a:stretch>
        </p:blipFill>
        <p:spPr>
          <a:xfrm>
            <a:off x="656057" y="700351"/>
            <a:ext cx="11042300" cy="4675684"/>
          </a:xfrm>
          <a:prstGeom prst="rect">
            <a:avLst/>
          </a:prstGeom>
        </p:spPr>
      </p:pic>
    </p:spTree>
    <p:extLst>
      <p:ext uri="{BB962C8B-B14F-4D97-AF65-F5344CB8AC3E}">
        <p14:creationId xmlns:p14="http://schemas.microsoft.com/office/powerpoint/2010/main" val="3005127588"/>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a:extLst>
              <a:ext uri="{FF2B5EF4-FFF2-40B4-BE49-F238E27FC236}">
                <a16:creationId xmlns:a16="http://schemas.microsoft.com/office/drawing/2014/main" id="{7A9D2B98-4241-1F4A-841E-4856FED1FA18}"/>
              </a:ext>
            </a:extLst>
          </p:cNvPr>
          <p:cNvSpPr>
            <a:spLocks noGrp="1" noChangeArrowheads="1"/>
          </p:cNvSpPr>
          <p:nvPr>
            <p:ph type="title"/>
          </p:nvPr>
        </p:nvSpPr>
        <p:spPr>
          <a:xfrm>
            <a:off x="935314" y="260351"/>
            <a:ext cx="1807886" cy="475145"/>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Step  #1</a:t>
            </a:r>
          </a:p>
        </p:txBody>
      </p:sp>
      <mc:AlternateContent xmlns:mc="http://schemas.openxmlformats.org/markup-compatibility/2006">
        <mc:Choice xmlns:a14="http://schemas.microsoft.com/office/drawing/2010/main" Requires="a14">
          <p:sp>
            <p:nvSpPr>
              <p:cNvPr id="315395" name="Text Box 3">
                <a:extLst>
                  <a:ext uri="{FF2B5EF4-FFF2-40B4-BE49-F238E27FC236}">
                    <a16:creationId xmlns:a16="http://schemas.microsoft.com/office/drawing/2014/main" id="{FD051190-2318-4440-9AEE-87AB0487D08C}"/>
                  </a:ext>
                </a:extLst>
              </p:cNvPr>
              <p:cNvSpPr txBox="1">
                <a:spLocks noChangeArrowheads="1"/>
              </p:cNvSpPr>
              <p:nvPr/>
            </p:nvSpPr>
            <p:spPr bwMode="auto">
              <a:xfrm>
                <a:off x="935314" y="1018586"/>
                <a:ext cx="11039544" cy="406544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93700" indent="-393700">
                  <a:defRPr>
                    <a:solidFill>
                      <a:schemeClr val="tx1"/>
                    </a:solidFill>
                    <a:latin typeface="Arial" charset="0"/>
                    <a:ea typeface="宋体" pitchFamily="2" charset="-122"/>
                  </a:defRPr>
                </a:lvl1pPr>
                <a:lvl2pPr marL="860425" indent="-352425">
                  <a:defRPr>
                    <a:solidFill>
                      <a:schemeClr val="tx1"/>
                    </a:solidFill>
                    <a:latin typeface="Arial" charset="0"/>
                    <a:ea typeface="宋体" pitchFamily="2" charset="-122"/>
                  </a:defRPr>
                </a:lvl2pPr>
                <a:lvl3pPr marL="1028700">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eaLnBrk="0" hangingPunct="0">
                  <a:spcBef>
                    <a:spcPct val="25000"/>
                  </a:spcBef>
                  <a:buFontTx/>
                  <a:buChar char="•"/>
                  <a:defRPr/>
                </a:pPr>
                <a:r>
                  <a:rPr lang="en-US" altLang="zh-CN" sz="2800" dirty="0">
                    <a:effectLst/>
                    <a:latin typeface="Times New Roman" panose="02020603050405020304" pitchFamily="18" charset="0"/>
                    <a:cs typeface="Times New Roman" panose="02020603050405020304" pitchFamily="18" charset="0"/>
                  </a:rPr>
                  <a:t>Refer to the above figure.</a:t>
                </a:r>
              </a:p>
              <a:p>
                <a:pPr eaLnBrk="0" hangingPunct="0">
                  <a:spcBef>
                    <a:spcPct val="25000"/>
                  </a:spcBef>
                  <a:buFontTx/>
                  <a:buChar char="•"/>
                  <a:defRPr/>
                </a:pPr>
                <a:r>
                  <a:rPr lang="en-US" altLang="zh-CN" sz="2800" dirty="0">
                    <a:effectLst/>
                    <a:latin typeface="Times New Roman" panose="02020603050405020304" pitchFamily="18" charset="0"/>
                    <a:cs typeface="Times New Roman" panose="02020603050405020304" pitchFamily="18" charset="0"/>
                  </a:rPr>
                  <a:t>In panel (a), </a:t>
                </a:r>
                <a:r>
                  <a:rPr lang="en-US" altLang="zh-CN" sz="2800" i="1" dirty="0" err="1">
                    <a:effectLst/>
                    <a:latin typeface="Times New Roman" panose="02020603050405020304" pitchFamily="18" charset="0"/>
                    <a:cs typeface="Times New Roman" panose="02020603050405020304" pitchFamily="18" charset="0"/>
                  </a:rPr>
                  <a:t>st</a:t>
                </a:r>
                <a:r>
                  <a:rPr lang="en-US" altLang="zh-CN" sz="2800" dirty="0">
                    <a:effectLst/>
                    <a:latin typeface="Times New Roman" panose="02020603050405020304" pitchFamily="18" charset="0"/>
                    <a:cs typeface="Times New Roman" panose="02020603050405020304" pitchFamily="18" charset="0"/>
                  </a:rPr>
                  <a:t> is located on the horizontal axis under the right-tail of the normal curve having mean </a:t>
                </a:r>
                <a:r>
                  <a:rPr lang="en-US" altLang="zh-CN" sz="2800" i="1" dirty="0">
                    <a:effectLst/>
                    <a:latin typeface="Times New Roman" panose="02020603050405020304" pitchFamily="18" charset="0"/>
                    <a:cs typeface="Times New Roman" panose="02020603050405020304" pitchFamily="18" charset="0"/>
                  </a:rPr>
                  <a:t>m</a:t>
                </a:r>
                <a:r>
                  <a:rPr lang="en-US" altLang="zh-CN" sz="2800" dirty="0">
                    <a:effectLst/>
                    <a:latin typeface="Times New Roman" panose="02020603050405020304" pitchFamily="18" charset="0"/>
                    <a:cs typeface="Times New Roman" panose="02020603050405020304" pitchFamily="18" charset="0"/>
                  </a:rPr>
                  <a:t> = 100 and standard deviation </a:t>
                </a:r>
                <a:r>
                  <a:rPr lang="en-US" altLang="zh-CN" sz="2800" i="1" dirty="0">
                    <a:effectLst/>
                    <a:latin typeface="Times New Roman" panose="02020603050405020304" pitchFamily="18" charset="0"/>
                    <a:cs typeface="Times New Roman" panose="02020603050405020304" pitchFamily="18" charset="0"/>
                  </a:rPr>
                  <a:t>s </a:t>
                </a:r>
                <a:r>
                  <a:rPr lang="en-US" altLang="zh-CN" sz="2800" dirty="0">
                    <a:effectLst/>
                    <a:latin typeface="Times New Roman" panose="02020603050405020304" pitchFamily="18" charset="0"/>
                    <a:cs typeface="Times New Roman" panose="02020603050405020304" pitchFamily="18" charset="0"/>
                  </a:rPr>
                  <a:t>= 10.</a:t>
                </a:r>
              </a:p>
              <a:p>
                <a:pPr eaLnBrk="0" hangingPunct="0">
                  <a:spcBef>
                    <a:spcPct val="25000"/>
                  </a:spcBef>
                  <a:buFontTx/>
                  <a:buChar char="•"/>
                  <a:defRPr/>
                </a:pPr>
                <a:r>
                  <a:rPr lang="en-US" altLang="zh-CN" sz="2800" dirty="0">
                    <a:effectLst/>
                    <a:latin typeface="Times New Roman" panose="02020603050405020304" pitchFamily="18" charset="0"/>
                    <a:cs typeface="Times New Roman" panose="02020603050405020304" pitchFamily="18" charset="0"/>
                  </a:rPr>
                  <a:t>The </a:t>
                </a:r>
                <a:r>
                  <a:rPr lang="en-US" altLang="zh-CN" sz="2800" i="1" dirty="0">
                    <a:effectLst/>
                    <a:latin typeface="Times New Roman" panose="02020603050405020304" pitchFamily="18" charset="0"/>
                    <a:cs typeface="Times New Roman" panose="02020603050405020304" pitchFamily="18" charset="0"/>
                  </a:rPr>
                  <a:t>z</a:t>
                </a:r>
                <a:r>
                  <a:rPr lang="en-US" altLang="zh-CN" sz="2800" dirty="0">
                    <a:effectLst/>
                    <a:latin typeface="Times New Roman" panose="02020603050405020304" pitchFamily="18" charset="0"/>
                    <a:cs typeface="Times New Roman" panose="02020603050405020304" pitchFamily="18" charset="0"/>
                  </a:rPr>
                  <a:t> value corresponding to </a:t>
                </a:r>
                <a:r>
                  <a:rPr lang="en-US" altLang="zh-CN" sz="2800" i="1" dirty="0" err="1">
                    <a:effectLst/>
                    <a:latin typeface="Times New Roman" panose="02020603050405020304" pitchFamily="18" charset="0"/>
                    <a:cs typeface="Times New Roman" panose="02020603050405020304" pitchFamily="18" charset="0"/>
                  </a:rPr>
                  <a:t>st</a:t>
                </a:r>
                <a:r>
                  <a:rPr lang="en-US" altLang="zh-CN" sz="2800" dirty="0">
                    <a:effectLst/>
                    <a:latin typeface="Times New Roman" panose="02020603050405020304" pitchFamily="18" charset="0"/>
                    <a:cs typeface="Times New Roman" panose="02020603050405020304" pitchFamily="18" charset="0"/>
                  </a:rPr>
                  <a:t> is </a:t>
                </a:r>
              </a:p>
              <a:p>
                <a:pPr marL="0" indent="0" eaLnBrk="0" hangingPunct="0">
                  <a:spcBef>
                    <a:spcPct val="35000"/>
                  </a:spcBef>
                  <a:spcAft>
                    <a:spcPct val="35000"/>
                  </a:spcAft>
                  <a:defRPr/>
                </a:pPr>
                <a:r>
                  <a:rPr lang="en-US" altLang="zh-CN" sz="2800" b="0" dirty="0">
                    <a:effectLst/>
                  </a:rPr>
                  <a:t>                                   </a:t>
                </a:r>
                <a14:m>
                  <m:oMath xmlns:m="http://schemas.openxmlformats.org/officeDocument/2006/math">
                    <m:r>
                      <a:rPr lang="en-AU" altLang="zh-CN" sz="2800" b="0" i="1" smtClean="0">
                        <a:effectLst/>
                        <a:latin typeface="Cambria Math" panose="02040503050406030204" pitchFamily="18" charset="0"/>
                      </a:rPr>
                      <m:t>𝑧</m:t>
                    </m:r>
                    <m:r>
                      <a:rPr lang="en-US" altLang="zh-CN" sz="2800" b="0" i="1" smtClean="0">
                        <a:effectLst/>
                        <a:latin typeface="Cambria Math" panose="02040503050406030204" pitchFamily="18" charset="0"/>
                      </a:rPr>
                      <m:t>=</m:t>
                    </m:r>
                    <m:f>
                      <m:fPr>
                        <m:ctrlPr>
                          <a:rPr lang="en-US" altLang="zh-CN" sz="2800" b="0" i="1" smtClean="0">
                            <a:effectLst/>
                            <a:latin typeface="Cambria Math" panose="02040503050406030204" pitchFamily="18" charset="0"/>
                          </a:rPr>
                        </m:ctrlPr>
                      </m:fPr>
                      <m:num>
                        <m:r>
                          <a:rPr lang="en-US" altLang="zh-CN" sz="2800" b="0" i="1" smtClean="0">
                            <a:effectLst/>
                            <a:latin typeface="Cambria Math" panose="02040503050406030204" pitchFamily="18" charset="0"/>
                          </a:rPr>
                          <m:t>𝑠𝑡</m:t>
                        </m:r>
                        <m:r>
                          <a:rPr lang="en-US" altLang="zh-CN" sz="2800" b="0" i="1" smtClean="0">
                            <a:effectLst/>
                            <a:latin typeface="Cambria Math" panose="02040503050406030204" pitchFamily="18" charset="0"/>
                          </a:rPr>
                          <m:t>−</m:t>
                        </m:r>
                        <m:r>
                          <a:rPr lang="en-US" altLang="zh-CN" sz="2800" b="0" i="1" smtClean="0">
                            <a:effectLst/>
                            <a:latin typeface="Cambria Math" panose="02040503050406030204" pitchFamily="18" charset="0"/>
                            <a:ea typeface="Cambria Math" panose="02040503050406030204" pitchFamily="18" charset="0"/>
                          </a:rPr>
                          <m:t>𝜇</m:t>
                        </m:r>
                      </m:num>
                      <m:den>
                        <m:r>
                          <a:rPr lang="en-US" altLang="zh-CN" sz="2800" b="0" i="1" smtClean="0">
                            <a:effectLst/>
                            <a:latin typeface="Cambria Math" panose="02040503050406030204" pitchFamily="18" charset="0"/>
                            <a:ea typeface="Cambria Math" panose="02040503050406030204" pitchFamily="18" charset="0"/>
                          </a:rPr>
                          <m:t>𝜎</m:t>
                        </m:r>
                      </m:den>
                    </m:f>
                    <m:r>
                      <a:rPr lang="en-US" altLang="zh-CN" sz="2800" b="0" i="1" smtClean="0">
                        <a:effectLst/>
                        <a:latin typeface="Cambria Math" panose="02040503050406030204" pitchFamily="18" charset="0"/>
                      </a:rPr>
                      <m:t>=</m:t>
                    </m:r>
                    <m:f>
                      <m:fPr>
                        <m:ctrlPr>
                          <a:rPr lang="en-US" altLang="zh-CN" sz="2800" b="0" i="1" smtClean="0">
                            <a:effectLst/>
                            <a:latin typeface="Cambria Math" panose="02040503050406030204" pitchFamily="18" charset="0"/>
                          </a:rPr>
                        </m:ctrlPr>
                      </m:fPr>
                      <m:num>
                        <m:r>
                          <a:rPr lang="en-US" altLang="zh-CN" sz="2800" b="0" i="1" smtClean="0">
                            <a:effectLst/>
                            <a:latin typeface="Cambria Math" panose="02040503050406030204" pitchFamily="18" charset="0"/>
                          </a:rPr>
                          <m:t>𝑠𝑡</m:t>
                        </m:r>
                        <m:r>
                          <a:rPr lang="en-US" altLang="zh-CN" sz="2800" b="0" i="1" smtClean="0">
                            <a:effectLst/>
                            <a:latin typeface="Cambria Math" panose="02040503050406030204" pitchFamily="18" charset="0"/>
                          </a:rPr>
                          <m:t>−100</m:t>
                        </m:r>
                      </m:num>
                      <m:den>
                        <m:r>
                          <a:rPr lang="en-US" altLang="zh-CN" sz="2800" b="0" i="1" smtClean="0">
                            <a:effectLst/>
                            <a:latin typeface="Cambria Math" panose="02040503050406030204" pitchFamily="18" charset="0"/>
                          </a:rPr>
                          <m:t>10</m:t>
                        </m:r>
                      </m:den>
                    </m:f>
                  </m:oMath>
                </a14:m>
                <a:endParaRPr lang="en-US" altLang="zh-CN" sz="2800" dirty="0">
                  <a:effectLst/>
                  <a:latin typeface="Times New Roman" panose="02020603050405020304" pitchFamily="18" charset="0"/>
                  <a:cs typeface="Times New Roman" panose="02020603050405020304" pitchFamily="18" charset="0"/>
                </a:endParaRPr>
              </a:p>
              <a:p>
                <a:pPr>
                  <a:spcBef>
                    <a:spcPct val="20000"/>
                  </a:spcBef>
                  <a:buClr>
                    <a:schemeClr val="tx1"/>
                  </a:buClr>
                  <a:buFontTx/>
                  <a:buChar char="•"/>
                  <a:defRPr/>
                </a:pPr>
                <a:r>
                  <a:rPr lang="en-US" altLang="zh-CN" sz="2800" dirty="0">
                    <a:effectLst/>
                    <a:latin typeface="Times New Roman" panose="02020603050405020304" pitchFamily="18" charset="0"/>
                    <a:cs typeface="Times New Roman" panose="02020603050405020304" pitchFamily="18" charset="0"/>
                  </a:rPr>
                  <a:t>In panel (b), the right-tail area is 0.05, so the cumulative area under the standard normal curve to </a:t>
                </a:r>
                <a:r>
                  <a:rPr lang="en-US" altLang="zh-CN" sz="2800" i="1" dirty="0">
                    <a:effectLst/>
                    <a:latin typeface="Times New Roman" panose="02020603050405020304" pitchFamily="18" charset="0"/>
                    <a:cs typeface="Times New Roman" panose="02020603050405020304" pitchFamily="18" charset="0"/>
                  </a:rPr>
                  <a:t>z</a:t>
                </a:r>
                <a:r>
                  <a:rPr lang="en-US" altLang="zh-CN" sz="2800" dirty="0">
                    <a:effectLst/>
                    <a:latin typeface="Times New Roman" panose="02020603050405020304" pitchFamily="18" charset="0"/>
                    <a:cs typeface="Times New Roman" panose="02020603050405020304" pitchFamily="18" charset="0"/>
                  </a:rPr>
                  <a:t> is 1 – 0.05 = 0.95.</a:t>
                </a:r>
              </a:p>
            </p:txBody>
          </p:sp>
        </mc:Choice>
        <mc:Fallback>
          <p:sp>
            <p:nvSpPr>
              <p:cNvPr id="315395" name="Text Box 3">
                <a:extLst>
                  <a:ext uri="{FF2B5EF4-FFF2-40B4-BE49-F238E27FC236}">
                    <a16:creationId xmlns:a16="http://schemas.microsoft.com/office/drawing/2014/main" id="{FD051190-2318-4440-9AEE-87AB0487D08C}"/>
                  </a:ext>
                </a:extLst>
              </p:cNvPr>
              <p:cNvSpPr txBox="1">
                <a:spLocks noRot="1" noChangeAspect="1" noMove="1" noResize="1" noEditPoints="1" noAdjustHandles="1" noChangeArrowheads="1" noChangeShapeType="1" noTextEdit="1"/>
              </p:cNvSpPr>
              <p:nvPr/>
            </p:nvSpPr>
            <p:spPr bwMode="auto">
              <a:xfrm>
                <a:off x="935314" y="1018586"/>
                <a:ext cx="11039544" cy="4065449"/>
              </a:xfrm>
              <a:prstGeom prst="rect">
                <a:avLst/>
              </a:prstGeom>
              <a:blipFill>
                <a:blip r:embed="rId3"/>
                <a:stretch>
                  <a:fillRect l="-994" t="-1499" r="-552" b="-209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86CCC1DE-78B6-FAC0-D7BC-F36AEB1F71AF}"/>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55667337"/>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3" name="Rectangle 3">
            <a:extLst>
              <a:ext uri="{FF2B5EF4-FFF2-40B4-BE49-F238E27FC236}">
                <a16:creationId xmlns:a16="http://schemas.microsoft.com/office/drawing/2014/main" id="{02F35481-F73C-A345-953C-55EC98C40AF6}"/>
              </a:ext>
            </a:extLst>
          </p:cNvPr>
          <p:cNvSpPr>
            <a:spLocks noGrp="1" noChangeArrowheads="1"/>
          </p:cNvSpPr>
          <p:nvPr>
            <p:ph type="body" sz="half" idx="1"/>
          </p:nvPr>
        </p:nvSpPr>
        <p:spPr>
          <a:xfrm>
            <a:off x="816046" y="815736"/>
            <a:ext cx="10841121" cy="2520949"/>
          </a:xfrm>
        </p:spPr>
        <p:txBody>
          <a:bodyPr>
            <a:noAutofit/>
          </a:bodyPr>
          <a:lstStyle/>
          <a:p>
            <a:pPr marL="0" indent="0" eaLnBrk="1" hangingPunct="1">
              <a:lnSpc>
                <a:spcPct val="95000"/>
              </a:lnSpc>
              <a:spcBef>
                <a:spcPct val="25000"/>
              </a:spcBef>
              <a:buNone/>
              <a:defRPr/>
            </a:pPr>
            <a:r>
              <a:rPr lang="en-US" altLang="zh-CN" dirty="0">
                <a:latin typeface="Times New Roman" pitchFamily="18" charset="0"/>
              </a:rPr>
              <a:t>Use the standard normal table (above table) to find the </a:t>
            </a:r>
            <a:r>
              <a:rPr lang="en-US" altLang="zh-CN" i="1" dirty="0">
                <a:latin typeface="Times New Roman" pitchFamily="18" charset="0"/>
              </a:rPr>
              <a:t>z</a:t>
            </a:r>
            <a:r>
              <a:rPr lang="en-US" altLang="zh-CN" dirty="0">
                <a:latin typeface="Times New Roman" pitchFamily="18" charset="0"/>
              </a:rPr>
              <a:t> value associated with a table entry of 0.95</a:t>
            </a:r>
          </a:p>
          <a:p>
            <a:pPr lvl="1" eaLnBrk="1" hangingPunct="1">
              <a:lnSpc>
                <a:spcPct val="95000"/>
              </a:lnSpc>
              <a:spcBef>
                <a:spcPct val="25000"/>
              </a:spcBef>
              <a:defRPr/>
            </a:pPr>
            <a:r>
              <a:rPr lang="en-US" altLang="zh-CN" sz="2800" dirty="0">
                <a:latin typeface="Times New Roman" pitchFamily="18" charset="0"/>
              </a:rPr>
              <a:t>But do not find 0.95; instead, find values that bracket 0.95</a:t>
            </a:r>
          </a:p>
          <a:p>
            <a:pPr lvl="1" eaLnBrk="1" hangingPunct="1">
              <a:lnSpc>
                <a:spcPct val="95000"/>
              </a:lnSpc>
              <a:spcBef>
                <a:spcPct val="25000"/>
              </a:spcBef>
              <a:defRPr/>
            </a:pPr>
            <a:r>
              <a:rPr lang="en-US" altLang="zh-CN" sz="2800" dirty="0">
                <a:latin typeface="Times New Roman" pitchFamily="18" charset="0"/>
              </a:rPr>
              <a:t>For a table entry of 0.9495, </a:t>
            </a:r>
            <a:r>
              <a:rPr lang="en-US" altLang="zh-CN" sz="2800" i="1" dirty="0">
                <a:latin typeface="Times New Roman" pitchFamily="18" charset="0"/>
              </a:rPr>
              <a:t>z</a:t>
            </a:r>
            <a:r>
              <a:rPr lang="en-US" altLang="zh-CN" sz="2800" dirty="0">
                <a:latin typeface="Times New Roman" pitchFamily="18" charset="0"/>
              </a:rPr>
              <a:t> = 1.64</a:t>
            </a:r>
          </a:p>
          <a:p>
            <a:pPr lvl="1" eaLnBrk="1" hangingPunct="1">
              <a:lnSpc>
                <a:spcPct val="95000"/>
              </a:lnSpc>
              <a:spcBef>
                <a:spcPct val="25000"/>
              </a:spcBef>
              <a:defRPr/>
            </a:pPr>
            <a:r>
              <a:rPr lang="en-US" altLang="zh-CN" sz="2800" dirty="0">
                <a:latin typeface="Times New Roman" pitchFamily="18" charset="0"/>
              </a:rPr>
              <a:t>For a table entry of 0.9505, </a:t>
            </a:r>
            <a:r>
              <a:rPr lang="en-US" altLang="zh-CN" sz="2800" i="1" dirty="0">
                <a:latin typeface="Times New Roman" pitchFamily="18" charset="0"/>
              </a:rPr>
              <a:t>z</a:t>
            </a:r>
            <a:r>
              <a:rPr lang="en-US" altLang="zh-CN" sz="2800" dirty="0">
                <a:latin typeface="Times New Roman" pitchFamily="18" charset="0"/>
              </a:rPr>
              <a:t> = 1.65</a:t>
            </a:r>
          </a:p>
          <a:p>
            <a:pPr lvl="1" eaLnBrk="1" hangingPunct="1">
              <a:lnSpc>
                <a:spcPct val="95000"/>
              </a:lnSpc>
              <a:spcBef>
                <a:spcPct val="25000"/>
              </a:spcBef>
              <a:defRPr/>
            </a:pPr>
            <a:r>
              <a:rPr lang="en-US" altLang="zh-CN" sz="2800" dirty="0">
                <a:latin typeface="Times New Roman" pitchFamily="18" charset="0"/>
              </a:rPr>
              <a:t>For an area of 0.95, use the </a:t>
            </a:r>
            <a:r>
              <a:rPr lang="en-US" altLang="zh-CN" sz="2800" i="1" dirty="0">
                <a:latin typeface="Times New Roman" pitchFamily="18" charset="0"/>
              </a:rPr>
              <a:t>z</a:t>
            </a:r>
            <a:r>
              <a:rPr lang="en-US" altLang="zh-CN" sz="2800" dirty="0">
                <a:latin typeface="Times New Roman" pitchFamily="18" charset="0"/>
              </a:rPr>
              <a:t> value midway between these.</a:t>
            </a:r>
          </a:p>
          <a:p>
            <a:pPr lvl="1" eaLnBrk="1" hangingPunct="1">
              <a:lnSpc>
                <a:spcPct val="95000"/>
              </a:lnSpc>
              <a:spcBef>
                <a:spcPct val="25000"/>
              </a:spcBef>
              <a:defRPr/>
            </a:pPr>
            <a:r>
              <a:rPr lang="en-US" altLang="zh-CN" sz="2800" dirty="0">
                <a:latin typeface="Times New Roman" pitchFamily="18" charset="0"/>
              </a:rPr>
              <a:t>So </a:t>
            </a:r>
            <a:r>
              <a:rPr lang="en-US" altLang="zh-CN" sz="2800" i="1" dirty="0">
                <a:latin typeface="Times New Roman" pitchFamily="18" charset="0"/>
              </a:rPr>
              <a:t>z</a:t>
            </a:r>
            <a:r>
              <a:rPr lang="en-US" altLang="zh-CN" sz="2800" dirty="0">
                <a:latin typeface="Times New Roman" pitchFamily="18" charset="0"/>
              </a:rPr>
              <a:t> = 1.645</a:t>
            </a:r>
          </a:p>
        </p:txBody>
      </p:sp>
      <p:sp>
        <p:nvSpPr>
          <p:cNvPr id="51206" name="Rectangle 5">
            <a:extLst>
              <a:ext uri="{FF2B5EF4-FFF2-40B4-BE49-F238E27FC236}">
                <a16:creationId xmlns:a16="http://schemas.microsoft.com/office/drawing/2014/main" id="{45E90909-3FF8-A845-9CEA-6E1DF3925793}"/>
              </a:ext>
            </a:extLst>
          </p:cNvPr>
          <p:cNvSpPr>
            <a:spLocks noChangeArrowheads="1"/>
          </p:cNvSpPr>
          <p:nvPr/>
        </p:nvSpPr>
        <p:spPr bwMode="auto">
          <a:xfrm>
            <a:off x="1056018" y="5345966"/>
            <a:ext cx="1084112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360363"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800" dirty="0">
                <a:latin typeface="Times New Roman" panose="02020603050405020304" pitchFamily="18" charset="0"/>
              </a:rPr>
              <a:t>    Solving for </a:t>
            </a:r>
            <a:r>
              <a:rPr lang="en-US" altLang="zh-CN" sz="2800" i="1" dirty="0">
                <a:latin typeface="Times New Roman" panose="02020603050405020304" pitchFamily="18" charset="0"/>
              </a:rPr>
              <a:t>s</a:t>
            </a:r>
            <a:r>
              <a:rPr lang="en-US" altLang="zh-CN" sz="2800" dirty="0">
                <a:latin typeface="Times New Roman" panose="02020603050405020304" pitchFamily="18" charset="0"/>
              </a:rPr>
              <a:t> gives </a:t>
            </a:r>
            <a:r>
              <a:rPr lang="en-US" altLang="zh-CN" sz="2800" i="1" dirty="0" err="1">
                <a:latin typeface="Times New Roman" panose="02020603050405020304" pitchFamily="18" charset="0"/>
              </a:rPr>
              <a:t>st</a:t>
            </a:r>
            <a:r>
              <a:rPr lang="en-US" altLang="zh-CN" sz="2800" dirty="0">
                <a:latin typeface="Times New Roman" panose="02020603050405020304" pitchFamily="18" charset="0"/>
              </a:rPr>
              <a:t> = 100 + (1.645 </a:t>
            </a:r>
            <a:r>
              <a:rPr lang="en-US" altLang="zh-CN" sz="2800" dirty="0">
                <a:latin typeface="Times New Roman" panose="02020603050405020304" pitchFamily="18" charset="0"/>
                <a:sym typeface="Symbol" pitchFamily="2" charset="2"/>
              </a:rPr>
              <a:t></a:t>
            </a:r>
            <a:r>
              <a:rPr lang="en-US" altLang="zh-CN" sz="2800" dirty="0">
                <a:latin typeface="Times New Roman" panose="02020603050405020304" pitchFamily="18" charset="0"/>
              </a:rPr>
              <a:t> 10) = 116.45.</a:t>
            </a:r>
          </a:p>
          <a:p>
            <a:pPr lvl="1" eaLnBrk="1" hangingPunct="1">
              <a:spcBef>
                <a:spcPct val="0"/>
              </a:spcBef>
              <a:buClrTx/>
              <a:buSzTx/>
              <a:buFontTx/>
              <a:buNone/>
            </a:pPr>
            <a:r>
              <a:rPr lang="en-US" altLang="zh-CN" sz="2800" dirty="0">
                <a:latin typeface="Times New Roman" panose="02020603050405020304" pitchFamily="18" charset="0"/>
              </a:rPr>
              <a:t>Rounding up, 117 tapes should be stocked so that the probability of running out will not be more than 5 percent.</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DB43420-F347-B94E-A27D-CA8B1A85F475}"/>
                  </a:ext>
                </a:extLst>
              </p:cNvPr>
              <p:cNvSpPr/>
              <p:nvPr/>
            </p:nvSpPr>
            <p:spPr>
              <a:xfrm>
                <a:off x="3408680" y="4525265"/>
                <a:ext cx="4154998" cy="704295"/>
              </a:xfrm>
              <a:prstGeom prst="rect">
                <a:avLst/>
              </a:prstGeom>
            </p:spPr>
            <p:txBody>
              <a:bodyPr wrap="square">
                <a:spAutoFit/>
              </a:bodyPr>
              <a:lstStyle/>
              <a:p>
                <a14:m>
                  <m:oMath xmlns:m="http://schemas.openxmlformats.org/officeDocument/2006/math">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𝑠𝑡</m:t>
                        </m:r>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𝜇</m:t>
                        </m:r>
                      </m:num>
                      <m:den>
                        <m:r>
                          <a:rPr lang="en-US" altLang="zh-CN" sz="2800" i="1">
                            <a:latin typeface="Cambria Math" panose="02040503050406030204" pitchFamily="18" charset="0"/>
                            <a:ea typeface="Cambria Math" panose="02040503050406030204" pitchFamily="18" charset="0"/>
                          </a:rPr>
                          <m:t>𝜎</m:t>
                        </m:r>
                      </m:den>
                    </m:f>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𝑠𝑡</m:t>
                        </m:r>
                        <m:r>
                          <a:rPr lang="en-US" altLang="zh-CN" sz="2800" i="1">
                            <a:latin typeface="Cambria Math" panose="02040503050406030204" pitchFamily="18" charset="0"/>
                          </a:rPr>
                          <m:t>−100</m:t>
                        </m:r>
                      </m:num>
                      <m:den>
                        <m:r>
                          <a:rPr lang="en-US" altLang="zh-CN" sz="2800" i="1">
                            <a:latin typeface="Cambria Math" panose="02040503050406030204" pitchFamily="18" charset="0"/>
                          </a:rPr>
                          <m:t>10</m:t>
                        </m:r>
                      </m:den>
                    </m:f>
                  </m:oMath>
                </a14:m>
                <a:r>
                  <a:rPr lang="en-US" altLang="zh-CN" sz="2800" dirty="0">
                    <a:latin typeface="Times New Roman" panose="02020603050405020304" pitchFamily="18" charset="0"/>
                    <a:cs typeface="Times New Roman" panose="02020603050405020304" pitchFamily="18" charset="0"/>
                  </a:rPr>
                  <a:t> =1.645</a:t>
                </a:r>
                <a:endParaRPr lang="zh-CN" altLang="en-US" sz="2800" dirty="0">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0DB43420-F347-B94E-A27D-CA8B1A85F475}"/>
                  </a:ext>
                </a:extLst>
              </p:cNvPr>
              <p:cNvSpPr>
                <a:spLocks noRot="1" noChangeAspect="1" noMove="1" noResize="1" noEditPoints="1" noAdjustHandles="1" noChangeArrowheads="1" noChangeShapeType="1" noTextEdit="1"/>
              </p:cNvSpPr>
              <p:nvPr/>
            </p:nvSpPr>
            <p:spPr>
              <a:xfrm>
                <a:off x="3408680" y="4525265"/>
                <a:ext cx="4154998" cy="704295"/>
              </a:xfrm>
              <a:prstGeom prst="rect">
                <a:avLst/>
              </a:prstGeom>
              <a:blipFill>
                <a:blip r:embed="rId2"/>
                <a:stretch>
                  <a:fillRect b="-9483"/>
                </a:stretch>
              </a:blipFill>
            </p:spPr>
            <p:txBody>
              <a:bodyPr/>
              <a:lstStyle/>
              <a:p>
                <a:r>
                  <a:rPr lang="en-AU">
                    <a:noFill/>
                  </a:rPr>
                  <a:t> </a:t>
                </a:r>
              </a:p>
            </p:txBody>
          </p:sp>
        </mc:Fallback>
      </mc:AlternateContent>
      <p:sp>
        <p:nvSpPr>
          <p:cNvPr id="7" name="Rectangle 2">
            <a:extLst>
              <a:ext uri="{FF2B5EF4-FFF2-40B4-BE49-F238E27FC236}">
                <a16:creationId xmlns:a16="http://schemas.microsoft.com/office/drawing/2014/main" id="{B71ACF7B-9AD9-42FE-4857-66A7271B5907}"/>
              </a:ext>
            </a:extLst>
          </p:cNvPr>
          <p:cNvSpPr>
            <a:spLocks noGrp="1" noChangeArrowheads="1"/>
          </p:cNvSpPr>
          <p:nvPr>
            <p:ph type="title"/>
          </p:nvPr>
        </p:nvSpPr>
        <p:spPr>
          <a:xfrm>
            <a:off x="816046" y="127039"/>
            <a:ext cx="1807886" cy="475145"/>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pPr eaLnBrk="1" hangingPunct="1"/>
            <a:r>
              <a:rPr lang="en-US" altLang="zh-CN" sz="2800" b="1" dirty="0">
                <a:solidFill>
                  <a:srgbClr val="0000FF"/>
                </a:solidFill>
                <a:latin typeface="Times New Roman" panose="02020603050405020304" pitchFamily="18" charset="0"/>
                <a:cs typeface="Times New Roman" panose="02020603050405020304" pitchFamily="18" charset="0"/>
              </a:rPr>
              <a:t>Step  #2</a:t>
            </a:r>
          </a:p>
        </p:txBody>
      </p:sp>
      <p:sp>
        <p:nvSpPr>
          <p:cNvPr id="3" name="灯片编号占位符 16">
            <a:extLst>
              <a:ext uri="{FF2B5EF4-FFF2-40B4-BE49-F238E27FC236}">
                <a16:creationId xmlns:a16="http://schemas.microsoft.com/office/drawing/2014/main" id="{D6507839-01F6-5B70-2903-822E3C7288F3}"/>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409663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a:extLst>
              <a:ext uri="{FF2B5EF4-FFF2-40B4-BE49-F238E27FC236}">
                <a16:creationId xmlns:a16="http://schemas.microsoft.com/office/drawing/2014/main" id="{F11C1099-7DE2-B64E-84C5-9138BC96DC2B}"/>
              </a:ext>
            </a:extLst>
          </p:cNvPr>
          <p:cNvSpPr>
            <a:spLocks noGrp="1" noChangeArrowheads="1"/>
          </p:cNvSpPr>
          <p:nvPr>
            <p:ph type="title"/>
          </p:nvPr>
        </p:nvSpPr>
        <p:spPr>
          <a:xfrm>
            <a:off x="838200" y="27195"/>
            <a:ext cx="4648200" cy="907083"/>
          </a:xfrm>
          <a:noFill/>
        </p:spPr>
        <p:txBody>
          <a:bodyPr>
            <a:normAutofit/>
          </a:bodyPr>
          <a:lstStyle/>
          <a:p>
            <a:pPr eaLnBrk="1" hangingPunct="1"/>
            <a:r>
              <a:rPr lang="en-US" altLang="zh-CN" sz="2800" b="1" dirty="0">
                <a:solidFill>
                  <a:srgbClr val="FF0000"/>
                </a:solidFill>
                <a:latin typeface="Times New Roman" panose="02020603050405020304" pitchFamily="18" charset="0"/>
                <a:cs typeface="Times New Roman" panose="02020603050405020304" pitchFamily="18" charset="0"/>
              </a:rPr>
              <a:t>Question (</a:t>
            </a:r>
            <a:r>
              <a:rPr lang="en-US" altLang="zh-CN" sz="2800" b="1" dirty="0">
                <a:solidFill>
                  <a:srgbClr val="FF0000"/>
                </a:solidFill>
                <a:highlight>
                  <a:srgbClr val="FFFF00"/>
                </a:highlight>
                <a:latin typeface="Times New Roman" panose="02020603050405020304" pitchFamily="18" charset="0"/>
                <a:cs typeface="Times New Roman" panose="02020603050405020304" pitchFamily="18" charset="0"/>
              </a:rPr>
              <a:t>if time permits</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a:t>
            </a:r>
          </a:p>
        </p:txBody>
      </p:sp>
      <p:sp>
        <p:nvSpPr>
          <p:cNvPr id="52228" name="Rectangle 3">
            <a:extLst>
              <a:ext uri="{FF2B5EF4-FFF2-40B4-BE49-F238E27FC236}">
                <a16:creationId xmlns:a16="http://schemas.microsoft.com/office/drawing/2014/main" id="{6D6004B5-517E-0D4B-A6AE-1A6121A04988}"/>
              </a:ext>
            </a:extLst>
          </p:cNvPr>
          <p:cNvSpPr>
            <a:spLocks noChangeArrowheads="1"/>
          </p:cNvSpPr>
          <p:nvPr/>
        </p:nvSpPr>
        <p:spPr bwMode="auto">
          <a:xfrm>
            <a:off x="1016000" y="1219200"/>
            <a:ext cx="10523330" cy="233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TW" sz="2800" dirty="0">
                <a:latin typeface="Times New Roman" panose="02020603050405020304" pitchFamily="18" charset="0"/>
                <a:ea typeface="PMingLiU" panose="02020500000000000000" pitchFamily="18" charset="-120"/>
              </a:rPr>
              <a:t>Suppose  </a:t>
            </a:r>
            <a:r>
              <a:rPr lang="en-US" altLang="zh-TW" sz="2800" i="1" dirty="0">
                <a:latin typeface="Times New Roman" panose="02020603050405020304" pitchFamily="18" charset="0"/>
                <a:ea typeface="PMingLiU" panose="02020500000000000000" pitchFamily="18" charset="-120"/>
              </a:rPr>
              <a:t>x</a:t>
            </a:r>
            <a:r>
              <a:rPr lang="en-US" altLang="zh-TW" sz="2800" dirty="0">
                <a:latin typeface="Times New Roman" panose="02020603050405020304" pitchFamily="18" charset="0"/>
                <a:ea typeface="PMingLiU" panose="02020500000000000000" pitchFamily="18" charset="-120"/>
              </a:rPr>
              <a:t>  is normal with mean 8.0 and standard deviation 5.0</a:t>
            </a:r>
            <a:endParaRPr lang="en-US" altLang="zh-CN" sz="2800" dirty="0">
              <a:latin typeface="Times New Roman" panose="02020603050405020304" pitchFamily="18" charset="0"/>
            </a:endParaRPr>
          </a:p>
          <a:p>
            <a:pPr>
              <a:spcBef>
                <a:spcPct val="0"/>
              </a:spcBef>
              <a:buClrTx/>
              <a:buSzTx/>
              <a:buFont typeface="Wingdings" pitchFamily="2" charset="2"/>
              <a:buChar char="Ø"/>
            </a:pPr>
            <a:r>
              <a:rPr lang="en-US" altLang="zh-CN" sz="2800" dirty="0">
                <a:latin typeface="Times New Roman" panose="02020603050405020304" pitchFamily="18" charset="0"/>
              </a:rPr>
              <a:t>      F</a:t>
            </a:r>
            <a:r>
              <a:rPr lang="en-US" altLang="zh-TW" sz="2800" dirty="0">
                <a:latin typeface="Times New Roman" panose="02020603050405020304" pitchFamily="18" charset="0"/>
                <a:ea typeface="PMingLiU" panose="02020500000000000000" pitchFamily="18" charset="-120"/>
              </a:rPr>
              <a:t>ind </a:t>
            </a:r>
            <a:r>
              <a:rPr lang="en-US" altLang="zh-TW" sz="2800" i="1" dirty="0">
                <a:latin typeface="Times New Roman" panose="02020603050405020304" pitchFamily="18" charset="0"/>
                <a:ea typeface="PMingLiU" panose="02020500000000000000" pitchFamily="18" charset="-120"/>
              </a:rPr>
              <a:t>P</a:t>
            </a:r>
            <a:r>
              <a:rPr lang="en-US" altLang="zh-TW" sz="2800" dirty="0">
                <a:latin typeface="Times New Roman" panose="02020603050405020304" pitchFamily="18" charset="0"/>
                <a:ea typeface="PMingLiU" panose="02020500000000000000" pitchFamily="18" charset="-120"/>
              </a:rPr>
              <a:t>(</a:t>
            </a:r>
            <a:r>
              <a:rPr lang="en-US" altLang="zh-TW" sz="2800" i="1" dirty="0">
                <a:latin typeface="Times New Roman" panose="02020603050405020304" pitchFamily="18" charset="0"/>
                <a:ea typeface="PMingLiU" panose="02020500000000000000" pitchFamily="18" charset="-120"/>
              </a:rPr>
              <a:t>x</a:t>
            </a:r>
            <a:r>
              <a:rPr lang="en-US" altLang="zh-TW" sz="2800" dirty="0">
                <a:latin typeface="Times New Roman" panose="02020603050405020304" pitchFamily="18" charset="0"/>
                <a:ea typeface="PMingLiU" panose="02020500000000000000" pitchFamily="18" charset="-120"/>
              </a:rPr>
              <a:t> &lt; 8.6)</a:t>
            </a:r>
            <a:endParaRPr lang="en-US" altLang="zh-CN" sz="2800" dirty="0">
              <a:latin typeface="Times New Roman" panose="02020603050405020304" pitchFamily="18" charset="0"/>
            </a:endParaRPr>
          </a:p>
          <a:p>
            <a:pPr>
              <a:spcBef>
                <a:spcPct val="0"/>
              </a:spcBef>
              <a:buClrTx/>
              <a:buSzTx/>
              <a:buFont typeface="Wingdings" pitchFamily="2" charset="2"/>
              <a:buChar char="Ø"/>
            </a:pPr>
            <a:r>
              <a:rPr lang="en-US" altLang="zh-CN" sz="2800" dirty="0">
                <a:latin typeface="Times New Roman" panose="02020603050405020304" pitchFamily="18" charset="0"/>
              </a:rPr>
              <a:t>      </a:t>
            </a:r>
            <a:r>
              <a:rPr lang="en-US" altLang="zh-TW" sz="2800" dirty="0">
                <a:latin typeface="Times New Roman" panose="02020603050405020304" pitchFamily="18" charset="0"/>
                <a:ea typeface="PMingLiU" panose="02020500000000000000" pitchFamily="18" charset="-120"/>
              </a:rPr>
              <a:t>Find </a:t>
            </a:r>
            <a:r>
              <a:rPr lang="en-US" altLang="zh-TW" sz="2800" i="1" dirty="0">
                <a:latin typeface="Times New Roman" panose="02020603050405020304" pitchFamily="18" charset="0"/>
                <a:ea typeface="PMingLiU" panose="02020500000000000000" pitchFamily="18" charset="-120"/>
              </a:rPr>
              <a:t>P</a:t>
            </a:r>
            <a:r>
              <a:rPr lang="en-US" altLang="zh-TW" sz="2800" dirty="0">
                <a:latin typeface="Times New Roman" panose="02020603050405020304" pitchFamily="18" charset="0"/>
                <a:ea typeface="PMingLiU" panose="02020500000000000000" pitchFamily="18" charset="-120"/>
              </a:rPr>
              <a:t>(8 &lt; </a:t>
            </a:r>
            <a:r>
              <a:rPr lang="en-US" altLang="zh-TW" sz="2800" i="1" dirty="0">
                <a:latin typeface="Times New Roman" panose="02020603050405020304" pitchFamily="18" charset="0"/>
                <a:ea typeface="PMingLiU" panose="02020500000000000000" pitchFamily="18" charset="-120"/>
              </a:rPr>
              <a:t>x</a:t>
            </a:r>
            <a:r>
              <a:rPr lang="en-US" altLang="zh-TW" sz="2800" dirty="0">
                <a:latin typeface="Times New Roman" panose="02020603050405020304" pitchFamily="18" charset="0"/>
                <a:ea typeface="PMingLiU" panose="02020500000000000000" pitchFamily="18" charset="-120"/>
              </a:rPr>
              <a:t> &lt; 8.6)</a:t>
            </a:r>
            <a:endParaRPr lang="en-US" altLang="zh-CN" sz="2800" dirty="0">
              <a:latin typeface="Times New Roman" panose="02020603050405020304" pitchFamily="18" charset="0"/>
            </a:endParaRPr>
          </a:p>
          <a:p>
            <a:pPr>
              <a:spcBef>
                <a:spcPct val="0"/>
              </a:spcBef>
              <a:buClrTx/>
              <a:buSzTx/>
              <a:buFont typeface="Wingdings" pitchFamily="2" charset="2"/>
              <a:buChar char="Ø"/>
            </a:pPr>
            <a:r>
              <a:rPr lang="en-US" altLang="zh-CN" sz="2800" dirty="0">
                <a:latin typeface="Times New Roman" panose="02020603050405020304" pitchFamily="18" charset="0"/>
              </a:rPr>
              <a:t>      </a:t>
            </a:r>
            <a:r>
              <a:rPr lang="en-US" altLang="zh-TW" sz="2800" dirty="0">
                <a:latin typeface="Times New Roman" panose="02020603050405020304" pitchFamily="18" charset="0"/>
                <a:ea typeface="PMingLiU" panose="02020500000000000000" pitchFamily="18" charset="-120"/>
              </a:rPr>
              <a:t>Find </a:t>
            </a:r>
            <a:r>
              <a:rPr lang="en-US" altLang="zh-TW" sz="2800" i="1" dirty="0">
                <a:latin typeface="Times New Roman" panose="02020603050405020304" pitchFamily="18" charset="0"/>
                <a:ea typeface="PMingLiU" panose="02020500000000000000" pitchFamily="18" charset="-120"/>
              </a:rPr>
              <a:t>P</a:t>
            </a:r>
            <a:r>
              <a:rPr lang="en-US" altLang="zh-TW" sz="2800" dirty="0">
                <a:latin typeface="Times New Roman" panose="02020603050405020304" pitchFamily="18" charset="0"/>
                <a:ea typeface="PMingLiU" panose="02020500000000000000" pitchFamily="18" charset="-120"/>
              </a:rPr>
              <a:t>(7.4 &lt; </a:t>
            </a:r>
            <a:r>
              <a:rPr lang="en-US" altLang="zh-TW" sz="2800" i="1" dirty="0">
                <a:latin typeface="Times New Roman" panose="02020603050405020304" pitchFamily="18" charset="0"/>
                <a:ea typeface="PMingLiU" panose="02020500000000000000" pitchFamily="18" charset="-120"/>
              </a:rPr>
              <a:t>x</a:t>
            </a:r>
            <a:r>
              <a:rPr lang="en-US" altLang="zh-TW" sz="2800" dirty="0">
                <a:latin typeface="Times New Roman" panose="02020603050405020304" pitchFamily="18" charset="0"/>
                <a:ea typeface="PMingLiU" panose="02020500000000000000" pitchFamily="18" charset="-120"/>
              </a:rPr>
              <a:t> &lt; 8)</a:t>
            </a:r>
            <a:endParaRPr lang="en-US" altLang="zh-CN" sz="2800" dirty="0">
              <a:latin typeface="Times New Roman" panose="02020603050405020304" pitchFamily="18" charset="0"/>
            </a:endParaRPr>
          </a:p>
          <a:p>
            <a:pPr eaLnBrk="1" hangingPunct="1">
              <a:buClr>
                <a:schemeClr val="folHlink"/>
              </a:buClr>
              <a:buSzTx/>
              <a:buFont typeface="Wingdings" pitchFamily="2" charset="2"/>
              <a:buChar char="Ø"/>
            </a:pPr>
            <a:r>
              <a:rPr lang="en-US" altLang="zh-CN" sz="2800" dirty="0">
                <a:latin typeface="Times New Roman" panose="02020603050405020304" pitchFamily="18" charset="0"/>
              </a:rPr>
              <a:t>      F</a:t>
            </a:r>
            <a:r>
              <a:rPr lang="en-US" altLang="zh-TW" sz="2800" dirty="0">
                <a:latin typeface="Times New Roman" panose="02020603050405020304" pitchFamily="18" charset="0"/>
                <a:ea typeface="PMingLiU" panose="02020500000000000000" pitchFamily="18" charset="-120"/>
              </a:rPr>
              <a:t>ind the </a:t>
            </a:r>
            <a:r>
              <a:rPr lang="en-US" altLang="zh-TW" sz="2800" i="1" dirty="0">
                <a:latin typeface="Times New Roman" panose="02020603050405020304" pitchFamily="18" charset="0"/>
                <a:ea typeface="PMingLiU" panose="02020500000000000000" pitchFamily="18" charset="-120"/>
              </a:rPr>
              <a:t>x</a:t>
            </a:r>
            <a:r>
              <a:rPr lang="en-US" altLang="zh-TW" sz="2800" dirty="0">
                <a:latin typeface="Times New Roman" panose="02020603050405020304" pitchFamily="18" charset="0"/>
                <a:ea typeface="PMingLiU" panose="02020500000000000000" pitchFamily="18" charset="-120"/>
              </a:rPr>
              <a:t> value so that only 20% of all values are below this </a:t>
            </a:r>
            <a:r>
              <a:rPr lang="en-US" altLang="zh-TW" sz="2800" i="1" dirty="0">
                <a:latin typeface="Times New Roman" panose="02020603050405020304" pitchFamily="18" charset="0"/>
                <a:ea typeface="PMingLiU" panose="02020500000000000000" pitchFamily="18" charset="-120"/>
              </a:rPr>
              <a:t>x.</a:t>
            </a:r>
            <a:endParaRPr lang="en-US" altLang="zh-TW" sz="2800" dirty="0">
              <a:latin typeface="Times New Roman" panose="02020603050405020304" pitchFamily="18" charset="0"/>
              <a:ea typeface="PMingLiU" panose="02020500000000000000" pitchFamily="18" charset="-12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09099CE-45D8-D0A3-6E6A-D83297CCC24A}"/>
                  </a:ext>
                </a:extLst>
              </p:cNvPr>
              <p:cNvSpPr txBox="1"/>
              <p:nvPr/>
            </p:nvSpPr>
            <p:spPr>
              <a:xfrm>
                <a:off x="1130575" y="3997942"/>
                <a:ext cx="5141015" cy="704295"/>
              </a:xfrm>
              <a:prstGeom prst="rect">
                <a:avLst/>
              </a:prstGeom>
              <a:noFill/>
            </p:spPr>
            <p:txBody>
              <a:bodyPr wrap="square">
                <a:spAutoFit/>
              </a:bodyPr>
              <a:lstStyle/>
              <a:p>
                <a:r>
                  <a:rPr lang="en-AU" altLang="zh-CN" sz="2800" b="1" dirty="0">
                    <a:solidFill>
                      <a:srgbClr val="0000FF"/>
                    </a:solidFill>
                    <a:effectLst/>
                    <a:latin typeface="Times New Roman" panose="02020603050405020304" pitchFamily="18" charset="0"/>
                    <a:cs typeface="Times New Roman" panose="02020603050405020304" pitchFamily="18" charset="0"/>
                  </a:rPr>
                  <a:t>Hint: </a:t>
                </a:r>
                <a14:m>
                  <m:oMath xmlns:m="http://schemas.openxmlformats.org/officeDocument/2006/math">
                    <m:r>
                      <a:rPr lang="en-AU" altLang="zh-CN" sz="2800" b="0" i="1" smtClean="0">
                        <a:solidFill>
                          <a:schemeClr val="tx1"/>
                        </a:solidFill>
                        <a:effectLst/>
                        <a:latin typeface="Cambria Math" panose="02040503050406030204" pitchFamily="18" charset="0"/>
                      </a:rPr>
                      <m:t>𝑧</m:t>
                    </m:r>
                    <m:r>
                      <a:rPr lang="en-US" altLang="zh-CN" sz="2800" b="0" i="1" smtClean="0">
                        <a:solidFill>
                          <a:schemeClr val="tx1"/>
                        </a:solidFill>
                        <a:effectLst/>
                        <a:latin typeface="Cambria Math" panose="02040503050406030204" pitchFamily="18" charset="0"/>
                      </a:rPr>
                      <m:t>=</m:t>
                    </m:r>
                    <m:f>
                      <m:fPr>
                        <m:ctrlPr>
                          <a:rPr lang="en-US" altLang="zh-CN" sz="2800" b="0" i="1" smtClean="0">
                            <a:solidFill>
                              <a:schemeClr val="tx1"/>
                            </a:solidFill>
                            <a:effectLst/>
                            <a:latin typeface="Cambria Math" panose="02040503050406030204" pitchFamily="18" charset="0"/>
                          </a:rPr>
                        </m:ctrlPr>
                      </m:fPr>
                      <m:num>
                        <m:r>
                          <a:rPr lang="en-AU" altLang="zh-CN" sz="2800" b="0" i="1" smtClean="0">
                            <a:solidFill>
                              <a:schemeClr val="tx1"/>
                            </a:solidFill>
                            <a:effectLst/>
                            <a:latin typeface="Cambria Math" panose="02040503050406030204" pitchFamily="18" charset="0"/>
                          </a:rPr>
                          <m:t>𝑥</m:t>
                        </m:r>
                        <m:r>
                          <a:rPr lang="en-US" altLang="zh-CN" sz="2800" b="0" i="1" smtClean="0">
                            <a:solidFill>
                              <a:schemeClr val="tx1"/>
                            </a:solidFill>
                            <a:effectLst/>
                            <a:latin typeface="Cambria Math" panose="02040503050406030204" pitchFamily="18" charset="0"/>
                          </a:rPr>
                          <m:t>−</m:t>
                        </m:r>
                        <m:r>
                          <a:rPr lang="en-US" altLang="zh-CN" sz="2800" b="0" i="1" smtClean="0">
                            <a:solidFill>
                              <a:schemeClr val="tx1"/>
                            </a:solidFill>
                            <a:effectLst/>
                            <a:latin typeface="Cambria Math" panose="02040503050406030204" pitchFamily="18" charset="0"/>
                            <a:ea typeface="Cambria Math" panose="02040503050406030204" pitchFamily="18" charset="0"/>
                          </a:rPr>
                          <m:t>𝜇</m:t>
                        </m:r>
                      </m:num>
                      <m:den>
                        <m:r>
                          <a:rPr lang="en-US" altLang="zh-CN" sz="2800" b="0" i="1" smtClean="0">
                            <a:solidFill>
                              <a:schemeClr val="tx1"/>
                            </a:solidFill>
                            <a:effectLst/>
                            <a:latin typeface="Cambria Math" panose="02040503050406030204" pitchFamily="18" charset="0"/>
                            <a:ea typeface="Cambria Math" panose="02040503050406030204" pitchFamily="18" charset="0"/>
                          </a:rPr>
                          <m:t>𝜎</m:t>
                        </m:r>
                      </m:den>
                    </m:f>
                    <m:r>
                      <a:rPr lang="en-US" altLang="zh-CN" sz="2800" b="0" i="1" smtClean="0">
                        <a:solidFill>
                          <a:schemeClr val="tx1"/>
                        </a:solidFill>
                        <a:effectLst/>
                        <a:latin typeface="Cambria Math" panose="02040503050406030204" pitchFamily="18" charset="0"/>
                      </a:rPr>
                      <m:t>=</m:t>
                    </m:r>
                    <m:f>
                      <m:fPr>
                        <m:ctrlPr>
                          <a:rPr lang="en-US" altLang="zh-CN" sz="2800" b="0" i="1" smtClean="0">
                            <a:solidFill>
                              <a:schemeClr val="tx1"/>
                            </a:solidFill>
                            <a:effectLst/>
                            <a:latin typeface="Cambria Math" panose="02040503050406030204" pitchFamily="18" charset="0"/>
                          </a:rPr>
                        </m:ctrlPr>
                      </m:fPr>
                      <m:num>
                        <m:r>
                          <a:rPr lang="en-AU" altLang="zh-CN" sz="2800" b="0" i="1" smtClean="0">
                            <a:solidFill>
                              <a:schemeClr val="tx1"/>
                            </a:solidFill>
                            <a:effectLst/>
                            <a:latin typeface="Cambria Math" panose="02040503050406030204" pitchFamily="18" charset="0"/>
                          </a:rPr>
                          <m:t>𝑥</m:t>
                        </m:r>
                        <m:r>
                          <a:rPr lang="en-US" altLang="zh-CN" sz="2800" b="0" i="1" smtClean="0">
                            <a:solidFill>
                              <a:schemeClr val="tx1"/>
                            </a:solidFill>
                            <a:effectLst/>
                            <a:latin typeface="Cambria Math" panose="02040503050406030204" pitchFamily="18" charset="0"/>
                          </a:rPr>
                          <m:t>−</m:t>
                        </m:r>
                        <m:r>
                          <a:rPr lang="en-AU" altLang="zh-CN" sz="2800" b="0" i="1" smtClean="0">
                            <a:solidFill>
                              <a:schemeClr val="tx1"/>
                            </a:solidFill>
                            <a:effectLst/>
                            <a:latin typeface="Cambria Math" panose="02040503050406030204" pitchFamily="18" charset="0"/>
                          </a:rPr>
                          <m:t>8.0</m:t>
                        </m:r>
                      </m:num>
                      <m:den>
                        <m:r>
                          <a:rPr lang="en-AU" altLang="zh-CN" sz="2800" b="0" i="1" smtClean="0">
                            <a:solidFill>
                              <a:schemeClr val="tx1"/>
                            </a:solidFill>
                            <a:effectLst/>
                            <a:latin typeface="Cambria Math" panose="02040503050406030204" pitchFamily="18" charset="0"/>
                          </a:rPr>
                          <m:t>5.0</m:t>
                        </m:r>
                      </m:den>
                    </m:f>
                  </m:oMath>
                </a14:m>
                <a:endParaRPr lang="en-AU" sz="2800" dirty="0">
                  <a:solidFill>
                    <a:srgbClr val="0000FF"/>
                  </a:solidFill>
                </a:endParaRPr>
              </a:p>
            </p:txBody>
          </p:sp>
        </mc:Choice>
        <mc:Fallback xmlns="">
          <p:sp>
            <p:nvSpPr>
              <p:cNvPr id="3" name="TextBox 2">
                <a:extLst>
                  <a:ext uri="{FF2B5EF4-FFF2-40B4-BE49-F238E27FC236}">
                    <a16:creationId xmlns:a16="http://schemas.microsoft.com/office/drawing/2014/main" id="{609099CE-45D8-D0A3-6E6A-D83297CCC24A}"/>
                  </a:ext>
                </a:extLst>
              </p:cNvPr>
              <p:cNvSpPr txBox="1">
                <a:spLocks noRot="1" noChangeAspect="1" noMove="1" noResize="1" noEditPoints="1" noAdjustHandles="1" noChangeArrowheads="1" noChangeShapeType="1" noTextEdit="1"/>
              </p:cNvSpPr>
              <p:nvPr/>
            </p:nvSpPr>
            <p:spPr>
              <a:xfrm>
                <a:off x="1130575" y="3997942"/>
                <a:ext cx="5141015" cy="704295"/>
              </a:xfrm>
              <a:prstGeom prst="rect">
                <a:avLst/>
              </a:prstGeom>
              <a:blipFill>
                <a:blip r:embed="rId2"/>
                <a:stretch>
                  <a:fillRect l="-2370" b="-10435"/>
                </a:stretch>
              </a:blipFill>
            </p:spPr>
            <p:txBody>
              <a:bodyPr/>
              <a:lstStyle/>
              <a:p>
                <a:r>
                  <a:rPr lang="en-AU">
                    <a:noFill/>
                  </a:rPr>
                  <a:t> </a:t>
                </a:r>
              </a:p>
            </p:txBody>
          </p:sp>
        </mc:Fallback>
      </mc:AlternateContent>
      <p:sp>
        <p:nvSpPr>
          <p:cNvPr id="2" name="灯片编号占位符 16">
            <a:extLst>
              <a:ext uri="{FF2B5EF4-FFF2-40B4-BE49-F238E27FC236}">
                <a16:creationId xmlns:a16="http://schemas.microsoft.com/office/drawing/2014/main" id="{932A8BB1-6F9C-8240-0C61-162D8657DB0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48431708"/>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a:extLst>
              <a:ext uri="{FF2B5EF4-FFF2-40B4-BE49-F238E27FC236}">
                <a16:creationId xmlns:a16="http://schemas.microsoft.com/office/drawing/2014/main" id="{470ADD42-BE51-B043-B63F-D00837AB97E8}"/>
              </a:ext>
            </a:extLst>
          </p:cNvPr>
          <p:cNvSpPr>
            <a:spLocks noGrp="1" noChangeArrowheads="1"/>
          </p:cNvSpPr>
          <p:nvPr>
            <p:ph type="title"/>
          </p:nvPr>
        </p:nvSpPr>
        <p:spPr>
          <a:xfrm>
            <a:off x="543064" y="276503"/>
            <a:ext cx="6181103" cy="483498"/>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Autofit/>
          </a:bodyPr>
          <a:lstStyle/>
          <a:p>
            <a:pPr eaLnBrk="1" hangingPunct="1"/>
            <a:r>
              <a:rPr lang="en-US" altLang="zh-CN" sz="3200" b="1" dirty="0">
                <a:solidFill>
                  <a:srgbClr val="0000FF"/>
                </a:solidFill>
                <a:latin typeface="Times New Roman" panose="02020603050405020304" pitchFamily="18" charset="0"/>
                <a:cs typeface="Times New Roman" panose="02020603050405020304" pitchFamily="18" charset="0"/>
              </a:rPr>
              <a:t>Finding a Tolerance Interval</a:t>
            </a:r>
          </a:p>
        </p:txBody>
      </p:sp>
      <p:sp>
        <p:nvSpPr>
          <p:cNvPr id="54276" name="Text Box 3">
            <a:extLst>
              <a:ext uri="{FF2B5EF4-FFF2-40B4-BE49-F238E27FC236}">
                <a16:creationId xmlns:a16="http://schemas.microsoft.com/office/drawing/2014/main" id="{FFB28CA5-189E-A14B-9788-D561D209DCBE}"/>
              </a:ext>
            </a:extLst>
          </p:cNvPr>
          <p:cNvSpPr txBox="1">
            <a:spLocks noChangeArrowheads="1"/>
          </p:cNvSpPr>
          <p:nvPr/>
        </p:nvSpPr>
        <p:spPr bwMode="auto">
          <a:xfrm>
            <a:off x="543064" y="1066802"/>
            <a:ext cx="1133419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accent1"/>
              </a:buClr>
              <a:buSzPct val="65000"/>
              <a:buFont typeface="Wingdings"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60000"/>
              <a:buFont typeface="Wingdings"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65000"/>
              <a:buFont typeface="Wingdings"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2800" dirty="0">
                <a:latin typeface="Times New Roman" panose="02020603050405020304" pitchFamily="18" charset="0"/>
              </a:rPr>
              <a:t>Finding a tolerance interval [</a:t>
            </a:r>
            <a:r>
              <a:rPr lang="en-US" altLang="zh-CN" sz="2800" i="1" dirty="0">
                <a:latin typeface="Times New Roman" panose="02020603050405020304" pitchFamily="18" charset="0"/>
                <a:sym typeface="Symbol" pitchFamily="2" charset="2"/>
              </a:rPr>
              <a:t></a:t>
            </a:r>
            <a:r>
              <a:rPr lang="en-US" altLang="zh-CN" sz="2800" dirty="0">
                <a:latin typeface="Times New Roman" panose="02020603050405020304" pitchFamily="18" charset="0"/>
                <a:sym typeface="Symbol" pitchFamily="2" charset="2"/>
              </a:rPr>
              <a:t>  </a:t>
            </a:r>
            <a:r>
              <a:rPr lang="en-US" altLang="zh-CN" sz="2800" i="1" dirty="0">
                <a:latin typeface="Times New Roman" panose="02020603050405020304" pitchFamily="18" charset="0"/>
                <a:sym typeface="Symbol" pitchFamily="2" charset="2"/>
              </a:rPr>
              <a:t>k</a:t>
            </a:r>
            <a:r>
              <a:rPr lang="en-US" altLang="zh-CN" sz="2800" dirty="0">
                <a:latin typeface="Times New Roman" panose="02020603050405020304" pitchFamily="18" charset="0"/>
                <a:sym typeface="Symbol" pitchFamily="2" charset="2"/>
              </a:rPr>
              <a:t>] that contains 99% of the measurements in a normal population</a:t>
            </a:r>
            <a:endParaRPr lang="en-US" altLang="zh-CN" sz="2800" dirty="0">
              <a:latin typeface="Times New Roman" panose="02020603050405020304" pitchFamily="18" charset="0"/>
            </a:endParaRPr>
          </a:p>
        </p:txBody>
      </p:sp>
      <p:pic>
        <p:nvPicPr>
          <p:cNvPr id="7" name="Picture 6">
            <a:extLst>
              <a:ext uri="{FF2B5EF4-FFF2-40B4-BE49-F238E27FC236}">
                <a16:creationId xmlns:a16="http://schemas.microsoft.com/office/drawing/2014/main" id="{C54118AD-9C02-BBF3-A4CD-C10631339F61}"/>
              </a:ext>
            </a:extLst>
          </p:cNvPr>
          <p:cNvPicPr>
            <a:picLocks noChangeAspect="1"/>
          </p:cNvPicPr>
          <p:nvPr/>
        </p:nvPicPr>
        <p:blipFill>
          <a:blip r:embed="rId3"/>
          <a:stretch>
            <a:fillRect/>
          </a:stretch>
        </p:blipFill>
        <p:spPr>
          <a:xfrm>
            <a:off x="665041" y="2275440"/>
            <a:ext cx="10772189" cy="3141387"/>
          </a:xfrm>
          <a:prstGeom prst="rect">
            <a:avLst/>
          </a:prstGeom>
        </p:spPr>
      </p:pic>
      <p:sp>
        <p:nvSpPr>
          <p:cNvPr id="2" name="灯片编号占位符 16">
            <a:extLst>
              <a:ext uri="{FF2B5EF4-FFF2-40B4-BE49-F238E27FC236}">
                <a16:creationId xmlns:a16="http://schemas.microsoft.com/office/drawing/2014/main" id="{B4FC5BC5-C73B-1D81-E436-DCDEBE3F103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79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007957"/>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9F58-FA95-3CD6-BE84-D3F5DD8C69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018013-D9CF-F0DE-9CCA-C9E9791A248F}"/>
              </a:ext>
            </a:extLst>
          </p:cNvPr>
          <p:cNvSpPr txBox="1"/>
          <p:nvPr/>
        </p:nvSpPr>
        <p:spPr>
          <a:xfrm>
            <a:off x="1134657" y="272534"/>
            <a:ext cx="6856403" cy="523220"/>
          </a:xfrm>
          <a:prstGeom prst="rect">
            <a:avLst/>
          </a:prstGeom>
          <a:noFill/>
        </p:spPr>
        <p:txBody>
          <a:bodyPr wrap="square">
            <a:spAutoFit/>
          </a:bodyPr>
          <a:lstStyle/>
          <a:p>
            <a:r>
              <a:rPr lang="en-AU" sz="2800" b="1" dirty="0">
                <a:solidFill>
                  <a:srgbClr val="FF0000"/>
                </a:solidFill>
                <a:latin typeface="Times New Roman" panose="02020603050405020304" pitchFamily="18" charset="0"/>
                <a:cs typeface="Times New Roman" panose="02020603050405020304" pitchFamily="18" charset="0"/>
              </a:rPr>
              <a:t>Example 6.6 </a:t>
            </a:r>
            <a:r>
              <a:rPr lang="en-AU" sz="2800" b="1" dirty="0">
                <a:latin typeface="Times New Roman" panose="02020603050405020304" pitchFamily="18" charset="0"/>
                <a:cs typeface="Times New Roman" panose="02020603050405020304" pitchFamily="18" charset="0"/>
              </a:rPr>
              <a:t>Setting A Guarantee Period</a:t>
            </a: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EE976AE4-A106-E531-9F4D-E523737B6D31}"/>
                  </a:ext>
                </a:extLst>
              </p:cNvPr>
              <p:cNvSpPr txBox="1">
                <a:spLocks noChangeArrowheads="1"/>
              </p:cNvSpPr>
              <p:nvPr/>
            </p:nvSpPr>
            <p:spPr bwMode="auto">
              <a:xfrm>
                <a:off x="1134657" y="1013861"/>
                <a:ext cx="10563700" cy="38497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ct val="30000"/>
                  </a:spcBef>
                  <a:defRPr/>
                </a:pPr>
                <a:r>
                  <a:rPr lang="en-AU" sz="2800" dirty="0">
                    <a:latin typeface="Times New Roman" panose="02020603050405020304" pitchFamily="18" charset="0"/>
                    <a:cs typeface="Times New Roman" panose="02020603050405020304" pitchFamily="18" charset="0"/>
                  </a:rPr>
                  <a:t>Extensive testing indicates that the l</a:t>
                </a:r>
                <a:r>
                  <a:rPr lang="en-AU" sz="2800" dirty="0">
                    <a:highlight>
                      <a:srgbClr val="FFFF00"/>
                    </a:highlight>
                    <a:latin typeface="Times New Roman" panose="02020603050405020304" pitchFamily="18" charset="0"/>
                    <a:cs typeface="Times New Roman" panose="02020603050405020304" pitchFamily="18" charset="0"/>
                  </a:rPr>
                  <a:t>ifetime</a:t>
                </a:r>
                <a:r>
                  <a:rPr lang="en-AU" sz="2800" dirty="0">
                    <a:latin typeface="Times New Roman" panose="02020603050405020304" pitchFamily="18" charset="0"/>
                    <a:cs typeface="Times New Roman" panose="02020603050405020304" pitchFamily="18" charset="0"/>
                  </a:rPr>
                  <a:t> of the Everlast automobile battery is normally distributed with a mean of </a:t>
                </a:r>
                <a14:m>
                  <m:oMath xmlns:m="http://schemas.openxmlformats.org/officeDocument/2006/math">
                    <m:r>
                      <a:rPr lang="en-AU" sz="2800" i="1" smtClean="0">
                        <a:solidFill>
                          <a:srgbClr val="0000FF"/>
                        </a:solidFill>
                        <a:latin typeface="Cambria Math" panose="02040503050406030204" pitchFamily="18" charset="0"/>
                        <a:ea typeface="Cambria Math" panose="02040503050406030204" pitchFamily="18" charset="0"/>
                      </a:rPr>
                      <m:t>𝜇</m:t>
                    </m:r>
                    <m:r>
                      <a:rPr lang="en-AU" sz="2800" b="0" i="1" smtClean="0">
                        <a:solidFill>
                          <a:srgbClr val="0000FF"/>
                        </a:solidFill>
                        <a:latin typeface="Cambria Math" panose="02040503050406030204" pitchFamily="18" charset="0"/>
                        <a:ea typeface="Cambria Math" panose="02040503050406030204" pitchFamily="18" charset="0"/>
                      </a:rPr>
                      <m:t>=60</m:t>
                    </m:r>
                  </m:oMath>
                </a14:m>
                <a:r>
                  <a:rPr lang="en-AU" sz="2800" dirty="0">
                    <a:solidFill>
                      <a:srgbClr val="0000FF"/>
                    </a:solidFill>
                    <a:latin typeface="Times New Roman" panose="02020603050405020304" pitchFamily="18" charset="0"/>
                    <a:cs typeface="Times New Roman" panose="02020603050405020304" pitchFamily="18" charset="0"/>
                  </a:rPr>
                  <a:t> </a:t>
                </a:r>
                <a:r>
                  <a:rPr lang="en-AU" sz="2800" dirty="0">
                    <a:latin typeface="Times New Roman" panose="02020603050405020304" pitchFamily="18" charset="0"/>
                    <a:cs typeface="Times New Roman" panose="02020603050405020304" pitchFamily="18" charset="0"/>
                  </a:rPr>
                  <a:t>months and a standard deviation of </a:t>
                </a:r>
                <a14:m>
                  <m:oMath xmlns:m="http://schemas.openxmlformats.org/officeDocument/2006/math">
                    <m:r>
                      <a:rPr lang="en-AU" sz="2800" i="1" smtClean="0">
                        <a:solidFill>
                          <a:srgbClr val="0000FF"/>
                        </a:solidFill>
                        <a:latin typeface="Cambria Math" panose="02040503050406030204" pitchFamily="18" charset="0"/>
                        <a:ea typeface="Cambria Math" panose="02040503050406030204" pitchFamily="18" charset="0"/>
                      </a:rPr>
                      <m:t>𝜎</m:t>
                    </m:r>
                    <m:r>
                      <a:rPr lang="en-AU" sz="2800" b="0" i="1" smtClean="0">
                        <a:solidFill>
                          <a:srgbClr val="0000FF"/>
                        </a:solidFill>
                        <a:latin typeface="Cambria Math" panose="02040503050406030204" pitchFamily="18" charset="0"/>
                        <a:ea typeface="Cambria Math" panose="02040503050406030204" pitchFamily="18" charset="0"/>
                      </a:rPr>
                      <m:t>=6 </m:t>
                    </m:r>
                  </m:oMath>
                </a14:m>
                <a:r>
                  <a:rPr lang="en-AU" sz="2800" dirty="0">
                    <a:latin typeface="Times New Roman" panose="02020603050405020304" pitchFamily="18" charset="0"/>
                    <a:cs typeface="Times New Roman" panose="02020603050405020304" pitchFamily="18" charset="0"/>
                  </a:rPr>
                  <a:t>months. The Everlast’s manufacturer has decided to offer a free replacement battery to any purchaser whose Everlast battery does not last at least as long as the minimum lifetime specified in its guarantee. How can the manufacturer establish the guarantee period so that only </a:t>
                </a:r>
                <a:r>
                  <a:rPr lang="en-AU" sz="2800" dirty="0">
                    <a:solidFill>
                      <a:srgbClr val="0000FF"/>
                    </a:solidFill>
                    <a:latin typeface="Times New Roman" panose="02020603050405020304" pitchFamily="18" charset="0"/>
                    <a:cs typeface="Times New Roman" panose="02020603050405020304" pitchFamily="18" charset="0"/>
                  </a:rPr>
                  <a:t>1 percent </a:t>
                </a:r>
                <a:r>
                  <a:rPr lang="en-AU" sz="2800" dirty="0">
                    <a:latin typeface="Times New Roman" panose="02020603050405020304" pitchFamily="18" charset="0"/>
                    <a:cs typeface="Times New Roman" panose="02020603050405020304" pitchFamily="18" charset="0"/>
                  </a:rPr>
                  <a:t>of the batteries will need to be replaced free of charge?</a:t>
                </a:r>
                <a:endParaRPr lang="en-US" altLang="zh-CN" sz="28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EE976AE4-A106-E531-9F4D-E523737B6D31}"/>
                  </a:ext>
                </a:extLst>
              </p:cNvPr>
              <p:cNvSpPr txBox="1">
                <a:spLocks noRot="1" noChangeAspect="1" noMove="1" noResize="1" noEditPoints="1" noAdjustHandles="1" noChangeArrowheads="1" noChangeShapeType="1" noTextEdit="1"/>
              </p:cNvSpPr>
              <p:nvPr/>
            </p:nvSpPr>
            <p:spPr bwMode="auto">
              <a:xfrm>
                <a:off x="1134657" y="1013861"/>
                <a:ext cx="10563700" cy="3849772"/>
              </a:xfrm>
              <a:prstGeom prst="rect">
                <a:avLst/>
              </a:prstGeom>
              <a:blipFill>
                <a:blip r:embed="rId3"/>
                <a:stretch>
                  <a:fillRect l="-1154" t="-1266" r="-1212" b="-348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EB4C5391-228F-A9A7-043D-83AFFADA35ED}"/>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9895406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6B4D6-6A88-B4E6-29CB-3B54E8D2E630}"/>
            </a:ext>
          </a:extLst>
        </p:cNvPr>
        <p:cNvGrpSpPr/>
        <p:nvPr/>
      </p:nvGrpSpPr>
      <p:grpSpPr>
        <a:xfrm>
          <a:off x="0" y="0"/>
          <a:ext cx="0" cy="0"/>
          <a:chOff x="0" y="0"/>
          <a:chExt cx="0" cy="0"/>
        </a:xfrm>
      </p:grpSpPr>
      <p:sp>
        <p:nvSpPr>
          <p:cNvPr id="50179" name="Rectangle 2">
            <a:extLst>
              <a:ext uri="{FF2B5EF4-FFF2-40B4-BE49-F238E27FC236}">
                <a16:creationId xmlns:a16="http://schemas.microsoft.com/office/drawing/2014/main" id="{DEDBF15E-A23D-953B-589F-97A7AE7EA4D3}"/>
              </a:ext>
            </a:extLst>
          </p:cNvPr>
          <p:cNvSpPr>
            <a:spLocks noGrp="1" noChangeArrowheads="1"/>
          </p:cNvSpPr>
          <p:nvPr>
            <p:ph type="title"/>
          </p:nvPr>
        </p:nvSpPr>
        <p:spPr>
          <a:xfrm>
            <a:off x="468175" y="19919"/>
            <a:ext cx="1807886" cy="475145"/>
          </a:xfrm>
          <a:noFill/>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pPr eaLnBrk="1" hangingPunct="1"/>
            <a:r>
              <a:rPr lang="en-US" altLang="zh-CN" sz="2400" b="1" dirty="0">
                <a:solidFill>
                  <a:srgbClr val="0000FF"/>
                </a:solidFill>
                <a:latin typeface="Times New Roman" panose="02020603050405020304" pitchFamily="18" charset="0"/>
                <a:cs typeface="Times New Roman" panose="02020603050405020304" pitchFamily="18" charset="0"/>
              </a:rPr>
              <a:t>Solution</a:t>
            </a:r>
          </a:p>
        </p:txBody>
      </p:sp>
      <p:sp>
        <p:nvSpPr>
          <p:cNvPr id="3" name="TextBox 2">
            <a:extLst>
              <a:ext uri="{FF2B5EF4-FFF2-40B4-BE49-F238E27FC236}">
                <a16:creationId xmlns:a16="http://schemas.microsoft.com/office/drawing/2014/main" id="{FE0D5011-D4CF-2BE5-1EC8-AE69188A451F}"/>
              </a:ext>
            </a:extLst>
          </p:cNvPr>
          <p:cNvSpPr txBox="1"/>
          <p:nvPr/>
        </p:nvSpPr>
        <p:spPr>
          <a:xfrm>
            <a:off x="468175" y="533902"/>
            <a:ext cx="6022077" cy="2094228"/>
          </a:xfrm>
          <a:prstGeom prst="rect">
            <a:avLst/>
          </a:prstGeom>
          <a:noFill/>
        </p:spPr>
        <p:txBody>
          <a:bodyPr wrap="square">
            <a:spAutoFit/>
          </a:bodyPr>
          <a:lstStyle/>
          <a:p>
            <a:pPr algn="just">
              <a:lnSpc>
                <a:spcPct val="110000"/>
              </a:lnSpc>
            </a:pPr>
            <a:r>
              <a:rPr lang="en-AU" sz="2400" dirty="0">
                <a:latin typeface="Times New Roman" panose="02020603050405020304" pitchFamily="18" charset="0"/>
                <a:cs typeface="Times New Roman" panose="02020603050405020304" pitchFamily="18" charset="0"/>
              </a:rPr>
              <a:t>If the battery will be guaranteed to last </a:t>
            </a:r>
            <a:r>
              <a:rPr lang="en-AU" sz="2400" i="1" dirty="0">
                <a:solidFill>
                  <a:srgbClr val="0000FF"/>
                </a:solidFill>
                <a:latin typeface="Times New Roman" panose="02020603050405020304" pitchFamily="18" charset="0"/>
                <a:cs typeface="Times New Roman" panose="02020603050405020304" pitchFamily="18" charset="0"/>
              </a:rPr>
              <a:t>l</a:t>
            </a:r>
            <a:r>
              <a:rPr lang="en-AU" sz="2400" dirty="0">
                <a:solidFill>
                  <a:srgbClr val="0000FF"/>
                </a:solidFill>
                <a:latin typeface="Times New Roman" panose="02020603050405020304" pitchFamily="18" charset="0"/>
                <a:cs typeface="Times New Roman" panose="02020603050405020304" pitchFamily="18" charset="0"/>
              </a:rPr>
              <a:t> </a:t>
            </a:r>
            <a:r>
              <a:rPr lang="en-AU" sz="2400" dirty="0">
                <a:latin typeface="Times New Roman" panose="02020603050405020304" pitchFamily="18" charset="0"/>
                <a:cs typeface="Times New Roman" panose="02020603050405020304" pitchFamily="18" charset="0"/>
              </a:rPr>
              <a:t>months, </a:t>
            </a:r>
            <a:r>
              <a:rPr lang="en-AU" sz="2400" i="1" dirty="0">
                <a:solidFill>
                  <a:srgbClr val="0000FF"/>
                </a:solidFill>
                <a:latin typeface="Times New Roman" panose="02020603050405020304" pitchFamily="18" charset="0"/>
                <a:cs typeface="Times New Roman" panose="02020603050405020304" pitchFamily="18" charset="0"/>
              </a:rPr>
              <a:t>l</a:t>
            </a:r>
            <a:r>
              <a:rPr lang="en-AU" sz="2400" dirty="0">
                <a:latin typeface="Times New Roman" panose="02020603050405020304" pitchFamily="18" charset="0"/>
                <a:cs typeface="Times New Roman" panose="02020603050405020304" pitchFamily="18" charset="0"/>
              </a:rPr>
              <a:t> must be chosen to allow only a 0.01 probability that the lifetime, of an Everlast battery will be less than </a:t>
            </a:r>
            <a:r>
              <a:rPr lang="en-AU" sz="2400" i="1" dirty="0">
                <a:solidFill>
                  <a:srgbClr val="0000FF"/>
                </a:solidFill>
                <a:latin typeface="Times New Roman" panose="02020603050405020304" pitchFamily="18" charset="0"/>
                <a:cs typeface="Times New Roman" panose="02020603050405020304" pitchFamily="18" charset="0"/>
              </a:rPr>
              <a:t>l</a:t>
            </a:r>
            <a:r>
              <a:rPr lang="en-AU" sz="2400" dirty="0">
                <a:latin typeface="Times New Roman" panose="02020603050405020304" pitchFamily="18" charset="0"/>
                <a:cs typeface="Times New Roman" panose="02020603050405020304" pitchFamily="18" charset="0"/>
              </a:rPr>
              <a:t>. That is, we must choose </a:t>
            </a:r>
            <a:r>
              <a:rPr lang="en-AU" sz="2400" i="1" dirty="0">
                <a:solidFill>
                  <a:srgbClr val="0000FF"/>
                </a:solidFill>
                <a:latin typeface="Times New Roman" panose="02020603050405020304" pitchFamily="18" charset="0"/>
                <a:cs typeface="Times New Roman" panose="02020603050405020304" pitchFamily="18" charset="0"/>
              </a:rPr>
              <a:t>l</a:t>
            </a:r>
            <a:r>
              <a:rPr lang="en-AU" sz="2400" dirty="0">
                <a:latin typeface="Times New Roman" panose="02020603050405020304" pitchFamily="18" charset="0"/>
                <a:cs typeface="Times New Roman" panose="02020603050405020304" pitchFamily="18" charset="0"/>
              </a:rPr>
              <a:t> so that</a:t>
            </a:r>
          </a:p>
        </p:txBody>
      </p:sp>
      <mc:AlternateContent xmlns:mc="http://schemas.openxmlformats.org/markup-compatibility/2006">
        <mc:Choice xmlns:a14="http://schemas.microsoft.com/office/drawing/2010/main" Requires="a14">
          <p:sp>
            <p:nvSpPr>
              <p:cNvPr id="6" name="Text Box 3">
                <a:extLst>
                  <a:ext uri="{FF2B5EF4-FFF2-40B4-BE49-F238E27FC236}">
                    <a16:creationId xmlns:a16="http://schemas.microsoft.com/office/drawing/2014/main" id="{38361EEF-CA0F-B48C-60D4-AAAE9D453436}"/>
                  </a:ext>
                </a:extLst>
              </p:cNvPr>
              <p:cNvSpPr txBox="1">
                <a:spLocks noChangeArrowheads="1"/>
              </p:cNvSpPr>
              <p:nvPr/>
            </p:nvSpPr>
            <p:spPr bwMode="auto">
              <a:xfrm>
                <a:off x="1319938" y="2727519"/>
                <a:ext cx="2493169" cy="46194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lvl1pPr marL="393700" indent="-393700">
                  <a:defRPr>
                    <a:solidFill>
                      <a:schemeClr val="tx1"/>
                    </a:solidFill>
                    <a:latin typeface="Arial" charset="0"/>
                    <a:ea typeface="宋体" pitchFamily="2" charset="-122"/>
                  </a:defRPr>
                </a:lvl1pPr>
                <a:lvl2pPr marL="860425" indent="-352425">
                  <a:defRPr>
                    <a:solidFill>
                      <a:schemeClr val="tx1"/>
                    </a:solidFill>
                    <a:latin typeface="Arial" charset="0"/>
                    <a:ea typeface="宋体" pitchFamily="2" charset="-122"/>
                  </a:defRPr>
                </a:lvl2pPr>
                <a:lvl3pPr marL="1028700">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marL="0" indent="0" eaLnBrk="0" hangingPunct="0">
                  <a:spcBef>
                    <a:spcPct val="25000"/>
                  </a:spcBef>
                  <a:defRPr/>
                </a:pPr>
                <a14:m>
                  <m:oMathPara xmlns:m="http://schemas.openxmlformats.org/officeDocument/2006/math">
                    <m:oMathParaPr>
                      <m:jc m:val="centerGroup"/>
                    </m:oMathParaPr>
                    <m:oMath xmlns:m="http://schemas.openxmlformats.org/officeDocument/2006/math">
                      <m:r>
                        <a:rPr lang="en-AU" altLang="zh-CN" sz="2200" b="0" i="1" smtClean="0">
                          <a:effectLst/>
                          <a:latin typeface="Cambria Math" panose="02040503050406030204" pitchFamily="18" charset="0"/>
                        </a:rPr>
                        <m:t>𝑃</m:t>
                      </m:r>
                      <m:d>
                        <m:dPr>
                          <m:ctrlPr>
                            <a:rPr lang="en-AU" altLang="zh-CN" sz="2200" b="0" i="1" smtClean="0">
                              <a:effectLst/>
                              <a:latin typeface="Cambria Math" panose="02040503050406030204" pitchFamily="18" charset="0"/>
                            </a:rPr>
                          </m:ctrlPr>
                        </m:dPr>
                        <m:e>
                          <m:r>
                            <a:rPr lang="en-AU" altLang="zh-CN" sz="2200" b="0" i="1" smtClean="0">
                              <a:effectLst/>
                              <a:latin typeface="Cambria Math" panose="02040503050406030204" pitchFamily="18" charset="0"/>
                            </a:rPr>
                            <m:t>𝑥</m:t>
                          </m:r>
                          <m:r>
                            <a:rPr lang="en-AU" altLang="zh-CN" sz="2200" b="0" i="1" smtClean="0">
                              <a:effectLst/>
                              <a:latin typeface="Cambria Math" panose="02040503050406030204" pitchFamily="18" charset="0"/>
                            </a:rPr>
                            <m:t>&lt;</m:t>
                          </m:r>
                          <m:r>
                            <a:rPr lang="en-AU" altLang="zh-CN" sz="2200" b="0" i="1" smtClean="0">
                              <a:solidFill>
                                <a:srgbClr val="0000FF"/>
                              </a:solidFill>
                              <a:effectLst/>
                              <a:latin typeface="Cambria Math" panose="02040503050406030204" pitchFamily="18" charset="0"/>
                            </a:rPr>
                            <m:t>𝑙</m:t>
                          </m:r>
                        </m:e>
                      </m:d>
                      <m:r>
                        <a:rPr lang="en-AU" altLang="zh-CN" sz="2200" b="0" i="1" smtClean="0">
                          <a:effectLst/>
                          <a:latin typeface="Cambria Math" panose="02040503050406030204" pitchFamily="18" charset="0"/>
                        </a:rPr>
                        <m:t>=</m:t>
                      </m:r>
                      <m:r>
                        <a:rPr lang="en-AU" altLang="zh-CN" sz="2200" b="0" i="1" smtClean="0">
                          <a:effectLst/>
                          <a:latin typeface="Cambria Math" panose="02040503050406030204" pitchFamily="18" charset="0"/>
                        </a:rPr>
                        <m:t>0.01</m:t>
                      </m:r>
                    </m:oMath>
                  </m:oMathPara>
                </a14:m>
                <a:endParaRPr lang="en-US" altLang="zh-CN" sz="2200" dirty="0">
                  <a:effectLst/>
                  <a:latin typeface="Times New Roman" panose="02020603050405020304" pitchFamily="18" charset="0"/>
                  <a:cs typeface="Times New Roman" panose="02020603050405020304" pitchFamily="18" charset="0"/>
                </a:endParaRPr>
              </a:p>
            </p:txBody>
          </p:sp>
        </mc:Choice>
        <mc:Fallback>
          <p:sp>
            <p:nvSpPr>
              <p:cNvPr id="6" name="Text Box 3">
                <a:extLst>
                  <a:ext uri="{FF2B5EF4-FFF2-40B4-BE49-F238E27FC236}">
                    <a16:creationId xmlns:a16="http://schemas.microsoft.com/office/drawing/2014/main" id="{38361EEF-CA0F-B48C-60D4-AAAE9D453436}"/>
                  </a:ext>
                </a:extLst>
              </p:cNvPr>
              <p:cNvSpPr txBox="1">
                <a:spLocks noRot="1" noChangeAspect="1" noMove="1" noResize="1" noEditPoints="1" noAdjustHandles="1" noChangeArrowheads="1" noChangeShapeType="1" noTextEdit="1"/>
              </p:cNvSpPr>
              <p:nvPr/>
            </p:nvSpPr>
            <p:spPr bwMode="auto">
              <a:xfrm>
                <a:off x="1319938" y="2727519"/>
                <a:ext cx="2493169" cy="461943"/>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pic>
        <p:nvPicPr>
          <p:cNvPr id="8" name="Picture 7">
            <a:extLst>
              <a:ext uri="{FF2B5EF4-FFF2-40B4-BE49-F238E27FC236}">
                <a16:creationId xmlns:a16="http://schemas.microsoft.com/office/drawing/2014/main" id="{DDD8D702-1069-2783-37E5-156C5724C38B}"/>
              </a:ext>
            </a:extLst>
          </p:cNvPr>
          <p:cNvPicPr>
            <a:picLocks noChangeAspect="1"/>
          </p:cNvPicPr>
          <p:nvPr/>
        </p:nvPicPr>
        <p:blipFill>
          <a:blip r:embed="rId4"/>
          <a:stretch>
            <a:fillRect/>
          </a:stretch>
        </p:blipFill>
        <p:spPr>
          <a:xfrm>
            <a:off x="198162" y="3309732"/>
            <a:ext cx="7334250" cy="33147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B4B721-5278-1A70-EA91-791E2BE6ABF7}"/>
                  </a:ext>
                </a:extLst>
              </p:cNvPr>
              <p:cNvSpPr txBox="1"/>
              <p:nvPr/>
            </p:nvSpPr>
            <p:spPr>
              <a:xfrm>
                <a:off x="7622542" y="571870"/>
                <a:ext cx="4027881" cy="1281698"/>
              </a:xfrm>
              <a:prstGeom prst="rect">
                <a:avLst/>
              </a:prstGeom>
              <a:noFill/>
            </p:spPr>
            <p:txBody>
              <a:bodyPr wrap="square">
                <a:spAutoFit/>
              </a:bodyPr>
              <a:lstStyle/>
              <a:p>
                <a:pPr algn="just">
                  <a:lnSpc>
                    <a:spcPct val="110000"/>
                  </a:lnSpc>
                </a:pPr>
                <a:r>
                  <a:rPr lang="en-AU" sz="2400" dirty="0">
                    <a:latin typeface="Times New Roman" panose="02020603050405020304" pitchFamily="18" charset="0"/>
                    <a:cs typeface="Times New Roman" panose="02020603050405020304" pitchFamily="18" charset="0"/>
                  </a:rPr>
                  <a:t>From the figure and the table (next slide), we find </a:t>
                </a:r>
                <a14:m>
                  <m:oMath xmlns:m="http://schemas.openxmlformats.org/officeDocument/2006/math">
                    <m:r>
                      <a:rPr lang="en-AU" altLang="zh-CN" sz="2400" b="0" i="0" smtClean="0">
                        <a:latin typeface="Cambria Math" panose="02040503050406030204" pitchFamily="18" charset="0"/>
                      </a:rPr>
                      <m:t>−</m:t>
                    </m:r>
                    <m:sSub>
                      <m:sSubPr>
                        <m:ctrlPr>
                          <a:rPr lang="en-AU" altLang="zh-CN" sz="2400" b="0" i="1" smtClean="0">
                            <a:latin typeface="Cambria Math" panose="02040503050406030204" pitchFamily="18" charset="0"/>
                          </a:rPr>
                        </m:ctrlPr>
                      </m:sSubPr>
                      <m:e>
                        <m:r>
                          <a:rPr lang="en-AU" altLang="zh-CN" sz="2400" b="0" i="1" smtClean="0">
                            <a:latin typeface="Cambria Math" panose="02040503050406030204" pitchFamily="18" charset="0"/>
                          </a:rPr>
                          <m:t>𝑧</m:t>
                        </m:r>
                      </m:e>
                      <m:sub>
                        <m:r>
                          <a:rPr lang="en-AU" altLang="zh-CN" sz="2400" b="0" i="1" smtClean="0">
                            <a:latin typeface="Cambria Math" panose="02040503050406030204" pitchFamily="18" charset="0"/>
                          </a:rPr>
                          <m:t>0.01</m:t>
                        </m:r>
                      </m:sub>
                    </m:sSub>
                    <m:r>
                      <a:rPr lang="en-AU" altLang="zh-CN" sz="2400" b="0" i="1" smtClean="0">
                        <a:latin typeface="Cambria Math" panose="02040503050406030204" pitchFamily="18" charset="0"/>
                      </a:rPr>
                      <m:t>=−2.33</m:t>
                    </m:r>
                  </m:oMath>
                </a14:m>
                <a:r>
                  <a:rPr lang="en-US" altLang="zh-CN" sz="2400" dirty="0">
                    <a:latin typeface="Times New Roman" panose="02020603050405020304" pitchFamily="18" charset="0"/>
                    <a:cs typeface="Times New Roman" panose="02020603050405020304" pitchFamily="18" charset="0"/>
                  </a:rPr>
                  <a:t>. So</a:t>
                </a:r>
                <a:endParaRPr lang="en-AU" sz="24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FCB4B721-5278-1A70-EA91-791E2BE6ABF7}"/>
                  </a:ext>
                </a:extLst>
              </p:cNvPr>
              <p:cNvSpPr txBox="1">
                <a:spLocks noRot="1" noChangeAspect="1" noMove="1" noResize="1" noEditPoints="1" noAdjustHandles="1" noChangeArrowheads="1" noChangeShapeType="1" noTextEdit="1"/>
              </p:cNvSpPr>
              <p:nvPr/>
            </p:nvSpPr>
            <p:spPr>
              <a:xfrm>
                <a:off x="7622542" y="571870"/>
                <a:ext cx="4027881" cy="1281698"/>
              </a:xfrm>
              <a:prstGeom prst="rect">
                <a:avLst/>
              </a:prstGeom>
              <a:blipFill>
                <a:blip r:embed="rId5"/>
                <a:stretch>
                  <a:fillRect l="-2269" t="-2857" r="-2421" b="-10476"/>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0C4CD74-E102-BEF2-067F-211E792AA87C}"/>
                  </a:ext>
                </a:extLst>
              </p:cNvPr>
              <p:cNvSpPr txBox="1"/>
              <p:nvPr/>
            </p:nvSpPr>
            <p:spPr>
              <a:xfrm>
                <a:off x="7980399" y="1889793"/>
                <a:ext cx="3670024" cy="79444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sz="2400" b="0" i="0" smtClean="0">
                          <a:solidFill>
                            <a:srgbClr val="0000FF"/>
                          </a:solidFill>
                          <a:effectLst/>
                          <a:latin typeface="Cambria Math" panose="02040503050406030204" pitchFamily="18" charset="0"/>
                        </a:rPr>
                        <m:t>−2.33</m:t>
                      </m:r>
                      <m:r>
                        <a:rPr lang="en-US" altLang="zh-CN" sz="2400" b="0" i="0" smtClean="0">
                          <a:solidFill>
                            <a:srgbClr val="0000FF"/>
                          </a:solidFill>
                          <a:effectLst/>
                          <a:latin typeface="Cambria Math" panose="02040503050406030204" pitchFamily="18" charset="0"/>
                        </a:rPr>
                        <m:t>=</m:t>
                      </m:r>
                      <m:f>
                        <m:fPr>
                          <m:ctrlPr>
                            <a:rPr lang="en-US" altLang="zh-CN" sz="2400" i="1" smtClean="0">
                              <a:solidFill>
                                <a:srgbClr val="0000FF"/>
                              </a:solidFill>
                              <a:effectLst/>
                              <a:latin typeface="Cambria Math" panose="02040503050406030204" pitchFamily="18" charset="0"/>
                            </a:rPr>
                          </m:ctrlPr>
                        </m:fPr>
                        <m:num>
                          <m:r>
                            <a:rPr lang="en-AU" altLang="zh-CN" sz="2400" b="0" i="1" smtClean="0">
                              <a:solidFill>
                                <a:srgbClr val="0000FF"/>
                              </a:solidFill>
                              <a:effectLst/>
                              <a:latin typeface="Cambria Math" panose="02040503050406030204" pitchFamily="18" charset="0"/>
                            </a:rPr>
                            <m:t>𝑙</m:t>
                          </m:r>
                          <m:r>
                            <a:rPr lang="en-AU" altLang="zh-CN" sz="2400" b="0" i="0" smtClean="0">
                              <a:solidFill>
                                <a:srgbClr val="0000FF"/>
                              </a:solidFill>
                              <a:effectLst/>
                              <a:latin typeface="Cambria Math" panose="02040503050406030204" pitchFamily="18" charset="0"/>
                            </a:rPr>
                            <m:t>−60</m:t>
                          </m:r>
                        </m:num>
                        <m:den>
                          <m:r>
                            <a:rPr lang="en-AU" altLang="zh-CN" sz="2400" b="0" i="0" smtClean="0">
                              <a:solidFill>
                                <a:srgbClr val="0000FF"/>
                              </a:solidFill>
                              <a:effectLst/>
                              <a:latin typeface="Cambria Math" panose="02040503050406030204" pitchFamily="18" charset="0"/>
                              <a:ea typeface="Cambria Math" panose="02040503050406030204" pitchFamily="18" charset="0"/>
                            </a:rPr>
                            <m:t>6</m:t>
                          </m:r>
                        </m:den>
                      </m:f>
                    </m:oMath>
                  </m:oMathPara>
                </a14:m>
                <a:endParaRPr lang="en-AU" sz="2400" dirty="0">
                  <a:solidFill>
                    <a:srgbClr val="0000FF"/>
                  </a:solidFill>
                </a:endParaRPr>
              </a:p>
            </p:txBody>
          </p:sp>
        </mc:Choice>
        <mc:Fallback>
          <p:sp>
            <p:nvSpPr>
              <p:cNvPr id="10" name="TextBox 9">
                <a:extLst>
                  <a:ext uri="{FF2B5EF4-FFF2-40B4-BE49-F238E27FC236}">
                    <a16:creationId xmlns:a16="http://schemas.microsoft.com/office/drawing/2014/main" id="{C0C4CD74-E102-BEF2-067F-211E792AA87C}"/>
                  </a:ext>
                </a:extLst>
              </p:cNvPr>
              <p:cNvSpPr txBox="1">
                <a:spLocks noRot="1" noChangeAspect="1" noMove="1" noResize="1" noEditPoints="1" noAdjustHandles="1" noChangeArrowheads="1" noChangeShapeType="1" noTextEdit="1"/>
              </p:cNvSpPr>
              <p:nvPr/>
            </p:nvSpPr>
            <p:spPr>
              <a:xfrm>
                <a:off x="7980399" y="1889793"/>
                <a:ext cx="3670024" cy="794448"/>
              </a:xfrm>
              <a:prstGeom prst="rect">
                <a:avLst/>
              </a:prstGeom>
              <a:blipFill>
                <a:blip r:embed="rId6"/>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C46DD73-84BF-DA6C-215E-CC4F161278FA}"/>
                  </a:ext>
                </a:extLst>
              </p:cNvPr>
              <p:cNvSpPr txBox="1"/>
              <p:nvPr/>
            </p:nvSpPr>
            <p:spPr>
              <a:xfrm>
                <a:off x="7980399" y="2952633"/>
                <a:ext cx="3670024" cy="461665"/>
              </a:xfrm>
              <a:prstGeom prst="rect">
                <a:avLst/>
              </a:prstGeom>
              <a:noFill/>
            </p:spPr>
            <p:txBody>
              <a:bodyPr wrap="square">
                <a:spAutoFit/>
              </a:bodyPr>
              <a:lstStyle/>
              <a:p>
                <a14:m>
                  <m:oMath xmlns:m="http://schemas.openxmlformats.org/officeDocument/2006/math">
                    <m:r>
                      <a:rPr lang="en-AU" altLang="zh-CN" sz="2400" b="0" i="1" smtClean="0">
                        <a:solidFill>
                          <a:srgbClr val="0000FF"/>
                        </a:solidFill>
                        <a:latin typeface="Cambria Math" panose="02040503050406030204" pitchFamily="18" charset="0"/>
                      </a:rPr>
                      <m:t>𝑙</m:t>
                    </m:r>
                    <m:r>
                      <a:rPr lang="en-AU" altLang="zh-CN" sz="2400" b="0" i="1" smtClean="0">
                        <a:solidFill>
                          <a:srgbClr val="0000FF"/>
                        </a:solidFill>
                        <a:latin typeface="Cambria Math" panose="02040503050406030204" pitchFamily="18" charset="0"/>
                      </a:rPr>
                      <m:t>=46.02 </m:t>
                    </m:r>
                  </m:oMath>
                </a14:m>
                <a:r>
                  <a:rPr lang="en-AU" sz="2400" dirty="0">
                    <a:solidFill>
                      <a:srgbClr val="0000FF"/>
                    </a:solidFill>
                    <a:latin typeface="Times New Roman" panose="02020603050405020304" pitchFamily="18" charset="0"/>
                    <a:cs typeface="Times New Roman" panose="02020603050405020304" pitchFamily="18" charset="0"/>
                  </a:rPr>
                  <a:t>months</a:t>
                </a:r>
              </a:p>
            </p:txBody>
          </p:sp>
        </mc:Choice>
        <mc:Fallback>
          <p:sp>
            <p:nvSpPr>
              <p:cNvPr id="11" name="TextBox 10">
                <a:extLst>
                  <a:ext uri="{FF2B5EF4-FFF2-40B4-BE49-F238E27FC236}">
                    <a16:creationId xmlns:a16="http://schemas.microsoft.com/office/drawing/2014/main" id="{9C46DD73-84BF-DA6C-215E-CC4F161278FA}"/>
                  </a:ext>
                </a:extLst>
              </p:cNvPr>
              <p:cNvSpPr txBox="1">
                <a:spLocks noRot="1" noChangeAspect="1" noMove="1" noResize="1" noEditPoints="1" noAdjustHandles="1" noChangeArrowheads="1" noChangeShapeType="1" noTextEdit="1"/>
              </p:cNvSpPr>
              <p:nvPr/>
            </p:nvSpPr>
            <p:spPr>
              <a:xfrm>
                <a:off x="7980399" y="2952633"/>
                <a:ext cx="3670024" cy="461665"/>
              </a:xfrm>
              <a:prstGeom prst="rect">
                <a:avLst/>
              </a:prstGeom>
              <a:blipFill>
                <a:blip r:embed="rId7"/>
                <a:stretch>
                  <a:fillRect l="-498" t="-10526" b="-28947"/>
                </a:stretch>
              </a:blipFill>
            </p:spPr>
            <p:txBody>
              <a:bodyPr/>
              <a:lstStyle/>
              <a:p>
                <a:r>
                  <a:rPr lang="en-AU">
                    <a:noFill/>
                  </a:rPr>
                  <a:t> </a:t>
                </a:r>
              </a:p>
            </p:txBody>
          </p:sp>
        </mc:Fallback>
      </mc:AlternateContent>
      <p:sp>
        <p:nvSpPr>
          <p:cNvPr id="13" name="TextBox 12">
            <a:extLst>
              <a:ext uri="{FF2B5EF4-FFF2-40B4-BE49-F238E27FC236}">
                <a16:creationId xmlns:a16="http://schemas.microsoft.com/office/drawing/2014/main" id="{1EDEC53F-9512-4834-167D-D4782A398B38}"/>
              </a:ext>
            </a:extLst>
          </p:cNvPr>
          <p:cNvSpPr txBox="1"/>
          <p:nvPr/>
        </p:nvSpPr>
        <p:spPr>
          <a:xfrm>
            <a:off x="7651530" y="3874069"/>
            <a:ext cx="4342308" cy="1938992"/>
          </a:xfrm>
          <a:prstGeom prst="rect">
            <a:avLst/>
          </a:prstGeom>
          <a:noFill/>
        </p:spPr>
        <p:txBody>
          <a:bodyPr wrap="square">
            <a:spAutoFit/>
          </a:bodyPr>
          <a:lstStyle/>
          <a:p>
            <a:pPr algn="just"/>
            <a:r>
              <a:rPr lang="en-AU" sz="2400" dirty="0">
                <a:latin typeface="Times New Roman" panose="02020603050405020304" pitchFamily="18" charset="0"/>
                <a:cs typeface="Times New Roman" panose="02020603050405020304" pitchFamily="18" charset="0"/>
              </a:rPr>
              <a:t>No more than 1 percent of the batteries will need to be replaced free of charge, it seems reasonable to guarantee the Everlast battery to last 46 months.</a:t>
            </a:r>
          </a:p>
        </p:txBody>
      </p:sp>
      <p:sp>
        <p:nvSpPr>
          <p:cNvPr id="2" name="灯片编号占位符 16">
            <a:extLst>
              <a:ext uri="{FF2B5EF4-FFF2-40B4-BE49-F238E27FC236}">
                <a16:creationId xmlns:a16="http://schemas.microsoft.com/office/drawing/2014/main" id="{CCC76052-6A80-6879-E4B1-BC8BF45C4A3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48171648"/>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4F4EA-AC5D-7358-041F-B9B758CAF4B5}"/>
            </a:ext>
          </a:extLst>
        </p:cNvPr>
        <p:cNvGrpSpPr/>
        <p:nvPr/>
      </p:nvGrpSpPr>
      <p:grpSpPr>
        <a:xfrm>
          <a:off x="0" y="0"/>
          <a:ext cx="0" cy="0"/>
          <a:chOff x="0" y="0"/>
          <a:chExt cx="0" cy="0"/>
        </a:xfrm>
      </p:grpSpPr>
      <p:sp>
        <p:nvSpPr>
          <p:cNvPr id="2" name="灯片编号占位符 16">
            <a:extLst>
              <a:ext uri="{FF2B5EF4-FFF2-40B4-BE49-F238E27FC236}">
                <a16:creationId xmlns:a16="http://schemas.microsoft.com/office/drawing/2014/main" id="{1EBE026F-4857-9054-C7C2-1CA32EB41618}"/>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7" name="Picture 6">
            <a:extLst>
              <a:ext uri="{FF2B5EF4-FFF2-40B4-BE49-F238E27FC236}">
                <a16:creationId xmlns:a16="http://schemas.microsoft.com/office/drawing/2014/main" id="{C462A786-B7B0-91A2-16C6-E8E5DB69C85E}"/>
              </a:ext>
            </a:extLst>
          </p:cNvPr>
          <p:cNvPicPr>
            <a:picLocks noChangeAspect="1"/>
          </p:cNvPicPr>
          <p:nvPr/>
        </p:nvPicPr>
        <p:blipFill>
          <a:blip r:embed="rId2"/>
          <a:stretch>
            <a:fillRect/>
          </a:stretch>
        </p:blipFill>
        <p:spPr>
          <a:xfrm>
            <a:off x="547687" y="572949"/>
            <a:ext cx="11096625" cy="5095875"/>
          </a:xfrm>
          <a:prstGeom prst="rect">
            <a:avLst/>
          </a:prstGeom>
        </p:spPr>
      </p:pic>
    </p:spTree>
    <p:extLst>
      <p:ext uri="{BB962C8B-B14F-4D97-AF65-F5344CB8AC3E}">
        <p14:creationId xmlns:p14="http://schemas.microsoft.com/office/powerpoint/2010/main" val="40396774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5851-2E1F-E414-E9BA-E61FE305D6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A09D83-CE1C-A7FC-77EB-36F273FC7BAF}"/>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p:sp>
        <p:nvSpPr>
          <p:cNvPr id="3" name="Text Box 2">
            <a:extLst>
              <a:ext uri="{FF2B5EF4-FFF2-40B4-BE49-F238E27FC236}">
                <a16:creationId xmlns:a16="http://schemas.microsoft.com/office/drawing/2014/main" id="{5E6B0262-70FB-7D7E-FB31-82EDE99C47C7}"/>
              </a:ext>
            </a:extLst>
          </p:cNvPr>
          <p:cNvSpPr txBox="1">
            <a:spLocks noChangeArrowheads="1"/>
          </p:cNvSpPr>
          <p:nvPr/>
        </p:nvSpPr>
        <p:spPr bwMode="auto">
          <a:xfrm>
            <a:off x="1134657" y="1013861"/>
            <a:ext cx="10563700" cy="2621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ct val="30000"/>
              </a:spcBef>
              <a:defRPr/>
            </a:pPr>
            <a:r>
              <a:rPr lang="en-AU" sz="2600" b="1" dirty="0">
                <a:solidFill>
                  <a:srgbClr val="FF0000"/>
                </a:solidFill>
                <a:latin typeface="Times New Roman" panose="02020603050405020304" pitchFamily="18" charset="0"/>
                <a:cs typeface="Times New Roman" panose="02020603050405020304" pitchFamily="18" charset="0"/>
              </a:rPr>
              <a:t>6.18</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If the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normally distributed, what percentage of all possible observed values of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will be</a:t>
            </a:r>
          </a:p>
          <a:p>
            <a:pPr algn="just" eaLnBrk="0" hangingPunct="0">
              <a:lnSpc>
                <a:spcPct val="110000"/>
              </a:lnSpc>
              <a:spcBef>
                <a:spcPct val="30000"/>
              </a:spcBef>
              <a:defRPr/>
            </a:pPr>
            <a:r>
              <a:rPr lang="en-AU" sz="2600" b="1" dirty="0">
                <a:latin typeface="Times New Roman" panose="02020603050405020304" pitchFamily="18" charset="0"/>
                <a:cs typeface="Times New Roman" panose="02020603050405020304" pitchFamily="18" charset="0"/>
              </a:rPr>
              <a:t>(a) </a:t>
            </a:r>
            <a:r>
              <a:rPr lang="en-AU" sz="2600" dirty="0">
                <a:latin typeface="Times New Roman" panose="02020603050405020304" pitchFamily="18" charset="0"/>
                <a:cs typeface="Times New Roman" panose="02020603050405020304" pitchFamily="18" charset="0"/>
              </a:rPr>
              <a:t>Within one standard deviation of the mean? </a:t>
            </a:r>
          </a:p>
          <a:p>
            <a:pPr algn="just" eaLnBrk="0" hangingPunct="0">
              <a:lnSpc>
                <a:spcPct val="110000"/>
              </a:lnSpc>
              <a:spcBef>
                <a:spcPct val="30000"/>
              </a:spcBef>
              <a:defRPr/>
            </a:pPr>
            <a:r>
              <a:rPr lang="en-AU" sz="2600" b="1" dirty="0">
                <a:latin typeface="Times New Roman" panose="02020603050405020304" pitchFamily="18" charset="0"/>
                <a:cs typeface="Times New Roman" panose="02020603050405020304" pitchFamily="18" charset="0"/>
              </a:rPr>
              <a:t>(b) </a:t>
            </a:r>
            <a:r>
              <a:rPr lang="en-AU" sz="2600" dirty="0">
                <a:latin typeface="Times New Roman" panose="02020603050405020304" pitchFamily="18" charset="0"/>
                <a:cs typeface="Times New Roman" panose="02020603050405020304" pitchFamily="18" charset="0"/>
              </a:rPr>
              <a:t>Within two standard deviations of the mean? </a:t>
            </a:r>
          </a:p>
          <a:p>
            <a:pPr algn="just" eaLnBrk="0" hangingPunct="0">
              <a:lnSpc>
                <a:spcPct val="110000"/>
              </a:lnSpc>
              <a:spcBef>
                <a:spcPct val="30000"/>
              </a:spcBef>
              <a:defRPr/>
            </a:pPr>
            <a:r>
              <a:rPr lang="en-AU" sz="2600" b="1" dirty="0">
                <a:latin typeface="Times New Roman" panose="02020603050405020304" pitchFamily="18" charset="0"/>
                <a:cs typeface="Times New Roman" panose="02020603050405020304" pitchFamily="18" charset="0"/>
              </a:rPr>
              <a:t>(c) </a:t>
            </a:r>
            <a:r>
              <a:rPr lang="en-AU" sz="2600" dirty="0">
                <a:latin typeface="Times New Roman" panose="02020603050405020304" pitchFamily="18" charset="0"/>
                <a:cs typeface="Times New Roman" panose="02020603050405020304" pitchFamily="18" charset="0"/>
              </a:rPr>
              <a:t>Within three standard deviations of the mean?</a:t>
            </a: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16">
            <a:extLst>
              <a:ext uri="{FF2B5EF4-FFF2-40B4-BE49-F238E27FC236}">
                <a16:creationId xmlns:a16="http://schemas.microsoft.com/office/drawing/2014/main" id="{0FF28237-1627-DB97-31F9-E4C2A91F5EB2}"/>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E9D4897D-1B7E-801B-B3C7-D999D050068D}"/>
              </a:ext>
            </a:extLst>
          </p:cNvPr>
          <p:cNvSpPr txBox="1"/>
          <p:nvPr/>
        </p:nvSpPr>
        <p:spPr>
          <a:xfrm>
            <a:off x="1245703" y="3829055"/>
            <a:ext cx="2232991" cy="2400657"/>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a:p>
            <a:pPr algn="just">
              <a:spcBef>
                <a:spcPct val="0"/>
              </a:spcBef>
              <a:buClr>
                <a:schemeClr val="tx1"/>
              </a:buClr>
            </a:pPr>
            <a:endParaRPr lang="en-US" altLang="zh-CN" sz="2600" dirty="0">
              <a:solidFill>
                <a:srgbClr val="FF0000"/>
              </a:solidFill>
              <a:latin typeface="Times New Roman" panose="02020603050405020304" pitchFamily="18" charset="0"/>
              <a:cs typeface="Times New Roman" panose="02020603050405020304" pitchFamily="18" charset="0"/>
            </a:endParaRPr>
          </a:p>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 </a:t>
            </a:r>
            <a:r>
              <a:rPr lang="en-US" altLang="zh-CN" sz="2600" dirty="0">
                <a:solidFill>
                  <a:srgbClr val="FF0000"/>
                </a:solidFill>
                <a:latin typeface="Times New Roman" panose="02020603050405020304" pitchFamily="18" charset="0"/>
                <a:cs typeface="Times New Roman" panose="02020603050405020304" pitchFamily="18" charset="0"/>
              </a:rPr>
              <a:t>68.26%.</a:t>
            </a:r>
          </a:p>
          <a:p>
            <a:pPr algn="just">
              <a:spcBef>
                <a:spcPts val="120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(b) </a:t>
            </a:r>
            <a:r>
              <a:rPr lang="en-US" altLang="zh-CN" sz="2600" dirty="0">
                <a:solidFill>
                  <a:srgbClr val="FF0000"/>
                </a:solidFill>
                <a:latin typeface="Times New Roman" panose="02020603050405020304" pitchFamily="18" charset="0"/>
                <a:cs typeface="Times New Roman" panose="02020603050405020304" pitchFamily="18" charset="0"/>
              </a:rPr>
              <a:t>95.44%.</a:t>
            </a:r>
          </a:p>
          <a:p>
            <a:pPr algn="just">
              <a:spcBef>
                <a:spcPts val="120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(c) </a:t>
            </a:r>
            <a:r>
              <a:rPr lang="en-US" altLang="zh-CN" sz="2600" dirty="0">
                <a:solidFill>
                  <a:srgbClr val="FF0000"/>
                </a:solidFill>
                <a:latin typeface="Times New Roman" panose="02020603050405020304" pitchFamily="18" charset="0"/>
                <a:cs typeface="Times New Roman" panose="02020603050405020304" pitchFamily="18" charset="0"/>
              </a:rPr>
              <a:t>99.73%.</a:t>
            </a:r>
            <a:endParaRPr lang="en-AU" sz="2600" dirty="0"/>
          </a:p>
        </p:txBody>
      </p:sp>
    </p:spTree>
    <p:extLst>
      <p:ext uri="{BB962C8B-B14F-4D97-AF65-F5344CB8AC3E}">
        <p14:creationId xmlns:p14="http://schemas.microsoft.com/office/powerpoint/2010/main" val="935742337"/>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E5BFA-17FB-5C0B-02CC-403F9664F7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4473CA-1980-842D-2141-02F8191D0382}"/>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p:sp>
        <p:nvSpPr>
          <p:cNvPr id="3" name="Text Box 2">
            <a:extLst>
              <a:ext uri="{FF2B5EF4-FFF2-40B4-BE49-F238E27FC236}">
                <a16:creationId xmlns:a16="http://schemas.microsoft.com/office/drawing/2014/main" id="{F94D0776-F78D-B312-9B1E-8FE3A737A65A}"/>
              </a:ext>
            </a:extLst>
          </p:cNvPr>
          <p:cNvSpPr txBox="1">
            <a:spLocks noChangeArrowheads="1"/>
          </p:cNvSpPr>
          <p:nvPr/>
        </p:nvSpPr>
        <p:spPr bwMode="auto">
          <a:xfrm>
            <a:off x="1134657" y="1013861"/>
            <a:ext cx="10563700" cy="1380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ct val="30000"/>
              </a:spcBef>
              <a:defRPr/>
            </a:pPr>
            <a:r>
              <a:rPr lang="en-AU" sz="2600" b="1" dirty="0">
                <a:solidFill>
                  <a:srgbClr val="FF0000"/>
                </a:solidFill>
                <a:latin typeface="Times New Roman" panose="02020603050405020304" pitchFamily="18" charset="0"/>
                <a:cs typeface="Times New Roman" panose="02020603050405020304" pitchFamily="18" charset="0"/>
              </a:rPr>
              <a:t>6.19</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Explain how to compute the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value corresponding to a value of a normally distributed random variable. What does the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value tell us about the value of the random variable?</a:t>
            </a: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16">
            <a:extLst>
              <a:ext uri="{FF2B5EF4-FFF2-40B4-BE49-F238E27FC236}">
                <a16:creationId xmlns:a16="http://schemas.microsoft.com/office/drawing/2014/main" id="{5BC86AE9-7E75-A19E-60AE-FFBA01391CD6}"/>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C133E96C-C83F-8B16-F7CA-4DE0585A1BA0}"/>
              </a:ext>
            </a:extLst>
          </p:cNvPr>
          <p:cNvSpPr txBox="1"/>
          <p:nvPr/>
        </p:nvSpPr>
        <p:spPr>
          <a:xfrm>
            <a:off x="1134657" y="2527029"/>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20234A7-26E6-7807-C44B-403A605D0826}"/>
                  </a:ext>
                </a:extLst>
              </p:cNvPr>
              <p:cNvSpPr txBox="1"/>
              <p:nvPr/>
            </p:nvSpPr>
            <p:spPr>
              <a:xfrm>
                <a:off x="1243987" y="3287503"/>
                <a:ext cx="2123661" cy="7777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sz="2600" b="0" i="1" smtClean="0">
                          <a:solidFill>
                            <a:schemeClr val="tx1"/>
                          </a:solidFill>
                          <a:effectLst/>
                          <a:latin typeface="Cambria Math" panose="02040503050406030204" pitchFamily="18" charset="0"/>
                        </a:rPr>
                        <m:t>𝑧</m:t>
                      </m:r>
                      <m:r>
                        <a:rPr lang="en-US" altLang="zh-CN" sz="2600" b="0" i="1" smtClean="0">
                          <a:solidFill>
                            <a:schemeClr val="tx1"/>
                          </a:solidFill>
                          <a:effectLst/>
                          <a:latin typeface="Cambria Math" panose="02040503050406030204" pitchFamily="18" charset="0"/>
                        </a:rPr>
                        <m:t>=</m:t>
                      </m:r>
                      <m:f>
                        <m:fPr>
                          <m:ctrlPr>
                            <a:rPr lang="en-US" altLang="zh-CN" sz="2600" b="0" i="1" smtClean="0">
                              <a:solidFill>
                                <a:schemeClr val="tx1"/>
                              </a:solidFill>
                              <a:effectLst/>
                              <a:latin typeface="Cambria Math" panose="02040503050406030204" pitchFamily="18" charset="0"/>
                            </a:rPr>
                          </m:ctrlPr>
                        </m:fPr>
                        <m:num>
                          <m:r>
                            <a:rPr lang="en-AU" altLang="zh-CN" sz="2600" b="0" i="1" smtClean="0">
                              <a:solidFill>
                                <a:schemeClr val="tx1"/>
                              </a:solidFill>
                              <a:effectLst/>
                              <a:latin typeface="Cambria Math" panose="02040503050406030204" pitchFamily="18" charset="0"/>
                            </a:rPr>
                            <m:t>𝑥</m:t>
                          </m:r>
                          <m:r>
                            <a:rPr lang="en-US" altLang="zh-CN" sz="2600" b="0" i="1" smtClean="0">
                              <a:solidFill>
                                <a:schemeClr val="tx1"/>
                              </a:solidFill>
                              <a:effectLst/>
                              <a:latin typeface="Cambria Math" panose="02040503050406030204" pitchFamily="18" charset="0"/>
                            </a:rPr>
                            <m:t>−</m:t>
                          </m:r>
                          <m:r>
                            <a:rPr lang="en-US" altLang="zh-CN" sz="2600" b="0" i="1" smtClean="0">
                              <a:solidFill>
                                <a:schemeClr val="tx1"/>
                              </a:solidFill>
                              <a:effectLst/>
                              <a:latin typeface="Cambria Math" panose="02040503050406030204" pitchFamily="18" charset="0"/>
                              <a:ea typeface="Cambria Math" panose="02040503050406030204" pitchFamily="18" charset="0"/>
                            </a:rPr>
                            <m:t>𝜇</m:t>
                          </m:r>
                        </m:num>
                        <m:den>
                          <m:r>
                            <a:rPr lang="en-US" altLang="zh-CN" sz="2600" b="0" i="1" smtClean="0">
                              <a:solidFill>
                                <a:schemeClr val="tx1"/>
                              </a:solidFill>
                              <a:effectLst/>
                              <a:latin typeface="Cambria Math" panose="02040503050406030204" pitchFamily="18" charset="0"/>
                              <a:ea typeface="Cambria Math" panose="02040503050406030204" pitchFamily="18" charset="0"/>
                            </a:rPr>
                            <m:t>𝜎</m:t>
                          </m:r>
                        </m:den>
                      </m:f>
                    </m:oMath>
                  </m:oMathPara>
                </a14:m>
                <a:endParaRPr lang="en-AU" sz="2600" dirty="0">
                  <a:solidFill>
                    <a:srgbClr val="0000FF"/>
                  </a:solidFill>
                </a:endParaRPr>
              </a:p>
            </p:txBody>
          </p:sp>
        </mc:Choice>
        <mc:Fallback xmlns="">
          <p:sp>
            <p:nvSpPr>
              <p:cNvPr id="6" name="TextBox 5">
                <a:extLst>
                  <a:ext uri="{FF2B5EF4-FFF2-40B4-BE49-F238E27FC236}">
                    <a16:creationId xmlns:a16="http://schemas.microsoft.com/office/drawing/2014/main" id="{120234A7-26E6-7807-C44B-403A605D0826}"/>
                  </a:ext>
                </a:extLst>
              </p:cNvPr>
              <p:cNvSpPr txBox="1">
                <a:spLocks noRot="1" noChangeAspect="1" noMove="1" noResize="1" noEditPoints="1" noAdjustHandles="1" noChangeArrowheads="1" noChangeShapeType="1" noTextEdit="1"/>
              </p:cNvSpPr>
              <p:nvPr/>
            </p:nvSpPr>
            <p:spPr>
              <a:xfrm>
                <a:off x="1243987" y="3287503"/>
                <a:ext cx="2123661" cy="777713"/>
              </a:xfrm>
              <a:prstGeom prst="rect">
                <a:avLst/>
              </a:prstGeom>
              <a:blipFill>
                <a:blip r:embed="rId3"/>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8044CE3-4E5A-E2E5-8D7E-11DE2D8CA6EB}"/>
                  </a:ext>
                </a:extLst>
              </p:cNvPr>
              <p:cNvSpPr txBox="1"/>
              <p:nvPr/>
            </p:nvSpPr>
            <p:spPr>
              <a:xfrm>
                <a:off x="1313561" y="4847946"/>
                <a:ext cx="2123661" cy="4924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altLang="zh-CN" sz="2600" b="0" i="1" smtClean="0">
                          <a:solidFill>
                            <a:schemeClr val="tx1"/>
                          </a:solidFill>
                          <a:effectLst/>
                          <a:latin typeface="Cambria Math" panose="02040503050406030204" pitchFamily="18" charset="0"/>
                        </a:rPr>
                        <m:t>𝑥</m:t>
                      </m:r>
                      <m:r>
                        <a:rPr lang="en-US" altLang="zh-CN" sz="2600" b="0" i="1" smtClean="0">
                          <a:solidFill>
                            <a:schemeClr val="tx1"/>
                          </a:solidFill>
                          <a:effectLst/>
                          <a:latin typeface="Cambria Math" panose="02040503050406030204" pitchFamily="18" charset="0"/>
                        </a:rPr>
                        <m:t>=</m:t>
                      </m:r>
                      <m:r>
                        <a:rPr lang="en-US" altLang="zh-CN" sz="2600" i="1">
                          <a:latin typeface="Cambria Math" panose="02040503050406030204" pitchFamily="18" charset="0"/>
                          <a:ea typeface="Cambria Math" panose="02040503050406030204" pitchFamily="18" charset="0"/>
                        </a:rPr>
                        <m:t>𝜎</m:t>
                      </m:r>
                      <m:r>
                        <a:rPr lang="en-AU" altLang="zh-CN" sz="2600" b="0" i="1" smtClean="0">
                          <a:latin typeface="Cambria Math" panose="02040503050406030204" pitchFamily="18" charset="0"/>
                          <a:ea typeface="Cambria Math" panose="02040503050406030204" pitchFamily="18" charset="0"/>
                        </a:rPr>
                        <m:t>𝑧</m:t>
                      </m:r>
                      <m:r>
                        <a:rPr lang="en-AU" altLang="zh-CN" sz="2600" b="0" i="1" smtClean="0">
                          <a:latin typeface="Cambria Math" panose="02040503050406030204" pitchFamily="18" charset="0"/>
                          <a:ea typeface="Cambria Math" panose="02040503050406030204" pitchFamily="18" charset="0"/>
                        </a:rPr>
                        <m:t>+</m:t>
                      </m:r>
                      <m:r>
                        <a:rPr lang="en-US" altLang="zh-CN" sz="2600" i="1">
                          <a:latin typeface="Cambria Math" panose="02040503050406030204" pitchFamily="18" charset="0"/>
                          <a:ea typeface="Cambria Math" panose="02040503050406030204" pitchFamily="18" charset="0"/>
                        </a:rPr>
                        <m:t>𝜇</m:t>
                      </m:r>
                    </m:oMath>
                  </m:oMathPara>
                </a14:m>
                <a:endParaRPr lang="en-AU" sz="2600" dirty="0">
                  <a:solidFill>
                    <a:srgbClr val="0000FF"/>
                  </a:solidFill>
                </a:endParaRPr>
              </a:p>
            </p:txBody>
          </p:sp>
        </mc:Choice>
        <mc:Fallback>
          <p:sp>
            <p:nvSpPr>
              <p:cNvPr id="8" name="TextBox 7">
                <a:extLst>
                  <a:ext uri="{FF2B5EF4-FFF2-40B4-BE49-F238E27FC236}">
                    <a16:creationId xmlns:a16="http://schemas.microsoft.com/office/drawing/2014/main" id="{F8044CE3-4E5A-E2E5-8D7E-11DE2D8CA6EB}"/>
                  </a:ext>
                </a:extLst>
              </p:cNvPr>
              <p:cNvSpPr txBox="1">
                <a:spLocks noRot="1" noChangeAspect="1" noMove="1" noResize="1" noEditPoints="1" noAdjustHandles="1" noChangeArrowheads="1" noChangeShapeType="1" noTextEdit="1"/>
              </p:cNvSpPr>
              <p:nvPr/>
            </p:nvSpPr>
            <p:spPr>
              <a:xfrm>
                <a:off x="1313561" y="4847946"/>
                <a:ext cx="2123661" cy="492443"/>
              </a:xfrm>
              <a:prstGeom prst="rect">
                <a:avLst/>
              </a:prstGeom>
              <a:blipFill>
                <a:blip r:embed="rId4"/>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513661029"/>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F6F9-FC6E-068E-9399-2B97B449B1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66F534-A2B1-EDE5-BD50-59D8888AE15D}"/>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p:sp>
        <p:nvSpPr>
          <p:cNvPr id="3" name="Text Box 2">
            <a:extLst>
              <a:ext uri="{FF2B5EF4-FFF2-40B4-BE49-F238E27FC236}">
                <a16:creationId xmlns:a16="http://schemas.microsoft.com/office/drawing/2014/main" id="{62E6EE9E-2485-0AD6-394B-4A2BB6DB1928}"/>
              </a:ext>
            </a:extLst>
          </p:cNvPr>
          <p:cNvSpPr txBox="1">
            <a:spLocks noChangeArrowheads="1"/>
          </p:cNvSpPr>
          <p:nvPr/>
        </p:nvSpPr>
        <p:spPr bwMode="auto">
          <a:xfrm>
            <a:off x="1134657" y="1013861"/>
            <a:ext cx="10563700" cy="500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ct val="30000"/>
              </a:spcBef>
              <a:defRPr/>
            </a:pPr>
            <a:r>
              <a:rPr lang="en-AU" sz="2600" b="1" dirty="0">
                <a:solidFill>
                  <a:srgbClr val="FF0000"/>
                </a:solidFill>
                <a:latin typeface="Times New Roman" panose="02020603050405020304" pitchFamily="18" charset="0"/>
                <a:cs typeface="Times New Roman" panose="02020603050405020304" pitchFamily="18" charset="0"/>
              </a:rPr>
              <a:t>6.21</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Why do we compute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values when using the normal table? Explain.</a:t>
            </a:r>
            <a:endParaRPr lang="en-US" altLang="zh-CN" sz="2600" dirty="0">
              <a:latin typeface="Times New Roman" panose="02020603050405020304" pitchFamily="18" charset="0"/>
              <a:cs typeface="Times New Roman" panose="02020603050405020304" pitchFamily="18" charset="0"/>
            </a:endParaRPr>
          </a:p>
        </p:txBody>
      </p:sp>
      <p:sp>
        <p:nvSpPr>
          <p:cNvPr id="4" name="灯片编号占位符 16">
            <a:extLst>
              <a:ext uri="{FF2B5EF4-FFF2-40B4-BE49-F238E27FC236}">
                <a16:creationId xmlns:a16="http://schemas.microsoft.com/office/drawing/2014/main" id="{57FBE0DD-7529-7318-37E0-623B14914239}"/>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85</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9A463FB6-2E5E-D581-6D8E-0ECEF2B2BC45}"/>
              </a:ext>
            </a:extLst>
          </p:cNvPr>
          <p:cNvSpPr txBox="1"/>
          <p:nvPr/>
        </p:nvSpPr>
        <p:spPr>
          <a:xfrm>
            <a:off x="1134657" y="2064152"/>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556AADC-F69A-E4F8-2B63-BC792BAA5742}"/>
                  </a:ext>
                </a:extLst>
              </p:cNvPr>
              <p:cNvSpPr txBox="1"/>
              <p:nvPr/>
            </p:nvSpPr>
            <p:spPr>
              <a:xfrm>
                <a:off x="1172695" y="2844867"/>
                <a:ext cx="9720591" cy="1091261"/>
              </a:xfrm>
              <a:prstGeom prst="rect">
                <a:avLst/>
              </a:prstGeom>
              <a:noFill/>
            </p:spPr>
            <p:txBody>
              <a:bodyPr wrap="square">
                <a:spAutoFit/>
              </a:bodyPr>
              <a:lstStyle/>
              <a:p>
                <a:pPr algn="just">
                  <a:spcBef>
                    <a:spcPct val="0"/>
                  </a:spcBef>
                  <a:buClr>
                    <a:schemeClr val="tx1"/>
                  </a:buClr>
                </a:pPr>
                <a:r>
                  <a:rPr lang="en-US" altLang="zh-CN" sz="2600" dirty="0">
                    <a:solidFill>
                      <a:schemeClr val="tx1"/>
                    </a:solidFill>
                    <a:latin typeface="Times New Roman" panose="02020603050405020304" pitchFamily="18" charset="0"/>
                    <a:cs typeface="Times New Roman" panose="02020603050405020304" pitchFamily="18" charset="0"/>
                  </a:rPr>
                  <a:t>The normal table tells us the probability density function of </a:t>
                </a:r>
                <a:r>
                  <a:rPr lang="en-US" altLang="zh-CN" sz="2600" i="1" dirty="0">
                    <a:solidFill>
                      <a:schemeClr val="tx1"/>
                    </a:solidFill>
                    <a:latin typeface="Times New Roman" panose="02020603050405020304" pitchFamily="18" charset="0"/>
                    <a:cs typeface="Times New Roman" panose="02020603050405020304" pitchFamily="18" charset="0"/>
                  </a:rPr>
                  <a:t>z</a:t>
                </a:r>
                <a:r>
                  <a:rPr lang="en-US" altLang="zh-CN" sz="2600" dirty="0">
                    <a:solidFill>
                      <a:schemeClr val="tx1"/>
                    </a:solidFill>
                    <a:latin typeface="Times New Roman" panose="02020603050405020304" pitchFamily="18" charset="0"/>
                    <a:cs typeface="Times New Roman" panose="02020603050405020304" pitchFamily="18" charset="0"/>
                  </a:rPr>
                  <a:t>. If we want to compute</a:t>
                </a:r>
                <a:r>
                  <a:rPr lang="en-AU" altLang="zh-CN" sz="26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AU" altLang="zh-CN" sz="2600" b="0" i="1" smtClean="0">
                        <a:solidFill>
                          <a:schemeClr val="tx1"/>
                        </a:solidFill>
                        <a:latin typeface="Cambria Math" panose="02040503050406030204" pitchFamily="18" charset="0"/>
                      </a:rPr>
                      <m:t>𝑓</m:t>
                    </m:r>
                    <m:d>
                      <m:dPr>
                        <m:ctrlPr>
                          <a:rPr lang="en-AU" altLang="zh-CN" sz="2600" i="1" smtClean="0">
                            <a:solidFill>
                              <a:schemeClr val="tx1"/>
                            </a:solidFill>
                            <a:latin typeface="Cambria Math" panose="02040503050406030204" pitchFamily="18" charset="0"/>
                          </a:rPr>
                        </m:ctrlPr>
                      </m:dPr>
                      <m:e>
                        <m:r>
                          <a:rPr lang="en-AU" altLang="zh-CN" sz="2600" b="0" i="1" smtClean="0">
                            <a:solidFill>
                              <a:schemeClr val="tx1"/>
                            </a:solidFill>
                            <a:latin typeface="Cambria Math" panose="02040503050406030204" pitchFamily="18" charset="0"/>
                          </a:rPr>
                          <m:t>𝑥</m:t>
                        </m:r>
                      </m:e>
                    </m:d>
                    <m:r>
                      <a:rPr lang="en-AU" altLang="zh-CN" sz="2600" b="0" i="1" smtClean="0">
                        <a:solidFill>
                          <a:schemeClr val="tx1"/>
                        </a:solidFill>
                        <a:latin typeface="Cambria Math" panose="02040503050406030204" pitchFamily="18" charset="0"/>
                      </a:rPr>
                      <m:t>, </m:t>
                    </m:r>
                    <m:r>
                      <m:rPr>
                        <m:sty m:val="p"/>
                      </m:rPr>
                      <a:rPr lang="en-AU" altLang="zh-CN" sz="2600" b="0" i="0" smtClean="0">
                        <a:solidFill>
                          <a:schemeClr val="tx1"/>
                        </a:solidFill>
                        <a:latin typeface="Cambria Math" panose="02040503050406030204" pitchFamily="18" charset="0"/>
                      </a:rPr>
                      <m:t>we</m:t>
                    </m:r>
                    <m:r>
                      <a:rPr lang="en-AU" altLang="zh-CN" sz="2600" b="0" i="0" smtClean="0">
                        <a:solidFill>
                          <a:schemeClr val="tx1"/>
                        </a:solidFill>
                        <a:latin typeface="Cambria Math" panose="02040503050406030204" pitchFamily="18" charset="0"/>
                      </a:rPr>
                      <m:t> </m:t>
                    </m:r>
                    <m:r>
                      <m:rPr>
                        <m:sty m:val="p"/>
                      </m:rPr>
                      <a:rPr lang="en-AU" altLang="zh-CN" sz="2600" b="0" i="0" smtClean="0">
                        <a:solidFill>
                          <a:schemeClr val="tx1"/>
                        </a:solidFill>
                        <a:latin typeface="Cambria Math" panose="02040503050406030204" pitchFamily="18" charset="0"/>
                      </a:rPr>
                      <m:t>need</m:t>
                    </m:r>
                    <m:r>
                      <a:rPr lang="en-AU" altLang="zh-CN" sz="2600" b="0" i="0" smtClean="0">
                        <a:solidFill>
                          <a:schemeClr val="tx1"/>
                        </a:solidFill>
                        <a:latin typeface="Cambria Math" panose="02040503050406030204" pitchFamily="18" charset="0"/>
                      </a:rPr>
                      <m:t> </m:t>
                    </m:r>
                    <m:r>
                      <m:rPr>
                        <m:sty m:val="p"/>
                      </m:rPr>
                      <a:rPr lang="en-AU" altLang="zh-CN" sz="2600" b="0" i="0" smtClean="0">
                        <a:solidFill>
                          <a:schemeClr val="tx1"/>
                        </a:solidFill>
                        <a:latin typeface="Cambria Math" panose="02040503050406030204" pitchFamily="18" charset="0"/>
                      </a:rPr>
                      <m:t>to</m:t>
                    </m:r>
                    <m:r>
                      <a:rPr lang="en-AU" altLang="zh-CN" sz="2600" b="0" i="0" smtClean="0">
                        <a:solidFill>
                          <a:schemeClr val="tx1"/>
                        </a:solidFill>
                        <a:latin typeface="Cambria Math" panose="02040503050406030204" pitchFamily="18" charset="0"/>
                      </a:rPr>
                      <m:t> </m:t>
                    </m:r>
                    <m:r>
                      <m:rPr>
                        <m:sty m:val="p"/>
                      </m:rPr>
                      <a:rPr lang="en-AU" altLang="zh-CN" sz="2600" b="0" i="0" smtClean="0">
                        <a:solidFill>
                          <a:schemeClr val="tx1"/>
                        </a:solidFill>
                        <a:latin typeface="Cambria Math" panose="02040503050406030204" pitchFamily="18" charset="0"/>
                      </a:rPr>
                      <m:t>compute</m:t>
                    </m:r>
                    <m:r>
                      <a:rPr lang="en-AU" altLang="zh-CN" sz="2600" b="0" i="0" smtClean="0">
                        <a:solidFill>
                          <a:schemeClr val="tx1"/>
                        </a:solidFill>
                        <a:latin typeface="Cambria Math" panose="02040503050406030204" pitchFamily="18" charset="0"/>
                      </a:rPr>
                      <m:t> </m:t>
                    </m:r>
                    <m:r>
                      <a:rPr lang="en-AU" altLang="zh-CN" sz="2600" b="0" i="1" smtClean="0">
                        <a:solidFill>
                          <a:schemeClr val="tx1"/>
                        </a:solidFill>
                        <a:latin typeface="Cambria Math" panose="02040503050406030204" pitchFamily="18" charset="0"/>
                      </a:rPr>
                      <m:t>𝑓</m:t>
                    </m:r>
                    <m:d>
                      <m:dPr>
                        <m:ctrlPr>
                          <a:rPr lang="en-AU" altLang="zh-CN" sz="2600" i="1" smtClean="0">
                            <a:solidFill>
                              <a:schemeClr val="tx1"/>
                            </a:solidFill>
                            <a:latin typeface="Cambria Math" panose="02040503050406030204" pitchFamily="18" charset="0"/>
                          </a:rPr>
                        </m:ctrlPr>
                      </m:dPr>
                      <m:e>
                        <m:r>
                          <a:rPr lang="en-AU" altLang="zh-CN" sz="2600" b="0" i="1" smtClean="0">
                            <a:solidFill>
                              <a:schemeClr val="tx1"/>
                            </a:solidFill>
                            <a:latin typeface="Cambria Math" panose="02040503050406030204" pitchFamily="18" charset="0"/>
                          </a:rPr>
                          <m:t>𝑧</m:t>
                        </m:r>
                        <m:r>
                          <a:rPr lang="en-US" altLang="zh-CN" sz="2600" b="0" i="1">
                            <a:solidFill>
                              <a:schemeClr val="tx1"/>
                            </a:solidFill>
                            <a:latin typeface="Cambria Math" panose="02040503050406030204" pitchFamily="18" charset="0"/>
                          </a:rPr>
                          <m:t>=</m:t>
                        </m:r>
                        <m:f>
                          <m:fPr>
                            <m:ctrlPr>
                              <a:rPr lang="en-US" altLang="zh-CN" sz="2600" i="1">
                                <a:solidFill>
                                  <a:schemeClr val="tx1"/>
                                </a:solidFill>
                                <a:latin typeface="Cambria Math" panose="02040503050406030204" pitchFamily="18" charset="0"/>
                              </a:rPr>
                            </m:ctrlPr>
                          </m:fPr>
                          <m:num>
                            <m:r>
                              <a:rPr lang="en-AU" altLang="zh-CN" sz="2600" b="0" i="1">
                                <a:solidFill>
                                  <a:schemeClr val="tx1"/>
                                </a:solidFill>
                                <a:latin typeface="Cambria Math" panose="02040503050406030204" pitchFamily="18" charset="0"/>
                              </a:rPr>
                              <m:t>𝑥</m:t>
                            </m:r>
                            <m:r>
                              <a:rPr lang="en-US" altLang="zh-CN" sz="2600" b="0" i="1">
                                <a:solidFill>
                                  <a:schemeClr val="tx1"/>
                                </a:solidFill>
                                <a:latin typeface="Cambria Math" panose="02040503050406030204" pitchFamily="18" charset="0"/>
                              </a:rPr>
                              <m:t>−</m:t>
                            </m:r>
                            <m:r>
                              <a:rPr lang="en-US" altLang="zh-CN" sz="2600" b="0" i="1">
                                <a:solidFill>
                                  <a:schemeClr val="tx1"/>
                                </a:solidFill>
                                <a:latin typeface="Cambria Math" panose="02040503050406030204" pitchFamily="18" charset="0"/>
                                <a:ea typeface="Cambria Math" panose="02040503050406030204" pitchFamily="18" charset="0"/>
                              </a:rPr>
                              <m:t>𝜇</m:t>
                            </m:r>
                          </m:num>
                          <m:den>
                            <m:r>
                              <a:rPr lang="en-US" altLang="zh-CN" sz="2600" b="0" i="1">
                                <a:solidFill>
                                  <a:schemeClr val="tx1"/>
                                </a:solidFill>
                                <a:latin typeface="Cambria Math" panose="02040503050406030204" pitchFamily="18" charset="0"/>
                                <a:ea typeface="Cambria Math" panose="02040503050406030204" pitchFamily="18" charset="0"/>
                              </a:rPr>
                              <m:t>𝜎</m:t>
                            </m:r>
                          </m:den>
                        </m:f>
                      </m:e>
                    </m:d>
                  </m:oMath>
                </a14:m>
                <a:r>
                  <a:rPr lang="en-US" altLang="zh-CN" sz="2600" dirty="0">
                    <a:solidFill>
                      <a:schemeClr val="tx1"/>
                    </a:solidFill>
                    <a:latin typeface="Times New Roman" panose="02020603050405020304" pitchFamily="18" charset="0"/>
                    <a:cs typeface="Times New Roman" panose="02020603050405020304" pitchFamily="18" charset="0"/>
                  </a:rPr>
                  <a:t> </a:t>
                </a:r>
              </a:p>
            </p:txBody>
          </p:sp>
        </mc:Choice>
        <mc:Fallback>
          <p:sp>
            <p:nvSpPr>
              <p:cNvPr id="7" name="TextBox 6">
                <a:extLst>
                  <a:ext uri="{FF2B5EF4-FFF2-40B4-BE49-F238E27FC236}">
                    <a16:creationId xmlns:a16="http://schemas.microsoft.com/office/drawing/2014/main" id="{E556AADC-F69A-E4F8-2B63-BC792BAA5742}"/>
                  </a:ext>
                </a:extLst>
              </p:cNvPr>
              <p:cNvSpPr txBox="1">
                <a:spLocks noRot="1" noChangeAspect="1" noMove="1" noResize="1" noEditPoints="1" noAdjustHandles="1" noChangeArrowheads="1" noChangeShapeType="1" noTextEdit="1"/>
              </p:cNvSpPr>
              <p:nvPr/>
            </p:nvSpPr>
            <p:spPr>
              <a:xfrm>
                <a:off x="1172695" y="2844867"/>
                <a:ext cx="9720591" cy="1091261"/>
              </a:xfrm>
              <a:prstGeom prst="rect">
                <a:avLst/>
              </a:prstGeom>
              <a:blipFill>
                <a:blip r:embed="rId3"/>
                <a:stretch>
                  <a:fillRect l="-1129" t="-5587" r="-1129" b="-3911"/>
                </a:stretch>
              </a:blipFill>
            </p:spPr>
            <p:txBody>
              <a:bodyPr/>
              <a:lstStyle/>
              <a:p>
                <a:r>
                  <a:rPr lang="en-AU">
                    <a:noFill/>
                  </a:rPr>
                  <a:t> </a:t>
                </a:r>
              </a:p>
            </p:txBody>
          </p:sp>
        </mc:Fallback>
      </mc:AlternateContent>
    </p:spTree>
    <p:extLst>
      <p:ext uri="{BB962C8B-B14F-4D97-AF65-F5344CB8AC3E}">
        <p14:creationId xmlns:p14="http://schemas.microsoft.com/office/powerpoint/2010/main" val="1746606328"/>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90D1-FFA1-E379-8D60-E6EECE2883B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F134EF-8803-C470-F654-B40B660EAB74}"/>
              </a:ext>
            </a:extLst>
          </p:cNvPr>
          <p:cNvSpPr txBox="1"/>
          <p:nvPr/>
        </p:nvSpPr>
        <p:spPr>
          <a:xfrm>
            <a:off x="478675" y="188739"/>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 Box 2">
                <a:extLst>
                  <a:ext uri="{FF2B5EF4-FFF2-40B4-BE49-F238E27FC236}">
                    <a16:creationId xmlns:a16="http://schemas.microsoft.com/office/drawing/2014/main" id="{DE65A57A-4DC3-58C0-2F52-05F55AFAE90E}"/>
                  </a:ext>
                </a:extLst>
              </p:cNvPr>
              <p:cNvSpPr txBox="1">
                <a:spLocks noChangeArrowheads="1"/>
              </p:cNvSpPr>
              <p:nvPr/>
            </p:nvSpPr>
            <p:spPr bwMode="auto">
              <a:xfrm>
                <a:off x="616226" y="1013861"/>
                <a:ext cx="11082131" cy="337214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solidFill>
                      <a:srgbClr val="FF0000"/>
                    </a:solidFill>
                    <a:latin typeface="Times New Roman" panose="02020603050405020304" pitchFamily="18" charset="0"/>
                    <a:cs typeface="Times New Roman" panose="02020603050405020304" pitchFamily="18" charset="0"/>
                  </a:rPr>
                  <a:t>6.22</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In each case, sketch the two specified normal curves on the same set of axes: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(a)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b="0" i="1" smtClean="0">
                        <a:latin typeface="Cambria Math" panose="02040503050406030204" pitchFamily="18" charset="0"/>
                        <a:ea typeface="Cambria Math" panose="02040503050406030204" pitchFamily="18" charset="0"/>
                      </a:rPr>
                      <m:t>=20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smtClean="0">
                        <a:latin typeface="Cambria Math" panose="02040503050406030204" pitchFamily="18" charset="0"/>
                        <a:ea typeface="Cambria Math" panose="02040503050406030204" pitchFamily="18" charset="0"/>
                        <a:cs typeface="Times New Roman" panose="02020603050405020304" pitchFamily="18" charset="0"/>
                      </a:rPr>
                      <m:t>σ</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=3</m:t>
                    </m:r>
                  </m:oMath>
                </a14:m>
                <a:r>
                  <a:rPr lang="en-AU" sz="2600" dirty="0">
                    <a:latin typeface="Times New Roman" panose="02020603050405020304" pitchFamily="18" charset="0"/>
                    <a:cs typeface="Times New Roman" panose="02020603050405020304" pitchFamily="18" charset="0"/>
                  </a:rPr>
                  <a:t>, and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=20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6</m:t>
                    </m:r>
                  </m:oMath>
                </a14:m>
                <a:r>
                  <a:rPr lang="en-AU" sz="2600" dirty="0">
                    <a:latin typeface="Times New Roman" panose="02020603050405020304" pitchFamily="18" charset="0"/>
                    <a:cs typeface="Times New Roman" panose="02020603050405020304" pitchFamily="18" charset="0"/>
                  </a:rPr>
                  <a:t>.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(b)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=20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i="1">
                        <a:latin typeface="Cambria Math" panose="02040503050406030204" pitchFamily="18" charset="0"/>
                        <a:ea typeface="Cambria Math" panose="02040503050406030204" pitchFamily="18" charset="0"/>
                        <a:cs typeface="Times New Roman" panose="02020603050405020304" pitchFamily="18" charset="0"/>
                      </a:rPr>
                      <m:t>=3</m:t>
                    </m:r>
                  </m:oMath>
                </a14:m>
                <a:r>
                  <a:rPr lang="en-AU" sz="2600" dirty="0">
                    <a:latin typeface="Times New Roman" panose="02020603050405020304" pitchFamily="18" charset="0"/>
                    <a:cs typeface="Times New Roman" panose="02020603050405020304" pitchFamily="18" charset="0"/>
                  </a:rPr>
                  <a:t>, and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m:t>
                    </m:r>
                    <m:r>
                      <a:rPr lang="en-AU" altLang="zh-CN" sz="2600" b="0" i="1" smtClean="0">
                        <a:latin typeface="Cambria Math" panose="02040503050406030204" pitchFamily="18" charset="0"/>
                        <a:ea typeface="Cambria Math" panose="02040503050406030204" pitchFamily="18" charset="0"/>
                      </a:rPr>
                      <m:t>3</m:t>
                    </m:r>
                    <m:r>
                      <a:rPr lang="en-AU" altLang="zh-CN" sz="2600" i="1">
                        <a:latin typeface="Cambria Math" panose="02040503050406030204" pitchFamily="18" charset="0"/>
                        <a:ea typeface="Cambria Math" panose="02040503050406030204" pitchFamily="18" charset="0"/>
                      </a:rPr>
                      <m:t>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3</m:t>
                    </m:r>
                  </m:oMath>
                </a14:m>
                <a:r>
                  <a:rPr lang="en-AU" sz="2600" dirty="0">
                    <a:latin typeface="Times New Roman" panose="02020603050405020304" pitchFamily="18" charset="0"/>
                    <a:cs typeface="Times New Roman" panose="02020603050405020304" pitchFamily="18" charset="0"/>
                  </a:rPr>
                  <a:t>.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(c)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m:t>
                    </m:r>
                    <m:r>
                      <a:rPr lang="en-AU" altLang="zh-CN" sz="2600" b="0" i="1" smtClean="0">
                        <a:latin typeface="Cambria Math" panose="02040503050406030204" pitchFamily="18" charset="0"/>
                        <a:ea typeface="Cambria Math" panose="02040503050406030204" pitchFamily="18" charset="0"/>
                      </a:rPr>
                      <m:t>10</m:t>
                    </m:r>
                    <m:r>
                      <a:rPr lang="en-AU" altLang="zh-CN" sz="2600" i="1">
                        <a:latin typeface="Cambria Math" panose="02040503050406030204" pitchFamily="18" charset="0"/>
                        <a:ea typeface="Cambria Math" panose="02040503050406030204" pitchFamily="18" charset="0"/>
                      </a:rPr>
                      <m:t>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10</m:t>
                    </m:r>
                  </m:oMath>
                </a14:m>
                <a:r>
                  <a:rPr lang="en-AU" sz="2600" dirty="0">
                    <a:latin typeface="Times New Roman" panose="02020603050405020304" pitchFamily="18" charset="0"/>
                    <a:cs typeface="Times New Roman" panose="02020603050405020304" pitchFamily="18" charset="0"/>
                  </a:rPr>
                  <a:t>, and a normal curve with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=2</m:t>
                    </m:r>
                    <m:r>
                      <a:rPr lang="en-AU" altLang="zh-CN" sz="2600" b="0" i="1" smtClean="0">
                        <a:latin typeface="Cambria Math" panose="02040503050406030204" pitchFamily="18" charset="0"/>
                        <a:ea typeface="Cambria Math" panose="02040503050406030204" pitchFamily="18" charset="0"/>
                      </a:rPr>
                      <m:t>0</m:t>
                    </m:r>
                    <m:r>
                      <a:rPr lang="en-AU" altLang="zh-CN" sz="2600" i="1">
                        <a:latin typeface="Cambria Math" panose="02040503050406030204" pitchFamily="18" charset="0"/>
                        <a:ea typeface="Cambria Math" panose="02040503050406030204" pitchFamily="18" charset="0"/>
                      </a:rPr>
                      <m:t>0</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i="1">
                        <a:latin typeface="Cambria Math" panose="02040503050406030204" pitchFamily="18" charset="0"/>
                        <a:ea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20</m:t>
                    </m:r>
                  </m:oMath>
                </a14:m>
                <a:r>
                  <a:rPr lang="en-AU"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p:txBody>
          </p:sp>
        </mc:Choice>
        <mc:Fallback>
          <p:sp>
            <p:nvSpPr>
              <p:cNvPr id="3" name="Text Box 2">
                <a:extLst>
                  <a:ext uri="{FF2B5EF4-FFF2-40B4-BE49-F238E27FC236}">
                    <a16:creationId xmlns:a16="http://schemas.microsoft.com/office/drawing/2014/main" id="{DE65A57A-4DC3-58C0-2F52-05F55AFAE90E}"/>
                  </a:ext>
                </a:extLst>
              </p:cNvPr>
              <p:cNvSpPr txBox="1">
                <a:spLocks noRot="1" noChangeAspect="1" noMove="1" noResize="1" noEditPoints="1" noAdjustHandles="1" noChangeArrowheads="1" noChangeShapeType="1" noTextEdit="1"/>
              </p:cNvSpPr>
              <p:nvPr/>
            </p:nvSpPr>
            <p:spPr bwMode="auto">
              <a:xfrm>
                <a:off x="616226" y="1013861"/>
                <a:ext cx="11082131" cy="3372142"/>
              </a:xfrm>
              <a:prstGeom prst="rect">
                <a:avLst/>
              </a:prstGeom>
              <a:blipFill>
                <a:blip r:embed="rId3"/>
                <a:stretch>
                  <a:fillRect l="-990" t="-1266" r="-990" b="-37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38A4E862-4DAC-17A1-704A-0B621885755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86</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61AAAFA9-438B-C903-B7F1-514EBDF75E3C}"/>
              </a:ext>
            </a:extLst>
          </p:cNvPr>
          <p:cNvSpPr txBox="1"/>
          <p:nvPr/>
        </p:nvSpPr>
        <p:spPr>
          <a:xfrm>
            <a:off x="737092" y="4687905"/>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13562982"/>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39702-ADD1-C6EA-11FC-EC3593AB92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5601D3-D653-3BBF-9DA0-742B747FF95C}"/>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27761273-38CC-8F00-DD23-B8B74B801C7F}"/>
                  </a:ext>
                </a:extLst>
              </p:cNvPr>
              <p:cNvSpPr txBox="1">
                <a:spLocks noChangeArrowheads="1"/>
              </p:cNvSpPr>
              <p:nvPr/>
            </p:nvSpPr>
            <p:spPr bwMode="auto">
              <a:xfrm>
                <a:off x="1134657" y="1013861"/>
                <a:ext cx="10563700" cy="204254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solidFill>
                      <a:srgbClr val="FF0000"/>
                    </a:solidFill>
                    <a:latin typeface="Times New Roman" panose="02020603050405020304" pitchFamily="18" charset="0"/>
                    <a:cs typeface="Times New Roman" panose="02020603050405020304" pitchFamily="18" charset="0"/>
                  </a:rPr>
                  <a:t>6.24</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If the random variable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has a standard normal distribution, sketch and find each of the following probabilities: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(a)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r>
                      <a:rPr lang="en-AU" sz="2600" b="0" i="1" smtClean="0">
                        <a:latin typeface="Cambria Math" panose="02040503050406030204" pitchFamily="18" charset="0"/>
                        <a:cs typeface="Times New Roman" panose="02020603050405020304" pitchFamily="18" charset="0"/>
                      </a:rPr>
                      <m:t>(0≤</m:t>
                    </m:r>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≤1.5)</m:t>
                    </m:r>
                    <m:r>
                      <m:rPr>
                        <m:nor/>
                      </m:rPr>
                      <a:rPr lang="en-AU" sz="2600" dirty="0">
                        <a:latin typeface="Times New Roman" panose="02020603050405020304" pitchFamily="18" charset="0"/>
                        <a:cs typeface="Times New Roman" panose="02020603050405020304" pitchFamily="18" charset="0"/>
                      </a:rPr>
                      <m:t>     (</m:t>
                    </m:r>
                    <m:r>
                      <m:rPr>
                        <m:nor/>
                      </m:rPr>
                      <a:rPr lang="en-AU" sz="2600" dirty="0">
                        <a:latin typeface="Times New Roman" panose="02020603050405020304" pitchFamily="18" charset="0"/>
                        <a:cs typeface="Times New Roman" panose="02020603050405020304" pitchFamily="18" charset="0"/>
                      </a:rPr>
                      <m:t>b</m:t>
                    </m:r>
                    <m:r>
                      <m:rPr>
                        <m:nor/>
                      </m:rPr>
                      <a:rPr lang="en-AU" sz="2600" dirty="0">
                        <a:latin typeface="Times New Roman" panose="020206030504050203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≥2)</m:t>
                    </m:r>
                  </m:oMath>
                </a14:m>
                <a:r>
                  <a:rPr lang="en-AU" sz="2600" dirty="0">
                    <a:latin typeface="Times New Roman" panose="02020603050405020304" pitchFamily="18" charset="0"/>
                    <a:cs typeface="Times New Roman" panose="02020603050405020304" pitchFamily="18" charset="0"/>
                  </a:rPr>
                  <a:t>    (c)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≤1.5)</m:t>
                    </m:r>
                  </m:oMath>
                </a14:m>
                <a:r>
                  <a:rPr lang="en-AU" sz="2600" dirty="0">
                    <a:latin typeface="Times New Roman" panose="02020603050405020304" pitchFamily="18" charset="0"/>
                    <a:cs typeface="Times New Roman" panose="02020603050405020304" pitchFamily="18" charset="0"/>
                  </a:rPr>
                  <a:t>    (d)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≥−1.0</m:t>
                    </m:r>
                    <m:r>
                      <a:rPr lang="en-AU" sz="2600" i="1">
                        <a:latin typeface="Cambria Math" panose="02040503050406030204" pitchFamily="18" charset="0"/>
                        <a:cs typeface="Times New Roman" panose="02020603050405020304" pitchFamily="18" charset="0"/>
                      </a:rPr>
                      <m:t>)</m:t>
                    </m:r>
                  </m:oMath>
                </a14:m>
                <a:r>
                  <a:rPr lang="en-AU" sz="2600" dirty="0">
                    <a:latin typeface="Times New Roman" panose="02020603050405020304" pitchFamily="18" charset="0"/>
                    <a:cs typeface="Times New Roman" panose="02020603050405020304" pitchFamily="18" charset="0"/>
                  </a:rPr>
                  <a:t>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(e)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(−2.5≤</m:t>
                    </m:r>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≤0.5)</m:t>
                    </m:r>
                    <m:r>
                      <m:rPr>
                        <m:nor/>
                      </m:rPr>
                      <a:rPr lang="en-AU" sz="2600" dirty="0">
                        <a:latin typeface="Times New Roman" panose="02020603050405020304" pitchFamily="18" charset="0"/>
                        <a:cs typeface="Times New Roman" panose="02020603050405020304" pitchFamily="18" charset="0"/>
                      </a:rPr>
                      <m:t> </m:t>
                    </m:r>
                  </m:oMath>
                </a14:m>
                <a:r>
                  <a:rPr lang="en-AU"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27761273-38CC-8F00-DD23-B8B74B801C7F}"/>
                  </a:ext>
                </a:extLst>
              </p:cNvPr>
              <p:cNvSpPr txBox="1">
                <a:spLocks noRot="1" noChangeAspect="1" noMove="1" noResize="1" noEditPoints="1" noAdjustHandles="1" noChangeArrowheads="1" noChangeShapeType="1" noTextEdit="1"/>
              </p:cNvSpPr>
              <p:nvPr/>
            </p:nvSpPr>
            <p:spPr bwMode="auto">
              <a:xfrm>
                <a:off x="1134657" y="1013861"/>
                <a:ext cx="10563700" cy="2042547"/>
              </a:xfrm>
              <a:prstGeom prst="rect">
                <a:avLst/>
              </a:prstGeom>
              <a:blipFill>
                <a:blip r:embed="rId3"/>
                <a:stretch>
                  <a:fillRect l="-1039" t="-2090" r="-1039" b="-358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B06DDD41-3610-29E9-FF48-E4F44C212015}"/>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87</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05A528B7-CF3B-C7D8-BE4A-22A31921E391}"/>
              </a:ext>
            </a:extLst>
          </p:cNvPr>
          <p:cNvSpPr txBox="1"/>
          <p:nvPr/>
        </p:nvSpPr>
        <p:spPr>
          <a:xfrm>
            <a:off x="1055144" y="3429000"/>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0254592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887BB-F397-7C81-9060-F9FCD7F45B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A7F385-E9E5-4871-B703-333919684B47}"/>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2549232A-9FB3-0C7B-6DB0-8B58D3EE4E94}"/>
                  </a:ext>
                </a:extLst>
              </p:cNvPr>
              <p:cNvSpPr txBox="1">
                <a:spLocks noChangeArrowheads="1"/>
              </p:cNvSpPr>
              <p:nvPr/>
            </p:nvSpPr>
            <p:spPr bwMode="auto">
              <a:xfrm>
                <a:off x="1134657" y="1013861"/>
                <a:ext cx="10563700" cy="24149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solidFill>
                      <a:srgbClr val="FF0000"/>
                    </a:solidFill>
                    <a:latin typeface="Times New Roman" panose="02020603050405020304" pitchFamily="18" charset="0"/>
                    <a:cs typeface="Times New Roman" panose="02020603050405020304" pitchFamily="18" charset="0"/>
                  </a:rPr>
                  <a:t>6.26</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Suppose that the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normally distributed with mean </a:t>
                </a:r>
                <a14:m>
                  <m:oMath xmlns:m="http://schemas.openxmlformats.org/officeDocument/2006/math">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m:t>
                    </m:r>
                    <m:r>
                      <a:rPr lang="en-AU" altLang="zh-CN" sz="2600" b="0" i="1" smtClean="0">
                        <a:latin typeface="Cambria Math" panose="02040503050406030204" pitchFamily="18" charset="0"/>
                        <a:ea typeface="Cambria Math" panose="02040503050406030204" pitchFamily="18" charset="0"/>
                      </a:rPr>
                      <m:t>1,000</m:t>
                    </m:r>
                  </m:oMath>
                </a14:m>
                <a:r>
                  <a:rPr lang="en-AU" sz="2600" dirty="0">
                    <a:latin typeface="Times New Roman" panose="02020603050405020304" pitchFamily="18" charset="0"/>
                    <a:cs typeface="Times New Roman" panose="02020603050405020304" pitchFamily="18" charset="0"/>
                  </a:rPr>
                  <a:t> and standard deviation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=100</m:t>
                    </m:r>
                  </m:oMath>
                </a14:m>
                <a:r>
                  <a:rPr lang="en-AU" sz="2600" dirty="0">
                    <a:latin typeface="Times New Roman" panose="02020603050405020304" pitchFamily="18" charset="0"/>
                    <a:cs typeface="Times New Roman" panose="02020603050405020304" pitchFamily="18" charset="0"/>
                  </a:rPr>
                  <a:t>. Sketch and find each of the following probabilities: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(a)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r>
                      <a:rPr lang="en-AU" sz="2600" b="0" i="1" smtClean="0">
                        <a:latin typeface="Cambria Math" panose="02040503050406030204" pitchFamily="18" charset="0"/>
                        <a:cs typeface="Times New Roman" panose="02020603050405020304" pitchFamily="18" charset="0"/>
                      </a:rPr>
                      <m:t>(1,000≤</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≤1,200)</m:t>
                    </m:r>
                    <m:r>
                      <m:rPr>
                        <m:nor/>
                      </m:rPr>
                      <a:rPr lang="en-AU" sz="2600" dirty="0">
                        <a:latin typeface="Times New Roman" panose="02020603050405020304" pitchFamily="18" charset="0"/>
                        <a:cs typeface="Times New Roman" panose="02020603050405020304" pitchFamily="18" charset="0"/>
                      </a:rPr>
                      <m:t>     (</m:t>
                    </m:r>
                    <m:r>
                      <m:rPr>
                        <m:nor/>
                      </m:rPr>
                      <a:rPr lang="en-AU" sz="2600" dirty="0">
                        <a:latin typeface="Times New Roman" panose="02020603050405020304" pitchFamily="18" charset="0"/>
                        <a:cs typeface="Times New Roman" panose="02020603050405020304" pitchFamily="18" charset="0"/>
                      </a:rPr>
                      <m:t>b</m:t>
                    </m:r>
                    <m:r>
                      <m:rPr>
                        <m:nor/>
                      </m:rPr>
                      <a:rPr lang="en-AU" sz="2600" dirty="0">
                        <a:latin typeface="Times New Roman" panose="020206030504050203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≥1,257)</m:t>
                    </m:r>
                  </m:oMath>
                </a14:m>
                <a:r>
                  <a:rPr lang="en-AU" sz="2600" dirty="0">
                    <a:latin typeface="Times New Roman" panose="02020603050405020304" pitchFamily="18" charset="0"/>
                    <a:cs typeface="Times New Roman" panose="02020603050405020304" pitchFamily="18" charset="0"/>
                  </a:rPr>
                  <a:t>     (c)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1,035</m:t>
                    </m:r>
                    <m:r>
                      <a:rPr lang="en-AU" sz="2600" i="1">
                        <a:latin typeface="Cambria Math" panose="02040503050406030204" pitchFamily="18" charset="0"/>
                        <a:cs typeface="Times New Roman" panose="02020603050405020304" pitchFamily="18" charset="0"/>
                      </a:rPr>
                      <m:t>)</m:t>
                    </m:r>
                  </m:oMath>
                </a14:m>
                <a:endParaRPr lang="en-AU" sz="2600" dirty="0">
                  <a:latin typeface="Times New Roman" panose="02020603050405020304" pitchFamily="18" charset="0"/>
                  <a:cs typeface="Times New Roman" panose="02020603050405020304" pitchFamily="18" charset="0"/>
                </a:endParaRP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(d)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(857≤</m:t>
                    </m:r>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≥1,183)</m:t>
                    </m:r>
                  </m:oMath>
                </a14:m>
                <a:r>
                  <a:rPr lang="en-AU" sz="2600" dirty="0">
                    <a:latin typeface="Times New Roman" panose="02020603050405020304" pitchFamily="18" charset="0"/>
                    <a:cs typeface="Times New Roman" panose="02020603050405020304" pitchFamily="18" charset="0"/>
                  </a:rPr>
                  <a:t>        (e) </a:t>
                </a:r>
                <a14:m>
                  <m:oMath xmlns:m="http://schemas.openxmlformats.org/officeDocument/2006/math">
                    <m:r>
                      <a:rPr lang="en-AU" sz="2600" i="1">
                        <a:latin typeface="Cambria Math" panose="02040503050406030204" pitchFamily="18" charset="0"/>
                        <a:cs typeface="Times New Roman" panose="02020603050405020304" pitchFamily="18" charset="0"/>
                      </a:rPr>
                      <m:t>𝑃</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700</m:t>
                    </m:r>
                    <m:r>
                      <a:rPr lang="en-AU" sz="2600" i="1">
                        <a:latin typeface="Cambria Math" panose="02040503050406030204" pitchFamily="18" charset="0"/>
                        <a:cs typeface="Times New Roman" panose="02020603050405020304" pitchFamily="18" charset="0"/>
                      </a:rPr>
                      <m:t>)</m:t>
                    </m:r>
                    <m:r>
                      <m:rPr>
                        <m:nor/>
                      </m:rPr>
                      <a:rPr lang="en-AU" sz="2600" dirty="0">
                        <a:latin typeface="Times New Roman" panose="02020603050405020304" pitchFamily="18" charset="0"/>
                        <a:cs typeface="Times New Roman" panose="02020603050405020304" pitchFamily="18" charset="0"/>
                      </a:rPr>
                      <m:t> </m:t>
                    </m:r>
                  </m:oMath>
                </a14:m>
                <a:r>
                  <a:rPr lang="en-AU" sz="2600" dirty="0">
                    <a:latin typeface="Times New Roman" panose="02020603050405020304" pitchFamily="18" charset="0"/>
                    <a:cs typeface="Times New Roman" panose="02020603050405020304" pitchFamily="18" charset="0"/>
                  </a:rPr>
                  <a:t>.</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2549232A-9FB3-0C7B-6DB0-8B58D3EE4E94}"/>
                  </a:ext>
                </a:extLst>
              </p:cNvPr>
              <p:cNvSpPr txBox="1">
                <a:spLocks noRot="1" noChangeAspect="1" noMove="1" noResize="1" noEditPoints="1" noAdjustHandles="1" noChangeArrowheads="1" noChangeShapeType="1" noTextEdit="1"/>
              </p:cNvSpPr>
              <p:nvPr/>
            </p:nvSpPr>
            <p:spPr bwMode="auto">
              <a:xfrm>
                <a:off x="1134657" y="1013861"/>
                <a:ext cx="10563700" cy="2414956"/>
              </a:xfrm>
              <a:prstGeom prst="rect">
                <a:avLst/>
              </a:prstGeom>
              <a:blipFill>
                <a:blip r:embed="rId3"/>
                <a:stretch>
                  <a:fillRect l="-1039" t="-1768" r="-1039" b="-580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34BC2B2A-EC78-5C50-5B28-9766456BA668}"/>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88</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DCE14824-1DEB-673D-5C92-190640AE8E1C}"/>
              </a:ext>
            </a:extLst>
          </p:cNvPr>
          <p:cNvSpPr txBox="1"/>
          <p:nvPr/>
        </p:nvSpPr>
        <p:spPr>
          <a:xfrm>
            <a:off x="1134657" y="4107118"/>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10973724"/>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415E6-B7A0-0D59-A1FF-23B04D2FDF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546916-A322-EFDC-8D25-1AF596E38C42}"/>
              </a:ext>
            </a:extLst>
          </p:cNvPr>
          <p:cNvSpPr txBox="1"/>
          <p:nvPr/>
        </p:nvSpPr>
        <p:spPr>
          <a:xfrm>
            <a:off x="1134657" y="17314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7110D011-E2DB-8563-B1BF-514B20D8B298}"/>
                  </a:ext>
                </a:extLst>
              </p:cNvPr>
              <p:cNvSpPr txBox="1">
                <a:spLocks noChangeArrowheads="1"/>
              </p:cNvSpPr>
              <p:nvPr/>
            </p:nvSpPr>
            <p:spPr bwMode="auto">
              <a:xfrm>
                <a:off x="1134657" y="785264"/>
                <a:ext cx="10563700" cy="24149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solidFill>
                      <a:srgbClr val="FF0000"/>
                    </a:solidFill>
                    <a:latin typeface="Times New Roman" panose="02020603050405020304" pitchFamily="18" charset="0"/>
                    <a:cs typeface="Times New Roman" panose="02020603050405020304" pitchFamily="18" charset="0"/>
                  </a:rPr>
                  <a:t>6.27</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Suppose that the random variable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is normally distributed with mean</a:t>
                </a:r>
                <a14:m>
                  <m:oMath xmlns:m="http://schemas.openxmlformats.org/officeDocument/2006/math">
                    <m:r>
                      <a:rPr lang="en-AU" altLang="zh-CN" sz="2600" b="0" i="0" smtClean="0">
                        <a:latin typeface="Cambria Math" panose="02040503050406030204" pitchFamily="18" charset="0"/>
                        <a:ea typeface="Cambria Math" panose="02040503050406030204" pitchFamily="18" charset="0"/>
                      </a:rPr>
                      <m:t> </m:t>
                    </m:r>
                    <m:r>
                      <a:rPr lang="en-US" altLang="zh-CN" sz="2600" i="1">
                        <a:latin typeface="Cambria Math" panose="02040503050406030204" pitchFamily="18" charset="0"/>
                        <a:ea typeface="Cambria Math" panose="02040503050406030204" pitchFamily="18" charset="0"/>
                      </a:rPr>
                      <m:t>𝜇</m:t>
                    </m:r>
                    <m:r>
                      <a:rPr lang="en-AU" altLang="zh-CN" sz="2600" i="1">
                        <a:latin typeface="Cambria Math" panose="02040503050406030204" pitchFamily="18" charset="0"/>
                        <a:ea typeface="Cambria Math" panose="02040503050406030204" pitchFamily="18" charset="0"/>
                      </a:rPr>
                      <m:t>=</m:t>
                    </m:r>
                    <m:r>
                      <a:rPr lang="en-AU" altLang="zh-CN" sz="2600" b="0" i="1" smtClean="0">
                        <a:latin typeface="Cambria Math" panose="02040503050406030204" pitchFamily="18" charset="0"/>
                        <a:ea typeface="Cambria Math" panose="02040503050406030204" pitchFamily="18" charset="0"/>
                      </a:rPr>
                      <m:t>500</m:t>
                    </m:r>
                  </m:oMath>
                </a14:m>
                <a:r>
                  <a:rPr lang="en-AU" sz="2600" dirty="0">
                    <a:latin typeface="Times New Roman" panose="02020603050405020304" pitchFamily="18" charset="0"/>
                    <a:cs typeface="Times New Roman" panose="02020603050405020304" pitchFamily="18" charset="0"/>
                  </a:rPr>
                  <a:t> and standard deviation </a:t>
                </a:r>
                <a14:m>
                  <m:oMath xmlns:m="http://schemas.openxmlformats.org/officeDocument/2006/math">
                    <m:r>
                      <m:rPr>
                        <m:sty m:val="p"/>
                      </m:rPr>
                      <a:rPr lang="el-GR" sz="2600" i="1">
                        <a:latin typeface="Cambria Math" panose="02040503050406030204" pitchFamily="18" charset="0"/>
                        <a:ea typeface="Cambria Math" panose="02040503050406030204" pitchFamily="18" charset="0"/>
                        <a:cs typeface="Times New Roman" panose="02020603050405020304" pitchFamily="18" charset="0"/>
                      </a:rPr>
                      <m:t>σ</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=100</m:t>
                    </m:r>
                  </m:oMath>
                </a14:m>
                <a:r>
                  <a:rPr lang="en-AU" sz="2600" dirty="0">
                    <a:latin typeface="Times New Roman" panose="02020603050405020304" pitchFamily="18" charset="0"/>
                    <a:cs typeface="Times New Roman" panose="02020603050405020304" pitchFamily="18" charset="0"/>
                  </a:rPr>
                  <a:t>. For each of the following, use the normal table to find the needed value </a:t>
                </a:r>
                <a:r>
                  <a:rPr lang="en-AU" sz="2600" i="1" dirty="0">
                    <a:latin typeface="Times New Roman" panose="02020603050405020304" pitchFamily="18" charset="0"/>
                    <a:cs typeface="Times New Roman" panose="02020603050405020304" pitchFamily="18" charset="0"/>
                  </a:rPr>
                  <a:t>k.</a:t>
                </a:r>
                <a:r>
                  <a:rPr lang="en-AU" sz="2600" dirty="0">
                    <a:latin typeface="Times New Roman" panose="02020603050405020304" pitchFamily="18" charset="0"/>
                    <a:cs typeface="Times New Roman" panose="02020603050405020304" pitchFamily="18" charset="0"/>
                  </a:rPr>
                  <a:t> In each case, draw a sketch.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(a)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𝑘</m:t>
                        </m:r>
                      </m:e>
                    </m:d>
                    <m:r>
                      <a:rPr lang="en-AU" sz="2600" b="0" i="1" smtClean="0">
                        <a:latin typeface="Cambria Math" panose="02040503050406030204" pitchFamily="18" charset="0"/>
                        <a:cs typeface="Times New Roman" panose="02020603050405020304" pitchFamily="18" charset="0"/>
                      </a:rPr>
                      <m:t>=0.025         </m:t>
                    </m:r>
                    <m:r>
                      <m:rPr>
                        <m:nor/>
                      </m:rPr>
                      <a:rPr lang="en-AU" sz="2600" dirty="0">
                        <a:latin typeface="Times New Roman" panose="02020603050405020304" pitchFamily="18" charset="0"/>
                        <a:cs typeface="Times New Roman" panose="02020603050405020304" pitchFamily="18" charset="0"/>
                      </a:rPr>
                      <m:t>(</m:t>
                    </m:r>
                    <m:r>
                      <m:rPr>
                        <m:nor/>
                      </m:rPr>
                      <a:rPr lang="en-AU" sz="2600" dirty="0">
                        <a:latin typeface="Times New Roman" panose="02020603050405020304" pitchFamily="18" charset="0"/>
                        <a:cs typeface="Times New Roman" panose="02020603050405020304" pitchFamily="18" charset="0"/>
                      </a:rPr>
                      <m:t>d</m:t>
                    </m:r>
                    <m:r>
                      <m:rPr>
                        <m:nor/>
                      </m:rPr>
                      <a:rPr lang="en-AU" sz="2600" dirty="0">
                        <a:latin typeface="Times New Roman" panose="020206030504050203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=0.015</m:t>
                    </m:r>
                  </m:oMath>
                </a14:m>
                <a:endParaRPr lang="en-AU" sz="2600" b="0" dirty="0">
                  <a:latin typeface="Times New Roman" panose="02020603050405020304" pitchFamily="18" charset="0"/>
                  <a:cs typeface="Times New Roman" panose="02020603050405020304" pitchFamily="18" charset="0"/>
                </a:endParaRP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(g) </a:t>
                </a:r>
                <a14:m>
                  <m:oMath xmlns:m="http://schemas.openxmlformats.org/officeDocument/2006/math">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=0.</m:t>
                    </m:r>
                    <m:r>
                      <a:rPr lang="en-AU" sz="2600" b="0" i="1" smtClean="0">
                        <a:latin typeface="Cambria Math" panose="02040503050406030204" pitchFamily="18" charset="0"/>
                        <a:cs typeface="Times New Roman" panose="02020603050405020304" pitchFamily="18" charset="0"/>
                      </a:rPr>
                      <m:t>975</m:t>
                    </m:r>
                  </m:oMath>
                </a14:m>
                <a:r>
                  <a:rPr lang="en-US" altLang="zh-CN" sz="2600" dirty="0">
                    <a:latin typeface="Times New Roman" panose="02020603050405020304" pitchFamily="18" charset="0"/>
                    <a:cs typeface="Times New Roman" panose="02020603050405020304" pitchFamily="18" charset="0"/>
                  </a:rPr>
                  <a:t>        </a:t>
                </a:r>
                <a14:m>
                  <m:oMath xmlns:m="http://schemas.openxmlformats.org/officeDocument/2006/math">
                    <m:r>
                      <m:rPr>
                        <m:nor/>
                      </m:rPr>
                      <a:rPr lang="en-AU" sz="2600" dirty="0">
                        <a:latin typeface="Times New Roman" panose="02020603050405020304" pitchFamily="18" charset="0"/>
                        <a:cs typeface="Times New Roman" panose="02020603050405020304" pitchFamily="18" charset="0"/>
                      </a:rPr>
                      <m:t>(</m:t>
                    </m:r>
                    <m:r>
                      <m:rPr>
                        <m:nor/>
                      </m:rPr>
                      <a:rPr lang="en-AU" sz="2600" dirty="0">
                        <a:latin typeface="Times New Roman" panose="02020603050405020304" pitchFamily="18" charset="0"/>
                        <a:cs typeface="Times New Roman" panose="02020603050405020304" pitchFamily="18" charset="0"/>
                      </a:rPr>
                      <m:t>i</m:t>
                    </m:r>
                    <m:r>
                      <m:rPr>
                        <m:nor/>
                      </m:rPr>
                      <a:rPr lang="en-AU" sz="2600" dirty="0">
                        <a:latin typeface="Times New Roman" panose="020206030504050203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&gt;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=0.9772</m:t>
                    </m:r>
                  </m:oMath>
                </a14:m>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7110D011-E2DB-8563-B1BF-514B20D8B298}"/>
                  </a:ext>
                </a:extLst>
              </p:cNvPr>
              <p:cNvSpPr txBox="1">
                <a:spLocks noRot="1" noChangeAspect="1" noMove="1" noResize="1" noEditPoints="1" noAdjustHandles="1" noChangeArrowheads="1" noChangeShapeType="1" noTextEdit="1"/>
              </p:cNvSpPr>
              <p:nvPr/>
            </p:nvSpPr>
            <p:spPr bwMode="auto">
              <a:xfrm>
                <a:off x="1134657" y="785264"/>
                <a:ext cx="10563700" cy="2414956"/>
              </a:xfrm>
              <a:prstGeom prst="rect">
                <a:avLst/>
              </a:prstGeom>
              <a:blipFill>
                <a:blip r:embed="rId3"/>
                <a:stretch>
                  <a:fillRect l="-1039" t="-1768" r="-1039" b="-555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0E21416E-8DBA-0320-BB7B-B41E1C6C985C}"/>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89</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5C2060F9-EC4A-B6C1-9155-B9A6C8AF0F4F}"/>
              </a:ext>
            </a:extLst>
          </p:cNvPr>
          <p:cNvSpPr txBox="1"/>
          <p:nvPr/>
        </p:nvSpPr>
        <p:spPr>
          <a:xfrm>
            <a:off x="1134657" y="3334129"/>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75529C4-C6AF-F560-80AF-E91C6F07AFDD}"/>
                  </a:ext>
                </a:extLst>
              </p:cNvPr>
              <p:cNvSpPr txBox="1"/>
              <p:nvPr/>
            </p:nvSpPr>
            <p:spPr>
              <a:xfrm>
                <a:off x="1234047" y="3768606"/>
                <a:ext cx="10563700" cy="69115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(a)</a:t>
                </a:r>
                <a14:m>
                  <m:oMath xmlns:m="http://schemas.openxmlformats.org/officeDocument/2006/math">
                    <m:r>
                      <a:rPr lang="en-AU" sz="2600" b="0" i="0" smtClean="0">
                        <a:latin typeface="Cambria Math" panose="020405030504060302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−500</m:t>
                            </m:r>
                          </m:num>
                          <m:den>
                            <m:r>
                              <a:rPr lang="en-AU" sz="2600" b="0" i="1" smtClean="0">
                                <a:latin typeface="Cambria Math" panose="02040503050406030204" pitchFamily="18" charset="0"/>
                                <a:cs typeface="Times New Roman" panose="02020603050405020304" pitchFamily="18" charset="0"/>
                              </a:rPr>
                              <m:t>100</m:t>
                            </m:r>
                          </m:den>
                        </m:f>
                      </m:e>
                    </m:d>
                    <m:r>
                      <a:rPr lang="en-AU" sz="2600" b="0" i="1" smtClean="0">
                        <a:latin typeface="Cambria Math" panose="02040503050406030204" pitchFamily="18" charset="0"/>
                        <a:cs typeface="Times New Roman" panose="02020603050405020304" pitchFamily="18" charset="0"/>
                      </a:rPr>
                      <m:t>,</m:t>
                    </m:r>
                    <m:sSub>
                      <m:sSubPr>
                        <m:ctrlPr>
                          <a:rPr lang="en-AU" sz="2600" b="0" i="1" smtClean="0">
                            <a:latin typeface="Cambria Math" panose="02040503050406030204" pitchFamily="18" charset="0"/>
                            <a:cs typeface="Times New Roman" panose="02020603050405020304" pitchFamily="18" charset="0"/>
                          </a:rPr>
                        </m:ctrlPr>
                      </m:sSubPr>
                      <m:e>
                        <m:r>
                          <a:rPr lang="en-AU" sz="2600" b="0" i="1" smtClean="0">
                            <a:latin typeface="Cambria Math" panose="02040503050406030204" pitchFamily="18" charset="0"/>
                            <a:cs typeface="Times New Roman" panose="02020603050405020304" pitchFamily="18" charset="0"/>
                          </a:rPr>
                          <m:t>𝑧</m:t>
                        </m:r>
                      </m:e>
                      <m:sub>
                        <m:r>
                          <a:rPr lang="en-AU" sz="2600" b="0" i="1" smtClean="0">
                            <a:latin typeface="Cambria Math" panose="02040503050406030204" pitchFamily="18" charset="0"/>
                            <a:cs typeface="Times New Roman" panose="02020603050405020304" pitchFamily="18" charset="0"/>
                          </a:rPr>
                          <m:t>0.025</m:t>
                        </m:r>
                      </m:sub>
                    </m:sSub>
                    <m:r>
                      <a:rPr lang="en-AU" sz="2600" b="0" i="1" smtClean="0">
                        <a:latin typeface="Cambria Math" panose="02040503050406030204" pitchFamily="18" charset="0"/>
                        <a:cs typeface="Times New Roman" panose="02020603050405020304" pitchFamily="18" charset="0"/>
                      </a:rPr>
                      <m:t>=1.96</m:t>
                    </m:r>
                    <m:r>
                      <m:rPr>
                        <m:nor/>
                      </m:rPr>
                      <a:rPr lang="en-AU" sz="2600" b="0" i="0" smtClean="0">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i="1">
                            <a:latin typeface="Cambria Math" panose="02040503050406030204" pitchFamily="18" charset="0"/>
                            <a:cs typeface="Times New Roman" panose="02020603050405020304" pitchFamily="18" charset="0"/>
                          </a:rPr>
                          <m:t>−500</m:t>
                        </m:r>
                      </m:num>
                      <m:den>
                        <m:r>
                          <a:rPr lang="en-AU" sz="2600" i="1">
                            <a:latin typeface="Cambria Math" panose="02040503050406030204" pitchFamily="18" charset="0"/>
                            <a:cs typeface="Times New Roman" panose="02020603050405020304" pitchFamily="18" charset="0"/>
                          </a:rPr>
                          <m:t>100</m:t>
                        </m:r>
                      </m:den>
                    </m:f>
                    <m:r>
                      <a:rPr lang="en-AU" sz="2600" b="0" i="1" smtClean="0">
                        <a:latin typeface="Cambria Math" panose="02040503050406030204" pitchFamily="18" charset="0"/>
                        <a:cs typeface="Times New Roman" panose="02020603050405020304" pitchFamily="18" charset="0"/>
                      </a:rPr>
                      <m:t>=1.96,</m:t>
                    </m:r>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=696</m:t>
                    </m:r>
                  </m:oMath>
                </a14:m>
                <a:endParaRPr lang="en-AU" sz="2600" dirty="0"/>
              </a:p>
            </p:txBody>
          </p:sp>
        </mc:Choice>
        <mc:Fallback xmlns="">
          <p:sp>
            <p:nvSpPr>
              <p:cNvPr id="7" name="TextBox 6">
                <a:extLst>
                  <a:ext uri="{FF2B5EF4-FFF2-40B4-BE49-F238E27FC236}">
                    <a16:creationId xmlns:a16="http://schemas.microsoft.com/office/drawing/2014/main" id="{475529C4-C6AF-F560-80AF-E91C6F07AFDD}"/>
                  </a:ext>
                </a:extLst>
              </p:cNvPr>
              <p:cNvSpPr txBox="1">
                <a:spLocks noRot="1" noChangeAspect="1" noMove="1" noResize="1" noEditPoints="1" noAdjustHandles="1" noChangeArrowheads="1" noChangeShapeType="1" noTextEdit="1"/>
              </p:cNvSpPr>
              <p:nvPr/>
            </p:nvSpPr>
            <p:spPr>
              <a:xfrm>
                <a:off x="1234047" y="3768606"/>
                <a:ext cx="10563700" cy="691151"/>
              </a:xfrm>
              <a:prstGeom prst="rect">
                <a:avLst/>
              </a:prstGeom>
              <a:blipFill>
                <a:blip r:embed="rId4"/>
                <a:stretch>
                  <a:fillRect l="-1039" b="-70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2DB668-AFE4-6D81-BB48-89DF6B894FBB}"/>
                  </a:ext>
                </a:extLst>
              </p:cNvPr>
              <p:cNvSpPr txBox="1"/>
              <p:nvPr/>
            </p:nvSpPr>
            <p:spPr>
              <a:xfrm>
                <a:off x="1234046" y="4466614"/>
                <a:ext cx="10762483" cy="69115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(d)</a:t>
                </a:r>
                <a14:m>
                  <m:oMath xmlns:m="http://schemas.openxmlformats.org/officeDocument/2006/math">
                    <m:r>
                      <a:rPr lang="en-AU" sz="2600" b="0" i="0" smtClean="0">
                        <a:latin typeface="Cambria Math" panose="020405030504060302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&gt;</m:t>
                        </m:r>
                        <m:f>
                          <m:fPr>
                            <m:ctrlPr>
                              <a:rPr lang="en-AU" sz="2600" b="0" i="1" smtClean="0">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−500</m:t>
                            </m:r>
                          </m:num>
                          <m:den>
                            <m:r>
                              <a:rPr lang="en-AU" sz="2600" b="0" i="1" smtClean="0">
                                <a:latin typeface="Cambria Math" panose="02040503050406030204" pitchFamily="18" charset="0"/>
                                <a:cs typeface="Times New Roman" panose="02020603050405020304" pitchFamily="18" charset="0"/>
                              </a:rPr>
                              <m:t>100</m:t>
                            </m:r>
                          </m:den>
                        </m:f>
                      </m:e>
                    </m:d>
                    <m:r>
                      <a:rPr lang="en-AU" sz="2600" b="0" i="1" smtClean="0">
                        <a:latin typeface="Cambria Math" panose="02040503050406030204" pitchFamily="18" charset="0"/>
                        <a:cs typeface="Times New Roman" panose="02020603050405020304" pitchFamily="18" charset="0"/>
                      </a:rPr>
                      <m:t>,</m:t>
                    </m:r>
                    <m:sSub>
                      <m:sSubPr>
                        <m:ctrlPr>
                          <a:rPr lang="en-AU" sz="2600" b="0" i="1" smtClean="0">
                            <a:latin typeface="Cambria Math" panose="02040503050406030204" pitchFamily="18" charset="0"/>
                            <a:cs typeface="Times New Roman" panose="02020603050405020304" pitchFamily="18" charset="0"/>
                          </a:rPr>
                        </m:ctrlPr>
                      </m:sSubPr>
                      <m:e>
                        <m:r>
                          <a:rPr lang="en-AU" sz="2600" b="0" i="1" smtClean="0">
                            <a:latin typeface="Cambria Math" panose="02040503050406030204" pitchFamily="18" charset="0"/>
                            <a:cs typeface="Times New Roman" panose="02020603050405020304" pitchFamily="18" charset="0"/>
                          </a:rPr>
                          <m:t>𝑧</m:t>
                        </m:r>
                      </m:e>
                      <m:sub>
                        <m:r>
                          <a:rPr lang="en-AU" sz="2600" b="0" i="1" smtClean="0">
                            <a:latin typeface="Cambria Math" panose="02040503050406030204" pitchFamily="18" charset="0"/>
                            <a:cs typeface="Times New Roman" panose="02020603050405020304" pitchFamily="18" charset="0"/>
                          </a:rPr>
                          <m:t>0.985</m:t>
                        </m:r>
                      </m:sub>
                    </m:sSub>
                    <m:r>
                      <a:rPr lang="en-AU" sz="2600" b="0" i="1" smtClean="0">
                        <a:latin typeface="Cambria Math" panose="02040503050406030204" pitchFamily="18" charset="0"/>
                        <a:cs typeface="Times New Roman" panose="02020603050405020304" pitchFamily="18" charset="0"/>
                      </a:rPr>
                      <m:t>=−2.17</m:t>
                    </m:r>
                    <m:r>
                      <m:rPr>
                        <m:nor/>
                      </m:rPr>
                      <a:rPr lang="en-AU" sz="2600" b="0" i="0" smtClean="0">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i="1">
                            <a:latin typeface="Cambria Math" panose="02040503050406030204" pitchFamily="18" charset="0"/>
                            <a:cs typeface="Times New Roman" panose="02020603050405020304" pitchFamily="18" charset="0"/>
                          </a:rPr>
                          <m:t>−500</m:t>
                        </m:r>
                      </m:num>
                      <m:den>
                        <m:r>
                          <a:rPr lang="en-AU" sz="2600" i="1">
                            <a:latin typeface="Cambria Math" panose="02040503050406030204" pitchFamily="18" charset="0"/>
                            <a:cs typeface="Times New Roman" panose="02020603050405020304" pitchFamily="18" charset="0"/>
                          </a:rPr>
                          <m:t>100</m:t>
                        </m:r>
                      </m:den>
                    </m:f>
                    <m:r>
                      <a:rPr lang="en-AU" sz="2600" b="0" i="1" smtClean="0">
                        <a:latin typeface="Cambria Math" panose="02040503050406030204" pitchFamily="18" charset="0"/>
                        <a:cs typeface="Times New Roman" panose="02020603050405020304" pitchFamily="18" charset="0"/>
                      </a:rPr>
                      <m:t>=−2.17,</m:t>
                    </m:r>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=283</m:t>
                    </m:r>
                  </m:oMath>
                </a14:m>
                <a:endParaRPr lang="en-AU" sz="2600" dirty="0"/>
              </a:p>
            </p:txBody>
          </p:sp>
        </mc:Choice>
        <mc:Fallback xmlns="">
          <p:sp>
            <p:nvSpPr>
              <p:cNvPr id="8" name="TextBox 7">
                <a:extLst>
                  <a:ext uri="{FF2B5EF4-FFF2-40B4-BE49-F238E27FC236}">
                    <a16:creationId xmlns:a16="http://schemas.microsoft.com/office/drawing/2014/main" id="{C92DB668-AFE4-6D81-BB48-89DF6B894FBB}"/>
                  </a:ext>
                </a:extLst>
              </p:cNvPr>
              <p:cNvSpPr txBox="1">
                <a:spLocks noRot="1" noChangeAspect="1" noMove="1" noResize="1" noEditPoints="1" noAdjustHandles="1" noChangeArrowheads="1" noChangeShapeType="1" noTextEdit="1"/>
              </p:cNvSpPr>
              <p:nvPr/>
            </p:nvSpPr>
            <p:spPr>
              <a:xfrm>
                <a:off x="1234046" y="4466614"/>
                <a:ext cx="10762483" cy="691151"/>
              </a:xfrm>
              <a:prstGeom prst="rect">
                <a:avLst/>
              </a:prstGeom>
              <a:blipFill>
                <a:blip r:embed="rId5"/>
                <a:stretch>
                  <a:fillRect l="-1019" b="-7080"/>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5F1764-1910-279A-BD3B-580E1E424021}"/>
                  </a:ext>
                </a:extLst>
              </p:cNvPr>
              <p:cNvSpPr txBox="1"/>
              <p:nvPr/>
            </p:nvSpPr>
            <p:spPr>
              <a:xfrm>
                <a:off x="1234047" y="5226923"/>
                <a:ext cx="10563700" cy="69115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(g)</a:t>
                </a:r>
                <a14:m>
                  <m:oMath xmlns:m="http://schemas.openxmlformats.org/officeDocument/2006/math">
                    <m:r>
                      <a:rPr lang="en-AU" sz="2600" b="0" i="0" smtClean="0">
                        <a:latin typeface="Cambria Math" panose="020405030504060302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&gt;</m:t>
                        </m:r>
                        <m:f>
                          <m:fPr>
                            <m:ctrlPr>
                              <a:rPr lang="en-AU" sz="2600" b="0" i="1" smtClean="0">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−500</m:t>
                            </m:r>
                          </m:num>
                          <m:den>
                            <m:r>
                              <a:rPr lang="en-AU" sz="2600" b="0" i="1" smtClean="0">
                                <a:latin typeface="Cambria Math" panose="02040503050406030204" pitchFamily="18" charset="0"/>
                                <a:cs typeface="Times New Roman" panose="02020603050405020304" pitchFamily="18" charset="0"/>
                              </a:rPr>
                              <m:t>100</m:t>
                            </m:r>
                          </m:den>
                        </m:f>
                      </m:e>
                    </m:d>
                    <m:r>
                      <a:rPr lang="en-AU" sz="2600" b="0" i="1" smtClean="0">
                        <a:latin typeface="Cambria Math" panose="02040503050406030204" pitchFamily="18" charset="0"/>
                        <a:cs typeface="Times New Roman" panose="02020603050405020304" pitchFamily="18" charset="0"/>
                      </a:rPr>
                      <m:t>,</m:t>
                    </m:r>
                    <m:sSub>
                      <m:sSubPr>
                        <m:ctrlPr>
                          <a:rPr lang="en-AU" sz="2600" b="0" i="1" smtClean="0">
                            <a:latin typeface="Cambria Math" panose="02040503050406030204" pitchFamily="18" charset="0"/>
                            <a:cs typeface="Times New Roman" panose="02020603050405020304" pitchFamily="18" charset="0"/>
                          </a:rPr>
                        </m:ctrlPr>
                      </m:sSubPr>
                      <m:e>
                        <m:r>
                          <a:rPr lang="en-AU" sz="2600" b="0" i="1" smtClean="0">
                            <a:latin typeface="Cambria Math" panose="02040503050406030204" pitchFamily="18" charset="0"/>
                            <a:cs typeface="Times New Roman" panose="02020603050405020304" pitchFamily="18" charset="0"/>
                          </a:rPr>
                          <m:t>𝑧</m:t>
                        </m:r>
                      </m:e>
                      <m:sub>
                        <m:r>
                          <a:rPr lang="en-AU" sz="2600" b="0" i="1" smtClean="0">
                            <a:latin typeface="Cambria Math" panose="02040503050406030204" pitchFamily="18" charset="0"/>
                            <a:cs typeface="Times New Roman" panose="02020603050405020304" pitchFamily="18" charset="0"/>
                          </a:rPr>
                          <m:t>0.025</m:t>
                        </m:r>
                      </m:sub>
                    </m:sSub>
                    <m:r>
                      <a:rPr lang="en-AU" sz="2600" b="0" i="1" smtClean="0">
                        <a:latin typeface="Cambria Math" panose="02040503050406030204" pitchFamily="18" charset="0"/>
                        <a:cs typeface="Times New Roman" panose="02020603050405020304" pitchFamily="18" charset="0"/>
                      </a:rPr>
                      <m:t>=1.96</m:t>
                    </m:r>
                    <m:r>
                      <m:rPr>
                        <m:nor/>
                      </m:rPr>
                      <a:rPr lang="en-AU" sz="2600" b="0" i="0" smtClean="0">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i="1">
                            <a:latin typeface="Cambria Math" panose="02040503050406030204" pitchFamily="18" charset="0"/>
                            <a:cs typeface="Times New Roman" panose="02020603050405020304" pitchFamily="18" charset="0"/>
                          </a:rPr>
                          <m:t>−500</m:t>
                        </m:r>
                      </m:num>
                      <m:den>
                        <m:r>
                          <a:rPr lang="en-AU" sz="2600" i="1">
                            <a:latin typeface="Cambria Math" panose="02040503050406030204" pitchFamily="18" charset="0"/>
                            <a:cs typeface="Times New Roman" panose="02020603050405020304" pitchFamily="18" charset="0"/>
                          </a:rPr>
                          <m:t>100</m:t>
                        </m:r>
                      </m:den>
                    </m:f>
                    <m:r>
                      <a:rPr lang="en-AU" sz="2600" b="0" i="1" smtClean="0">
                        <a:latin typeface="Cambria Math" panose="02040503050406030204" pitchFamily="18" charset="0"/>
                        <a:cs typeface="Times New Roman" panose="02020603050405020304" pitchFamily="18" charset="0"/>
                      </a:rPr>
                      <m:t>=1.96,</m:t>
                    </m:r>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=696</m:t>
                    </m:r>
                  </m:oMath>
                </a14:m>
                <a:endParaRPr lang="en-AU" sz="2600" dirty="0"/>
              </a:p>
            </p:txBody>
          </p:sp>
        </mc:Choice>
        <mc:Fallback xmlns="">
          <p:sp>
            <p:nvSpPr>
              <p:cNvPr id="9" name="TextBox 8">
                <a:extLst>
                  <a:ext uri="{FF2B5EF4-FFF2-40B4-BE49-F238E27FC236}">
                    <a16:creationId xmlns:a16="http://schemas.microsoft.com/office/drawing/2014/main" id="{645F1764-1910-279A-BD3B-580E1E424021}"/>
                  </a:ext>
                </a:extLst>
              </p:cNvPr>
              <p:cNvSpPr txBox="1">
                <a:spLocks noRot="1" noChangeAspect="1" noMove="1" noResize="1" noEditPoints="1" noAdjustHandles="1" noChangeArrowheads="1" noChangeShapeType="1" noTextEdit="1"/>
              </p:cNvSpPr>
              <p:nvPr/>
            </p:nvSpPr>
            <p:spPr>
              <a:xfrm>
                <a:off x="1234047" y="5226923"/>
                <a:ext cx="10563700" cy="691151"/>
              </a:xfrm>
              <a:prstGeom prst="rect">
                <a:avLst/>
              </a:prstGeom>
              <a:blipFill>
                <a:blip r:embed="rId6"/>
                <a:stretch>
                  <a:fillRect l="-1039" b="-70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9318B2-5BDA-3C8B-5123-0A5FDE1BB42B}"/>
                  </a:ext>
                </a:extLst>
              </p:cNvPr>
              <p:cNvSpPr txBox="1"/>
              <p:nvPr/>
            </p:nvSpPr>
            <p:spPr>
              <a:xfrm>
                <a:off x="1234047" y="5882086"/>
                <a:ext cx="10563700" cy="69115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(i)</a:t>
                </a:r>
                <a14:m>
                  <m:oMath xmlns:m="http://schemas.openxmlformats.org/officeDocument/2006/math">
                    <m:r>
                      <a:rPr lang="en-AU" sz="2600" b="0" i="0" smtClean="0">
                        <a:latin typeface="Cambria Math" panose="020405030504060302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&gt;</m:t>
                        </m:r>
                        <m:r>
                          <a:rPr lang="en-AU" sz="2600" i="1">
                            <a:latin typeface="Cambria Math" panose="02040503050406030204" pitchFamily="18" charset="0"/>
                            <a:cs typeface="Times New Roman" panose="02020603050405020304" pitchFamily="18" charset="0"/>
                          </a:rPr>
                          <m:t>𝑘</m:t>
                        </m:r>
                      </m:e>
                    </m:d>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−500</m:t>
                            </m:r>
                          </m:num>
                          <m:den>
                            <m:r>
                              <a:rPr lang="en-AU" sz="2600" b="0" i="1" smtClean="0">
                                <a:latin typeface="Cambria Math" panose="02040503050406030204" pitchFamily="18" charset="0"/>
                                <a:cs typeface="Times New Roman" panose="02020603050405020304" pitchFamily="18" charset="0"/>
                              </a:rPr>
                              <m:t>100</m:t>
                            </m:r>
                          </m:den>
                        </m:f>
                      </m:e>
                    </m:d>
                    <m:r>
                      <a:rPr lang="en-AU" sz="2600" b="0" i="1" smtClean="0">
                        <a:latin typeface="Cambria Math" panose="02040503050406030204" pitchFamily="18" charset="0"/>
                        <a:cs typeface="Times New Roman" panose="02020603050405020304" pitchFamily="18" charset="0"/>
                      </a:rPr>
                      <m:t>,</m:t>
                    </m:r>
                    <m:sSub>
                      <m:sSubPr>
                        <m:ctrlPr>
                          <a:rPr lang="en-AU" sz="2600" b="0" i="1" smtClean="0">
                            <a:latin typeface="Cambria Math" panose="02040503050406030204" pitchFamily="18" charset="0"/>
                            <a:cs typeface="Times New Roman" panose="02020603050405020304" pitchFamily="18" charset="0"/>
                          </a:rPr>
                        </m:ctrlPr>
                      </m:sSubPr>
                      <m:e>
                        <m:r>
                          <a:rPr lang="en-AU" sz="2600" b="0" i="1" smtClean="0">
                            <a:latin typeface="Cambria Math" panose="02040503050406030204" pitchFamily="18" charset="0"/>
                            <a:cs typeface="Times New Roman" panose="02020603050405020304" pitchFamily="18" charset="0"/>
                          </a:rPr>
                          <m:t>𝑧</m:t>
                        </m:r>
                      </m:e>
                      <m:sub>
                        <m:r>
                          <a:rPr lang="en-AU" sz="2600" b="0" i="1" smtClean="0">
                            <a:latin typeface="Cambria Math" panose="02040503050406030204" pitchFamily="18" charset="0"/>
                            <a:cs typeface="Times New Roman" panose="02020603050405020304" pitchFamily="18" charset="0"/>
                          </a:rPr>
                          <m:t>0.9772</m:t>
                        </m:r>
                      </m:sub>
                    </m:sSub>
                    <m:r>
                      <a:rPr lang="en-AU" sz="2600" b="0" i="1" smtClean="0">
                        <a:latin typeface="Cambria Math" panose="02040503050406030204" pitchFamily="18" charset="0"/>
                        <a:cs typeface="Times New Roman" panose="02020603050405020304" pitchFamily="18" charset="0"/>
                      </a:rPr>
                      <m:t>=−2</m:t>
                    </m:r>
                    <m:r>
                      <m:rPr>
                        <m:nor/>
                      </m:rPr>
                      <a:rPr lang="en-AU" sz="2600" b="0" i="0" smtClean="0">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𝑘</m:t>
                        </m:r>
                        <m:r>
                          <a:rPr lang="en-AU" sz="2600" i="1">
                            <a:latin typeface="Cambria Math" panose="02040503050406030204" pitchFamily="18" charset="0"/>
                            <a:cs typeface="Times New Roman" panose="02020603050405020304" pitchFamily="18" charset="0"/>
                          </a:rPr>
                          <m:t>−500</m:t>
                        </m:r>
                      </m:num>
                      <m:den>
                        <m:r>
                          <a:rPr lang="en-AU" sz="2600" i="1">
                            <a:latin typeface="Cambria Math" panose="02040503050406030204" pitchFamily="18" charset="0"/>
                            <a:cs typeface="Times New Roman" panose="02020603050405020304" pitchFamily="18" charset="0"/>
                          </a:rPr>
                          <m:t>100</m:t>
                        </m:r>
                      </m:den>
                    </m:f>
                    <m:r>
                      <a:rPr lang="en-AU" sz="2600" b="0" i="1" smtClean="0">
                        <a:latin typeface="Cambria Math" panose="02040503050406030204" pitchFamily="18" charset="0"/>
                        <a:cs typeface="Times New Roman" panose="02020603050405020304" pitchFamily="18" charset="0"/>
                      </a:rPr>
                      <m:t>=−2,</m:t>
                    </m:r>
                    <m:r>
                      <a:rPr lang="en-AU" sz="2600" b="0" i="1" smtClean="0">
                        <a:latin typeface="Cambria Math" panose="02040503050406030204" pitchFamily="18" charset="0"/>
                        <a:cs typeface="Times New Roman" panose="02020603050405020304" pitchFamily="18" charset="0"/>
                      </a:rPr>
                      <m:t>𝑘</m:t>
                    </m:r>
                    <m:r>
                      <a:rPr lang="en-AU" sz="2600" b="0" i="1" smtClean="0">
                        <a:latin typeface="Cambria Math" panose="02040503050406030204" pitchFamily="18" charset="0"/>
                        <a:cs typeface="Times New Roman" panose="02020603050405020304" pitchFamily="18" charset="0"/>
                      </a:rPr>
                      <m:t>=300</m:t>
                    </m:r>
                  </m:oMath>
                </a14:m>
                <a:endParaRPr lang="en-AU" sz="2600" dirty="0"/>
              </a:p>
            </p:txBody>
          </p:sp>
        </mc:Choice>
        <mc:Fallback xmlns="">
          <p:sp>
            <p:nvSpPr>
              <p:cNvPr id="10" name="TextBox 9">
                <a:extLst>
                  <a:ext uri="{FF2B5EF4-FFF2-40B4-BE49-F238E27FC236}">
                    <a16:creationId xmlns:a16="http://schemas.microsoft.com/office/drawing/2014/main" id="{6D9318B2-5BDA-3C8B-5123-0A5FDE1BB42B}"/>
                  </a:ext>
                </a:extLst>
              </p:cNvPr>
              <p:cNvSpPr txBox="1">
                <a:spLocks noRot="1" noChangeAspect="1" noMove="1" noResize="1" noEditPoints="1" noAdjustHandles="1" noChangeArrowheads="1" noChangeShapeType="1" noTextEdit="1"/>
              </p:cNvSpPr>
              <p:nvPr/>
            </p:nvSpPr>
            <p:spPr>
              <a:xfrm>
                <a:off x="1234047" y="5882086"/>
                <a:ext cx="10563700" cy="691151"/>
              </a:xfrm>
              <a:prstGeom prst="rect">
                <a:avLst/>
              </a:prstGeom>
              <a:blipFill>
                <a:blip r:embed="rId7"/>
                <a:stretch>
                  <a:fillRect l="-1039" b="-7080"/>
                </a:stretch>
              </a:blipFill>
            </p:spPr>
            <p:txBody>
              <a:bodyPr/>
              <a:lstStyle/>
              <a:p>
                <a:r>
                  <a:rPr lang="en-AU">
                    <a:noFill/>
                  </a:rPr>
                  <a:t> </a:t>
                </a:r>
              </a:p>
            </p:txBody>
          </p:sp>
        </mc:Fallback>
      </mc:AlternateContent>
    </p:spTree>
    <p:extLst>
      <p:ext uri="{BB962C8B-B14F-4D97-AF65-F5344CB8AC3E}">
        <p14:creationId xmlns:p14="http://schemas.microsoft.com/office/powerpoint/2010/main" val="262943429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A0BA-59C8-3C7A-ED95-8DC11D48F4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AE38A0-EC25-CB84-8628-CBB670FFCD7F}"/>
              </a:ext>
            </a:extLst>
          </p:cNvPr>
          <p:cNvSpPr txBox="1"/>
          <p:nvPr/>
        </p:nvSpPr>
        <p:spPr>
          <a:xfrm>
            <a:off x="1134657" y="272534"/>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p:sp>
        <p:nvSpPr>
          <p:cNvPr id="3" name="Text Box 2">
            <a:extLst>
              <a:ext uri="{FF2B5EF4-FFF2-40B4-BE49-F238E27FC236}">
                <a16:creationId xmlns:a16="http://schemas.microsoft.com/office/drawing/2014/main" id="{EF486C97-CACC-15B2-378A-8AD3F3B74C5D}"/>
              </a:ext>
            </a:extLst>
          </p:cNvPr>
          <p:cNvSpPr txBox="1">
            <a:spLocks noChangeArrowheads="1"/>
          </p:cNvSpPr>
          <p:nvPr/>
        </p:nvSpPr>
        <p:spPr bwMode="auto">
          <a:xfrm>
            <a:off x="1134657" y="1013861"/>
            <a:ext cx="10563700" cy="4769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solidFill>
                  <a:srgbClr val="FF0000"/>
                </a:solidFill>
                <a:latin typeface="Times New Roman" panose="02020603050405020304" pitchFamily="18" charset="0"/>
                <a:cs typeface="Times New Roman" panose="02020603050405020304" pitchFamily="18" charset="0"/>
              </a:rPr>
              <a:t>6.28</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Stanford–Binet IQ Test scores are normally distributed with a mean score of 100 and a standard deviation of 16. </a:t>
            </a:r>
          </a:p>
          <a:p>
            <a:pPr algn="just" eaLnBrk="0" hangingPunct="0">
              <a:lnSpc>
                <a:spcPct val="110000"/>
              </a:lnSpc>
              <a:spcBef>
                <a:spcPts val="600"/>
              </a:spcBef>
              <a:defRPr/>
            </a:pPr>
            <a:r>
              <a:rPr lang="en-AU" sz="2600" b="1" dirty="0">
                <a:latin typeface="Times New Roman" panose="02020603050405020304" pitchFamily="18" charset="0"/>
                <a:cs typeface="Times New Roman" panose="02020603050405020304" pitchFamily="18" charset="0"/>
              </a:rPr>
              <a:t>(a) </a:t>
            </a:r>
            <a:r>
              <a:rPr lang="en-AU" sz="2600" dirty="0">
                <a:latin typeface="Times New Roman" panose="02020603050405020304" pitchFamily="18" charset="0"/>
                <a:cs typeface="Times New Roman" panose="02020603050405020304" pitchFamily="18" charset="0"/>
              </a:rPr>
              <a:t>Sketch the distribution of Stanford–Binet IQ test scores.</a:t>
            </a: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(b) </a:t>
            </a:r>
            <a:r>
              <a:rPr lang="en-AU" sz="2600" dirty="0">
                <a:latin typeface="Times New Roman" panose="02020603050405020304" pitchFamily="18" charset="0"/>
                <a:cs typeface="Times New Roman" panose="02020603050405020304" pitchFamily="18" charset="0"/>
              </a:rPr>
              <a:t>Write the equation that gives the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score corresponding to a Stanford–Binet IQ test score. Sketch the distribution of such </a:t>
            </a:r>
            <a:r>
              <a:rPr lang="en-AU" sz="2600" i="1" dirty="0">
                <a:latin typeface="Times New Roman" panose="02020603050405020304" pitchFamily="18" charset="0"/>
                <a:cs typeface="Times New Roman" panose="02020603050405020304" pitchFamily="18" charset="0"/>
              </a:rPr>
              <a:t>z</a:t>
            </a:r>
            <a:r>
              <a:rPr lang="en-AU" sz="2600" dirty="0">
                <a:latin typeface="Times New Roman" panose="02020603050405020304" pitchFamily="18" charset="0"/>
                <a:cs typeface="Times New Roman" panose="02020603050405020304" pitchFamily="18" charset="0"/>
              </a:rPr>
              <a:t> scores</a:t>
            </a: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Find the probability that a randomly selected person has an IQ test score (1) Over 140. (2) Under 88. (3) Between 72 and 128. (4) Within 1.5 standard deviations of the mean</a:t>
            </a:r>
            <a:r>
              <a:rPr lang="en-US" altLang="zh-CN" sz="2600" b="1" dirty="0">
                <a:latin typeface="Times New Roman" panose="02020603050405020304" pitchFamily="18" charset="0"/>
                <a:cs typeface="Times New Roman" panose="02020603050405020304" pitchFamily="18" charset="0"/>
              </a:rPr>
              <a:t> </a:t>
            </a: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(d) </a:t>
            </a:r>
            <a:r>
              <a:rPr lang="en-AU" sz="2600" dirty="0">
                <a:latin typeface="Times New Roman" panose="02020603050405020304" pitchFamily="18" charset="0"/>
                <a:cs typeface="Times New Roman" panose="02020603050405020304" pitchFamily="18" charset="0"/>
              </a:rPr>
              <a:t>Suppose you take the Stanford–Binet IQ Test and receive a score of 136. What percentage of people would receive a score higher than yours?</a:t>
            </a:r>
            <a:endParaRPr lang="en-US" altLang="zh-CN" sz="2600" b="1" dirty="0">
              <a:latin typeface="Times New Roman" panose="02020603050405020304" pitchFamily="18" charset="0"/>
              <a:cs typeface="Times New Roman" panose="02020603050405020304" pitchFamily="18" charset="0"/>
            </a:endParaRPr>
          </a:p>
        </p:txBody>
      </p:sp>
      <p:sp>
        <p:nvSpPr>
          <p:cNvPr id="4" name="灯片编号占位符 16">
            <a:extLst>
              <a:ext uri="{FF2B5EF4-FFF2-40B4-BE49-F238E27FC236}">
                <a16:creationId xmlns:a16="http://schemas.microsoft.com/office/drawing/2014/main" id="{8E2FD284-B82D-3948-4A3C-729278F4CC61}"/>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90</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2880704"/>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C4E0-0D54-3ED7-75EC-4AA60D223490}"/>
            </a:ext>
          </a:extLst>
        </p:cNvPr>
        <p:cNvGrpSpPr/>
        <p:nvPr/>
      </p:nvGrpSpPr>
      <p:grpSpPr>
        <a:xfrm>
          <a:off x="0" y="0"/>
          <a:ext cx="0" cy="0"/>
          <a:chOff x="0" y="0"/>
          <a:chExt cx="0" cy="0"/>
        </a:xfrm>
      </p:grpSpPr>
      <p:sp>
        <p:nvSpPr>
          <p:cNvPr id="4" name="灯片编号占位符 16">
            <a:extLst>
              <a:ext uri="{FF2B5EF4-FFF2-40B4-BE49-F238E27FC236}">
                <a16:creationId xmlns:a16="http://schemas.microsoft.com/office/drawing/2014/main" id="{C096743D-58B6-D90E-B665-E94B62002694}"/>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91</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28FE9883-ACC0-6B87-E4F8-9246F326AF1B}"/>
              </a:ext>
            </a:extLst>
          </p:cNvPr>
          <p:cNvSpPr txBox="1"/>
          <p:nvPr/>
        </p:nvSpPr>
        <p:spPr>
          <a:xfrm>
            <a:off x="228600" y="38847"/>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Solution</a:t>
            </a:r>
            <a:endParaRPr lang="en-US" altLang="zh-CN" sz="2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 Box 2">
                <a:extLst>
                  <a:ext uri="{FF2B5EF4-FFF2-40B4-BE49-F238E27FC236}">
                    <a16:creationId xmlns:a16="http://schemas.microsoft.com/office/drawing/2014/main" id="{DF634917-DAF1-9ED4-5AB2-C5972AC425CC}"/>
                  </a:ext>
                </a:extLst>
              </p:cNvPr>
              <p:cNvSpPr txBox="1">
                <a:spLocks noChangeArrowheads="1"/>
              </p:cNvSpPr>
              <p:nvPr/>
            </p:nvSpPr>
            <p:spPr bwMode="auto">
              <a:xfrm>
                <a:off x="228600" y="685942"/>
                <a:ext cx="10783958" cy="573592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spcBef>
                    <a:spcPts val="600"/>
                  </a:spcBef>
                  <a:defRPr/>
                </a:pPr>
                <a:r>
                  <a:rPr lang="en-AU" sz="2600" b="1" dirty="0">
                    <a:latin typeface="Times New Roman" panose="02020603050405020304" pitchFamily="18" charset="0"/>
                    <a:cs typeface="Times New Roman" panose="02020603050405020304" pitchFamily="18" charset="0"/>
                  </a:rPr>
                  <a:t>(a)</a:t>
                </a:r>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(b) </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b="0" i="1" smtClean="0">
                            <a:latin typeface="Cambria Math" panose="02040503050406030204" pitchFamily="18" charset="0"/>
                          </a:rPr>
                          <m:t>𝑥</m:t>
                        </m:r>
                      </m:e>
                    </m:d>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US" altLang="zh-CN" sz="2600" i="1">
                            <a:latin typeface="Cambria Math" panose="02040503050406030204" pitchFamily="18" charset="0"/>
                          </a:rPr>
                          <m:t>=</m:t>
                        </m:r>
                        <m:f>
                          <m:fPr>
                            <m:ctrlPr>
                              <a:rPr lang="en-US" altLang="zh-CN" sz="2600" i="1">
                                <a:latin typeface="Cambria Math" panose="02040503050406030204" pitchFamily="18" charset="0"/>
                              </a:rPr>
                            </m:ctrlPr>
                          </m:fPr>
                          <m:num>
                            <m:r>
                              <a:rPr lang="en-AU" altLang="zh-CN" sz="2600" i="1">
                                <a:latin typeface="Cambria Math" panose="02040503050406030204" pitchFamily="18" charset="0"/>
                              </a:rPr>
                              <m:t>𝑥</m:t>
                            </m:r>
                            <m:r>
                              <a:rPr lang="en-US" altLang="zh-CN" sz="2600" i="1">
                                <a:latin typeface="Cambria Math" panose="02040503050406030204" pitchFamily="18" charset="0"/>
                              </a:rPr>
                              <m:t>−</m:t>
                            </m:r>
                            <m:r>
                              <a:rPr lang="en-US" altLang="zh-CN" sz="2600" i="1">
                                <a:latin typeface="Cambria Math" panose="02040503050406030204" pitchFamily="18" charset="0"/>
                                <a:ea typeface="Cambria Math" panose="02040503050406030204" pitchFamily="18" charset="0"/>
                              </a:rPr>
                              <m:t>𝜇</m:t>
                            </m:r>
                          </m:num>
                          <m:den>
                            <m:r>
                              <a:rPr lang="en-US" altLang="zh-CN" sz="2600" i="1">
                                <a:latin typeface="Cambria Math" panose="02040503050406030204" pitchFamily="18" charset="0"/>
                                <a:ea typeface="Cambria Math" panose="02040503050406030204" pitchFamily="18" charset="0"/>
                              </a:rPr>
                              <m:t>𝜎</m:t>
                            </m:r>
                          </m:den>
                        </m:f>
                      </m:e>
                    </m:d>
                  </m:oMath>
                </a14:m>
                <a:r>
                  <a:rPr lang="en-AU" altLang="zh-CN" sz="2600" dirty="0">
                    <a:ea typeface="Cambria Math" panose="02040503050406030204" pitchFamily="18" charset="0"/>
                  </a:rPr>
                  <a:t> </a:t>
                </a:r>
                <a14:m>
                  <m:oMath xmlns:m="http://schemas.openxmlformats.org/officeDocument/2006/math">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US" altLang="zh-CN" sz="2600" i="1">
                            <a:latin typeface="Cambria Math" panose="02040503050406030204" pitchFamily="18" charset="0"/>
                          </a:rPr>
                          <m:t>=</m:t>
                        </m:r>
                        <m:f>
                          <m:fPr>
                            <m:ctrlPr>
                              <a:rPr lang="en-US" altLang="zh-CN" sz="2600" i="1">
                                <a:latin typeface="Cambria Math" panose="02040503050406030204" pitchFamily="18" charset="0"/>
                              </a:rPr>
                            </m:ctrlPr>
                          </m:fPr>
                          <m:num>
                            <m:r>
                              <a:rPr lang="en-AU" altLang="zh-CN" sz="2600" i="1">
                                <a:latin typeface="Cambria Math" panose="02040503050406030204" pitchFamily="18" charset="0"/>
                              </a:rPr>
                              <m:t>𝑥</m:t>
                            </m:r>
                            <m:r>
                              <a:rPr lang="en-US" altLang="zh-CN" sz="2600" i="1">
                                <a:latin typeface="Cambria Math" panose="02040503050406030204" pitchFamily="18" charset="0"/>
                              </a:rPr>
                              <m:t>−</m:t>
                            </m:r>
                            <m:r>
                              <a:rPr lang="en-AU" altLang="zh-CN" sz="2600" b="0" i="1" smtClean="0">
                                <a:latin typeface="Cambria Math" panose="02040503050406030204" pitchFamily="18" charset="0"/>
                              </a:rPr>
                              <m:t>100</m:t>
                            </m:r>
                          </m:num>
                          <m:den>
                            <m:r>
                              <a:rPr lang="en-AU" altLang="zh-CN" sz="2600" b="0" i="1" smtClean="0">
                                <a:latin typeface="Cambria Math" panose="02040503050406030204" pitchFamily="18" charset="0"/>
                                <a:ea typeface="Cambria Math" panose="02040503050406030204" pitchFamily="18" charset="0"/>
                              </a:rPr>
                              <m:t>16</m:t>
                            </m:r>
                          </m:den>
                        </m:f>
                      </m:e>
                    </m:d>
                  </m:oMath>
                </a14:m>
                <a:endParaRPr lang="en-AU" sz="2600" dirty="0">
                  <a:latin typeface="Times New Roman" panose="02020603050405020304" pitchFamily="18" charset="0"/>
                  <a:cs typeface="Times New Roman" panose="02020603050405020304" pitchFamily="18" charset="0"/>
                </a:endParaRP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(c)</a:t>
                </a:r>
                <a:r>
                  <a:rPr lang="en-AU" sz="2600" dirty="0">
                    <a:latin typeface="Times New Roman" panose="02020603050405020304" pitchFamily="18" charset="0"/>
                    <a:cs typeface="Times New Roman" panose="02020603050405020304" pitchFamily="18" charset="0"/>
                  </a:rPr>
                  <a:t> </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    (1) </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𝑥</m:t>
                        </m:r>
                        <m:r>
                          <a:rPr lang="en-AU" altLang="zh-CN" sz="2600" b="0" i="1" smtClean="0">
                            <a:latin typeface="Cambria Math" panose="02040503050406030204" pitchFamily="18" charset="0"/>
                          </a:rPr>
                          <m:t>&gt;140</m:t>
                        </m:r>
                      </m:e>
                    </m:d>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b="0" i="1" smtClean="0">
                            <a:latin typeface="Cambria Math" panose="02040503050406030204" pitchFamily="18" charset="0"/>
                          </a:rPr>
                          <m:t>&gt;2.5</m:t>
                        </m:r>
                      </m:e>
                    </m:d>
                    <m:r>
                      <a:rPr lang="en-AU" altLang="zh-CN" sz="2600" b="0" i="1" smtClean="0">
                        <a:latin typeface="Cambria Math" panose="02040503050406030204" pitchFamily="18" charset="0"/>
                        <a:ea typeface="Cambria Math" panose="02040503050406030204" pitchFamily="18" charset="0"/>
                      </a:rPr>
                      <m:t>=1−</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b="0" i="1" smtClean="0">
                            <a:latin typeface="Cambria Math" panose="02040503050406030204" pitchFamily="18" charset="0"/>
                          </a:rPr>
                          <m:t>≤</m:t>
                        </m:r>
                        <m:r>
                          <a:rPr lang="en-AU" altLang="zh-CN" sz="2600" i="1">
                            <a:latin typeface="Cambria Math" panose="02040503050406030204" pitchFamily="18" charset="0"/>
                          </a:rPr>
                          <m:t>2.5</m:t>
                        </m:r>
                      </m:e>
                    </m:d>
                    <m:r>
                      <a:rPr lang="en-AU" altLang="zh-CN" sz="2600" b="0" i="1" smtClean="0">
                        <a:latin typeface="Cambria Math" panose="02040503050406030204" pitchFamily="18" charset="0"/>
                      </a:rPr>
                      <m:t>=1−0.9938=0.0062</m:t>
                    </m:r>
                  </m:oMath>
                </a14:m>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    (2) </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𝑥</m:t>
                        </m:r>
                        <m:r>
                          <a:rPr lang="en-AU" altLang="zh-CN" sz="2600" b="0" i="1" smtClean="0">
                            <a:latin typeface="Cambria Math" panose="02040503050406030204" pitchFamily="18" charset="0"/>
                          </a:rPr>
                          <m:t>&lt;28</m:t>
                        </m:r>
                      </m:e>
                    </m:d>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b="0" i="1" smtClean="0">
                            <a:latin typeface="Cambria Math" panose="02040503050406030204" pitchFamily="18" charset="0"/>
                          </a:rPr>
                          <m:t>&lt;−4.5</m:t>
                        </m:r>
                      </m:e>
                    </m:d>
                    <m:r>
                      <a:rPr lang="en-AU" altLang="zh-CN" sz="2600" b="0" i="1" smtClean="0">
                        <a:latin typeface="Cambria Math" panose="02040503050406030204" pitchFamily="18" charset="0"/>
                      </a:rPr>
                      <m:t>≅0</m:t>
                    </m:r>
                  </m:oMath>
                </a14:m>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    (3)</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b="0" i="1" smtClean="0">
                            <a:latin typeface="Cambria Math" panose="02040503050406030204" pitchFamily="18" charset="0"/>
                          </a:rPr>
                          <m:t>72≤</m:t>
                        </m:r>
                        <m:r>
                          <a:rPr lang="en-AU" altLang="zh-CN" sz="2600" i="1">
                            <a:latin typeface="Cambria Math" panose="02040503050406030204" pitchFamily="18" charset="0"/>
                          </a:rPr>
                          <m:t>𝑥</m:t>
                        </m:r>
                        <m:r>
                          <a:rPr lang="en-AU" altLang="zh-CN" sz="2600" b="0" i="1" smtClean="0">
                            <a:latin typeface="Cambria Math" panose="02040503050406030204" pitchFamily="18" charset="0"/>
                          </a:rPr>
                          <m:t>≤128</m:t>
                        </m:r>
                      </m:e>
                    </m:d>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b="0" i="1" smtClean="0">
                            <a:latin typeface="Cambria Math" panose="02040503050406030204" pitchFamily="18" charset="0"/>
                          </a:rPr>
                          <m:t>−1.75≤</m:t>
                        </m:r>
                        <m:r>
                          <a:rPr lang="en-AU" altLang="zh-CN" sz="2600" i="1">
                            <a:latin typeface="Cambria Math" panose="02040503050406030204" pitchFamily="18" charset="0"/>
                          </a:rPr>
                          <m:t>𝑧</m:t>
                        </m:r>
                        <m:r>
                          <a:rPr lang="en-AU" altLang="zh-CN" sz="2600" b="0" i="1" smtClean="0">
                            <a:latin typeface="Cambria Math" panose="02040503050406030204" pitchFamily="18" charset="0"/>
                          </a:rPr>
                          <m:t>≤1.75</m:t>
                        </m:r>
                      </m:e>
                    </m:d>
                    <m:r>
                      <a:rPr lang="en-AU" altLang="zh-CN" sz="2600" b="0" i="1" smtClean="0">
                        <a:latin typeface="Cambria Math" panose="02040503050406030204" pitchFamily="18" charset="0"/>
                      </a:rPr>
                      <m:t>=1−2</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i="1">
                            <a:latin typeface="Cambria Math" panose="02040503050406030204" pitchFamily="18" charset="0"/>
                          </a:rPr>
                          <m:t>≤−1.75</m:t>
                        </m:r>
                      </m:e>
                    </m:d>
                    <m:r>
                      <a:rPr lang="en-AU" altLang="zh-CN" sz="2600" b="0" i="1" smtClean="0">
                        <a:latin typeface="Cambria Math" panose="02040503050406030204" pitchFamily="18" charset="0"/>
                      </a:rPr>
                      <m:t>=1−2</m:t>
                    </m:r>
                    <m:d>
                      <m:dPr>
                        <m:ctrlPr>
                          <a:rPr lang="en-AU" altLang="zh-CN" sz="2600" b="0" i="1" smtClean="0">
                            <a:latin typeface="Cambria Math" panose="02040503050406030204" pitchFamily="18" charset="0"/>
                          </a:rPr>
                        </m:ctrlPr>
                      </m:dPr>
                      <m:e>
                        <m:r>
                          <a:rPr lang="en-AU" altLang="zh-CN" sz="2600" b="0" i="1" smtClean="0">
                            <a:latin typeface="Cambria Math" panose="02040503050406030204" pitchFamily="18" charset="0"/>
                          </a:rPr>
                          <m:t>0.0401</m:t>
                        </m:r>
                      </m:e>
                    </m:d>
                    <m:r>
                      <a:rPr lang="en-AU" altLang="zh-CN" sz="2600" b="0" i="1" smtClean="0">
                        <a:latin typeface="Cambria Math" panose="02040503050406030204" pitchFamily="18" charset="0"/>
                      </a:rPr>
                      <m:t>=0.9198</m:t>
                    </m:r>
                  </m:oMath>
                </a14:m>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r>
                  <a:rPr lang="en-AU" sz="2600" dirty="0">
                    <a:latin typeface="Times New Roman" panose="02020603050405020304" pitchFamily="18" charset="0"/>
                    <a:cs typeface="Times New Roman" panose="02020603050405020304" pitchFamily="18" charset="0"/>
                  </a:rPr>
                  <a:t>    (4) </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b="0" i="1" smtClean="0">
                            <a:latin typeface="Cambria Math" panose="02040503050406030204" pitchFamily="18" charset="0"/>
                          </a:rPr>
                          <m:t>100−1.5(16)</m:t>
                        </m:r>
                        <m:r>
                          <a:rPr lang="en-AU" altLang="zh-CN" sz="2600" i="1">
                            <a:latin typeface="Cambria Math" panose="02040503050406030204" pitchFamily="18" charset="0"/>
                          </a:rPr>
                          <m:t>≤</m:t>
                        </m:r>
                        <m:r>
                          <a:rPr lang="en-AU" altLang="zh-CN" sz="2600" i="1">
                            <a:latin typeface="Cambria Math" panose="02040503050406030204" pitchFamily="18" charset="0"/>
                          </a:rPr>
                          <m:t>𝑥</m:t>
                        </m:r>
                        <m:r>
                          <a:rPr lang="en-AU" altLang="zh-CN" sz="2600" i="1">
                            <a:latin typeface="Cambria Math" panose="02040503050406030204" pitchFamily="18" charset="0"/>
                          </a:rPr>
                          <m:t>≤100+1.5(16</m:t>
                        </m:r>
                      </m:e>
                    </m:d>
                    <m:r>
                      <a:rPr lang="en-AU" altLang="zh-CN" sz="2600" b="0" i="1" smtClean="0">
                        <a:latin typeface="Cambria Math" panose="02040503050406030204" pitchFamily="18" charset="0"/>
                      </a:rPr>
                      <m:t>)</m:t>
                    </m:r>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−1</m:t>
                        </m:r>
                        <m:r>
                          <a:rPr lang="en-AU" altLang="zh-CN" sz="2600" b="0" i="1" smtClean="0">
                            <a:latin typeface="Cambria Math" panose="02040503050406030204" pitchFamily="18" charset="0"/>
                          </a:rPr>
                          <m:t>.5</m:t>
                        </m:r>
                        <m:r>
                          <a:rPr lang="en-AU" altLang="zh-CN" sz="2600" i="1">
                            <a:latin typeface="Cambria Math" panose="02040503050406030204" pitchFamily="18" charset="0"/>
                          </a:rPr>
                          <m:t>≤</m:t>
                        </m:r>
                        <m:r>
                          <a:rPr lang="en-AU" altLang="zh-CN" sz="2600" i="1">
                            <a:latin typeface="Cambria Math" panose="02040503050406030204" pitchFamily="18" charset="0"/>
                          </a:rPr>
                          <m:t>𝑧</m:t>
                        </m:r>
                        <m:r>
                          <a:rPr lang="en-AU" altLang="zh-CN" sz="2600" i="1">
                            <a:latin typeface="Cambria Math" panose="02040503050406030204" pitchFamily="18" charset="0"/>
                          </a:rPr>
                          <m:t>≤1.5</m:t>
                        </m:r>
                      </m:e>
                    </m:d>
                    <m:r>
                      <a:rPr lang="en-AU" altLang="zh-CN" sz="2600" i="1">
                        <a:latin typeface="Cambria Math" panose="02040503050406030204" pitchFamily="18" charset="0"/>
                        <a:ea typeface="Cambria Math" panose="02040503050406030204" pitchFamily="18" charset="0"/>
                      </a:rPr>
                      <m:t>=</m:t>
                    </m:r>
                    <m:r>
                      <a:rPr lang="en-AU" altLang="zh-CN" sz="2600" b="0" i="1" smtClean="0">
                        <a:latin typeface="Cambria Math" panose="02040503050406030204" pitchFamily="18" charset="0"/>
                        <a:ea typeface="Cambria Math" panose="02040503050406030204" pitchFamily="18" charset="0"/>
                      </a:rPr>
                      <m:t>1−2</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i="1">
                            <a:latin typeface="Cambria Math" panose="02040503050406030204" pitchFamily="18" charset="0"/>
                          </a:rPr>
                          <m:t>≤−1.5</m:t>
                        </m:r>
                      </m:e>
                    </m:d>
                    <m:r>
                      <a:rPr lang="en-AU" altLang="zh-CN" sz="2600" b="0" i="1" smtClean="0">
                        <a:latin typeface="Cambria Math" panose="02040503050406030204" pitchFamily="18" charset="0"/>
                      </a:rPr>
                      <m:t>=1−2</m:t>
                    </m:r>
                    <m:d>
                      <m:dPr>
                        <m:ctrlPr>
                          <a:rPr lang="en-AU" altLang="zh-CN" sz="2600" b="0" i="1" smtClean="0">
                            <a:latin typeface="Cambria Math" panose="02040503050406030204" pitchFamily="18" charset="0"/>
                          </a:rPr>
                        </m:ctrlPr>
                      </m:dPr>
                      <m:e>
                        <m:r>
                          <a:rPr lang="en-AU" altLang="zh-CN" sz="2600" b="0" i="1" smtClean="0">
                            <a:latin typeface="Cambria Math" panose="02040503050406030204" pitchFamily="18" charset="0"/>
                          </a:rPr>
                          <m:t>0.0668</m:t>
                        </m:r>
                      </m:e>
                    </m:d>
                    <m:r>
                      <a:rPr lang="en-AU" altLang="zh-CN" sz="2600" b="0" i="1" smtClean="0">
                        <a:latin typeface="Cambria Math" panose="02040503050406030204" pitchFamily="18" charset="0"/>
                      </a:rPr>
                      <m:t>=0.8664</m:t>
                    </m:r>
                  </m:oMath>
                </a14:m>
                <a:r>
                  <a:rPr lang="en-US" altLang="zh-CN" sz="2600" b="1"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r>
                  <a:rPr lang="en-US" altLang="zh-CN" sz="2600" b="1" dirty="0">
                    <a:latin typeface="Times New Roman" panose="02020603050405020304" pitchFamily="18" charset="0"/>
                    <a:cs typeface="Times New Roman" panose="02020603050405020304" pitchFamily="18" charset="0"/>
                  </a:rPr>
                  <a:t>(d) </a:t>
                </a:r>
                <a14:m>
                  <m:oMath xmlns:m="http://schemas.openxmlformats.org/officeDocument/2006/math">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𝑥</m:t>
                        </m:r>
                        <m:r>
                          <a:rPr lang="en-AU" altLang="zh-CN" sz="2600" i="1">
                            <a:latin typeface="Cambria Math" panose="02040503050406030204" pitchFamily="18" charset="0"/>
                          </a:rPr>
                          <m:t>&gt;136</m:t>
                        </m:r>
                      </m:e>
                    </m:d>
                    <m:r>
                      <a:rPr lang="en-AU" altLang="zh-CN" sz="2600" i="1">
                        <a:latin typeface="Cambria Math" panose="02040503050406030204" pitchFamily="18" charset="0"/>
                        <a:ea typeface="Cambria Math" panose="02040503050406030204" pitchFamily="18" charset="0"/>
                      </a:rPr>
                      <m:t>=</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i="1">
                            <a:latin typeface="Cambria Math" panose="02040503050406030204" pitchFamily="18" charset="0"/>
                          </a:rPr>
                          <m:t>&gt;2.25</m:t>
                        </m:r>
                      </m:e>
                    </m:d>
                    <m:r>
                      <a:rPr lang="en-AU" altLang="zh-CN" sz="2600" i="1">
                        <a:latin typeface="Cambria Math" panose="02040503050406030204" pitchFamily="18" charset="0"/>
                        <a:ea typeface="Cambria Math" panose="02040503050406030204" pitchFamily="18" charset="0"/>
                      </a:rPr>
                      <m:t>=1−</m:t>
                    </m:r>
                    <m:r>
                      <a:rPr lang="en-AU" altLang="zh-CN" sz="2600" i="1">
                        <a:latin typeface="Cambria Math" panose="02040503050406030204" pitchFamily="18" charset="0"/>
                      </a:rPr>
                      <m:t>𝑃</m:t>
                    </m:r>
                    <m:d>
                      <m:dPr>
                        <m:ctrlPr>
                          <a:rPr lang="en-AU" altLang="zh-CN" sz="2600" i="1">
                            <a:latin typeface="Cambria Math" panose="02040503050406030204" pitchFamily="18" charset="0"/>
                          </a:rPr>
                        </m:ctrlPr>
                      </m:dPr>
                      <m:e>
                        <m:r>
                          <a:rPr lang="en-AU" altLang="zh-CN" sz="2600" i="1">
                            <a:latin typeface="Cambria Math" panose="02040503050406030204" pitchFamily="18" charset="0"/>
                          </a:rPr>
                          <m:t>𝑧</m:t>
                        </m:r>
                        <m:r>
                          <a:rPr lang="en-AU" altLang="zh-CN" sz="2600" i="1">
                            <a:latin typeface="Cambria Math" panose="02040503050406030204" pitchFamily="18" charset="0"/>
                          </a:rPr>
                          <m:t>≤2.25</m:t>
                        </m:r>
                      </m:e>
                    </m:d>
                    <m:r>
                      <a:rPr lang="en-AU" altLang="zh-CN" sz="2600" i="1">
                        <a:latin typeface="Cambria Math" panose="02040503050406030204" pitchFamily="18" charset="0"/>
                      </a:rPr>
                      <m:t>=1−0.9</m:t>
                    </m:r>
                    <m:r>
                      <a:rPr lang="en-AU" altLang="zh-CN" sz="2600" b="0" i="1" smtClean="0">
                        <a:latin typeface="Cambria Math" panose="02040503050406030204" pitchFamily="18" charset="0"/>
                      </a:rPr>
                      <m:t>878</m:t>
                    </m:r>
                    <m:r>
                      <a:rPr lang="en-AU" altLang="zh-CN" sz="2600" i="1">
                        <a:latin typeface="Cambria Math" panose="02040503050406030204" pitchFamily="18" charset="0"/>
                      </a:rPr>
                      <m:t>=0.0</m:t>
                    </m:r>
                    <m:r>
                      <a:rPr lang="en-AU" altLang="zh-CN" sz="2600" b="0" i="1" smtClean="0">
                        <a:latin typeface="Cambria Math" panose="02040503050406030204" pitchFamily="18" charset="0"/>
                      </a:rPr>
                      <m:t>122</m:t>
                    </m:r>
                  </m:oMath>
                </a14:m>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spcBef>
                    <a:spcPts val="600"/>
                  </a:spcBef>
                  <a:defRPr/>
                </a:pPr>
                <a:endParaRPr lang="en-US" altLang="zh-CN" sz="2600" b="1" dirty="0">
                  <a:latin typeface="Times New Roman" panose="02020603050405020304" pitchFamily="18" charset="0"/>
                  <a:cs typeface="Times New Roman" panose="02020603050405020304" pitchFamily="18" charset="0"/>
                </a:endParaRPr>
              </a:p>
            </p:txBody>
          </p:sp>
        </mc:Choice>
        <mc:Fallback xmlns="">
          <p:sp>
            <p:nvSpPr>
              <p:cNvPr id="6" name="Text Box 2">
                <a:extLst>
                  <a:ext uri="{FF2B5EF4-FFF2-40B4-BE49-F238E27FC236}">
                    <a16:creationId xmlns:a16="http://schemas.microsoft.com/office/drawing/2014/main" id="{DF634917-DAF1-9ED4-5AB2-C5972AC425CC}"/>
                  </a:ext>
                </a:extLst>
              </p:cNvPr>
              <p:cNvSpPr txBox="1">
                <a:spLocks noRot="1" noChangeAspect="1" noMove="1" noResize="1" noEditPoints="1" noAdjustHandles="1" noChangeArrowheads="1" noChangeShapeType="1" noTextEdit="1"/>
              </p:cNvSpPr>
              <p:nvPr/>
            </p:nvSpPr>
            <p:spPr bwMode="auto">
              <a:xfrm>
                <a:off x="228600" y="685942"/>
                <a:ext cx="10783958" cy="5735929"/>
              </a:xfrm>
              <a:prstGeom prst="rect">
                <a:avLst/>
              </a:prstGeom>
              <a:blipFill>
                <a:blip r:embed="rId3"/>
                <a:stretch>
                  <a:fillRect l="-1018" t="-8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Tree>
    <p:extLst>
      <p:ext uri="{BB962C8B-B14F-4D97-AF65-F5344CB8AC3E}">
        <p14:creationId xmlns:p14="http://schemas.microsoft.com/office/powerpoint/2010/main" val="2910664463"/>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7013-1E4A-7F1E-7A02-93C4E557BA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8D9ADF-2EE0-93C8-18F4-C16B94EFCABC}"/>
              </a:ext>
            </a:extLst>
          </p:cNvPr>
          <p:cNvSpPr txBox="1"/>
          <p:nvPr/>
        </p:nvSpPr>
        <p:spPr>
          <a:xfrm>
            <a:off x="776849" y="114943"/>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B077EFDD-0ECB-57C9-2631-E2CE5FBCB3C8}"/>
                  </a:ext>
                </a:extLst>
              </p:cNvPr>
              <p:cNvSpPr txBox="1">
                <a:spLocks noChangeArrowheads="1"/>
              </p:cNvSpPr>
              <p:nvPr/>
            </p:nvSpPr>
            <p:spPr bwMode="auto">
              <a:xfrm>
                <a:off x="776849" y="705754"/>
                <a:ext cx="10901630" cy="31413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defRPr/>
                </a:pPr>
                <a:r>
                  <a:rPr lang="en-AU" sz="2600" b="1" dirty="0">
                    <a:solidFill>
                      <a:srgbClr val="FF0000"/>
                    </a:solidFill>
                    <a:latin typeface="Times New Roman" panose="02020603050405020304" pitchFamily="18" charset="0"/>
                    <a:cs typeface="Times New Roman" panose="02020603050405020304" pitchFamily="18" charset="0"/>
                  </a:rPr>
                  <a:t>6.31</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United Motors claims that one of its cars, the Starbird 300, gets city driving mileages that are normally distributed with a mean of 30 mpg and a standard deviation of 1 mpg. Let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denote the city driving mileage of a randomly selected Starbird 300. </a:t>
                </a:r>
              </a:p>
              <a:p>
                <a:pPr algn="just" eaLnBrk="0" hangingPunct="0">
                  <a:lnSpc>
                    <a:spcPct val="110000"/>
                  </a:lnSpc>
                  <a:defRPr/>
                </a:pPr>
                <a:r>
                  <a:rPr lang="en-AU" sz="2600" dirty="0">
                    <a:latin typeface="Times New Roman" panose="02020603050405020304" pitchFamily="18" charset="0"/>
                    <a:cs typeface="Times New Roman" panose="02020603050405020304" pitchFamily="18" charset="0"/>
                  </a:rPr>
                  <a:t>(a)Assuming that United Motors’ claim is correct, find </a:t>
                </a:r>
                <a14:m>
                  <m:oMath xmlns:m="http://schemas.openxmlformats.org/officeDocument/2006/math">
                    <m:r>
                      <a:rPr lang="en-AU" sz="2600" b="0" i="1" smtClean="0">
                        <a:latin typeface="Cambria Math" panose="02040503050406030204" pitchFamily="18" charset="0"/>
                        <a:cs typeface="Times New Roman" panose="02020603050405020304" pitchFamily="18" charset="0"/>
                      </a:rPr>
                      <m:t>𝑃</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≤27</m:t>
                        </m:r>
                      </m:e>
                    </m:d>
                  </m:oMath>
                </a14:m>
                <a:r>
                  <a:rPr lang="en-AU" sz="2600" dirty="0">
                    <a:latin typeface="Times New Roman" panose="02020603050405020304" pitchFamily="18" charset="0"/>
                    <a:cs typeface="Times New Roman" panose="02020603050405020304" pitchFamily="18" charset="0"/>
                  </a:rPr>
                  <a:t>.</a:t>
                </a:r>
              </a:p>
              <a:p>
                <a:pPr algn="just" eaLnBrk="0" hangingPunct="0">
                  <a:lnSpc>
                    <a:spcPct val="110000"/>
                  </a:lnSpc>
                  <a:defRPr/>
                </a:pPr>
                <a:r>
                  <a:rPr lang="en-AU" sz="2600" dirty="0">
                    <a:latin typeface="Times New Roman" panose="02020603050405020304" pitchFamily="18" charset="0"/>
                    <a:cs typeface="Times New Roman" panose="02020603050405020304" pitchFamily="18" charset="0"/>
                  </a:rPr>
                  <a:t>(b) If you purchase (randomly select) a Starbird 300 and your car gets 27 mpg in city driving, what do you think of United Motors’ claim? Explain your answer.</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B077EFDD-0ECB-57C9-2631-E2CE5FBCB3C8}"/>
                  </a:ext>
                </a:extLst>
              </p:cNvPr>
              <p:cNvSpPr txBox="1">
                <a:spLocks noRot="1" noChangeAspect="1" noMove="1" noResize="1" noEditPoints="1" noAdjustHandles="1" noChangeArrowheads="1" noChangeShapeType="1" noTextEdit="1"/>
              </p:cNvSpPr>
              <p:nvPr/>
            </p:nvSpPr>
            <p:spPr bwMode="auto">
              <a:xfrm>
                <a:off x="776849" y="705754"/>
                <a:ext cx="10901630" cy="3141309"/>
              </a:xfrm>
              <a:prstGeom prst="rect">
                <a:avLst/>
              </a:prstGeom>
              <a:blipFill>
                <a:blip r:embed="rId3"/>
                <a:stretch>
                  <a:fillRect l="-1006" t="-1359" r="-950" b="-407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7677FB3C-1C76-152B-87D0-35FF5241E65E}"/>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92</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876D5FD1-B8A2-0623-C732-B785F49D5F65}"/>
              </a:ext>
            </a:extLst>
          </p:cNvPr>
          <p:cNvSpPr txBox="1"/>
          <p:nvPr/>
        </p:nvSpPr>
        <p:spPr>
          <a:xfrm>
            <a:off x="846422" y="3831089"/>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15A222-D4EC-B2A6-926D-95BE7687C7BE}"/>
                  </a:ext>
                </a:extLst>
              </p:cNvPr>
              <p:cNvSpPr txBox="1"/>
              <p:nvPr/>
            </p:nvSpPr>
            <p:spPr>
              <a:xfrm>
                <a:off x="945812" y="4265566"/>
                <a:ext cx="8536119" cy="69115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(a)</a:t>
                </a:r>
                <a14:m>
                  <m:oMath xmlns:m="http://schemas.openxmlformats.org/officeDocument/2006/math">
                    <m:r>
                      <a:rPr lang="en-AU" sz="2600" b="0" i="0" smtClean="0">
                        <a:latin typeface="Cambria Math" panose="02040503050406030204" pitchFamily="18" charset="0"/>
                        <a:cs typeface="Times New Roman" panose="02020603050405020304" pitchFamily="18" charset="0"/>
                      </a:rPr>
                      <m:t> </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≤27</m:t>
                        </m:r>
                      </m:e>
                    </m:d>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m:t>
                        </m:r>
                        <m:f>
                          <m:fPr>
                            <m:ctrlPr>
                              <a:rPr lang="en-AU" sz="2600" b="0" i="1" smtClean="0">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27−30</m:t>
                            </m:r>
                          </m:num>
                          <m:den>
                            <m:r>
                              <a:rPr lang="en-AU" sz="2600" b="0" i="1" smtClean="0">
                                <a:latin typeface="Cambria Math" panose="02040503050406030204" pitchFamily="18" charset="0"/>
                                <a:cs typeface="Times New Roman" panose="02020603050405020304" pitchFamily="18" charset="0"/>
                              </a:rPr>
                              <m:t>1</m:t>
                            </m:r>
                          </m:den>
                        </m:f>
                      </m:e>
                    </m:d>
                    <m:r>
                      <a:rPr lang="en-AU" sz="2600" b="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𝑃</m:t>
                    </m:r>
                    <m:d>
                      <m:dPr>
                        <m:ctrlPr>
                          <a:rPr lang="en-AU" sz="2600" b="0" i="1" smtClean="0">
                            <a:latin typeface="Cambria Math" panose="02040503050406030204" pitchFamily="18" charset="0"/>
                            <a:cs typeface="Times New Roman" panose="02020603050405020304" pitchFamily="18" charset="0"/>
                          </a:rPr>
                        </m:ctrlPr>
                      </m:dPr>
                      <m:e>
                        <m:r>
                          <a:rPr lang="en-AU" sz="2600" b="0" i="1" smtClean="0">
                            <a:latin typeface="Cambria Math" panose="02040503050406030204" pitchFamily="18" charset="0"/>
                            <a:cs typeface="Times New Roman" panose="02020603050405020304" pitchFamily="18" charset="0"/>
                          </a:rPr>
                          <m:t>𝑧</m:t>
                        </m:r>
                        <m:r>
                          <a:rPr lang="en-AU" sz="2600" b="0" i="1" smtClean="0">
                            <a:latin typeface="Cambria Math" panose="02040503050406030204" pitchFamily="18" charset="0"/>
                            <a:cs typeface="Times New Roman" panose="02020603050405020304" pitchFamily="18" charset="0"/>
                          </a:rPr>
                          <m:t>≤−3</m:t>
                        </m:r>
                      </m:e>
                    </m:d>
                    <m:r>
                      <a:rPr lang="en-AU" sz="2600" b="0" i="1" smtClean="0">
                        <a:latin typeface="Cambria Math" panose="02040503050406030204" pitchFamily="18" charset="0"/>
                        <a:cs typeface="Times New Roman" panose="02020603050405020304" pitchFamily="18" charset="0"/>
                      </a:rPr>
                      <m:t>=0.00135</m:t>
                    </m:r>
                  </m:oMath>
                </a14:m>
                <a:endParaRPr lang="en-AU" sz="2600" dirty="0"/>
              </a:p>
            </p:txBody>
          </p:sp>
        </mc:Choice>
        <mc:Fallback xmlns="">
          <p:sp>
            <p:nvSpPr>
              <p:cNvPr id="7" name="TextBox 6">
                <a:extLst>
                  <a:ext uri="{FF2B5EF4-FFF2-40B4-BE49-F238E27FC236}">
                    <a16:creationId xmlns:a16="http://schemas.microsoft.com/office/drawing/2014/main" id="{C215A222-D4EC-B2A6-926D-95BE7687C7BE}"/>
                  </a:ext>
                </a:extLst>
              </p:cNvPr>
              <p:cNvSpPr txBox="1">
                <a:spLocks noRot="1" noChangeAspect="1" noMove="1" noResize="1" noEditPoints="1" noAdjustHandles="1" noChangeArrowheads="1" noChangeShapeType="1" noTextEdit="1"/>
              </p:cNvSpPr>
              <p:nvPr/>
            </p:nvSpPr>
            <p:spPr>
              <a:xfrm>
                <a:off x="945812" y="4265566"/>
                <a:ext cx="8536119" cy="691151"/>
              </a:xfrm>
              <a:prstGeom prst="rect">
                <a:avLst/>
              </a:prstGeom>
              <a:blipFill>
                <a:blip r:embed="rId4"/>
                <a:stretch>
                  <a:fillRect l="-1286" b="-7080"/>
                </a:stretch>
              </a:blipFill>
            </p:spPr>
            <p:txBody>
              <a:bodyPr/>
              <a:lstStyle/>
              <a:p>
                <a:r>
                  <a:rPr lang="en-AU">
                    <a:noFill/>
                  </a:rPr>
                  <a:t> </a:t>
                </a:r>
              </a:p>
            </p:txBody>
          </p:sp>
        </mc:Fallback>
      </mc:AlternateContent>
      <p:sp>
        <p:nvSpPr>
          <p:cNvPr id="8" name="TextBox 7">
            <a:extLst>
              <a:ext uri="{FF2B5EF4-FFF2-40B4-BE49-F238E27FC236}">
                <a16:creationId xmlns:a16="http://schemas.microsoft.com/office/drawing/2014/main" id="{DB55FFE7-D1E4-FAE0-A5C9-EA3AD9FE93F1}"/>
              </a:ext>
            </a:extLst>
          </p:cNvPr>
          <p:cNvSpPr txBox="1"/>
          <p:nvPr/>
        </p:nvSpPr>
        <p:spPr>
          <a:xfrm>
            <a:off x="945812" y="5092781"/>
            <a:ext cx="4967971" cy="492443"/>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(d) The claim is probably not true.</a:t>
            </a:r>
            <a:endParaRPr lang="en-AU" sz="2600" dirty="0"/>
          </a:p>
        </p:txBody>
      </p:sp>
    </p:spTree>
    <p:extLst>
      <p:ext uri="{BB962C8B-B14F-4D97-AF65-F5344CB8AC3E}">
        <p14:creationId xmlns:p14="http://schemas.microsoft.com/office/powerpoint/2010/main" val="3020088290"/>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FB4E-3DBA-BD99-D224-91A8EA1776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CE38D4-8217-C7CD-54EE-AF401D9D136C}"/>
              </a:ext>
            </a:extLst>
          </p:cNvPr>
          <p:cNvSpPr txBox="1"/>
          <p:nvPr/>
        </p:nvSpPr>
        <p:spPr>
          <a:xfrm>
            <a:off x="776849" y="75190"/>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573E45B2-8B2E-A014-1F2A-48D17F44270C}"/>
                  </a:ext>
                </a:extLst>
              </p:cNvPr>
              <p:cNvSpPr txBox="1">
                <a:spLocks noChangeArrowheads="1"/>
              </p:cNvSpPr>
              <p:nvPr/>
            </p:nvSpPr>
            <p:spPr bwMode="auto">
              <a:xfrm>
                <a:off x="776849" y="666001"/>
                <a:ext cx="10901630" cy="32932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defRPr/>
                </a:pPr>
                <a:r>
                  <a:rPr lang="en-AU" sz="2600" b="1" dirty="0">
                    <a:solidFill>
                      <a:srgbClr val="FF0000"/>
                    </a:solidFill>
                    <a:latin typeface="Times New Roman" panose="02020603050405020304" pitchFamily="18" charset="0"/>
                    <a:cs typeface="Times New Roman" panose="02020603050405020304" pitchFamily="18" charset="0"/>
                  </a:rPr>
                  <a:t>6.33</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A filling process is supposed to fill jars with 16 ounces of grape jelly. Specifications state that each jar must contain between 15.95 ounces and 16.05 ounces. A jar is selected from the process every half hour until a sample of 100 jars is obtained. When the fills of the jars are measured, it is found that </a:t>
                </a:r>
                <a14:m>
                  <m:oMath xmlns:m="http://schemas.openxmlformats.org/officeDocument/2006/math">
                    <m:acc>
                      <m:accPr>
                        <m:chr m:val="̅"/>
                        <m:ctrlPr>
                          <a:rPr lang="en-AU" sz="2600" i="1" smtClean="0">
                            <a:latin typeface="Cambria Math" panose="02040503050406030204" pitchFamily="18" charset="0"/>
                            <a:cs typeface="Times New Roman" panose="02020603050405020304" pitchFamily="18" charset="0"/>
                          </a:rPr>
                        </m:ctrlPr>
                      </m:accPr>
                      <m:e>
                        <m:r>
                          <a:rPr lang="en-AU" sz="2600" b="0" i="1" smtClean="0">
                            <a:latin typeface="Cambria Math" panose="02040503050406030204" pitchFamily="18" charset="0"/>
                            <a:cs typeface="Times New Roman" panose="02020603050405020304" pitchFamily="18" charset="0"/>
                          </a:rPr>
                          <m:t>𝑥</m:t>
                        </m:r>
                      </m:e>
                    </m:acc>
                    <m:r>
                      <a:rPr lang="en-AU" sz="2600" b="0" i="1" smtClean="0">
                        <a:latin typeface="Cambria Math" panose="02040503050406030204" pitchFamily="18" charset="0"/>
                        <a:cs typeface="Times New Roman" panose="02020603050405020304" pitchFamily="18" charset="0"/>
                      </a:rPr>
                      <m:t>=16.0024</m:t>
                    </m:r>
                  </m:oMath>
                </a14:m>
                <a:r>
                  <a:rPr lang="en-AU" sz="2600" dirty="0">
                    <a:latin typeface="Times New Roman" panose="02020603050405020304" pitchFamily="18" charset="0"/>
                    <a:cs typeface="Times New Roman" panose="02020603050405020304" pitchFamily="18" charset="0"/>
                  </a:rPr>
                  <a:t> and </a:t>
                </a:r>
                <a:r>
                  <a:rPr lang="en-AU" sz="2600" i="1" dirty="0">
                    <a:latin typeface="Times New Roman" panose="02020603050405020304" pitchFamily="18" charset="0"/>
                    <a:cs typeface="Times New Roman" panose="02020603050405020304" pitchFamily="18" charset="0"/>
                  </a:rPr>
                  <a:t>s </a:t>
                </a:r>
                <a:r>
                  <a:rPr lang="en-AU" sz="2600" dirty="0">
                    <a:latin typeface="Times New Roman" panose="02020603050405020304" pitchFamily="18" charset="0"/>
                    <a:cs typeface="Times New Roman" panose="02020603050405020304" pitchFamily="18" charset="0"/>
                  </a:rPr>
                  <a:t>= 0.02454. Using and s as point estimates of </a:t>
                </a:r>
                <a14:m>
                  <m:oMath xmlns:m="http://schemas.openxmlformats.org/officeDocument/2006/math">
                    <m:r>
                      <m:rPr>
                        <m:sty m:val="p"/>
                      </m:rPr>
                      <a:rPr lang="el-GR" sz="2600" i="1" smtClean="0">
                        <a:latin typeface="Cambria Math" panose="02040503050406030204" pitchFamily="18" charset="0"/>
                        <a:ea typeface="Cambria Math" panose="02040503050406030204" pitchFamily="18" charset="0"/>
                        <a:cs typeface="Times New Roman" panose="02020603050405020304" pitchFamily="18" charset="0"/>
                      </a:rPr>
                      <m:t>μ</m:t>
                    </m:r>
                  </m:oMath>
                </a14:m>
                <a:r>
                  <a:rPr lang="en-AU" sz="2600" dirty="0">
                    <a:latin typeface="Times New Roman" panose="02020603050405020304" pitchFamily="18" charset="0"/>
                    <a:cs typeface="Times New Roman" panose="02020603050405020304" pitchFamily="18" charset="0"/>
                  </a:rPr>
                  <a:t> and </a:t>
                </a:r>
                <a14:m>
                  <m:oMath xmlns:m="http://schemas.openxmlformats.org/officeDocument/2006/math">
                    <m:r>
                      <m:rPr>
                        <m:sty m:val="p"/>
                      </m:rPr>
                      <a:rPr lang="el-GR" sz="2600" i="1" smtClean="0">
                        <a:latin typeface="Cambria Math" panose="02040503050406030204" pitchFamily="18" charset="0"/>
                        <a:ea typeface="Cambria Math" panose="02040503050406030204" pitchFamily="18" charset="0"/>
                        <a:cs typeface="Times New Roman" panose="02020603050405020304" pitchFamily="18" charset="0"/>
                      </a:rPr>
                      <m:t>σ</m:t>
                    </m:r>
                  </m:oMath>
                </a14:m>
                <a:r>
                  <a:rPr lang="en-AU" sz="2600" dirty="0">
                    <a:latin typeface="Times New Roman" panose="02020603050405020304" pitchFamily="18" charset="0"/>
                    <a:cs typeface="Times New Roman" panose="02020603050405020304" pitchFamily="18" charset="0"/>
                  </a:rPr>
                  <a:t>, estimate the probability that a randomly selected jar will have a fill, </a:t>
                </a:r>
                <a:r>
                  <a:rPr lang="en-AU" sz="2600" i="1" dirty="0">
                    <a:latin typeface="Times New Roman" panose="02020603050405020304" pitchFamily="18" charset="0"/>
                    <a:cs typeface="Times New Roman" panose="02020603050405020304" pitchFamily="18" charset="0"/>
                  </a:rPr>
                  <a:t>x</a:t>
                </a:r>
                <a:r>
                  <a:rPr lang="en-AU" sz="2600" dirty="0">
                    <a:latin typeface="Times New Roman" panose="02020603050405020304" pitchFamily="18" charset="0"/>
                    <a:cs typeface="Times New Roman" panose="02020603050405020304" pitchFamily="18" charset="0"/>
                  </a:rPr>
                  <a:t>, that is out of specification. Assume that the process is in control and that the population of all jar fills is normally distributed.</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573E45B2-8B2E-A014-1F2A-48D17F44270C}"/>
                  </a:ext>
                </a:extLst>
              </p:cNvPr>
              <p:cNvSpPr txBox="1">
                <a:spLocks noRot="1" noChangeAspect="1" noMove="1" noResize="1" noEditPoints="1" noAdjustHandles="1" noChangeArrowheads="1" noChangeShapeType="1" noTextEdit="1"/>
              </p:cNvSpPr>
              <p:nvPr/>
            </p:nvSpPr>
            <p:spPr bwMode="auto">
              <a:xfrm>
                <a:off x="776849" y="666001"/>
                <a:ext cx="10901630" cy="3293209"/>
              </a:xfrm>
              <a:prstGeom prst="rect">
                <a:avLst/>
              </a:prstGeom>
              <a:blipFill>
                <a:blip r:embed="rId3"/>
                <a:stretch>
                  <a:fillRect l="-1006" t="-1667" r="-950" b="-388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B29BAD00-25B7-B8AC-1D63-D3F2AE183DC0}"/>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93</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F2A537A1-479F-6457-E283-F00CF22D165E}"/>
              </a:ext>
            </a:extLst>
          </p:cNvPr>
          <p:cNvSpPr txBox="1"/>
          <p:nvPr/>
        </p:nvSpPr>
        <p:spPr>
          <a:xfrm>
            <a:off x="846422" y="4082994"/>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46DC9C-82C1-21CF-BDB5-0CC4353DA5F5}"/>
                  </a:ext>
                </a:extLst>
              </p:cNvPr>
              <p:cNvSpPr txBox="1"/>
              <p:nvPr/>
            </p:nvSpPr>
            <p:spPr>
              <a:xfrm>
                <a:off x="846422" y="4601523"/>
                <a:ext cx="10832057" cy="1791581"/>
              </a:xfrm>
              <a:prstGeom prst="rect">
                <a:avLst/>
              </a:prstGeom>
              <a:noFill/>
            </p:spPr>
            <p:txBody>
              <a:bodyPr wrap="square">
                <a:spAutoFit/>
              </a:bodyPr>
              <a:lstStyle/>
              <a:p>
                <a:r>
                  <a:rPr lang="en-AU" sz="2600" dirty="0">
                    <a:latin typeface="Times New Roman" panose="02020603050405020304" pitchFamily="18" charset="0"/>
                    <a:cs typeface="Times New Roman" panose="02020603050405020304" pitchFamily="18" charset="0"/>
                  </a:rPr>
                  <a:t>(a)</a:t>
                </a:r>
                <a14:m>
                  <m:oMath xmlns:m="http://schemas.openxmlformats.org/officeDocument/2006/math">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≤15.95</m:t>
                        </m:r>
                      </m:e>
                    </m:d>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≥16.05</m:t>
                        </m:r>
                      </m:e>
                    </m:d>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i="1">
                            <a:latin typeface="Cambria Math" panose="02040503050406030204" pitchFamily="18" charset="0"/>
                            <a:cs typeface="Times New Roman" panose="02020603050405020304" pitchFamily="18" charset="0"/>
                          </a:rPr>
                          <m:t>≤15.95</m:t>
                        </m:r>
                      </m:e>
                    </m:d>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𝑥</m:t>
                        </m:r>
                        <m:r>
                          <a:rPr lang="en-AU" sz="2600" b="0" i="1" smtClean="0">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16.05</m:t>
                        </m:r>
                      </m:e>
                    </m:d>
                  </m:oMath>
                </a14:m>
                <a:endParaRPr lang="en-AU" sz="2600" i="1" dirty="0">
                  <a:latin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15.9</m:t>
                              </m:r>
                              <m:r>
                                <a:rPr lang="en-AU" sz="2600" b="0" i="1" smtClean="0">
                                  <a:latin typeface="Cambria Math" panose="02040503050406030204" pitchFamily="18" charset="0"/>
                                  <a:cs typeface="Times New Roman" panose="02020603050405020304" pitchFamily="18" charset="0"/>
                                </a:rPr>
                                <m:t>5</m:t>
                              </m:r>
                              <m:r>
                                <a:rPr lang="en-AU" sz="2600" i="1">
                                  <a:latin typeface="Cambria Math" panose="02040503050406030204" pitchFamily="18" charset="0"/>
                                  <a:cs typeface="Times New Roman" panose="02020603050405020304" pitchFamily="18" charset="0"/>
                                </a:rPr>
                                <m:t>−16.0024</m:t>
                              </m:r>
                            </m:num>
                            <m:den>
                              <m:r>
                                <a:rPr lang="en-AU" sz="2600" i="1">
                                  <a:latin typeface="Cambria Math" panose="02040503050406030204" pitchFamily="18" charset="0"/>
                                  <a:cs typeface="Times New Roman" panose="02020603050405020304" pitchFamily="18" charset="0"/>
                                </a:rPr>
                                <m:t>0.02454</m:t>
                              </m:r>
                            </m:den>
                          </m:f>
                        </m:e>
                      </m:d>
                      <m:r>
                        <a:rPr lang="en-AU" sz="2600" i="1">
                          <a:latin typeface="Cambria Math" panose="02040503050406030204" pitchFamily="18" charset="0"/>
                          <a:cs typeface="Times New Roman" panose="02020603050405020304" pitchFamily="18" charset="0"/>
                        </a:rPr>
                        <m:t>+1−</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i="1">
                                  <a:latin typeface="Cambria Math" panose="02040503050406030204" pitchFamily="18" charset="0"/>
                                  <a:cs typeface="Times New Roman" panose="02020603050405020304" pitchFamily="18" charset="0"/>
                                </a:rPr>
                                <m:t>16.05−16.0024</m:t>
                              </m:r>
                            </m:num>
                            <m:den>
                              <m:r>
                                <a:rPr lang="en-AU" sz="2600" i="1">
                                  <a:latin typeface="Cambria Math" panose="02040503050406030204" pitchFamily="18" charset="0"/>
                                  <a:cs typeface="Times New Roman" panose="02020603050405020304" pitchFamily="18" charset="0"/>
                                </a:rPr>
                                <m:t>0.02454</m:t>
                              </m:r>
                            </m:den>
                          </m:f>
                        </m:e>
                      </m:d>
                    </m:oMath>
                  </m:oMathPara>
                </a14:m>
                <a:endParaRPr lang="en-AU" sz="2600" i="1" dirty="0">
                  <a:latin typeface="Cambria Math" panose="02040503050406030204" pitchFamily="18" charset="0"/>
                  <a:cs typeface="Times New Roman" panose="02020603050405020304" pitchFamily="18" charset="0"/>
                </a:endParaRPr>
              </a:p>
              <a:p>
                <a14:m>
                  <m:oMath xmlns:m="http://schemas.openxmlformats.org/officeDocument/2006/math">
                    <m:r>
                      <a:rPr lang="en-AU" sz="2600" i="1">
                        <a:latin typeface="Cambria Math" panose="02040503050406030204" pitchFamily="18" charset="0"/>
                        <a:cs typeface="Times New Roman" panose="02020603050405020304" pitchFamily="18" charset="0"/>
                      </a:rPr>
                      <m:t>=</m:t>
                    </m:r>
                  </m:oMath>
                </a14:m>
                <a:r>
                  <a:rPr lang="en-AU" sz="2600" dirty="0">
                    <a:cs typeface="Times New Roman" panose="02020603050405020304" pitchFamily="18" charset="0"/>
                  </a:rPr>
                  <a:t> </a:t>
                </a:r>
                <a14:m>
                  <m:oMath xmlns:m="http://schemas.openxmlformats.org/officeDocument/2006/math">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≤−2.135</m:t>
                        </m:r>
                      </m:e>
                    </m:d>
                    <m:r>
                      <a:rPr lang="en-AU" sz="2600" i="1">
                        <a:latin typeface="Cambria Math" panose="02040503050406030204" pitchFamily="18" charset="0"/>
                        <a:cs typeface="Times New Roman" panose="02020603050405020304" pitchFamily="18" charset="0"/>
                      </a:rPr>
                      <m:t>+1−</m:t>
                    </m:r>
                    <m:r>
                      <a:rPr lang="en-AU" sz="2600" i="1">
                        <a:latin typeface="Cambria Math" panose="02040503050406030204" pitchFamily="18" charset="0"/>
                        <a:cs typeface="Times New Roman" panose="02020603050405020304" pitchFamily="18" charset="0"/>
                      </a:rPr>
                      <m:t>𝑃</m:t>
                    </m:r>
                    <m:d>
                      <m:dPr>
                        <m:ctrlPr>
                          <a:rPr lang="en-AU" sz="2600" i="1">
                            <a:latin typeface="Cambria Math" panose="02040503050406030204" pitchFamily="18" charset="0"/>
                            <a:cs typeface="Times New Roman" panose="02020603050405020304" pitchFamily="18" charset="0"/>
                          </a:rPr>
                        </m:ctrlPr>
                      </m:dPr>
                      <m:e>
                        <m:r>
                          <a:rPr lang="en-AU" sz="2600" i="1">
                            <a:latin typeface="Cambria Math" panose="02040503050406030204" pitchFamily="18" charset="0"/>
                            <a:cs typeface="Times New Roman" panose="02020603050405020304" pitchFamily="18" charset="0"/>
                          </a:rPr>
                          <m:t>𝑧</m:t>
                        </m:r>
                        <m:r>
                          <a:rPr lang="en-AU" sz="2600" i="1">
                            <a:latin typeface="Cambria Math" panose="02040503050406030204" pitchFamily="18" charset="0"/>
                            <a:cs typeface="Times New Roman" panose="02020603050405020304" pitchFamily="18" charset="0"/>
                          </a:rPr>
                          <m:t>≤1.940</m:t>
                        </m:r>
                      </m:e>
                    </m:d>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0.0164+1−0.9738=0.0426</m:t>
                    </m:r>
                  </m:oMath>
                </a14:m>
                <a:endParaRPr lang="en-AU" sz="2600" dirty="0"/>
              </a:p>
            </p:txBody>
          </p:sp>
        </mc:Choice>
        <mc:Fallback xmlns="">
          <p:sp>
            <p:nvSpPr>
              <p:cNvPr id="7" name="TextBox 6">
                <a:extLst>
                  <a:ext uri="{FF2B5EF4-FFF2-40B4-BE49-F238E27FC236}">
                    <a16:creationId xmlns:a16="http://schemas.microsoft.com/office/drawing/2014/main" id="{9046DC9C-82C1-21CF-BDB5-0CC4353DA5F5}"/>
                  </a:ext>
                </a:extLst>
              </p:cNvPr>
              <p:cNvSpPr txBox="1">
                <a:spLocks noRot="1" noChangeAspect="1" noMove="1" noResize="1" noEditPoints="1" noAdjustHandles="1" noChangeArrowheads="1" noChangeShapeType="1" noTextEdit="1"/>
              </p:cNvSpPr>
              <p:nvPr/>
            </p:nvSpPr>
            <p:spPr>
              <a:xfrm>
                <a:off x="846422" y="4601523"/>
                <a:ext cx="10832057" cy="1791581"/>
              </a:xfrm>
              <a:prstGeom prst="rect">
                <a:avLst/>
              </a:prstGeom>
              <a:blipFill>
                <a:blip r:embed="rId4"/>
                <a:stretch>
                  <a:fillRect l="-1013" t="-3061"/>
                </a:stretch>
              </a:blipFill>
            </p:spPr>
            <p:txBody>
              <a:bodyPr/>
              <a:lstStyle/>
              <a:p>
                <a:r>
                  <a:rPr lang="en-AU">
                    <a:noFill/>
                  </a:rPr>
                  <a:t> </a:t>
                </a:r>
              </a:p>
            </p:txBody>
          </p:sp>
        </mc:Fallback>
      </mc:AlternateContent>
    </p:spTree>
    <p:extLst>
      <p:ext uri="{BB962C8B-B14F-4D97-AF65-F5344CB8AC3E}">
        <p14:creationId xmlns:p14="http://schemas.microsoft.com/office/powerpoint/2010/main" val="294197919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60EB4-DB26-873E-C791-59B7686027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0F4B05-E586-2579-2266-4830616B735C}"/>
              </a:ext>
            </a:extLst>
          </p:cNvPr>
          <p:cNvSpPr txBox="1"/>
          <p:nvPr/>
        </p:nvSpPr>
        <p:spPr>
          <a:xfrm>
            <a:off x="776849" y="75190"/>
            <a:ext cx="4759247" cy="523220"/>
          </a:xfrm>
          <a:prstGeom prst="rect">
            <a:avLst/>
          </a:prstGeom>
          <a:noFill/>
        </p:spPr>
        <p:txBody>
          <a:bodyPr wrap="square">
            <a:spAutoFit/>
          </a:bodyPr>
          <a:lstStyle/>
          <a:p>
            <a:r>
              <a:rPr lang="en-AU" sz="2800" b="1" dirty="0">
                <a:solidFill>
                  <a:srgbClr val="0000FF"/>
                </a:solidFill>
                <a:latin typeface="Times New Roman" panose="02020603050405020304" pitchFamily="18" charset="0"/>
                <a:cs typeface="Times New Roman" panose="02020603050405020304" pitchFamily="18" charset="0"/>
              </a:rPr>
              <a:t>Exercises </a:t>
            </a:r>
            <a:r>
              <a:rPr lang="en-AU" sz="2800" b="1" dirty="0">
                <a:highlight>
                  <a:srgbClr val="FFFF00"/>
                </a:highlight>
                <a:latin typeface="Times New Roman" panose="02020603050405020304" pitchFamily="18" charset="0"/>
                <a:cs typeface="Times New Roman" panose="02020603050405020304" pitchFamily="18" charset="0"/>
              </a:rPr>
              <a:t>(</a:t>
            </a:r>
            <a:r>
              <a:rPr lang="en-AU" sz="2800" b="1" dirty="0" err="1">
                <a:highlight>
                  <a:srgbClr val="FFFF00"/>
                </a:highlight>
                <a:latin typeface="Times New Roman" panose="02020603050405020304" pitchFamily="18" charset="0"/>
                <a:cs typeface="Times New Roman" panose="02020603050405020304" pitchFamily="18" charset="0"/>
              </a:rPr>
              <a:t>i</a:t>
            </a:r>
            <a:r>
              <a:rPr lang="en-US" altLang="zh-CN" sz="2800" b="1" dirty="0">
                <a:highlight>
                  <a:srgbClr val="FFFF00"/>
                </a:highlight>
                <a:latin typeface="Times New Roman" panose="02020603050405020304" pitchFamily="18" charset="0"/>
                <a:cs typeface="Times New Roman" panose="02020603050405020304" pitchFamily="18" charset="0"/>
              </a:rPr>
              <a:t>f time permits)</a:t>
            </a:r>
            <a:endParaRPr lang="en-AU" sz="2800" b="1" dirty="0">
              <a:highlight>
                <a:srgbClr val="FFFF00"/>
              </a:highligh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Box 2">
                <a:extLst>
                  <a:ext uri="{FF2B5EF4-FFF2-40B4-BE49-F238E27FC236}">
                    <a16:creationId xmlns:a16="http://schemas.microsoft.com/office/drawing/2014/main" id="{CCA188B4-36BE-1E04-3D93-690A06E10E8E}"/>
                  </a:ext>
                </a:extLst>
              </p:cNvPr>
              <p:cNvSpPr txBox="1">
                <a:spLocks noChangeArrowheads="1"/>
              </p:cNvSpPr>
              <p:nvPr/>
            </p:nvSpPr>
            <p:spPr bwMode="auto">
              <a:xfrm>
                <a:off x="776849" y="666001"/>
                <a:ext cx="10901630" cy="138082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defTabSz="968375">
                  <a:tabLst>
                    <a:tab pos="287338" algn="l"/>
                  </a:tabLst>
                  <a:defRPr>
                    <a:solidFill>
                      <a:schemeClr val="tx1"/>
                    </a:solidFill>
                    <a:latin typeface="Arial" charset="0"/>
                    <a:ea typeface="宋体" pitchFamily="2" charset="-122"/>
                  </a:defRPr>
                </a:lvl1pPr>
                <a:lvl2pPr marL="393700" indent="-279400" defTabSz="968375">
                  <a:tabLst>
                    <a:tab pos="287338" algn="l"/>
                  </a:tabLst>
                  <a:defRPr>
                    <a:solidFill>
                      <a:schemeClr val="tx1"/>
                    </a:solidFill>
                    <a:latin typeface="Arial" charset="0"/>
                    <a:ea typeface="宋体" pitchFamily="2" charset="-122"/>
                  </a:defRPr>
                </a:lvl2pPr>
                <a:lvl3pPr marL="1536700" indent="-457200" defTabSz="968375">
                  <a:tabLst>
                    <a:tab pos="287338" algn="l"/>
                  </a:tabLst>
                  <a:defRPr>
                    <a:solidFill>
                      <a:schemeClr val="tx1"/>
                    </a:solidFill>
                    <a:latin typeface="Arial" charset="0"/>
                    <a:ea typeface="宋体" pitchFamily="2" charset="-122"/>
                  </a:defRPr>
                </a:lvl3pPr>
                <a:lvl4pPr marL="2108200" indent="-457200" defTabSz="968375">
                  <a:tabLst>
                    <a:tab pos="287338" algn="l"/>
                  </a:tabLst>
                  <a:defRPr>
                    <a:solidFill>
                      <a:schemeClr val="tx1"/>
                    </a:solidFill>
                    <a:latin typeface="Arial" charset="0"/>
                    <a:ea typeface="宋体" pitchFamily="2" charset="-122"/>
                  </a:defRPr>
                </a:lvl4pPr>
                <a:lvl5pPr marL="2679700" indent="-457200" defTabSz="968375">
                  <a:tabLst>
                    <a:tab pos="287338" algn="l"/>
                  </a:tabLst>
                  <a:defRPr>
                    <a:solidFill>
                      <a:schemeClr val="tx1"/>
                    </a:solidFill>
                    <a:latin typeface="Arial" charset="0"/>
                    <a:ea typeface="宋体" pitchFamily="2" charset="-122"/>
                  </a:defRPr>
                </a:lvl5pPr>
                <a:lvl6pPr marL="3136900" indent="-457200" defTabSz="968375" fontAlgn="base">
                  <a:spcBef>
                    <a:spcPct val="0"/>
                  </a:spcBef>
                  <a:spcAft>
                    <a:spcPct val="0"/>
                  </a:spcAft>
                  <a:tabLst>
                    <a:tab pos="287338" algn="l"/>
                  </a:tabLst>
                  <a:defRPr>
                    <a:solidFill>
                      <a:schemeClr val="tx1"/>
                    </a:solidFill>
                    <a:latin typeface="Arial" charset="0"/>
                    <a:ea typeface="宋体" pitchFamily="2" charset="-122"/>
                  </a:defRPr>
                </a:lvl6pPr>
                <a:lvl7pPr marL="3594100" indent="-457200" defTabSz="968375" fontAlgn="base">
                  <a:spcBef>
                    <a:spcPct val="0"/>
                  </a:spcBef>
                  <a:spcAft>
                    <a:spcPct val="0"/>
                  </a:spcAft>
                  <a:tabLst>
                    <a:tab pos="287338" algn="l"/>
                  </a:tabLst>
                  <a:defRPr>
                    <a:solidFill>
                      <a:schemeClr val="tx1"/>
                    </a:solidFill>
                    <a:latin typeface="Arial" charset="0"/>
                    <a:ea typeface="宋体" pitchFamily="2" charset="-122"/>
                  </a:defRPr>
                </a:lvl7pPr>
                <a:lvl8pPr marL="4051300" indent="-457200" defTabSz="968375" fontAlgn="base">
                  <a:spcBef>
                    <a:spcPct val="0"/>
                  </a:spcBef>
                  <a:spcAft>
                    <a:spcPct val="0"/>
                  </a:spcAft>
                  <a:tabLst>
                    <a:tab pos="287338" algn="l"/>
                  </a:tabLst>
                  <a:defRPr>
                    <a:solidFill>
                      <a:schemeClr val="tx1"/>
                    </a:solidFill>
                    <a:latin typeface="Arial" charset="0"/>
                    <a:ea typeface="宋体" pitchFamily="2" charset="-122"/>
                  </a:defRPr>
                </a:lvl8pPr>
                <a:lvl9pPr marL="4508500" indent="-457200" defTabSz="968375" fontAlgn="base">
                  <a:spcBef>
                    <a:spcPct val="0"/>
                  </a:spcBef>
                  <a:spcAft>
                    <a:spcPct val="0"/>
                  </a:spcAft>
                  <a:tabLst>
                    <a:tab pos="287338" algn="l"/>
                  </a:tabLst>
                  <a:defRPr>
                    <a:solidFill>
                      <a:schemeClr val="tx1"/>
                    </a:solidFill>
                    <a:latin typeface="Arial" charset="0"/>
                    <a:ea typeface="宋体" pitchFamily="2" charset="-122"/>
                  </a:defRPr>
                </a:lvl9pPr>
              </a:lstStyle>
              <a:p>
                <a:pPr algn="just" eaLnBrk="0" hangingPunct="0">
                  <a:lnSpc>
                    <a:spcPct val="110000"/>
                  </a:lnSpc>
                  <a:defRPr/>
                </a:pPr>
                <a:r>
                  <a:rPr lang="en-AU" sz="2600" b="1" dirty="0">
                    <a:solidFill>
                      <a:srgbClr val="FF0000"/>
                    </a:solidFill>
                    <a:latin typeface="Times New Roman" panose="02020603050405020304" pitchFamily="18" charset="0"/>
                    <a:cs typeface="Times New Roman" panose="02020603050405020304" pitchFamily="18" charset="0"/>
                  </a:rPr>
                  <a:t>6.41</a:t>
                </a:r>
                <a:r>
                  <a:rPr lang="en-AU" sz="2600" b="1" dirty="0">
                    <a:latin typeface="Times New Roman" panose="02020603050405020304" pitchFamily="18" charset="0"/>
                    <a:cs typeface="Times New Roman" panose="02020603050405020304" pitchFamily="18" charset="0"/>
                  </a:rPr>
                  <a:t> </a:t>
                </a:r>
                <a:r>
                  <a:rPr lang="en-AU" sz="2600" dirty="0">
                    <a:latin typeface="Times New Roman" panose="02020603050405020304" pitchFamily="18" charset="0"/>
                    <a:cs typeface="Times New Roman" panose="02020603050405020304" pitchFamily="18" charset="0"/>
                  </a:rPr>
                  <a:t>Suppose that the 33rd percentile of a normal distribution is equal to 656 and that the 97.5th percentile of this normal distribution is 896. Find the mean </a:t>
                </a:r>
                <a14:m>
                  <m:oMath xmlns:m="http://schemas.openxmlformats.org/officeDocument/2006/math">
                    <m:r>
                      <a:rPr lang="en-AU" sz="2600" i="1">
                        <a:latin typeface="Cambria Math" panose="02040503050406030204" pitchFamily="18" charset="0"/>
                        <a:ea typeface="Cambria Math" panose="02040503050406030204" pitchFamily="18" charset="0"/>
                        <a:cs typeface="Times New Roman" panose="02020603050405020304" pitchFamily="18" charset="0"/>
                      </a:rPr>
                      <m:t>𝜇</m:t>
                    </m:r>
                  </m:oMath>
                </a14:m>
                <a:r>
                  <a:rPr lang="en-AU" sz="2600" dirty="0">
                    <a:latin typeface="Times New Roman" panose="02020603050405020304" pitchFamily="18" charset="0"/>
                    <a:cs typeface="Times New Roman" panose="02020603050405020304" pitchFamily="18" charset="0"/>
                  </a:rPr>
                  <a:t> and the standard deviation</a:t>
                </a:r>
                <a14:m>
                  <m:oMath xmlns:m="http://schemas.openxmlformats.org/officeDocument/2006/math">
                    <m:r>
                      <a:rPr lang="en-AU" sz="2600" b="0" i="0" smtClean="0">
                        <a:latin typeface="Cambria Math" panose="02040503050406030204" pitchFamily="18" charset="0"/>
                        <a:ea typeface="Cambria Math" panose="02040503050406030204" pitchFamily="18" charset="0"/>
                        <a:cs typeface="Times New Roman" panose="02020603050405020304" pitchFamily="18" charset="0"/>
                      </a:rPr>
                      <m:t> </m:t>
                    </m:r>
                    <m:r>
                      <a:rPr lang="en-AU" sz="2600" i="1">
                        <a:latin typeface="Cambria Math" panose="02040503050406030204" pitchFamily="18" charset="0"/>
                        <a:ea typeface="Cambria Math" panose="02040503050406030204" pitchFamily="18" charset="0"/>
                        <a:cs typeface="Times New Roman" panose="02020603050405020304" pitchFamily="18" charset="0"/>
                      </a:rPr>
                      <m:t>𝜎</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AU" sz="2600" dirty="0">
                    <a:latin typeface="Times New Roman" panose="02020603050405020304" pitchFamily="18" charset="0"/>
                    <a:cs typeface="Times New Roman" panose="02020603050405020304" pitchFamily="18" charset="0"/>
                  </a:rPr>
                  <a:t>of the normal distribution.</a:t>
                </a:r>
                <a:endParaRPr lang="en-US" altLang="zh-CN" sz="2600" dirty="0">
                  <a:latin typeface="Times New Roman" panose="02020603050405020304" pitchFamily="18" charset="0"/>
                  <a:cs typeface="Times New Roman" panose="02020603050405020304" pitchFamily="18" charset="0"/>
                </a:endParaRPr>
              </a:p>
            </p:txBody>
          </p:sp>
        </mc:Choice>
        <mc:Fallback xmlns="">
          <p:sp>
            <p:nvSpPr>
              <p:cNvPr id="3" name="Text Box 2">
                <a:extLst>
                  <a:ext uri="{FF2B5EF4-FFF2-40B4-BE49-F238E27FC236}">
                    <a16:creationId xmlns:a16="http://schemas.microsoft.com/office/drawing/2014/main" id="{CCA188B4-36BE-1E04-3D93-690A06E10E8E}"/>
                  </a:ext>
                </a:extLst>
              </p:cNvPr>
              <p:cNvSpPr txBox="1">
                <a:spLocks noRot="1" noChangeAspect="1" noMove="1" noResize="1" noEditPoints="1" noAdjustHandles="1" noChangeArrowheads="1" noChangeShapeType="1" noTextEdit="1"/>
              </p:cNvSpPr>
              <p:nvPr/>
            </p:nvSpPr>
            <p:spPr bwMode="auto">
              <a:xfrm>
                <a:off x="776849" y="666001"/>
                <a:ext cx="10901630" cy="1380827"/>
              </a:xfrm>
              <a:prstGeom prst="rect">
                <a:avLst/>
              </a:prstGeom>
              <a:blipFill>
                <a:blip r:embed="rId3"/>
                <a:stretch>
                  <a:fillRect l="-1006" t="-3084" r="-950" b="-105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AU">
                    <a:noFill/>
                  </a:rPr>
                  <a:t> </a:t>
                </a:r>
              </a:p>
            </p:txBody>
          </p:sp>
        </mc:Fallback>
      </mc:AlternateContent>
      <p:sp>
        <p:nvSpPr>
          <p:cNvPr id="4" name="灯片编号占位符 16">
            <a:extLst>
              <a:ext uri="{FF2B5EF4-FFF2-40B4-BE49-F238E27FC236}">
                <a16:creationId xmlns:a16="http://schemas.microsoft.com/office/drawing/2014/main" id="{378C52A9-43EC-F65D-6FE4-F81CA55347DE}"/>
              </a:ext>
            </a:extLst>
          </p:cNvPr>
          <p:cNvSpPr txBox="1">
            <a:spLocks/>
          </p:cNvSpPr>
          <p:nvPr/>
        </p:nvSpPr>
        <p:spPr>
          <a:xfrm>
            <a:off x="11430000" y="6453962"/>
            <a:ext cx="731880" cy="39340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DB90B90-C61E-45CC-B8BD-3F215142C646}" type="slidenum">
              <a:rPr lang="zh-CN" altLang="en-US" sz="2000" smtClean="0">
                <a:latin typeface="Times New Roman" panose="02020603050405020304" pitchFamily="18" charset="0"/>
                <a:ea typeface="SimSun" panose="02010600030101010101" pitchFamily="2" charset="-122"/>
                <a:cs typeface="Times New Roman" panose="02020603050405020304" pitchFamily="18" charset="0"/>
              </a:rPr>
              <a:pPr algn="r"/>
              <a:t>94</a:t>
            </a:fld>
            <a:endParaRPr lang="zh-CN" altLang="en-US" sz="2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AF9A5325-F509-C074-7883-B12EEBC93AC3}"/>
              </a:ext>
            </a:extLst>
          </p:cNvPr>
          <p:cNvSpPr txBox="1"/>
          <p:nvPr/>
        </p:nvSpPr>
        <p:spPr>
          <a:xfrm>
            <a:off x="846422" y="2532488"/>
            <a:ext cx="2232991" cy="492443"/>
          </a:xfrm>
          <a:prstGeom prst="rect">
            <a:avLst/>
          </a:prstGeom>
          <a:noFill/>
        </p:spPr>
        <p:txBody>
          <a:bodyPr wrap="square">
            <a:spAutoFit/>
          </a:bodyPr>
          <a:lstStyle/>
          <a:p>
            <a:pPr algn="just">
              <a:spcBef>
                <a:spcPct val="0"/>
              </a:spcBef>
              <a:buClr>
                <a:schemeClr val="tx1"/>
              </a:buClr>
            </a:pPr>
            <a:r>
              <a:rPr lang="en-US" altLang="zh-CN" sz="2600" b="1" dirty="0">
                <a:solidFill>
                  <a:srgbClr val="0000FF"/>
                </a:solidFill>
                <a:latin typeface="Times New Roman" panose="02020603050405020304" pitchFamily="18" charset="0"/>
                <a:cs typeface="Times New Roman" panose="02020603050405020304" pitchFamily="18" charset="0"/>
              </a:rPr>
              <a:t>Answer</a:t>
            </a:r>
            <a:r>
              <a:rPr lang="en-US" altLang="zh-CN" sz="2600" b="1"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D3475D2-F8F4-22B2-C8A0-DAC26359F28D}"/>
                  </a:ext>
                </a:extLst>
              </p:cNvPr>
              <p:cNvSpPr txBox="1"/>
              <p:nvPr/>
            </p:nvSpPr>
            <p:spPr>
              <a:xfrm>
                <a:off x="846423" y="3051017"/>
                <a:ext cx="5464926" cy="4924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AU" sz="2600" i="1" smtClean="0">
                              <a:latin typeface="Cambria Math" panose="02040503050406030204" pitchFamily="18" charset="0"/>
                              <a:cs typeface="Times New Roman" panose="02020603050405020304" pitchFamily="18" charset="0"/>
                            </a:rPr>
                          </m:ctrlPr>
                        </m:sSubPr>
                        <m:e>
                          <m:r>
                            <a:rPr lang="en-AU" sz="2600" b="0" i="1" smtClean="0">
                              <a:latin typeface="Cambria Math" panose="02040503050406030204" pitchFamily="18" charset="0"/>
                              <a:cs typeface="Times New Roman" panose="02020603050405020304" pitchFamily="18" charset="0"/>
                            </a:rPr>
                            <m:t>𝑧</m:t>
                          </m:r>
                        </m:e>
                        <m:sub>
                          <m:r>
                            <a:rPr lang="en-AU" sz="2600" b="0" i="1" smtClean="0">
                              <a:latin typeface="Cambria Math" panose="02040503050406030204" pitchFamily="18" charset="0"/>
                              <a:cs typeface="Times New Roman" panose="02020603050405020304" pitchFamily="18" charset="0"/>
                            </a:rPr>
                            <m:t>0.33</m:t>
                          </m:r>
                        </m:sub>
                      </m:sSub>
                      <m:r>
                        <a:rPr lang="en-AU" sz="2600" i="1" smtClean="0">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−0.44,</m:t>
                      </m:r>
                      <m:sSub>
                        <m:sSubPr>
                          <m:ctrlPr>
                            <a:rPr lang="en-AU" sz="2600" i="1">
                              <a:latin typeface="Cambria Math" panose="02040503050406030204" pitchFamily="18" charset="0"/>
                              <a:cs typeface="Times New Roman" panose="02020603050405020304" pitchFamily="18" charset="0"/>
                            </a:rPr>
                          </m:ctrlPr>
                        </m:sSubPr>
                        <m:e>
                          <m:r>
                            <a:rPr lang="en-AU" sz="2600" i="1">
                              <a:latin typeface="Cambria Math" panose="02040503050406030204" pitchFamily="18" charset="0"/>
                              <a:cs typeface="Times New Roman" panose="02020603050405020304" pitchFamily="18" charset="0"/>
                            </a:rPr>
                            <m:t>𝑧</m:t>
                          </m:r>
                        </m:e>
                        <m:sub>
                          <m:r>
                            <a:rPr lang="en-AU" sz="2600" i="1">
                              <a:latin typeface="Cambria Math" panose="02040503050406030204" pitchFamily="18" charset="0"/>
                              <a:cs typeface="Times New Roman" panose="02020603050405020304" pitchFamily="18" charset="0"/>
                            </a:rPr>
                            <m:t>0.</m:t>
                          </m:r>
                          <m:r>
                            <a:rPr lang="en-AU" sz="2600" b="0" i="1" smtClean="0">
                              <a:latin typeface="Cambria Math" panose="02040503050406030204" pitchFamily="18" charset="0"/>
                              <a:cs typeface="Times New Roman" panose="02020603050405020304" pitchFamily="18" charset="0"/>
                            </a:rPr>
                            <m:t>975</m:t>
                          </m:r>
                        </m:sub>
                      </m:sSub>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1.96</m:t>
                      </m:r>
                    </m:oMath>
                  </m:oMathPara>
                </a14:m>
                <a:endParaRPr lang="en-AU" sz="2600" dirty="0"/>
              </a:p>
            </p:txBody>
          </p:sp>
        </mc:Choice>
        <mc:Fallback xmlns="">
          <p:sp>
            <p:nvSpPr>
              <p:cNvPr id="7" name="TextBox 6">
                <a:extLst>
                  <a:ext uri="{FF2B5EF4-FFF2-40B4-BE49-F238E27FC236}">
                    <a16:creationId xmlns:a16="http://schemas.microsoft.com/office/drawing/2014/main" id="{FD3475D2-F8F4-22B2-C8A0-DAC26359F28D}"/>
                  </a:ext>
                </a:extLst>
              </p:cNvPr>
              <p:cNvSpPr txBox="1">
                <a:spLocks noRot="1" noChangeAspect="1" noMove="1" noResize="1" noEditPoints="1" noAdjustHandles="1" noChangeArrowheads="1" noChangeShapeType="1" noTextEdit="1"/>
              </p:cNvSpPr>
              <p:nvPr/>
            </p:nvSpPr>
            <p:spPr>
              <a:xfrm>
                <a:off x="846423" y="3051017"/>
                <a:ext cx="5464926" cy="492443"/>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017A69-5341-EFE4-F73E-FA74847E5958}"/>
                  </a:ext>
                </a:extLst>
              </p:cNvPr>
              <p:cNvSpPr txBox="1"/>
              <p:nvPr/>
            </p:nvSpPr>
            <p:spPr>
              <a:xfrm>
                <a:off x="846422" y="3798341"/>
                <a:ext cx="5365535" cy="85222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sz="2600" b="0" i="1" smtClean="0">
                          <a:latin typeface="Cambria Math" panose="02040503050406030204" pitchFamily="18" charset="0"/>
                          <a:cs typeface="Times New Roman" panose="02020603050405020304" pitchFamily="18" charset="0"/>
                        </a:rPr>
                        <m:t>−0.44=</m:t>
                      </m:r>
                      <m:f>
                        <m:fPr>
                          <m:ctrlPr>
                            <a:rPr lang="en-AU" sz="2600" i="1">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656</m:t>
                          </m:r>
                          <m:r>
                            <a:rPr lang="en-AU" sz="2600" i="1">
                              <a:latin typeface="Cambria Math" panose="02040503050406030204" pitchFamily="18" charset="0"/>
                              <a:cs typeface="Times New Roman" panose="02020603050405020304" pitchFamily="18" charset="0"/>
                            </a:rPr>
                            <m:t>−</m:t>
                          </m:r>
                          <m:r>
                            <a:rPr lang="en-AU" sz="2600" i="1" smtClean="0">
                              <a:latin typeface="Cambria Math" panose="02040503050406030204" pitchFamily="18" charset="0"/>
                              <a:ea typeface="Cambria Math" panose="02040503050406030204" pitchFamily="18" charset="0"/>
                              <a:cs typeface="Times New Roman" panose="02020603050405020304" pitchFamily="18" charset="0"/>
                            </a:rPr>
                            <m:t>𝜇</m:t>
                          </m:r>
                        </m:num>
                        <m:den>
                          <m:r>
                            <a:rPr lang="en-AU" sz="2600" i="1">
                              <a:latin typeface="Cambria Math" panose="02040503050406030204" pitchFamily="18" charset="0"/>
                              <a:ea typeface="Cambria Math" panose="02040503050406030204" pitchFamily="18" charset="0"/>
                              <a:cs typeface="Times New Roman" panose="02020603050405020304" pitchFamily="18" charset="0"/>
                            </a:rPr>
                            <m:t>𝜎</m:t>
                          </m:r>
                        </m:den>
                      </m:f>
                      <m:r>
                        <a:rPr lang="en-AU" sz="2600" i="1">
                          <a:latin typeface="Cambria Math" panose="02040503050406030204" pitchFamily="18" charset="0"/>
                          <a:cs typeface="Times New Roman" panose="02020603050405020304" pitchFamily="18" charset="0"/>
                        </a:rPr>
                        <m:t>,</m:t>
                      </m:r>
                      <m:r>
                        <a:rPr lang="en-AU" sz="2600" b="0" i="1" smtClean="0">
                          <a:latin typeface="Cambria Math" panose="02040503050406030204" pitchFamily="18" charset="0"/>
                          <a:cs typeface="Times New Roman" panose="02020603050405020304" pitchFamily="18" charset="0"/>
                        </a:rPr>
                        <m:t>1.96</m:t>
                      </m:r>
                      <m:r>
                        <a:rPr lang="en-AU" sz="2600" i="1">
                          <a:latin typeface="Cambria Math" panose="02040503050406030204" pitchFamily="18" charset="0"/>
                          <a:cs typeface="Times New Roman" panose="02020603050405020304" pitchFamily="18" charset="0"/>
                        </a:rPr>
                        <m:t>=</m:t>
                      </m:r>
                      <m:f>
                        <m:fPr>
                          <m:ctrlPr>
                            <a:rPr lang="en-AU" sz="2600" i="1">
                              <a:latin typeface="Cambria Math" panose="02040503050406030204" pitchFamily="18" charset="0"/>
                              <a:cs typeface="Times New Roman" panose="02020603050405020304" pitchFamily="18" charset="0"/>
                            </a:rPr>
                          </m:ctrlPr>
                        </m:fPr>
                        <m:num>
                          <m:r>
                            <a:rPr lang="en-AU" sz="2600" b="0" i="1" smtClean="0">
                              <a:latin typeface="Cambria Math" panose="02040503050406030204" pitchFamily="18" charset="0"/>
                              <a:cs typeface="Times New Roman" panose="02020603050405020304" pitchFamily="18" charset="0"/>
                            </a:rPr>
                            <m:t>896</m:t>
                          </m:r>
                          <m:r>
                            <a:rPr lang="en-AU" sz="2600" i="1">
                              <a:latin typeface="Cambria Math" panose="02040503050406030204" pitchFamily="18" charset="0"/>
                              <a:cs typeface="Times New Roman" panose="02020603050405020304" pitchFamily="18" charset="0"/>
                            </a:rPr>
                            <m:t>−</m:t>
                          </m:r>
                          <m:r>
                            <a:rPr lang="en-AU" sz="2600" i="1">
                              <a:latin typeface="Cambria Math" panose="02040503050406030204" pitchFamily="18" charset="0"/>
                              <a:ea typeface="Cambria Math" panose="02040503050406030204" pitchFamily="18" charset="0"/>
                              <a:cs typeface="Times New Roman" panose="02020603050405020304" pitchFamily="18" charset="0"/>
                            </a:rPr>
                            <m:t>𝜇</m:t>
                          </m:r>
                        </m:num>
                        <m:den>
                          <m:r>
                            <a:rPr lang="en-AU" sz="2600" i="1">
                              <a:latin typeface="Cambria Math" panose="02040503050406030204" pitchFamily="18" charset="0"/>
                              <a:ea typeface="Cambria Math" panose="02040503050406030204" pitchFamily="18" charset="0"/>
                              <a:cs typeface="Times New Roman" panose="02020603050405020304" pitchFamily="18" charset="0"/>
                            </a:rPr>
                            <m:t>𝜎</m:t>
                          </m:r>
                        </m:den>
                      </m:f>
                    </m:oMath>
                  </m:oMathPara>
                </a14:m>
                <a:endParaRPr lang="en-AU" sz="2600" dirty="0"/>
              </a:p>
            </p:txBody>
          </p:sp>
        </mc:Choice>
        <mc:Fallback xmlns="">
          <p:sp>
            <p:nvSpPr>
              <p:cNvPr id="8" name="TextBox 7">
                <a:extLst>
                  <a:ext uri="{FF2B5EF4-FFF2-40B4-BE49-F238E27FC236}">
                    <a16:creationId xmlns:a16="http://schemas.microsoft.com/office/drawing/2014/main" id="{0B017A69-5341-EFE4-F73E-FA74847E5958}"/>
                  </a:ext>
                </a:extLst>
              </p:cNvPr>
              <p:cNvSpPr txBox="1">
                <a:spLocks noRot="1" noChangeAspect="1" noMove="1" noResize="1" noEditPoints="1" noAdjustHandles="1" noChangeArrowheads="1" noChangeShapeType="1" noTextEdit="1"/>
              </p:cNvSpPr>
              <p:nvPr/>
            </p:nvSpPr>
            <p:spPr>
              <a:xfrm>
                <a:off x="846422" y="3798341"/>
                <a:ext cx="5365535" cy="852221"/>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F87488-FFBE-CB10-4ADB-39C83AF68996}"/>
                  </a:ext>
                </a:extLst>
              </p:cNvPr>
              <p:cNvSpPr txBox="1"/>
              <p:nvPr/>
            </p:nvSpPr>
            <p:spPr>
              <a:xfrm>
                <a:off x="862129" y="4905443"/>
                <a:ext cx="5365535" cy="4924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AU" sz="2600" i="1" smtClean="0">
                          <a:latin typeface="Cambria Math" panose="02040503050406030204" pitchFamily="18" charset="0"/>
                          <a:ea typeface="Cambria Math" panose="02040503050406030204" pitchFamily="18" charset="0"/>
                          <a:cs typeface="Times New Roman" panose="02020603050405020304" pitchFamily="18" charset="0"/>
                        </a:rPr>
                        <m:t>𝜇</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=700,</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𝜎</m:t>
                      </m:r>
                      <m:r>
                        <a:rPr lang="en-AU" sz="2600" b="0" i="1" smtClean="0">
                          <a:latin typeface="Cambria Math" panose="02040503050406030204" pitchFamily="18" charset="0"/>
                          <a:ea typeface="Cambria Math" panose="02040503050406030204" pitchFamily="18" charset="0"/>
                          <a:cs typeface="Times New Roman" panose="02020603050405020304" pitchFamily="18" charset="0"/>
                        </a:rPr>
                        <m:t>=100</m:t>
                      </m:r>
                    </m:oMath>
                  </m:oMathPara>
                </a14:m>
                <a:endParaRPr lang="en-AU" sz="2600" dirty="0"/>
              </a:p>
            </p:txBody>
          </p:sp>
        </mc:Choice>
        <mc:Fallback xmlns="">
          <p:sp>
            <p:nvSpPr>
              <p:cNvPr id="9" name="TextBox 8">
                <a:extLst>
                  <a:ext uri="{FF2B5EF4-FFF2-40B4-BE49-F238E27FC236}">
                    <a16:creationId xmlns:a16="http://schemas.microsoft.com/office/drawing/2014/main" id="{E3F87488-FFBE-CB10-4ADB-39C83AF68996}"/>
                  </a:ext>
                </a:extLst>
              </p:cNvPr>
              <p:cNvSpPr txBox="1">
                <a:spLocks noRot="1" noChangeAspect="1" noMove="1" noResize="1" noEditPoints="1" noAdjustHandles="1" noChangeArrowheads="1" noChangeShapeType="1" noTextEdit="1"/>
              </p:cNvSpPr>
              <p:nvPr/>
            </p:nvSpPr>
            <p:spPr>
              <a:xfrm>
                <a:off x="862129" y="4905443"/>
                <a:ext cx="5365535" cy="492443"/>
              </a:xfrm>
              <a:prstGeom prst="rect">
                <a:avLst/>
              </a:prstGeom>
              <a:blipFill>
                <a:blip r:embed="rId6"/>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4003919076"/>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6FB469-7E8C-5D5B-2ED9-2AFBB7BC76EF}"/>
              </a:ext>
            </a:extLst>
          </p:cNvPr>
          <p:cNvSpPr>
            <a:spLocks noGrp="1"/>
          </p:cNvSpPr>
          <p:nvPr>
            <p:ph type="title"/>
          </p:nvPr>
        </p:nvSpPr>
        <p:spPr>
          <a:xfrm>
            <a:off x="480392" y="1180099"/>
            <a:ext cx="10515600" cy="1056206"/>
          </a:xfrm>
        </p:spPr>
        <p:txBody>
          <a:bodyPr/>
          <a:lstStyle/>
          <a:p>
            <a:pPr algn="ctr"/>
            <a:r>
              <a:rPr lang="en-US" altLang="zh-CN" dirty="0">
                <a:solidFill>
                  <a:srgbClr val="0000FF"/>
                </a:solidFill>
                <a:latin typeface="Times New Roman" panose="02020603050405020304" pitchFamily="18" charset="0"/>
                <a:cs typeface="Times New Roman" panose="02020603050405020304" pitchFamily="18" charset="0"/>
              </a:rPr>
              <a:t>Thank you!</a:t>
            </a:r>
            <a:endParaRPr lang="zh-CN" altLang="en-US"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14673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1776</TotalTime>
  <Words>6519</Words>
  <Application>Microsoft Office PowerPoint</Application>
  <PresentationFormat>Widescreen</PresentationFormat>
  <Paragraphs>603</Paragraphs>
  <Slides>95</Slides>
  <Notes>61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95</vt:i4>
      </vt:variant>
    </vt:vector>
  </HeadingPairs>
  <TitlesOfParts>
    <vt:vector size="105" baseType="lpstr">
      <vt:lpstr>等线</vt:lpstr>
      <vt:lpstr>等线 Light</vt:lpstr>
      <vt:lpstr>宋体</vt:lpstr>
      <vt:lpstr>Arial</vt:lpstr>
      <vt:lpstr>Book Antiqua</vt:lpstr>
      <vt:lpstr>Cambria Math</vt:lpstr>
      <vt:lpstr>Symbol</vt:lpstr>
      <vt:lpstr>Times New Roman</vt:lpstr>
      <vt:lpstr>Wingdings</vt:lpstr>
      <vt:lpstr>Office 主题​​</vt:lpstr>
      <vt:lpstr>PowerPoint Presentation</vt:lpstr>
      <vt:lpstr>PowerPoint Presentation</vt:lpstr>
      <vt:lpstr>Outline</vt:lpstr>
      <vt:lpstr>Section 6.1   Continuous Probability Distributions</vt:lpstr>
      <vt:lpstr>PowerPoint Presentation</vt:lpstr>
      <vt:lpstr>PowerPoint Presentation</vt:lpstr>
      <vt:lpstr>PowerPoint Presentation</vt:lpstr>
      <vt:lpstr>Properties of Continuous Probability Distributions</vt:lpstr>
      <vt:lpstr>Area and Probability</vt:lpstr>
      <vt:lpstr>As an example of using a continuous probability distribution to describe a random variable, (a) Suppose that the fast-food restaurant studies the temperature of the coffee being dispensed  (b) Giving the 48 coffee temperatures in Figure 6.1(a)  (c) Figure 6.1(b) shows a percent frequency histogram of the coffee temperatures  (d) If we were to smooth out the histogram with a continuous curve, we would get a curve similar to the symmetrical and bell-shaped curve in Figure 6.1(c)  (e) One continuous probability distribution that graphs as a symmetrical and bell-shaped curve is the normal probability distribution (or normal curve)  (f) The coffee temperature histogram looks like a normal curve. So, it is reasonable to conclude that x, the temperature of a randomly selected cup of coffee at the fast-food restaurant, is described by a normal probability distribution</vt:lpstr>
      <vt:lpstr>PowerPoint Presentation</vt:lpstr>
      <vt:lpstr>(g) Experience shows that the best coffee temperature is between 153° and 167°.  (h) It follows that the probability that x will be between 153° and 167° is the area under the coffee temperature normal curve between 153 and 167.  (i) In Section 6.3, where we discuss the normal curve in detail, we will find that this area is 0.7223. That is, in probability notation: P(153 &lt; x &lt; 167) = 0.7223 (see the blue area in Figure 6.1(c)).  (j) In conclusion, we estimate that 72.23 percent of the coffee served at the restaurant is within the range of temperatures that is best and 27.77 percent of the coffee served is not in this range. If management wishes a very high percentage of the coffee served to taste best, it must improve the coffee-making process by better controlling temperatures.</vt:lpstr>
      <vt:lpstr>Continuous Probability Distributions</vt:lpstr>
      <vt:lpstr>PowerPoint Presentation</vt:lpstr>
      <vt:lpstr>Distribution Shapes</vt:lpstr>
      <vt:lpstr>Section 6.2    The Uniform Distribution</vt:lpstr>
      <vt:lpstr>PowerPoint Presentation</vt:lpstr>
      <vt:lpstr>The Uniform Probability Curve</vt:lpstr>
      <vt:lpstr>PowerPoint Presentation</vt:lpstr>
      <vt:lpstr>Notes on the Uniform Distribution</vt:lpstr>
      <vt:lpstr>Example 6.1: Elevator Waiting Time #1</vt:lpstr>
      <vt:lpstr>Elevator Waiting Time #2</vt:lpstr>
      <vt:lpstr>Elevator Waiting Time #3</vt:lpstr>
      <vt:lpstr>Exercises (if time permits)</vt:lpstr>
      <vt:lpstr>Exercises (if time permits)</vt:lpstr>
      <vt:lpstr>Exercises (if time permits)</vt:lpstr>
      <vt:lpstr>Exercises (if time permits)</vt:lpstr>
      <vt:lpstr>Exercises (if time permits)</vt:lpstr>
      <vt:lpstr>Exercises (if time permits)</vt:lpstr>
      <vt:lpstr>Answer</vt:lpstr>
      <vt:lpstr>Exercises (if time permits)</vt:lpstr>
      <vt:lpstr>Exercises (if time permits)</vt:lpstr>
      <vt:lpstr>Exercises (if time permits)</vt:lpstr>
      <vt:lpstr>Exercises (if time permits)</vt:lpstr>
      <vt:lpstr>Answer</vt:lpstr>
      <vt:lpstr>End of Lecture 10</vt:lpstr>
      <vt:lpstr>Section 6.3    The Normal Distribution</vt:lpstr>
      <vt:lpstr>PowerPoint Presentation</vt:lpstr>
      <vt:lpstr>PowerPoint Presentation</vt:lpstr>
      <vt:lpstr>Properties of the Normal Distribution</vt:lpstr>
      <vt:lpstr>PowerPoint Presentation</vt:lpstr>
      <vt:lpstr>The Position and Shape of the Normal Curve</vt:lpstr>
      <vt:lpstr>Normal Probabilities</vt:lpstr>
      <vt:lpstr>Three Important Percentages  (We also know this in Chapter 3)</vt:lpstr>
      <vt:lpstr>z - scores</vt:lpstr>
      <vt:lpstr>PowerPoint Presentation</vt:lpstr>
      <vt:lpstr>The Standard Normal Distribution </vt:lpstr>
      <vt:lpstr>PowerPoint Presentation</vt:lpstr>
      <vt:lpstr>The Standard Normal Table</vt:lpstr>
      <vt:lpstr>The Cumulative Normal Table</vt:lpstr>
      <vt:lpstr>Example: Find the area under the standard normal curve to the left of a z value of 2.00. </vt:lpstr>
      <vt:lpstr>PowerPoint Presentation</vt:lpstr>
      <vt:lpstr>Example: Find the area under the standard normal curve to the right of a z value of 2 — that is, we wish to find P(z &gt; 2). </vt:lpstr>
      <vt:lpstr>PowerPoint Presentation</vt:lpstr>
      <vt:lpstr>PowerPoint Presentation</vt:lpstr>
      <vt:lpstr>End of Lecture 11</vt:lpstr>
      <vt:lpstr>Example: Calculating P(-2.53≤z≤2.53) </vt:lpstr>
      <vt:lpstr>PowerPoint Presentation</vt:lpstr>
      <vt:lpstr>PowerPoint Presentation</vt:lpstr>
      <vt:lpstr>Finding Normal Probabilities of x</vt:lpstr>
      <vt:lpstr>PowerPoint Presentation</vt:lpstr>
      <vt:lpstr>Figure 6.15 Some Areas under the Standard Normal Curve f(z) </vt:lpstr>
      <vt:lpstr>Three Important Areas under the Normal Curve f(x)</vt:lpstr>
      <vt:lpstr>The Empirical Rule for Normal Populations</vt:lpstr>
      <vt:lpstr>PowerPoint Presentation</vt:lpstr>
      <vt:lpstr>PowerPoint Presentation</vt:lpstr>
      <vt:lpstr>PowerPoint Presentation</vt:lpstr>
      <vt:lpstr>Problem </vt:lpstr>
      <vt:lpstr>PowerPoint Presentation</vt:lpstr>
      <vt:lpstr>PowerPoint Presentation</vt:lpstr>
      <vt:lpstr>Finding z Points on a Standard Normal Curve</vt:lpstr>
      <vt:lpstr>PowerPoint Presentation</vt:lpstr>
      <vt:lpstr>PowerPoint Presentation</vt:lpstr>
      <vt:lpstr>PowerPoint Presentation</vt:lpstr>
      <vt:lpstr>PowerPoint Presentation</vt:lpstr>
      <vt:lpstr>Step  #1</vt:lpstr>
      <vt:lpstr>Step  #2</vt:lpstr>
      <vt:lpstr>Question (if time permits) </vt:lpstr>
      <vt:lpstr>Finding a Tolerance Interval</vt:lpstr>
      <vt:lpstr>PowerPoint Presentation</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Continuous Random Variables(连续型随机变量)  </dc:title>
  <dc:creator>Zhou, Min</dc:creator>
  <cp:lastModifiedBy>Baolin Wang</cp:lastModifiedBy>
  <cp:revision>655</cp:revision>
  <dcterms:created xsi:type="dcterms:W3CDTF">2020-10-23T06:08:17Z</dcterms:created>
  <dcterms:modified xsi:type="dcterms:W3CDTF">2025-10-17T03:23:37Z</dcterms:modified>
</cp:coreProperties>
</file>