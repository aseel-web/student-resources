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1"/>
  </p:notesMasterIdLst>
  <p:sldIdLst>
    <p:sldId id="256" r:id="rId2"/>
    <p:sldId id="334" r:id="rId3"/>
    <p:sldId id="257" r:id="rId4"/>
    <p:sldId id="335" r:id="rId5"/>
    <p:sldId id="336" r:id="rId6"/>
    <p:sldId id="306" r:id="rId7"/>
    <p:sldId id="337" r:id="rId8"/>
    <p:sldId id="338" r:id="rId9"/>
    <p:sldId id="339" r:id="rId10"/>
    <p:sldId id="315" r:id="rId11"/>
    <p:sldId id="317" r:id="rId12"/>
    <p:sldId id="318" r:id="rId13"/>
    <p:sldId id="314" r:id="rId14"/>
    <p:sldId id="319" r:id="rId15"/>
    <p:sldId id="320" r:id="rId16"/>
    <p:sldId id="322" r:id="rId17"/>
    <p:sldId id="323" r:id="rId18"/>
    <p:sldId id="324" r:id="rId19"/>
    <p:sldId id="325" r:id="rId20"/>
    <p:sldId id="326" r:id="rId21"/>
    <p:sldId id="328" r:id="rId22"/>
    <p:sldId id="340" r:id="rId23"/>
    <p:sldId id="327" r:id="rId24"/>
    <p:sldId id="341" r:id="rId25"/>
    <p:sldId id="329" r:id="rId26"/>
    <p:sldId id="330" r:id="rId27"/>
    <p:sldId id="331" r:id="rId28"/>
    <p:sldId id="332" r:id="rId29"/>
    <p:sldId id="333" r:id="rId30"/>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3224">
          <p15:clr>
            <a:srgbClr val="A4A3A4"/>
          </p15:clr>
        </p15:guide>
        <p15:guide id="4"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94664"/>
  </p:normalViewPr>
  <p:slideViewPr>
    <p:cSldViewPr>
      <p:cViewPr varScale="1">
        <p:scale>
          <a:sx n="107" d="100"/>
          <a:sy n="107" d="100"/>
        </p:scale>
        <p:origin x="1688" y="176"/>
      </p:cViewPr>
      <p:guideLst>
        <p:guide orient="horz" pos="2160"/>
        <p:guide pos="2880"/>
      </p:guideLst>
    </p:cSldViewPr>
  </p:slideViewPr>
  <p:notesTextViewPr>
    <p:cViewPr>
      <p:scale>
        <a:sx n="1" d="1"/>
        <a:sy n="1" d="1"/>
      </p:scale>
      <p:origin x="0" y="0"/>
    </p:cViewPr>
  </p:notesTextViewPr>
  <p:notesViewPr>
    <p:cSldViewPr>
      <p:cViewPr varScale="1">
        <p:scale>
          <a:sx n="83" d="100"/>
          <a:sy n="83" d="100"/>
        </p:scale>
        <p:origin x="-1992" y="-72"/>
      </p:cViewPr>
      <p:guideLst>
        <p:guide orient="horz" pos="2880"/>
        <p:guide pos="2160"/>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en-GB"/>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2AA16D03-D235-4816-A60A-290C0630A47B}" type="datetimeFigureOut">
              <a:rPr lang="en-GB" smtClean="0"/>
              <a:t>28/12/2024</a:t>
            </a:fld>
            <a:endParaRPr lang="en-GB"/>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en-GB"/>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en-GB"/>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1C7D4A74-6C7F-4752-B49D-9BACC919F9E5}" type="slidenum">
              <a:rPr lang="en-GB" smtClean="0"/>
              <a:t>‹#›</a:t>
            </a:fld>
            <a:endParaRPr lang="en-GB"/>
          </a:p>
        </p:txBody>
      </p:sp>
    </p:spTree>
    <p:extLst>
      <p:ext uri="{BB962C8B-B14F-4D97-AF65-F5344CB8AC3E}">
        <p14:creationId xmlns:p14="http://schemas.microsoft.com/office/powerpoint/2010/main" val="3624928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r>
              <a:rPr lang="en-SG" altLang="zh-TW"/>
              <a:t>Modern Physics I (Ch. 38)</a:t>
            </a:r>
            <a:endParaRPr lang="en-GB" dirty="0"/>
          </a:p>
        </p:txBody>
      </p:sp>
      <p:sp>
        <p:nvSpPr>
          <p:cNvPr id="17" name="Footer Placeholder 16"/>
          <p:cNvSpPr>
            <a:spLocks noGrp="1"/>
          </p:cNvSpPr>
          <p:nvPr>
            <p:ph type="ftr" sz="quarter" idx="11"/>
          </p:nvPr>
        </p:nvSpPr>
        <p:spPr>
          <a:xfrm>
            <a:off x="2898648" y="6355080"/>
            <a:ext cx="3474720" cy="365760"/>
          </a:xfrm>
        </p:spPr>
        <p:txBody>
          <a:bodyPr/>
          <a:lstStyle/>
          <a:p>
            <a:endParaRPr lang="en-GB"/>
          </a:p>
        </p:txBody>
      </p:sp>
      <p:sp>
        <p:nvSpPr>
          <p:cNvPr id="29" name="Slide Number Placeholder 28"/>
          <p:cNvSpPr>
            <a:spLocks noGrp="1"/>
          </p:cNvSpPr>
          <p:nvPr>
            <p:ph type="sldNum" sz="quarter" idx="12"/>
          </p:nvPr>
        </p:nvSpPr>
        <p:spPr>
          <a:xfrm>
            <a:off x="1216152" y="6355080"/>
            <a:ext cx="1219200" cy="365760"/>
          </a:xfrm>
        </p:spPr>
        <p:txBody>
          <a:bodyPr/>
          <a:lstStyle/>
          <a:p>
            <a:fld id="{60093787-08EC-4113-8521-0E445B8625BD}" type="slidenum">
              <a:rPr lang="en-GB" smtClean="0"/>
              <a:t>‹#›</a:t>
            </a:fld>
            <a:endParaRPr lang="en-GB"/>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a:xfrm>
            <a:off x="3563888" y="6356350"/>
            <a:ext cx="5125960" cy="365760"/>
          </a:xfrm>
        </p:spPr>
        <p:txBody>
          <a:bodyPr/>
          <a:lstStyle>
            <a:lvl1pPr algn="r">
              <a:defRPr/>
            </a:lvl1pPr>
          </a:lstStyle>
          <a:p>
            <a:r>
              <a:rPr lang="en-SG" altLang="zh-TW"/>
              <a:t>Modern Physics I (Ch. 38)</a:t>
            </a:r>
            <a:endParaRPr lang="en-GB" dirty="0"/>
          </a:p>
        </p:txBody>
      </p:sp>
      <p:sp>
        <p:nvSpPr>
          <p:cNvPr id="5" name="Footer Placeholder 4"/>
          <p:cNvSpPr>
            <a:spLocks noGrp="1"/>
          </p:cNvSpPr>
          <p:nvPr>
            <p:ph type="ftr" sz="quarter" idx="11"/>
          </p:nvPr>
        </p:nvSpPr>
        <p:spPr/>
        <p:txBody>
          <a:bodyPr/>
          <a:lstStyle>
            <a:lvl1pPr algn="l">
              <a:defRPr/>
            </a:lvl1pPr>
          </a:lstStyle>
          <a:p>
            <a:endParaRPr lang="en-GB" dirty="0"/>
          </a:p>
        </p:txBody>
      </p:sp>
      <p:sp>
        <p:nvSpPr>
          <p:cNvPr id="6" name="Slide Number Placeholder 5"/>
          <p:cNvSpPr>
            <a:spLocks noGrp="1"/>
          </p:cNvSpPr>
          <p:nvPr>
            <p:ph type="sldNum" sz="quarter" idx="12"/>
          </p:nvPr>
        </p:nvSpPr>
        <p:spPr/>
        <p:txBody>
          <a:bodyPr/>
          <a:lstStyle/>
          <a:p>
            <a:fld id="{60093787-08EC-4113-8521-0E445B8625BD}" type="slidenum">
              <a:rPr lang="en-GB" smtClean="0"/>
              <a:t>‹#›</a:t>
            </a:fld>
            <a:endParaRPr lang="en-GB"/>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r>
              <a:rPr lang="en-SG" altLang="zh-TW"/>
              <a:t>Modern Physics I (Ch. 38)</a:t>
            </a:r>
            <a:endParaRPr lang="en-GB" dirty="0"/>
          </a:p>
        </p:txBody>
      </p:sp>
      <p:sp>
        <p:nvSpPr>
          <p:cNvPr id="5" name="Footer Placeholder 4"/>
          <p:cNvSpPr>
            <a:spLocks noGrp="1"/>
          </p:cNvSpPr>
          <p:nvPr>
            <p:ph type="ftr" sz="quarter" idx="11"/>
          </p:nvPr>
        </p:nvSpPr>
        <p:spPr>
          <a:xfrm>
            <a:off x="2898648" y="6355080"/>
            <a:ext cx="3474720" cy="365760"/>
          </a:xfrm>
        </p:spPr>
        <p:txBody>
          <a:bodyPr/>
          <a:lstStyle/>
          <a:p>
            <a:endParaRPr lang="en-GB"/>
          </a:p>
        </p:txBody>
      </p:sp>
      <p:sp>
        <p:nvSpPr>
          <p:cNvPr id="6" name="Slide Number Placeholder 5"/>
          <p:cNvSpPr>
            <a:spLocks noGrp="1"/>
          </p:cNvSpPr>
          <p:nvPr>
            <p:ph type="sldNum" sz="quarter" idx="12"/>
          </p:nvPr>
        </p:nvSpPr>
        <p:spPr>
          <a:xfrm>
            <a:off x="1069848" y="6355080"/>
            <a:ext cx="1520952" cy="365760"/>
          </a:xfrm>
        </p:spPr>
        <p:txBody>
          <a:bodyPr/>
          <a:lstStyle/>
          <a:p>
            <a:fld id="{60093787-08EC-4113-8521-0E445B8625BD}" type="slidenum">
              <a:rPr lang="en-GB" smtClean="0"/>
              <a:t>‹#›</a:t>
            </a:fld>
            <a:endParaRPr lang="en-GB"/>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r>
              <a:rPr lang="en-SG" altLang="zh-TW"/>
              <a:t>Modern Physics I (Ch. 38)</a:t>
            </a:r>
            <a:endParaRPr lang="en-GB"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0093787-08EC-4113-8521-0E445B8625BD}" type="slidenum">
              <a:rPr lang="en-GB" smtClean="0"/>
              <a:t>‹#›</a:t>
            </a:fld>
            <a:endParaRPr lang="en-GB"/>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r>
              <a:rPr lang="en-SG" altLang="zh-TW"/>
              <a:t>Modern Physics I (Ch. 38)</a:t>
            </a:r>
            <a:endParaRPr lang="en-GB" dirty="0"/>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0093787-08EC-4113-8521-0E445B8625BD}" type="slidenum">
              <a:rPr lang="en-GB" smtClean="0"/>
              <a:t>‹#›</a:t>
            </a:fld>
            <a:endParaRPr lang="en-GB"/>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0093787-08EC-4113-8521-0E445B8625BD}" type="slidenum">
              <a:rPr lang="en-GB" smtClean="0"/>
              <a:t>‹#›</a:t>
            </a:fld>
            <a:endParaRPr lang="en-GB"/>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SG" altLang="zh-TW"/>
              <a:t>Modern Physics I (Ch. 38)</a:t>
            </a:r>
            <a:endParaRPr lang="en-GB" dirty="0"/>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0093787-08EC-4113-8521-0E445B8625BD}" type="slidenum">
              <a:rPr lang="en-GB" smtClean="0"/>
              <a:t>‹#›</a:t>
            </a:fld>
            <a:endParaRPr lang="en-GB"/>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SG" altLang="zh-TW"/>
              <a:t>Modern Physics I (Ch. 38)</a:t>
            </a:r>
            <a:endParaRPr lang="en-GB"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0093787-08EC-4113-8521-0E445B8625BD}" type="slidenum">
              <a:rPr lang="en-GB" smtClean="0"/>
              <a:t>‹#›</a:t>
            </a:fld>
            <a:endParaRPr lang="en-GB"/>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SG" altLang="zh-TW"/>
              <a:t>Modern Physics I (Ch. 38)</a:t>
            </a:r>
            <a:endParaRPr lang="en-GB" dirty="0"/>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0093787-08EC-4113-8521-0E445B8625BD}" type="slidenum">
              <a:rPr lang="en-GB" smtClean="0"/>
              <a:t>‹#›</a:t>
            </a:fld>
            <a:endParaRPr lang="en-GB"/>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SG" altLang="zh-TW"/>
              <a:t>Modern Physics I (Ch. 38)</a:t>
            </a:r>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093787-08EC-4113-8521-0E445B8625BD}" type="slidenum">
              <a:rPr lang="en-GB" smtClean="0"/>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SG" altLang="zh-TW"/>
              <a:t>Modern Physics I (Ch. 38)</a:t>
            </a:r>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0093787-08EC-4113-8521-0E445B8625BD}" type="slidenum">
              <a:rPr lang="en-GB" smtClean="0"/>
              <a:t>‹#›</a:t>
            </a:fld>
            <a:endParaRPr lang="en-GB"/>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r>
              <a:rPr lang="en-SG" altLang="zh-TW"/>
              <a:t>Modern Physics I (Ch. 38)</a:t>
            </a:r>
            <a:endParaRPr lang="en-GB"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GB"/>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60093787-08EC-4113-8521-0E445B8625BD}" type="slidenum">
              <a:rPr lang="en-GB" smtClean="0"/>
              <a:t>‹#›</a:t>
            </a:fld>
            <a:endParaRPr lang="en-GB"/>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10" Type="http://schemas.openxmlformats.org/officeDocument/2006/relationships/image" Target="../media/image52.png"/><Relationship Id="rId4" Type="http://schemas.openxmlformats.org/officeDocument/2006/relationships/image" Target="../media/image46.png"/><Relationship Id="rId9" Type="http://schemas.openxmlformats.org/officeDocument/2006/relationships/image" Target="../media/image51.png"/></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CN" dirty="0"/>
              <a:t>PHYS1001B</a:t>
            </a:r>
            <a:r>
              <a:rPr lang="en-GB" dirty="0"/>
              <a:t> </a:t>
            </a:r>
            <a:r>
              <a:rPr lang="en-US" altLang="zh-CN" dirty="0"/>
              <a:t>College</a:t>
            </a:r>
            <a:r>
              <a:rPr lang="zh-CN" altLang="en-US" dirty="0"/>
              <a:t> </a:t>
            </a:r>
            <a:r>
              <a:rPr lang="en-GB" dirty="0"/>
              <a:t>Physics I</a:t>
            </a:r>
            <a:r>
              <a:rPr lang="en-US" altLang="zh-CN"/>
              <a:t>B</a:t>
            </a:r>
            <a:endParaRPr lang="en-GB" dirty="0"/>
          </a:p>
        </p:txBody>
      </p:sp>
      <p:sp>
        <p:nvSpPr>
          <p:cNvPr id="3" name="Subtitle 2"/>
          <p:cNvSpPr>
            <a:spLocks noGrp="1"/>
          </p:cNvSpPr>
          <p:nvPr>
            <p:ph type="subTitle" idx="1"/>
          </p:nvPr>
        </p:nvSpPr>
        <p:spPr>
          <a:xfrm>
            <a:off x="1219200" y="5124450"/>
            <a:ext cx="7025208" cy="533400"/>
          </a:xfrm>
        </p:spPr>
        <p:txBody>
          <a:bodyPr>
            <a:normAutofit fontScale="85000" lnSpcReduction="20000"/>
          </a:bodyPr>
          <a:lstStyle/>
          <a:p>
            <a:r>
              <a:rPr lang="fr-FR" dirty="0"/>
              <a:t>Modern</a:t>
            </a:r>
            <a:r>
              <a:rPr lang="zh-CN" altLang="en-US" dirty="0"/>
              <a:t> </a:t>
            </a:r>
            <a:r>
              <a:rPr lang="en-US" altLang="zh-CN" dirty="0"/>
              <a:t>Physics</a:t>
            </a:r>
            <a:r>
              <a:rPr lang="zh-CN" altLang="en-US" dirty="0"/>
              <a:t> </a:t>
            </a:r>
            <a:r>
              <a:rPr lang="fr-FR" dirty="0"/>
              <a:t>I</a:t>
            </a:r>
            <a:r>
              <a:rPr lang="zh-CN" altLang="en-US" dirty="0"/>
              <a:t> </a:t>
            </a:r>
            <a:r>
              <a:rPr lang="en-SG" altLang="zh-CN" dirty="0"/>
              <a:t>Photons: Light Waves Behaving</a:t>
            </a:r>
            <a:r>
              <a:rPr lang="zh-CN" altLang="en-US" dirty="0"/>
              <a:t> </a:t>
            </a:r>
            <a:r>
              <a:rPr lang="en-SG" altLang="zh-CN" dirty="0"/>
              <a:t>as Particles </a:t>
            </a:r>
            <a:r>
              <a:rPr lang="fr-FR" dirty="0"/>
              <a:t>(Ch. </a:t>
            </a:r>
            <a:r>
              <a:rPr lang="en-US" altLang="zh-CN" dirty="0"/>
              <a:t>38</a:t>
            </a:r>
            <a:r>
              <a:rPr lang="fr-FR" dirty="0"/>
              <a:t>)</a:t>
            </a:r>
            <a:endParaRPr lang="en-GB" dirty="0"/>
          </a:p>
        </p:txBody>
      </p:sp>
    </p:spTree>
    <p:extLst>
      <p:ext uri="{BB962C8B-B14F-4D97-AF65-F5344CB8AC3E}">
        <p14:creationId xmlns:p14="http://schemas.microsoft.com/office/powerpoint/2010/main" val="2644017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E93AC0D-119B-924D-48EC-8DB456B55FAD}"/>
              </a:ext>
            </a:extLst>
          </p:cNvPr>
          <p:cNvSpPr>
            <a:spLocks noGrp="1"/>
          </p:cNvSpPr>
          <p:nvPr>
            <p:ph type="dt" sz="half" idx="10"/>
          </p:nvPr>
        </p:nvSpPr>
        <p:spPr/>
        <p:txBody>
          <a:bodyPr/>
          <a:lstStyle/>
          <a:p>
            <a:r>
              <a:rPr lang="en-SG" altLang="zh-TW"/>
              <a:t>Modern Physics I (Ch. 38)</a:t>
            </a:r>
            <a:endParaRPr lang="en-GB" dirty="0"/>
          </a:p>
        </p:txBody>
      </p:sp>
      <p:sp>
        <p:nvSpPr>
          <p:cNvPr id="4" name="Slide Number Placeholder 3">
            <a:extLst>
              <a:ext uri="{FF2B5EF4-FFF2-40B4-BE49-F238E27FC236}">
                <a16:creationId xmlns:a16="http://schemas.microsoft.com/office/drawing/2014/main" id="{E7B8A173-2FAD-5519-4EDC-588ABB8E2144}"/>
              </a:ext>
            </a:extLst>
          </p:cNvPr>
          <p:cNvSpPr>
            <a:spLocks noGrp="1"/>
          </p:cNvSpPr>
          <p:nvPr>
            <p:ph type="sldNum" sz="quarter" idx="12"/>
          </p:nvPr>
        </p:nvSpPr>
        <p:spPr/>
        <p:txBody>
          <a:bodyPr/>
          <a:lstStyle/>
          <a:p>
            <a:fld id="{60093787-08EC-4113-8521-0E445B8625BD}" type="slidenum">
              <a:rPr lang="en-GB" smtClean="0"/>
              <a:t>2</a:t>
            </a:fld>
            <a:endParaRPr lang="en-GB"/>
          </a:p>
        </p:txBody>
      </p:sp>
      <p:pic>
        <p:nvPicPr>
          <p:cNvPr id="9" name="Graphic 8">
            <a:extLst>
              <a:ext uri="{FF2B5EF4-FFF2-40B4-BE49-F238E27FC236}">
                <a16:creationId xmlns:a16="http://schemas.microsoft.com/office/drawing/2014/main" id="{535E3E57-1108-77AB-A294-0734555D9D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79" y="1196752"/>
            <a:ext cx="8944152" cy="4032448"/>
          </a:xfrm>
          <a:prstGeom prst="rect">
            <a:avLst/>
          </a:prstGeom>
        </p:spPr>
      </p:pic>
      <p:sp>
        <p:nvSpPr>
          <p:cNvPr id="10" name="TextBox 9">
            <a:extLst>
              <a:ext uri="{FF2B5EF4-FFF2-40B4-BE49-F238E27FC236}">
                <a16:creationId xmlns:a16="http://schemas.microsoft.com/office/drawing/2014/main" id="{D0910C84-8D7C-65B7-7E3D-EEC2F94767C4}"/>
              </a:ext>
            </a:extLst>
          </p:cNvPr>
          <p:cNvSpPr txBox="1"/>
          <p:nvPr/>
        </p:nvSpPr>
        <p:spPr>
          <a:xfrm>
            <a:off x="6307144" y="5331109"/>
            <a:ext cx="2382704" cy="461665"/>
          </a:xfrm>
          <a:prstGeom prst="rect">
            <a:avLst/>
          </a:prstGeom>
          <a:noFill/>
        </p:spPr>
        <p:txBody>
          <a:bodyPr wrap="none" rtlCol="0">
            <a:spAutoFit/>
          </a:bodyPr>
          <a:lstStyle/>
          <a:p>
            <a:r>
              <a:rPr lang="en-US" sz="2400" dirty="0"/>
              <a:t>Source: </a:t>
            </a:r>
            <a:r>
              <a:rPr lang="en-US" sz="2400" dirty="0" err="1"/>
              <a:t>wikipedia</a:t>
            </a:r>
            <a:endParaRPr lang="en-US" sz="2400" dirty="0"/>
          </a:p>
        </p:txBody>
      </p:sp>
      <p:sp>
        <p:nvSpPr>
          <p:cNvPr id="11" name="TextBox 10">
            <a:extLst>
              <a:ext uri="{FF2B5EF4-FFF2-40B4-BE49-F238E27FC236}">
                <a16:creationId xmlns:a16="http://schemas.microsoft.com/office/drawing/2014/main" id="{EBBCF41A-F48E-2571-B820-01DC9D9B8E75}"/>
              </a:ext>
            </a:extLst>
          </p:cNvPr>
          <p:cNvSpPr txBox="1"/>
          <p:nvPr/>
        </p:nvSpPr>
        <p:spPr>
          <a:xfrm>
            <a:off x="395536" y="402345"/>
            <a:ext cx="5660652" cy="461665"/>
          </a:xfrm>
          <a:prstGeom prst="rect">
            <a:avLst/>
          </a:prstGeom>
          <a:noFill/>
        </p:spPr>
        <p:txBody>
          <a:bodyPr wrap="none" rtlCol="0">
            <a:spAutoFit/>
          </a:bodyPr>
          <a:lstStyle/>
          <a:p>
            <a:r>
              <a:rPr lang="en-US" sz="2400" dirty="0"/>
              <a:t>Where quantum mechanics can be applied?</a:t>
            </a:r>
          </a:p>
        </p:txBody>
      </p:sp>
    </p:spTree>
    <p:extLst>
      <p:ext uri="{BB962C8B-B14F-4D97-AF65-F5344CB8AC3E}">
        <p14:creationId xmlns:p14="http://schemas.microsoft.com/office/powerpoint/2010/main" val="2166808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endParaRPr lang="en-GB" dirty="0"/>
          </a:p>
        </p:txBody>
      </p:sp>
      <p:sp>
        <p:nvSpPr>
          <p:cNvPr id="3" name="Content Placeholder 2"/>
          <p:cNvSpPr>
            <a:spLocks noGrp="1"/>
          </p:cNvSpPr>
          <p:nvPr>
            <p:ph sz="quarter" idx="1"/>
          </p:nvPr>
        </p:nvSpPr>
        <p:spPr>
          <a:xfrm>
            <a:off x="457200" y="1219200"/>
            <a:ext cx="8147248" cy="4937760"/>
          </a:xfrm>
        </p:spPr>
        <p:txBody>
          <a:bodyPr>
            <a:normAutofit/>
          </a:bodyPr>
          <a:lstStyle/>
          <a:p>
            <a:pPr algn="just"/>
            <a:r>
              <a:rPr lang="en-SG" dirty="0">
                <a:effectLst/>
                <a:latin typeface="Helvetica Neue" panose="02000503000000020004" pitchFamily="2" charset="0"/>
              </a:rPr>
              <a:t>38.1 Light Absorbed as Photons:</a:t>
            </a:r>
            <a:r>
              <a:rPr lang="zh-CN" altLang="en-US" dirty="0">
                <a:effectLst/>
                <a:latin typeface="Helvetica Neue" panose="02000503000000020004" pitchFamily="2" charset="0"/>
              </a:rPr>
              <a:t> </a:t>
            </a:r>
            <a:r>
              <a:rPr lang="en-SG" dirty="0">
                <a:effectLst/>
                <a:latin typeface="Helvetica Neue" panose="02000503000000020004" pitchFamily="2" charset="0"/>
              </a:rPr>
              <a:t>The Photoelectric Effect</a:t>
            </a:r>
          </a:p>
          <a:p>
            <a:pPr algn="just"/>
            <a:r>
              <a:rPr lang="en-SG" dirty="0">
                <a:effectLst/>
                <a:latin typeface="Helvetica Neue" panose="02000503000000020004" pitchFamily="2" charset="0"/>
              </a:rPr>
              <a:t>38.2 Light Emitted as Photons:</a:t>
            </a:r>
            <a:r>
              <a:rPr lang="zh-CN" altLang="en-US" dirty="0">
                <a:effectLst/>
                <a:latin typeface="Helvetica Neue" panose="02000503000000020004" pitchFamily="2" charset="0"/>
              </a:rPr>
              <a:t> </a:t>
            </a:r>
            <a:r>
              <a:rPr lang="en-SG" dirty="0">
                <a:effectLst/>
                <a:latin typeface="Helvetica Neue" panose="02000503000000020004" pitchFamily="2" charset="0"/>
              </a:rPr>
              <a:t>X-Ray Production</a:t>
            </a:r>
          </a:p>
          <a:p>
            <a:pPr algn="just"/>
            <a:r>
              <a:rPr lang="en-SG" dirty="0">
                <a:effectLst/>
                <a:latin typeface="Helvetica Neue" panose="02000503000000020004" pitchFamily="2" charset="0"/>
              </a:rPr>
              <a:t>38.3 Light Scattered as Photons: Compton Scattering and Pair Production</a:t>
            </a:r>
          </a:p>
          <a:p>
            <a:pPr algn="just"/>
            <a:r>
              <a:rPr lang="en-SG" dirty="0">
                <a:effectLst/>
                <a:latin typeface="Helvetica Neue" panose="02000503000000020004" pitchFamily="2" charset="0"/>
              </a:rPr>
              <a:t>38.4 Wave Particle Duality, Probability, and Uncertainty</a:t>
            </a:r>
          </a:p>
          <a:p>
            <a:pPr marL="0" indent="0" algn="just">
              <a:buNone/>
            </a:pPr>
            <a:endParaRPr lang="en-GB" dirty="0"/>
          </a:p>
        </p:txBody>
      </p:sp>
      <p:sp>
        <p:nvSpPr>
          <p:cNvPr id="5" name="Date Placeholder 4"/>
          <p:cNvSpPr>
            <a:spLocks noGrp="1"/>
          </p:cNvSpPr>
          <p:nvPr>
            <p:ph type="dt" sz="half" idx="10"/>
          </p:nvPr>
        </p:nvSpPr>
        <p:spPr/>
        <p:txBody>
          <a:bodyPr/>
          <a:lstStyle/>
          <a:p>
            <a:r>
              <a:rPr lang="en-SG" altLang="zh-TW"/>
              <a:t>Modern Physics I (Ch. 38)</a:t>
            </a:r>
            <a:endParaRPr lang="en-GB" dirty="0"/>
          </a:p>
        </p:txBody>
      </p:sp>
      <p:sp>
        <p:nvSpPr>
          <p:cNvPr id="6" name="Slide Number Placeholder 5"/>
          <p:cNvSpPr>
            <a:spLocks noGrp="1"/>
          </p:cNvSpPr>
          <p:nvPr>
            <p:ph type="sldNum" sz="quarter" idx="12"/>
          </p:nvPr>
        </p:nvSpPr>
        <p:spPr/>
        <p:txBody>
          <a:bodyPr/>
          <a:lstStyle/>
          <a:p>
            <a:fld id="{60093787-08EC-4113-8521-0E445B8625BD}" type="slidenum">
              <a:rPr lang="en-GB" smtClean="0"/>
              <a:t>3</a:t>
            </a:fld>
            <a:endParaRPr lang="en-GB"/>
          </a:p>
        </p:txBody>
      </p:sp>
    </p:spTree>
    <p:extLst>
      <p:ext uri="{BB962C8B-B14F-4D97-AF65-F5344CB8AC3E}">
        <p14:creationId xmlns:p14="http://schemas.microsoft.com/office/powerpoint/2010/main" val="1592074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BC2A11B-7076-0694-8A57-CAA0F40FA0EE}"/>
              </a:ext>
            </a:extLst>
          </p:cNvPr>
          <p:cNvSpPr>
            <a:spLocks noGrp="1"/>
          </p:cNvSpPr>
          <p:nvPr>
            <p:ph type="dt" sz="half" idx="10"/>
          </p:nvPr>
        </p:nvSpPr>
        <p:spPr>
          <a:xfrm>
            <a:off x="651607" y="5934507"/>
            <a:ext cx="8208912" cy="365760"/>
          </a:xfrm>
        </p:spPr>
        <p:txBody>
          <a:bodyPr/>
          <a:lstStyle/>
          <a:p>
            <a:r>
              <a:rPr lang="en-US" altLang="zh-CN" b="0" i="0" u="none" strike="noStrike" dirty="0">
                <a:solidFill>
                  <a:srgbClr val="333333"/>
                </a:solidFill>
                <a:effectLst/>
                <a:latin typeface="open-sans"/>
              </a:rPr>
              <a:t>Source:</a:t>
            </a:r>
            <a:r>
              <a:rPr lang="zh-CN" altLang="en-US" b="0" i="0" u="none" strike="noStrike" dirty="0">
                <a:solidFill>
                  <a:srgbClr val="333333"/>
                </a:solidFill>
                <a:effectLst/>
                <a:latin typeface="open-sans"/>
              </a:rPr>
              <a:t> </a:t>
            </a:r>
            <a:r>
              <a:rPr lang="en-SG" b="0" i="0" u="none" strike="noStrike" dirty="0">
                <a:solidFill>
                  <a:srgbClr val="333333"/>
                </a:solidFill>
                <a:effectLst/>
                <a:latin typeface="open-sans"/>
              </a:rPr>
              <a:t>Atman, Kazim. (2021, March 29). A Guide to Wave Particle Duality in Electron Diffraction. </a:t>
            </a:r>
            <a:r>
              <a:rPr lang="en-SG" b="0" i="0" u="none" strike="noStrike" dirty="0" err="1">
                <a:solidFill>
                  <a:srgbClr val="333333"/>
                </a:solidFill>
                <a:effectLst/>
                <a:latin typeface="open-sans"/>
              </a:rPr>
              <a:t>AZoQuantum</a:t>
            </a:r>
            <a:endParaRPr lang="en-GB" dirty="0"/>
          </a:p>
        </p:txBody>
      </p:sp>
      <p:sp>
        <p:nvSpPr>
          <p:cNvPr id="4" name="Slide Number Placeholder 3">
            <a:extLst>
              <a:ext uri="{FF2B5EF4-FFF2-40B4-BE49-F238E27FC236}">
                <a16:creationId xmlns:a16="http://schemas.microsoft.com/office/drawing/2014/main" id="{99F59056-D919-06A8-D136-57BD532618A6}"/>
              </a:ext>
            </a:extLst>
          </p:cNvPr>
          <p:cNvSpPr>
            <a:spLocks noGrp="1"/>
          </p:cNvSpPr>
          <p:nvPr>
            <p:ph type="sldNum" sz="quarter" idx="12"/>
          </p:nvPr>
        </p:nvSpPr>
        <p:spPr/>
        <p:txBody>
          <a:bodyPr/>
          <a:lstStyle/>
          <a:p>
            <a:fld id="{60093787-08EC-4113-8521-0E445B8625BD}" type="slidenum">
              <a:rPr lang="en-GB" smtClean="0"/>
              <a:t>4</a:t>
            </a:fld>
            <a:endParaRPr lang="en-GB"/>
          </a:p>
        </p:txBody>
      </p:sp>
      <p:pic>
        <p:nvPicPr>
          <p:cNvPr id="7" name="Picture 6" descr="A diagram of a wave and a wave&#10;&#10;Description automatically generated with medium confidence">
            <a:extLst>
              <a:ext uri="{FF2B5EF4-FFF2-40B4-BE49-F238E27FC236}">
                <a16:creationId xmlns:a16="http://schemas.microsoft.com/office/drawing/2014/main" id="{4E5EA4D2-704E-7BA2-61AC-36D202DF4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527423"/>
            <a:ext cx="8964488" cy="5265457"/>
          </a:xfrm>
          <a:prstGeom prst="rect">
            <a:avLst/>
          </a:prstGeom>
        </p:spPr>
      </p:pic>
    </p:spTree>
    <p:extLst>
      <p:ext uri="{BB962C8B-B14F-4D97-AF65-F5344CB8AC3E}">
        <p14:creationId xmlns:p14="http://schemas.microsoft.com/office/powerpoint/2010/main" val="1679520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D0DBF-79B2-1810-8A8D-245535E4C3C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FB5FD21-545B-5837-FD4D-3E5D3C1517C9}"/>
              </a:ext>
            </a:extLst>
          </p:cNvPr>
          <p:cNvSpPr>
            <a:spLocks noGrp="1"/>
          </p:cNvSpPr>
          <p:nvPr>
            <p:ph type="sldNum" sz="quarter" idx="12"/>
          </p:nvPr>
        </p:nvSpPr>
        <p:spPr/>
        <p:txBody>
          <a:bodyPr/>
          <a:lstStyle/>
          <a:p>
            <a:fld id="{60093787-08EC-4113-8521-0E445B8625BD}" type="slidenum">
              <a:rPr lang="en-GB" smtClean="0"/>
              <a:t>5</a:t>
            </a:fld>
            <a:endParaRPr lang="en-GB"/>
          </a:p>
        </p:txBody>
      </p:sp>
      <p:pic>
        <p:nvPicPr>
          <p:cNvPr id="2" name="Picture 1">
            <a:extLst>
              <a:ext uri="{FF2B5EF4-FFF2-40B4-BE49-F238E27FC236}">
                <a16:creationId xmlns:a16="http://schemas.microsoft.com/office/drawing/2014/main" id="{2DCDCB2A-559C-C6D4-9DC4-C50FD91B2E16}"/>
              </a:ext>
            </a:extLst>
          </p:cNvPr>
          <p:cNvPicPr>
            <a:picLocks noChangeAspect="1"/>
          </p:cNvPicPr>
          <p:nvPr/>
        </p:nvPicPr>
        <p:blipFill>
          <a:blip r:embed="rId2"/>
          <a:srcRect l="40816"/>
          <a:stretch/>
        </p:blipFill>
        <p:spPr>
          <a:xfrm>
            <a:off x="4227458" y="91008"/>
            <a:ext cx="3722059" cy="3425461"/>
          </a:xfrm>
          <a:prstGeom prst="rect">
            <a:avLst/>
          </a:prstGeom>
        </p:spPr>
      </p:pic>
      <p:pic>
        <p:nvPicPr>
          <p:cNvPr id="5" name="Picture 4">
            <a:extLst>
              <a:ext uri="{FF2B5EF4-FFF2-40B4-BE49-F238E27FC236}">
                <a16:creationId xmlns:a16="http://schemas.microsoft.com/office/drawing/2014/main" id="{C93C7BC8-5F60-1E10-99DA-5A4B11A106E1}"/>
              </a:ext>
            </a:extLst>
          </p:cNvPr>
          <p:cNvPicPr>
            <a:picLocks noChangeAspect="1"/>
          </p:cNvPicPr>
          <p:nvPr/>
        </p:nvPicPr>
        <p:blipFill>
          <a:blip r:embed="rId3"/>
          <a:stretch>
            <a:fillRect/>
          </a:stretch>
        </p:blipFill>
        <p:spPr>
          <a:xfrm>
            <a:off x="4198728" y="4055537"/>
            <a:ext cx="4702851" cy="2483693"/>
          </a:xfrm>
          <a:prstGeom prst="rect">
            <a:avLst/>
          </a:prstGeom>
        </p:spPr>
      </p:pic>
      <p:sp>
        <p:nvSpPr>
          <p:cNvPr id="6" name="TextBox 5">
            <a:extLst>
              <a:ext uri="{FF2B5EF4-FFF2-40B4-BE49-F238E27FC236}">
                <a16:creationId xmlns:a16="http://schemas.microsoft.com/office/drawing/2014/main" id="{47D85306-DEBE-0F2D-FCE8-A0F2F4C57680}"/>
              </a:ext>
            </a:extLst>
          </p:cNvPr>
          <p:cNvSpPr txBox="1"/>
          <p:nvPr/>
        </p:nvSpPr>
        <p:spPr>
          <a:xfrm>
            <a:off x="1260923" y="1572907"/>
            <a:ext cx="1846916" cy="461665"/>
          </a:xfrm>
          <a:prstGeom prst="rect">
            <a:avLst/>
          </a:prstGeom>
          <a:noFill/>
        </p:spPr>
        <p:txBody>
          <a:bodyPr wrap="none" rtlCol="0">
            <a:spAutoFit/>
          </a:bodyPr>
          <a:lstStyle/>
          <a:p>
            <a:r>
              <a:rPr lang="en-US" altLang="zh-CN" sz="2400" dirty="0"/>
              <a:t>Wave</a:t>
            </a:r>
            <a:r>
              <a:rPr lang="zh-CN" altLang="en-US" sz="2400" dirty="0"/>
              <a:t> </a:t>
            </a:r>
            <a:r>
              <a:rPr lang="en-US" altLang="zh-CN" sz="2400" dirty="0"/>
              <a:t>nature</a:t>
            </a:r>
            <a:r>
              <a:rPr lang="zh-CN" altLang="en-US" sz="2400" dirty="0"/>
              <a:t> </a:t>
            </a:r>
            <a:endParaRPr lang="en-US" sz="2400" dirty="0"/>
          </a:p>
        </p:txBody>
      </p:sp>
      <p:sp>
        <p:nvSpPr>
          <p:cNvPr id="8" name="TextBox 7">
            <a:extLst>
              <a:ext uri="{FF2B5EF4-FFF2-40B4-BE49-F238E27FC236}">
                <a16:creationId xmlns:a16="http://schemas.microsoft.com/office/drawing/2014/main" id="{9700541C-3E57-17F6-BEBF-578E0861117D}"/>
              </a:ext>
            </a:extLst>
          </p:cNvPr>
          <p:cNvSpPr txBox="1"/>
          <p:nvPr/>
        </p:nvSpPr>
        <p:spPr>
          <a:xfrm>
            <a:off x="1259632" y="4653136"/>
            <a:ext cx="2085123" cy="461665"/>
          </a:xfrm>
          <a:prstGeom prst="rect">
            <a:avLst/>
          </a:prstGeom>
          <a:noFill/>
        </p:spPr>
        <p:txBody>
          <a:bodyPr wrap="none" rtlCol="0">
            <a:spAutoFit/>
          </a:bodyPr>
          <a:lstStyle/>
          <a:p>
            <a:r>
              <a:rPr lang="en-US" altLang="zh-CN" sz="2400" dirty="0"/>
              <a:t>Particle</a:t>
            </a:r>
            <a:r>
              <a:rPr lang="zh-CN" altLang="en-US" sz="2400" dirty="0"/>
              <a:t> </a:t>
            </a:r>
            <a:r>
              <a:rPr lang="en-US" altLang="zh-CN" sz="2400" dirty="0"/>
              <a:t>nature</a:t>
            </a:r>
            <a:r>
              <a:rPr lang="zh-CN" altLang="en-US" sz="2400" dirty="0"/>
              <a:t> </a:t>
            </a:r>
            <a:endParaRPr lang="en-US" sz="2400" dirty="0"/>
          </a:p>
        </p:txBody>
      </p:sp>
      <p:sp>
        <p:nvSpPr>
          <p:cNvPr id="9" name="TextBox 8">
            <a:extLst>
              <a:ext uri="{FF2B5EF4-FFF2-40B4-BE49-F238E27FC236}">
                <a16:creationId xmlns:a16="http://schemas.microsoft.com/office/drawing/2014/main" id="{5E48F509-4EA0-CDDD-9FB6-71E18DB8A532}"/>
              </a:ext>
            </a:extLst>
          </p:cNvPr>
          <p:cNvSpPr txBox="1"/>
          <p:nvPr/>
        </p:nvSpPr>
        <p:spPr>
          <a:xfrm>
            <a:off x="902525" y="475013"/>
            <a:ext cx="996811" cy="584775"/>
          </a:xfrm>
          <a:prstGeom prst="rect">
            <a:avLst/>
          </a:prstGeom>
          <a:noFill/>
        </p:spPr>
        <p:txBody>
          <a:bodyPr wrap="none" rtlCol="0">
            <a:spAutoFit/>
          </a:bodyPr>
          <a:lstStyle/>
          <a:p>
            <a:r>
              <a:rPr lang="en-US" altLang="zh-CN" sz="3200" dirty="0"/>
              <a:t>Light</a:t>
            </a:r>
            <a:endParaRPr lang="en-US" sz="3200" dirty="0"/>
          </a:p>
        </p:txBody>
      </p:sp>
    </p:spTree>
    <p:extLst>
      <p:ext uri="{BB962C8B-B14F-4D97-AF65-F5344CB8AC3E}">
        <p14:creationId xmlns:p14="http://schemas.microsoft.com/office/powerpoint/2010/main" val="647938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effectLst/>
                <a:latin typeface="Helvetica Neue" panose="02000503000000020004" pitchFamily="2" charset="0"/>
              </a:rPr>
              <a:t>38.1 Light Absorbed as Photons:</a:t>
            </a:r>
            <a:r>
              <a:rPr lang="zh-CN" altLang="en-US" dirty="0">
                <a:effectLst/>
                <a:latin typeface="Helvetica Neue" panose="02000503000000020004" pitchFamily="2" charset="0"/>
              </a:rPr>
              <a:t> </a:t>
            </a:r>
            <a:r>
              <a:rPr lang="en-SG" dirty="0">
                <a:effectLst/>
                <a:latin typeface="Helvetica Neue" panose="02000503000000020004" pitchFamily="2" charset="0"/>
              </a:rPr>
              <a:t>The Photoelectric Effect</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6</a:t>
            </a:fld>
            <a:endParaRPr lang="en-GB"/>
          </a:p>
        </p:txBody>
      </p:sp>
      <p:pic>
        <p:nvPicPr>
          <p:cNvPr id="5" name="Picture 4">
            <a:extLst>
              <a:ext uri="{FF2B5EF4-FFF2-40B4-BE49-F238E27FC236}">
                <a16:creationId xmlns:a16="http://schemas.microsoft.com/office/drawing/2014/main" id="{A799430F-277F-CC23-604E-6C6076B6CBE4}"/>
              </a:ext>
            </a:extLst>
          </p:cNvPr>
          <p:cNvPicPr>
            <a:picLocks noChangeAspect="1"/>
          </p:cNvPicPr>
          <p:nvPr/>
        </p:nvPicPr>
        <p:blipFill>
          <a:blip r:embed="rId2"/>
          <a:stretch>
            <a:fillRect/>
          </a:stretch>
        </p:blipFill>
        <p:spPr>
          <a:xfrm>
            <a:off x="1979712" y="1188752"/>
            <a:ext cx="5040560" cy="5090303"/>
          </a:xfrm>
          <a:prstGeom prst="rect">
            <a:avLst/>
          </a:prstGeom>
        </p:spPr>
      </p:pic>
    </p:spTree>
    <p:extLst>
      <p:ext uri="{BB962C8B-B14F-4D97-AF65-F5344CB8AC3E}">
        <p14:creationId xmlns:p14="http://schemas.microsoft.com/office/powerpoint/2010/main" val="3897551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B29DF-9E6E-C982-796F-E32F0B7130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3D69B3-4F2A-4D18-AEBF-A7C50B3E85C5}"/>
              </a:ext>
            </a:extLst>
          </p:cNvPr>
          <p:cNvSpPr>
            <a:spLocks noGrp="1"/>
          </p:cNvSpPr>
          <p:nvPr>
            <p:ph type="title"/>
          </p:nvPr>
        </p:nvSpPr>
        <p:spPr/>
        <p:txBody>
          <a:bodyPr>
            <a:normAutofit fontScale="90000"/>
          </a:bodyPr>
          <a:lstStyle/>
          <a:p>
            <a:r>
              <a:rPr lang="en-SG" dirty="0">
                <a:effectLst/>
                <a:latin typeface="Helvetica Neue" panose="02000503000000020004" pitchFamily="2" charset="0"/>
              </a:rPr>
              <a:t>38.1 Light Absorbed as Photons:</a:t>
            </a:r>
            <a:r>
              <a:rPr lang="zh-CN" altLang="en-US" dirty="0">
                <a:effectLst/>
                <a:latin typeface="Helvetica Neue" panose="02000503000000020004" pitchFamily="2" charset="0"/>
              </a:rPr>
              <a:t> </a:t>
            </a:r>
            <a:r>
              <a:rPr lang="en-SG" dirty="0">
                <a:effectLst/>
                <a:latin typeface="Helvetica Neue" panose="02000503000000020004" pitchFamily="2" charset="0"/>
              </a:rPr>
              <a:t>The Photoelectric Effect</a:t>
            </a:r>
          </a:p>
        </p:txBody>
      </p:sp>
      <p:sp>
        <p:nvSpPr>
          <p:cNvPr id="3" name="Date Placeholder 2">
            <a:extLst>
              <a:ext uri="{FF2B5EF4-FFF2-40B4-BE49-F238E27FC236}">
                <a16:creationId xmlns:a16="http://schemas.microsoft.com/office/drawing/2014/main" id="{FD834A06-6FFA-7F23-2DC1-C8C852D12126}"/>
              </a:ext>
            </a:extLst>
          </p:cNvPr>
          <p:cNvSpPr>
            <a:spLocks noGrp="1"/>
          </p:cNvSpPr>
          <p:nvPr>
            <p:ph type="dt" sz="half" idx="10"/>
          </p:nvPr>
        </p:nvSpPr>
        <p:spPr/>
        <p:txBody>
          <a:bodyPr/>
          <a:lstStyle/>
          <a:p>
            <a:r>
              <a:rPr lang="en-SG" altLang="zh-TW" dirty="0"/>
              <a:t>Modern Physics I (Ch. 38)</a:t>
            </a:r>
            <a:endParaRPr lang="en-GB" dirty="0"/>
          </a:p>
        </p:txBody>
      </p:sp>
      <p:sp>
        <p:nvSpPr>
          <p:cNvPr id="4" name="Slide Number Placeholder 3">
            <a:extLst>
              <a:ext uri="{FF2B5EF4-FFF2-40B4-BE49-F238E27FC236}">
                <a16:creationId xmlns:a16="http://schemas.microsoft.com/office/drawing/2014/main" id="{D652C968-18C8-9AF2-28B0-CEEA49931D2E}"/>
              </a:ext>
            </a:extLst>
          </p:cNvPr>
          <p:cNvSpPr>
            <a:spLocks noGrp="1"/>
          </p:cNvSpPr>
          <p:nvPr>
            <p:ph type="sldNum" sz="quarter" idx="12"/>
          </p:nvPr>
        </p:nvSpPr>
        <p:spPr/>
        <p:txBody>
          <a:bodyPr/>
          <a:lstStyle/>
          <a:p>
            <a:fld id="{60093787-08EC-4113-8521-0E445B8625BD}" type="slidenum">
              <a:rPr lang="en-GB" smtClean="0"/>
              <a:t>7</a:t>
            </a:fld>
            <a:endParaRPr lang="en-GB"/>
          </a:p>
        </p:txBody>
      </p:sp>
      <p:pic>
        <p:nvPicPr>
          <p:cNvPr id="7" name="Picture 6">
            <a:extLst>
              <a:ext uri="{FF2B5EF4-FFF2-40B4-BE49-F238E27FC236}">
                <a16:creationId xmlns:a16="http://schemas.microsoft.com/office/drawing/2014/main" id="{BE5A1040-DE60-3638-B52A-A58FACDF26F4}"/>
              </a:ext>
            </a:extLst>
          </p:cNvPr>
          <p:cNvPicPr>
            <a:picLocks noChangeAspect="1"/>
          </p:cNvPicPr>
          <p:nvPr/>
        </p:nvPicPr>
        <p:blipFill>
          <a:blip r:embed="rId2"/>
          <a:stretch>
            <a:fillRect/>
          </a:stretch>
        </p:blipFill>
        <p:spPr>
          <a:xfrm>
            <a:off x="954461" y="1225692"/>
            <a:ext cx="3278774" cy="5047966"/>
          </a:xfrm>
          <a:prstGeom prst="rect">
            <a:avLst/>
          </a:prstGeom>
        </p:spPr>
      </p:pic>
      <p:pic>
        <p:nvPicPr>
          <p:cNvPr id="9" name="Picture 8">
            <a:extLst>
              <a:ext uri="{FF2B5EF4-FFF2-40B4-BE49-F238E27FC236}">
                <a16:creationId xmlns:a16="http://schemas.microsoft.com/office/drawing/2014/main" id="{ED16AF99-B095-F5D9-587B-9561C0388A57}"/>
              </a:ext>
            </a:extLst>
          </p:cNvPr>
          <p:cNvPicPr>
            <a:picLocks noChangeAspect="1"/>
          </p:cNvPicPr>
          <p:nvPr/>
        </p:nvPicPr>
        <p:blipFill>
          <a:blip r:embed="rId3"/>
          <a:srcRect t="16783" b="10690"/>
          <a:stretch/>
        </p:blipFill>
        <p:spPr>
          <a:xfrm>
            <a:off x="5310820" y="1988840"/>
            <a:ext cx="2865019" cy="3533186"/>
          </a:xfrm>
          <a:prstGeom prst="rect">
            <a:avLst/>
          </a:prstGeom>
        </p:spPr>
      </p:pic>
      <p:sp>
        <p:nvSpPr>
          <p:cNvPr id="10" name="TextBox 9">
            <a:extLst>
              <a:ext uri="{FF2B5EF4-FFF2-40B4-BE49-F238E27FC236}">
                <a16:creationId xmlns:a16="http://schemas.microsoft.com/office/drawing/2014/main" id="{6435E0FC-7CEA-EFD3-B8B6-960B5A70130C}"/>
              </a:ext>
            </a:extLst>
          </p:cNvPr>
          <p:cNvSpPr txBox="1"/>
          <p:nvPr/>
        </p:nvSpPr>
        <p:spPr>
          <a:xfrm>
            <a:off x="4264768" y="5622507"/>
            <a:ext cx="4572000" cy="461665"/>
          </a:xfrm>
          <a:prstGeom prst="rect">
            <a:avLst/>
          </a:prstGeom>
          <a:noFill/>
        </p:spPr>
        <p:txBody>
          <a:bodyPr wrap="square">
            <a:spAutoFit/>
          </a:bodyPr>
          <a:lstStyle/>
          <a:p>
            <a:r>
              <a:rPr lang="en-SG" sz="2400" i="1" dirty="0">
                <a:effectLst/>
                <a:latin typeface="Times"/>
              </a:rPr>
              <a:t>V</a:t>
            </a:r>
            <a:r>
              <a:rPr lang="en-SG" sz="2400" baseline="-25000" dirty="0">
                <a:effectLst/>
                <a:latin typeface="Times"/>
              </a:rPr>
              <a:t>0</a:t>
            </a:r>
            <a:r>
              <a:rPr lang="en-SG" sz="2400" dirty="0">
                <a:effectLst/>
                <a:latin typeface="Times"/>
              </a:rPr>
              <a:t> is called the </a:t>
            </a:r>
            <a:r>
              <a:rPr lang="en-SG" sz="2400" b="1" dirty="0">
                <a:effectLst/>
                <a:latin typeface="Times"/>
              </a:rPr>
              <a:t>stopping potential </a:t>
            </a:r>
            <a:endParaRPr lang="en-SG" sz="2400" dirty="0"/>
          </a:p>
        </p:txBody>
      </p:sp>
      <p:sp>
        <p:nvSpPr>
          <p:cNvPr id="11" name="TextBox 10">
            <a:extLst>
              <a:ext uri="{FF2B5EF4-FFF2-40B4-BE49-F238E27FC236}">
                <a16:creationId xmlns:a16="http://schemas.microsoft.com/office/drawing/2014/main" id="{FFEFC39F-7151-A36C-1AB8-646748DEF52E}"/>
              </a:ext>
            </a:extLst>
          </p:cNvPr>
          <p:cNvSpPr txBox="1"/>
          <p:nvPr/>
        </p:nvSpPr>
        <p:spPr>
          <a:xfrm>
            <a:off x="5177642" y="1508166"/>
            <a:ext cx="2772810" cy="461665"/>
          </a:xfrm>
          <a:prstGeom prst="rect">
            <a:avLst/>
          </a:prstGeom>
          <a:noFill/>
        </p:spPr>
        <p:txBody>
          <a:bodyPr wrap="none" rtlCol="0">
            <a:spAutoFit/>
          </a:bodyPr>
          <a:lstStyle/>
          <a:p>
            <a:r>
              <a:rPr lang="en-US" altLang="zh-CN" sz="2400" dirty="0"/>
              <a:t>Reverse</a:t>
            </a:r>
            <a:r>
              <a:rPr lang="zh-CN" altLang="en-US" sz="2400" dirty="0"/>
              <a:t> </a:t>
            </a:r>
            <a:r>
              <a:rPr lang="en-US" altLang="zh-CN" sz="2400" dirty="0"/>
              <a:t>electric</a:t>
            </a:r>
            <a:r>
              <a:rPr lang="zh-CN" altLang="en-US" sz="2400" dirty="0"/>
              <a:t> </a:t>
            </a:r>
            <a:r>
              <a:rPr lang="en-US" altLang="zh-CN" sz="2400" dirty="0"/>
              <a:t>field</a:t>
            </a:r>
            <a:endParaRPr lang="en-US" sz="2400" dirty="0"/>
          </a:p>
        </p:txBody>
      </p:sp>
    </p:spTree>
    <p:extLst>
      <p:ext uri="{BB962C8B-B14F-4D97-AF65-F5344CB8AC3E}">
        <p14:creationId xmlns:p14="http://schemas.microsoft.com/office/powerpoint/2010/main" val="34176965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015D3-6FE8-1547-FA02-C8D3E79FA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3EB44-4C1E-CAA4-3CB2-614B780B4F44}"/>
              </a:ext>
            </a:extLst>
          </p:cNvPr>
          <p:cNvSpPr>
            <a:spLocks noGrp="1"/>
          </p:cNvSpPr>
          <p:nvPr>
            <p:ph type="title"/>
          </p:nvPr>
        </p:nvSpPr>
        <p:spPr/>
        <p:txBody>
          <a:bodyPr>
            <a:normAutofit fontScale="90000"/>
          </a:bodyPr>
          <a:lstStyle/>
          <a:p>
            <a:r>
              <a:rPr lang="en-SG" dirty="0">
                <a:effectLst/>
                <a:latin typeface="Helvetica Neue" panose="02000503000000020004" pitchFamily="2" charset="0"/>
              </a:rPr>
              <a:t>38.1 Light Absorbed as Photons:</a:t>
            </a:r>
            <a:r>
              <a:rPr lang="zh-CN" altLang="en-US" dirty="0">
                <a:effectLst/>
                <a:latin typeface="Helvetica Neue" panose="02000503000000020004" pitchFamily="2" charset="0"/>
              </a:rPr>
              <a:t> </a:t>
            </a:r>
            <a:r>
              <a:rPr lang="en-SG" dirty="0">
                <a:effectLst/>
                <a:latin typeface="Helvetica Neue" panose="02000503000000020004" pitchFamily="2" charset="0"/>
              </a:rPr>
              <a:t>The Photoelectric Effect</a:t>
            </a:r>
          </a:p>
        </p:txBody>
      </p:sp>
      <p:sp>
        <p:nvSpPr>
          <p:cNvPr id="3" name="Date Placeholder 2">
            <a:extLst>
              <a:ext uri="{FF2B5EF4-FFF2-40B4-BE49-F238E27FC236}">
                <a16:creationId xmlns:a16="http://schemas.microsoft.com/office/drawing/2014/main" id="{A0C3B561-7381-7B3C-66FE-DAB6609FE676}"/>
              </a:ext>
            </a:extLst>
          </p:cNvPr>
          <p:cNvSpPr>
            <a:spLocks noGrp="1"/>
          </p:cNvSpPr>
          <p:nvPr>
            <p:ph type="dt" sz="half" idx="10"/>
          </p:nvPr>
        </p:nvSpPr>
        <p:spPr/>
        <p:txBody>
          <a:bodyPr/>
          <a:lstStyle/>
          <a:p>
            <a:r>
              <a:rPr lang="en-SG" altLang="zh-TW"/>
              <a:t>Modern Physics I (Ch. 38)</a:t>
            </a:r>
            <a:endParaRPr lang="en-GB" dirty="0"/>
          </a:p>
        </p:txBody>
      </p:sp>
      <p:sp>
        <p:nvSpPr>
          <p:cNvPr id="4" name="Slide Number Placeholder 3">
            <a:extLst>
              <a:ext uri="{FF2B5EF4-FFF2-40B4-BE49-F238E27FC236}">
                <a16:creationId xmlns:a16="http://schemas.microsoft.com/office/drawing/2014/main" id="{D09AEEDC-E275-2ABE-D026-6BFC59AB7291}"/>
              </a:ext>
            </a:extLst>
          </p:cNvPr>
          <p:cNvSpPr>
            <a:spLocks noGrp="1"/>
          </p:cNvSpPr>
          <p:nvPr>
            <p:ph type="sldNum" sz="quarter" idx="12"/>
          </p:nvPr>
        </p:nvSpPr>
        <p:spPr/>
        <p:txBody>
          <a:bodyPr/>
          <a:lstStyle/>
          <a:p>
            <a:fld id="{60093787-08EC-4113-8521-0E445B8625BD}" type="slidenum">
              <a:rPr lang="en-GB" smtClean="0"/>
              <a:t>8</a:t>
            </a:fld>
            <a:endParaRPr lang="en-GB"/>
          </a:p>
        </p:txBody>
      </p:sp>
      <p:pic>
        <p:nvPicPr>
          <p:cNvPr id="6" name="Picture 5">
            <a:extLst>
              <a:ext uri="{FF2B5EF4-FFF2-40B4-BE49-F238E27FC236}">
                <a16:creationId xmlns:a16="http://schemas.microsoft.com/office/drawing/2014/main" id="{BF51D072-4D74-D74E-749A-6C92375CD4EE}"/>
              </a:ext>
            </a:extLst>
          </p:cNvPr>
          <p:cNvPicPr>
            <a:picLocks noChangeAspect="1"/>
          </p:cNvPicPr>
          <p:nvPr/>
        </p:nvPicPr>
        <p:blipFill>
          <a:blip r:embed="rId2"/>
          <a:srcRect r="43019"/>
          <a:stretch/>
        </p:blipFill>
        <p:spPr>
          <a:xfrm>
            <a:off x="457200" y="3501008"/>
            <a:ext cx="4949813" cy="1081418"/>
          </a:xfrm>
          <a:prstGeom prst="rect">
            <a:avLst/>
          </a:prstGeom>
        </p:spPr>
      </p:pic>
      <p:pic>
        <p:nvPicPr>
          <p:cNvPr id="5" name="Picture 4">
            <a:extLst>
              <a:ext uri="{FF2B5EF4-FFF2-40B4-BE49-F238E27FC236}">
                <a16:creationId xmlns:a16="http://schemas.microsoft.com/office/drawing/2014/main" id="{71DE6E47-783C-6A76-F4D1-D19EBF363E37}"/>
              </a:ext>
            </a:extLst>
          </p:cNvPr>
          <p:cNvPicPr>
            <a:picLocks noChangeAspect="1"/>
          </p:cNvPicPr>
          <p:nvPr/>
        </p:nvPicPr>
        <p:blipFill>
          <a:blip r:embed="rId3"/>
          <a:srcRect t="16783" b="10690"/>
          <a:stretch/>
        </p:blipFill>
        <p:spPr>
          <a:xfrm>
            <a:off x="5076056" y="1268760"/>
            <a:ext cx="3888432" cy="4795275"/>
          </a:xfrm>
          <a:prstGeom prst="rect">
            <a:avLst/>
          </a:prstGeom>
        </p:spPr>
      </p:pic>
      <p:sp>
        <p:nvSpPr>
          <p:cNvPr id="9" name="TextBox 8">
            <a:extLst>
              <a:ext uri="{FF2B5EF4-FFF2-40B4-BE49-F238E27FC236}">
                <a16:creationId xmlns:a16="http://schemas.microsoft.com/office/drawing/2014/main" id="{63EF7592-13B0-1C09-2BD5-AD212B1DC2C5}"/>
              </a:ext>
            </a:extLst>
          </p:cNvPr>
          <p:cNvSpPr txBox="1"/>
          <p:nvPr/>
        </p:nvSpPr>
        <p:spPr>
          <a:xfrm>
            <a:off x="294210" y="2686091"/>
            <a:ext cx="4701031" cy="461665"/>
          </a:xfrm>
          <a:prstGeom prst="rect">
            <a:avLst/>
          </a:prstGeom>
          <a:noFill/>
        </p:spPr>
        <p:txBody>
          <a:bodyPr wrap="none" rtlCol="0">
            <a:spAutoFit/>
          </a:bodyPr>
          <a:lstStyle/>
          <a:p>
            <a:r>
              <a:rPr lang="en-US" altLang="zh-CN" sz="2400" dirty="0"/>
              <a:t>Maximum</a:t>
            </a:r>
            <a:r>
              <a:rPr lang="zh-CN" altLang="en-US" sz="2400" dirty="0"/>
              <a:t> </a:t>
            </a:r>
            <a:r>
              <a:rPr lang="en-US" altLang="zh-CN" sz="2400" dirty="0"/>
              <a:t>kinetic</a:t>
            </a:r>
            <a:r>
              <a:rPr lang="zh-CN" altLang="en-US" sz="2400" dirty="0"/>
              <a:t> </a:t>
            </a:r>
            <a:r>
              <a:rPr lang="en-US" altLang="zh-CN" sz="2400" dirty="0"/>
              <a:t>energy</a:t>
            </a:r>
            <a:r>
              <a:rPr lang="zh-CN" altLang="en-US" sz="2400" dirty="0"/>
              <a:t> </a:t>
            </a:r>
            <a:r>
              <a:rPr lang="en-US" altLang="zh-CN" sz="2400" dirty="0"/>
              <a:t>of</a:t>
            </a:r>
            <a:r>
              <a:rPr lang="zh-CN" altLang="en-US" sz="2400" dirty="0"/>
              <a:t> </a:t>
            </a:r>
            <a:r>
              <a:rPr lang="en-US" altLang="zh-CN" sz="2400" dirty="0"/>
              <a:t>electron</a:t>
            </a:r>
            <a:endParaRPr lang="en-US" sz="2400" dirty="0"/>
          </a:p>
        </p:txBody>
      </p:sp>
    </p:spTree>
    <p:extLst>
      <p:ext uri="{BB962C8B-B14F-4D97-AF65-F5344CB8AC3E}">
        <p14:creationId xmlns:p14="http://schemas.microsoft.com/office/powerpoint/2010/main" val="279755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F79FD-8195-45FB-C10C-49AF57B9DA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3018E0-44B2-00E7-555A-AEAB03488EA1}"/>
              </a:ext>
            </a:extLst>
          </p:cNvPr>
          <p:cNvSpPr>
            <a:spLocks noGrp="1"/>
          </p:cNvSpPr>
          <p:nvPr>
            <p:ph type="title"/>
          </p:nvPr>
        </p:nvSpPr>
        <p:spPr/>
        <p:txBody>
          <a:bodyPr>
            <a:normAutofit fontScale="90000"/>
          </a:bodyPr>
          <a:lstStyle/>
          <a:p>
            <a:r>
              <a:rPr lang="en-SG" dirty="0">
                <a:effectLst/>
                <a:latin typeface="Helvetica Neue" panose="02000503000000020004" pitchFamily="2" charset="0"/>
              </a:rPr>
              <a:t>38.1 Light Absorbed as Photons:</a:t>
            </a:r>
            <a:r>
              <a:rPr lang="zh-CN" altLang="en-US" dirty="0">
                <a:effectLst/>
                <a:latin typeface="Helvetica Neue" panose="02000503000000020004" pitchFamily="2" charset="0"/>
              </a:rPr>
              <a:t> </a:t>
            </a:r>
            <a:r>
              <a:rPr lang="en-SG" dirty="0">
                <a:effectLst/>
                <a:latin typeface="Helvetica Neue" panose="02000503000000020004" pitchFamily="2" charset="0"/>
              </a:rPr>
              <a:t>The Photoelectric Effect</a:t>
            </a:r>
          </a:p>
        </p:txBody>
      </p:sp>
      <p:sp>
        <p:nvSpPr>
          <p:cNvPr id="3" name="Date Placeholder 2">
            <a:extLst>
              <a:ext uri="{FF2B5EF4-FFF2-40B4-BE49-F238E27FC236}">
                <a16:creationId xmlns:a16="http://schemas.microsoft.com/office/drawing/2014/main" id="{D6EA3FF5-D38B-60BB-4509-38EACC467880}"/>
              </a:ext>
            </a:extLst>
          </p:cNvPr>
          <p:cNvSpPr>
            <a:spLocks noGrp="1"/>
          </p:cNvSpPr>
          <p:nvPr>
            <p:ph type="dt" sz="half" idx="10"/>
          </p:nvPr>
        </p:nvSpPr>
        <p:spPr/>
        <p:txBody>
          <a:bodyPr/>
          <a:lstStyle/>
          <a:p>
            <a:r>
              <a:rPr lang="en-SG" altLang="zh-TW"/>
              <a:t>Modern Physics I (Ch. 38)</a:t>
            </a:r>
            <a:endParaRPr lang="en-GB" dirty="0"/>
          </a:p>
        </p:txBody>
      </p:sp>
      <p:sp>
        <p:nvSpPr>
          <p:cNvPr id="4" name="Slide Number Placeholder 3">
            <a:extLst>
              <a:ext uri="{FF2B5EF4-FFF2-40B4-BE49-F238E27FC236}">
                <a16:creationId xmlns:a16="http://schemas.microsoft.com/office/drawing/2014/main" id="{279D1488-1A92-FB25-2123-539E97AA48FF}"/>
              </a:ext>
            </a:extLst>
          </p:cNvPr>
          <p:cNvSpPr>
            <a:spLocks noGrp="1"/>
          </p:cNvSpPr>
          <p:nvPr>
            <p:ph type="sldNum" sz="quarter" idx="12"/>
          </p:nvPr>
        </p:nvSpPr>
        <p:spPr/>
        <p:txBody>
          <a:bodyPr/>
          <a:lstStyle/>
          <a:p>
            <a:fld id="{60093787-08EC-4113-8521-0E445B8625BD}" type="slidenum">
              <a:rPr lang="en-GB" smtClean="0"/>
              <a:t>9</a:t>
            </a:fld>
            <a:endParaRPr lang="en-GB"/>
          </a:p>
        </p:txBody>
      </p:sp>
      <p:pic>
        <p:nvPicPr>
          <p:cNvPr id="7" name="Picture 6">
            <a:extLst>
              <a:ext uri="{FF2B5EF4-FFF2-40B4-BE49-F238E27FC236}">
                <a16:creationId xmlns:a16="http://schemas.microsoft.com/office/drawing/2014/main" id="{6493DC1D-0666-D8A7-0F80-081D522166C1}"/>
              </a:ext>
            </a:extLst>
          </p:cNvPr>
          <p:cNvPicPr>
            <a:picLocks noChangeAspect="1"/>
          </p:cNvPicPr>
          <p:nvPr/>
        </p:nvPicPr>
        <p:blipFill>
          <a:blip r:embed="rId2"/>
          <a:stretch>
            <a:fillRect/>
          </a:stretch>
        </p:blipFill>
        <p:spPr>
          <a:xfrm>
            <a:off x="332583" y="1484784"/>
            <a:ext cx="8330191" cy="1512168"/>
          </a:xfrm>
          <a:prstGeom prst="rect">
            <a:avLst/>
          </a:prstGeom>
        </p:spPr>
      </p:pic>
      <p:pic>
        <p:nvPicPr>
          <p:cNvPr id="8" name="Picture 7">
            <a:extLst>
              <a:ext uri="{FF2B5EF4-FFF2-40B4-BE49-F238E27FC236}">
                <a16:creationId xmlns:a16="http://schemas.microsoft.com/office/drawing/2014/main" id="{3AC62398-B9E9-1F09-2106-686D1F41E03A}"/>
              </a:ext>
            </a:extLst>
          </p:cNvPr>
          <p:cNvPicPr>
            <a:picLocks noChangeAspect="1"/>
          </p:cNvPicPr>
          <p:nvPr/>
        </p:nvPicPr>
        <p:blipFill>
          <a:blip r:embed="rId3"/>
          <a:stretch>
            <a:fillRect/>
          </a:stretch>
        </p:blipFill>
        <p:spPr>
          <a:xfrm>
            <a:off x="434427" y="4005064"/>
            <a:ext cx="7772400" cy="1736918"/>
          </a:xfrm>
          <a:prstGeom prst="rect">
            <a:avLst/>
          </a:prstGeom>
        </p:spPr>
      </p:pic>
      <p:sp>
        <p:nvSpPr>
          <p:cNvPr id="10" name="TextBox 9">
            <a:extLst>
              <a:ext uri="{FF2B5EF4-FFF2-40B4-BE49-F238E27FC236}">
                <a16:creationId xmlns:a16="http://schemas.microsoft.com/office/drawing/2014/main" id="{79475229-10FE-8E77-CA5B-D0D8EFE1A0C9}"/>
              </a:ext>
            </a:extLst>
          </p:cNvPr>
          <p:cNvSpPr txBox="1"/>
          <p:nvPr/>
        </p:nvSpPr>
        <p:spPr>
          <a:xfrm>
            <a:off x="3851920" y="3316342"/>
            <a:ext cx="377604" cy="369332"/>
          </a:xfrm>
          <a:prstGeom prst="rect">
            <a:avLst/>
          </a:prstGeom>
          <a:noFill/>
        </p:spPr>
        <p:txBody>
          <a:bodyPr wrap="none" rtlCol="0">
            <a:spAutoFit/>
          </a:bodyPr>
          <a:lstStyle/>
          <a:p>
            <a:r>
              <a:rPr lang="en-US" dirty="0"/>
              <a:t>vs</a:t>
            </a:r>
          </a:p>
        </p:txBody>
      </p:sp>
      <p:pic>
        <p:nvPicPr>
          <p:cNvPr id="11" name="Picture 10">
            <a:extLst>
              <a:ext uri="{FF2B5EF4-FFF2-40B4-BE49-F238E27FC236}">
                <a16:creationId xmlns:a16="http://schemas.microsoft.com/office/drawing/2014/main" id="{EDE84C49-E7A7-55FC-A378-E9602E229AC5}"/>
              </a:ext>
            </a:extLst>
          </p:cNvPr>
          <p:cNvPicPr>
            <a:picLocks noChangeAspect="1"/>
          </p:cNvPicPr>
          <p:nvPr/>
        </p:nvPicPr>
        <p:blipFill>
          <a:blip r:embed="rId4"/>
          <a:stretch>
            <a:fillRect/>
          </a:stretch>
        </p:blipFill>
        <p:spPr>
          <a:xfrm>
            <a:off x="5148064" y="2569019"/>
            <a:ext cx="3390900" cy="850900"/>
          </a:xfrm>
          <a:prstGeom prst="rect">
            <a:avLst/>
          </a:prstGeom>
        </p:spPr>
      </p:pic>
    </p:spTree>
    <p:extLst>
      <p:ext uri="{BB962C8B-B14F-4D97-AF65-F5344CB8AC3E}">
        <p14:creationId xmlns:p14="http://schemas.microsoft.com/office/powerpoint/2010/main" val="1850242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effectLst/>
                <a:latin typeface="Helvetica Neue" panose="02000503000000020004" pitchFamily="2" charset="0"/>
              </a:rPr>
              <a:t>38.1 Light Absorbed as Photons:</a:t>
            </a:r>
            <a:r>
              <a:rPr lang="zh-CN" altLang="en-US" dirty="0">
                <a:effectLst/>
                <a:latin typeface="Helvetica Neue" panose="02000503000000020004" pitchFamily="2" charset="0"/>
              </a:rPr>
              <a:t> </a:t>
            </a:r>
            <a:r>
              <a:rPr lang="en-SG" dirty="0">
                <a:effectLst/>
                <a:latin typeface="Helvetica Neue" panose="02000503000000020004" pitchFamily="2" charset="0"/>
              </a:rPr>
              <a:t>The Photoelectric Effect</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10</a:t>
            </a:fld>
            <a:endParaRPr lang="en-GB"/>
          </a:p>
        </p:txBody>
      </p:sp>
      <p:sp>
        <p:nvSpPr>
          <p:cNvPr id="9" name="TextBox 8">
            <a:extLst>
              <a:ext uri="{FF2B5EF4-FFF2-40B4-BE49-F238E27FC236}">
                <a16:creationId xmlns:a16="http://schemas.microsoft.com/office/drawing/2014/main" id="{3572FE5D-1DB7-E59C-3193-DD6C7E0A14F1}"/>
              </a:ext>
            </a:extLst>
          </p:cNvPr>
          <p:cNvSpPr txBox="1"/>
          <p:nvPr/>
        </p:nvSpPr>
        <p:spPr>
          <a:xfrm>
            <a:off x="475819" y="1280173"/>
            <a:ext cx="8302337" cy="2126864"/>
          </a:xfrm>
          <a:prstGeom prst="rect">
            <a:avLst/>
          </a:prstGeom>
          <a:noFill/>
        </p:spPr>
        <p:txBody>
          <a:bodyPr wrap="none" rtlCol="0">
            <a:spAutoFit/>
          </a:bodyPr>
          <a:lstStyle/>
          <a:p>
            <a:pPr>
              <a:lnSpc>
                <a:spcPct val="150000"/>
              </a:lnSpc>
            </a:pPr>
            <a:r>
              <a:rPr lang="en-SG" sz="1800" b="1" dirty="0">
                <a:effectLst/>
                <a:latin typeface="Times"/>
              </a:rPr>
              <a:t>Wave-Model Prediction </a:t>
            </a:r>
            <a:endParaRPr lang="en-SG" b="1" dirty="0"/>
          </a:p>
          <a:p>
            <a:pPr marL="285750" indent="-285750">
              <a:lnSpc>
                <a:spcPct val="150000"/>
              </a:lnSpc>
              <a:buFont typeface="Arial" panose="020B0604020202020204" pitchFamily="34" charset="0"/>
              <a:buChar char="•"/>
            </a:pPr>
            <a:r>
              <a:rPr lang="en-SG" sz="1800" dirty="0">
                <a:effectLst/>
                <a:latin typeface="Times"/>
              </a:rPr>
              <a:t>the magnitude of the photocurrent should not depend on the frequency of the light. </a:t>
            </a:r>
            <a:endParaRPr lang="en-SG" dirty="0"/>
          </a:p>
          <a:p>
            <a:pPr marL="285750" indent="-285750">
              <a:lnSpc>
                <a:spcPct val="150000"/>
              </a:lnSpc>
              <a:buFont typeface="Arial" panose="020B0604020202020204" pitchFamily="34" charset="0"/>
              <a:buChar char="•"/>
            </a:pPr>
            <a:r>
              <a:rPr lang="en-SG" sz="1800" dirty="0">
                <a:effectLst/>
                <a:latin typeface="Times"/>
              </a:rPr>
              <a:t>a time delay between when we switch on the light and when photo-electrons appear. </a:t>
            </a:r>
            <a:endParaRPr lang="en-SG" dirty="0"/>
          </a:p>
          <a:p>
            <a:pPr marL="285750" indent="-285750">
              <a:lnSpc>
                <a:spcPct val="150000"/>
              </a:lnSpc>
              <a:buFont typeface="Arial" panose="020B0604020202020204" pitchFamily="34" charset="0"/>
              <a:buChar char="•"/>
            </a:pPr>
            <a:r>
              <a:rPr lang="en-SG" sz="1800" dirty="0">
                <a:effectLst/>
                <a:latin typeface="Times"/>
              </a:rPr>
              <a:t>the stopping potential should not depend on the frequency of the light </a:t>
            </a:r>
            <a:endParaRPr lang="en-SG" dirty="0"/>
          </a:p>
          <a:p>
            <a:pPr>
              <a:lnSpc>
                <a:spcPct val="150000"/>
              </a:lnSpc>
            </a:pPr>
            <a:endParaRPr lang="en-US" dirty="0"/>
          </a:p>
        </p:txBody>
      </p:sp>
      <p:sp>
        <p:nvSpPr>
          <p:cNvPr id="10" name="TextBox 9">
            <a:extLst>
              <a:ext uri="{FF2B5EF4-FFF2-40B4-BE49-F238E27FC236}">
                <a16:creationId xmlns:a16="http://schemas.microsoft.com/office/drawing/2014/main" id="{D22A1707-D543-E9F2-BDF5-2B2C04DD6D8E}"/>
              </a:ext>
            </a:extLst>
          </p:cNvPr>
          <p:cNvSpPr txBox="1"/>
          <p:nvPr/>
        </p:nvSpPr>
        <p:spPr>
          <a:xfrm>
            <a:off x="462190" y="3035464"/>
            <a:ext cx="8219619" cy="2542363"/>
          </a:xfrm>
          <a:prstGeom prst="rect">
            <a:avLst/>
          </a:prstGeom>
          <a:noFill/>
        </p:spPr>
        <p:txBody>
          <a:bodyPr wrap="square" rtlCol="0">
            <a:spAutoFit/>
          </a:bodyPr>
          <a:lstStyle/>
          <a:p>
            <a:pPr>
              <a:lnSpc>
                <a:spcPct val="150000"/>
              </a:lnSpc>
            </a:pPr>
            <a:r>
              <a:rPr lang="en-US" altLang="zh-CN" sz="1800" b="1" dirty="0">
                <a:effectLst/>
                <a:latin typeface="Times"/>
              </a:rPr>
              <a:t>Experimental</a:t>
            </a:r>
            <a:r>
              <a:rPr lang="zh-CN" altLang="en-US" sz="1800" b="1" dirty="0">
                <a:effectLst/>
                <a:latin typeface="Times"/>
              </a:rPr>
              <a:t> </a:t>
            </a:r>
            <a:r>
              <a:rPr lang="en-US" altLang="zh-CN" sz="1800" b="1" dirty="0">
                <a:effectLst/>
                <a:latin typeface="Times"/>
              </a:rPr>
              <a:t>results</a:t>
            </a:r>
            <a:endParaRPr lang="en-SG" b="1" dirty="0"/>
          </a:p>
          <a:p>
            <a:pPr marL="285750" indent="-285750">
              <a:lnSpc>
                <a:spcPct val="150000"/>
              </a:lnSpc>
              <a:buFont typeface="Arial" panose="020B0604020202020204" pitchFamily="34" charset="0"/>
              <a:buChar char="•"/>
            </a:pPr>
            <a:r>
              <a:rPr lang="en-SG" sz="1800" dirty="0">
                <a:effectLst/>
                <a:latin typeface="Times"/>
              </a:rPr>
              <a:t>The photocurrent depends on the light frequency. </a:t>
            </a:r>
            <a:endParaRPr lang="en-SG" dirty="0"/>
          </a:p>
          <a:p>
            <a:pPr marL="285750" indent="-285750">
              <a:lnSpc>
                <a:spcPct val="150000"/>
              </a:lnSpc>
              <a:buFont typeface="Arial" panose="020B0604020202020204" pitchFamily="34" charset="0"/>
              <a:buChar char="•"/>
            </a:pPr>
            <a:r>
              <a:rPr lang="en-SG" sz="1800" dirty="0">
                <a:effectLst/>
                <a:latin typeface="Times"/>
              </a:rPr>
              <a:t>There is no measurable time delay between when the light is turned on and when the cathode emits photoelectrons </a:t>
            </a:r>
            <a:endParaRPr lang="en-SG" dirty="0"/>
          </a:p>
          <a:p>
            <a:pPr marL="285750" indent="-285750">
              <a:lnSpc>
                <a:spcPct val="150000"/>
              </a:lnSpc>
              <a:buFont typeface="Arial" panose="020B0604020202020204" pitchFamily="34" charset="0"/>
              <a:buChar char="•"/>
            </a:pPr>
            <a:r>
              <a:rPr lang="en-SG" sz="1800" dirty="0">
                <a:effectLst/>
                <a:latin typeface="Times"/>
              </a:rPr>
              <a:t>The stopping potential does not depend on intensity, but does depend on frequency. </a:t>
            </a:r>
            <a:endParaRPr lang="en-SG" dirty="0"/>
          </a:p>
          <a:p>
            <a:pPr marL="285750" indent="-285750">
              <a:lnSpc>
                <a:spcPct val="150000"/>
              </a:lnSpc>
              <a:buFont typeface="Arial" panose="020B0604020202020204" pitchFamily="34" charset="0"/>
              <a:buChar char="•"/>
            </a:pPr>
            <a:endParaRPr lang="en-US" dirty="0"/>
          </a:p>
        </p:txBody>
      </p:sp>
      <p:sp>
        <p:nvSpPr>
          <p:cNvPr id="12" name="TextBox 11">
            <a:extLst>
              <a:ext uri="{FF2B5EF4-FFF2-40B4-BE49-F238E27FC236}">
                <a16:creationId xmlns:a16="http://schemas.microsoft.com/office/drawing/2014/main" id="{923C2922-0C00-0F2D-1104-4539B3940FC0}"/>
              </a:ext>
            </a:extLst>
          </p:cNvPr>
          <p:cNvSpPr txBox="1"/>
          <p:nvPr/>
        </p:nvSpPr>
        <p:spPr>
          <a:xfrm>
            <a:off x="827584" y="5445224"/>
            <a:ext cx="7200800"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dirty="0">
                <a:latin typeface="Times"/>
              </a:rPr>
              <a:t>Contradict</a:t>
            </a:r>
            <a:r>
              <a:rPr lang="zh-CN" altLang="en-US" dirty="0">
                <a:latin typeface="Times"/>
              </a:rPr>
              <a:t> </a:t>
            </a:r>
            <a:r>
              <a:rPr lang="en-US" altLang="zh-CN" dirty="0">
                <a:latin typeface="Times"/>
              </a:rPr>
              <a:t>to</a:t>
            </a:r>
            <a:r>
              <a:rPr lang="zh-CN" altLang="en-US" dirty="0">
                <a:latin typeface="Times"/>
              </a:rPr>
              <a:t> </a:t>
            </a:r>
            <a:r>
              <a:rPr lang="en-SG" sz="1800" dirty="0">
                <a:effectLst/>
                <a:latin typeface="Times"/>
              </a:rPr>
              <a:t>Maxwell’s description of light as an electro-magnetic wave</a:t>
            </a:r>
          </a:p>
          <a:p>
            <a:r>
              <a:rPr lang="en-SG" sz="1800" dirty="0">
                <a:effectLst/>
                <a:latin typeface="Times"/>
              </a:rPr>
              <a:t>Albert Einstein in 1905</a:t>
            </a:r>
            <a:r>
              <a:rPr lang="zh-CN" altLang="en-US" dirty="0">
                <a:latin typeface="Times"/>
              </a:rPr>
              <a:t> </a:t>
            </a:r>
            <a:r>
              <a:rPr lang="en-US" altLang="zh-CN" dirty="0">
                <a:latin typeface="Times"/>
              </a:rPr>
              <a:t>solved</a:t>
            </a:r>
            <a:r>
              <a:rPr lang="zh-CN" altLang="en-US" dirty="0">
                <a:latin typeface="Times"/>
              </a:rPr>
              <a:t> </a:t>
            </a:r>
            <a:r>
              <a:rPr lang="en-US" altLang="zh-CN" dirty="0">
                <a:latin typeface="Times"/>
              </a:rPr>
              <a:t>the</a:t>
            </a:r>
            <a:r>
              <a:rPr lang="zh-CN" altLang="en-US" dirty="0">
                <a:latin typeface="Times"/>
              </a:rPr>
              <a:t> </a:t>
            </a:r>
            <a:r>
              <a:rPr lang="en-SG" sz="1800" dirty="0">
                <a:effectLst/>
                <a:latin typeface="Times"/>
              </a:rPr>
              <a:t>dilemma</a:t>
            </a:r>
            <a:r>
              <a:rPr lang="en-US" altLang="zh-CN" dirty="0">
                <a:latin typeface="Times"/>
              </a:rPr>
              <a:t>.</a:t>
            </a:r>
            <a:r>
              <a:rPr lang="zh-CN" altLang="en-US" dirty="0">
                <a:latin typeface="Times"/>
              </a:rPr>
              <a:t> </a:t>
            </a:r>
            <a:r>
              <a:rPr lang="en-US" altLang="zh-CN" dirty="0">
                <a:latin typeface="Times"/>
              </a:rPr>
              <a:t>(Phonon)</a:t>
            </a:r>
            <a:endParaRPr lang="en-SG" dirty="0"/>
          </a:p>
        </p:txBody>
      </p:sp>
    </p:spTree>
    <p:extLst>
      <p:ext uri="{BB962C8B-B14F-4D97-AF65-F5344CB8AC3E}">
        <p14:creationId xmlns:p14="http://schemas.microsoft.com/office/powerpoint/2010/main" val="3524159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effectLst/>
                <a:latin typeface="Helvetica Neue" panose="02000503000000020004" pitchFamily="2" charset="0"/>
              </a:rPr>
              <a:t>38.1 Light Absorbed as Photons:</a:t>
            </a:r>
            <a:r>
              <a:rPr lang="zh-CN" altLang="en-US" dirty="0">
                <a:effectLst/>
                <a:latin typeface="Helvetica Neue" panose="02000503000000020004" pitchFamily="2" charset="0"/>
              </a:rPr>
              <a:t> </a:t>
            </a:r>
            <a:r>
              <a:rPr lang="en-SG" dirty="0">
                <a:effectLst/>
                <a:latin typeface="Helvetica Neue" panose="02000503000000020004" pitchFamily="2" charset="0"/>
              </a:rPr>
              <a:t>The Photoelectric Effect</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11</a:t>
            </a:fld>
            <a:endParaRPr lang="en-GB"/>
          </a:p>
        </p:txBody>
      </p:sp>
      <p:pic>
        <p:nvPicPr>
          <p:cNvPr id="6" name="Picture 5">
            <a:extLst>
              <a:ext uri="{FF2B5EF4-FFF2-40B4-BE49-F238E27FC236}">
                <a16:creationId xmlns:a16="http://schemas.microsoft.com/office/drawing/2014/main" id="{871A660F-245E-2470-EF8A-450ED1F833E9}"/>
              </a:ext>
            </a:extLst>
          </p:cNvPr>
          <p:cNvPicPr>
            <a:picLocks noChangeAspect="1"/>
          </p:cNvPicPr>
          <p:nvPr/>
        </p:nvPicPr>
        <p:blipFill>
          <a:blip r:embed="rId2"/>
          <a:stretch>
            <a:fillRect/>
          </a:stretch>
        </p:blipFill>
        <p:spPr>
          <a:xfrm>
            <a:off x="457200" y="1165630"/>
            <a:ext cx="8309747" cy="2347788"/>
          </a:xfrm>
          <a:prstGeom prst="rect">
            <a:avLst/>
          </a:prstGeom>
        </p:spPr>
      </p:pic>
      <p:pic>
        <p:nvPicPr>
          <p:cNvPr id="7" name="Picture 6">
            <a:extLst>
              <a:ext uri="{FF2B5EF4-FFF2-40B4-BE49-F238E27FC236}">
                <a16:creationId xmlns:a16="http://schemas.microsoft.com/office/drawing/2014/main" id="{FF70B78A-C36D-B22F-0183-E0655F7FE5A5}"/>
              </a:ext>
            </a:extLst>
          </p:cNvPr>
          <p:cNvPicPr>
            <a:picLocks noChangeAspect="1"/>
          </p:cNvPicPr>
          <p:nvPr/>
        </p:nvPicPr>
        <p:blipFill rotWithShape="1">
          <a:blip r:embed="rId3"/>
          <a:srcRect t="27530"/>
          <a:stretch/>
        </p:blipFill>
        <p:spPr>
          <a:xfrm>
            <a:off x="457200" y="3717032"/>
            <a:ext cx="8435280" cy="2387594"/>
          </a:xfrm>
          <a:prstGeom prst="rect">
            <a:avLst/>
          </a:prstGeom>
        </p:spPr>
      </p:pic>
    </p:spTree>
    <p:extLst>
      <p:ext uri="{BB962C8B-B14F-4D97-AF65-F5344CB8AC3E}">
        <p14:creationId xmlns:p14="http://schemas.microsoft.com/office/powerpoint/2010/main" val="1073461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effectLst/>
                <a:latin typeface="Helvetica Neue" panose="02000503000000020004" pitchFamily="2" charset="0"/>
              </a:rPr>
              <a:t>38.1 Light Absorbed as Photons:</a:t>
            </a:r>
            <a:r>
              <a:rPr lang="zh-CN" altLang="en-US" dirty="0">
                <a:effectLst/>
                <a:latin typeface="Helvetica Neue" panose="02000503000000020004" pitchFamily="2" charset="0"/>
              </a:rPr>
              <a:t> </a:t>
            </a:r>
            <a:r>
              <a:rPr lang="en-SG" dirty="0">
                <a:effectLst/>
                <a:latin typeface="Helvetica Neue" panose="02000503000000020004" pitchFamily="2" charset="0"/>
              </a:rPr>
              <a:t>The Photoelectric Effect</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12</a:t>
            </a:fld>
            <a:endParaRPr lang="en-GB"/>
          </a:p>
        </p:txBody>
      </p:sp>
      <p:pic>
        <p:nvPicPr>
          <p:cNvPr id="5" name="Picture 4">
            <a:extLst>
              <a:ext uri="{FF2B5EF4-FFF2-40B4-BE49-F238E27FC236}">
                <a16:creationId xmlns:a16="http://schemas.microsoft.com/office/drawing/2014/main" id="{F88C25A4-C648-37C4-90C2-00F6E7D25599}"/>
              </a:ext>
            </a:extLst>
          </p:cNvPr>
          <p:cNvPicPr>
            <a:picLocks noChangeAspect="1"/>
          </p:cNvPicPr>
          <p:nvPr/>
        </p:nvPicPr>
        <p:blipFill>
          <a:blip r:embed="rId2"/>
          <a:stretch>
            <a:fillRect/>
          </a:stretch>
        </p:blipFill>
        <p:spPr>
          <a:xfrm>
            <a:off x="1243222" y="3589496"/>
            <a:ext cx="6657555" cy="906264"/>
          </a:xfrm>
          <a:prstGeom prst="rect">
            <a:avLst/>
          </a:prstGeom>
        </p:spPr>
      </p:pic>
      <p:sp>
        <p:nvSpPr>
          <p:cNvPr id="9" name="TextBox 8">
            <a:extLst>
              <a:ext uri="{FF2B5EF4-FFF2-40B4-BE49-F238E27FC236}">
                <a16:creationId xmlns:a16="http://schemas.microsoft.com/office/drawing/2014/main" id="{2BA5DA82-D95F-1AC1-E656-C7AA347DF114}"/>
              </a:ext>
            </a:extLst>
          </p:cNvPr>
          <p:cNvSpPr txBox="1"/>
          <p:nvPr/>
        </p:nvSpPr>
        <p:spPr>
          <a:xfrm>
            <a:off x="612648" y="1988840"/>
            <a:ext cx="8388424" cy="1200329"/>
          </a:xfrm>
          <a:prstGeom prst="rect">
            <a:avLst/>
          </a:prstGeom>
          <a:noFill/>
        </p:spPr>
        <p:txBody>
          <a:bodyPr wrap="square">
            <a:spAutoFit/>
          </a:bodyPr>
          <a:lstStyle/>
          <a:p>
            <a:r>
              <a:rPr lang="en-SG" sz="2400" dirty="0">
                <a:effectLst/>
                <a:latin typeface="Times"/>
              </a:rPr>
              <a:t>Furthermore, according to the special theory of relativity, every particle that has energy must also have momentum, even if it has no rest mass. </a:t>
            </a:r>
            <a:endParaRPr lang="en-SG" sz="2400" dirty="0"/>
          </a:p>
        </p:txBody>
      </p:sp>
    </p:spTree>
    <p:extLst>
      <p:ext uri="{BB962C8B-B14F-4D97-AF65-F5344CB8AC3E}">
        <p14:creationId xmlns:p14="http://schemas.microsoft.com/office/powerpoint/2010/main" val="2235819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Problem</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13</a:t>
            </a:fld>
            <a:endParaRPr lang="en-GB"/>
          </a:p>
        </p:txBody>
      </p:sp>
      <p:pic>
        <p:nvPicPr>
          <p:cNvPr id="5" name="Picture 4">
            <a:extLst>
              <a:ext uri="{FF2B5EF4-FFF2-40B4-BE49-F238E27FC236}">
                <a16:creationId xmlns:a16="http://schemas.microsoft.com/office/drawing/2014/main" id="{5B55FDE3-FBDA-3610-DB85-10BD1368F41E}"/>
              </a:ext>
            </a:extLst>
          </p:cNvPr>
          <p:cNvPicPr>
            <a:picLocks noChangeAspect="1"/>
          </p:cNvPicPr>
          <p:nvPr/>
        </p:nvPicPr>
        <p:blipFill>
          <a:blip r:embed="rId2"/>
          <a:stretch>
            <a:fillRect/>
          </a:stretch>
        </p:blipFill>
        <p:spPr>
          <a:xfrm>
            <a:off x="1603248" y="1252552"/>
            <a:ext cx="5629786" cy="1829358"/>
          </a:xfrm>
          <a:prstGeom prst="rect">
            <a:avLst/>
          </a:prstGeom>
        </p:spPr>
      </p:pic>
      <p:pic>
        <p:nvPicPr>
          <p:cNvPr id="6" name="Picture 5">
            <a:extLst>
              <a:ext uri="{FF2B5EF4-FFF2-40B4-BE49-F238E27FC236}">
                <a16:creationId xmlns:a16="http://schemas.microsoft.com/office/drawing/2014/main" id="{38769F3B-5639-93E6-1AD9-7FD08AD069C0}"/>
              </a:ext>
            </a:extLst>
          </p:cNvPr>
          <p:cNvPicPr>
            <a:picLocks noChangeAspect="1"/>
          </p:cNvPicPr>
          <p:nvPr/>
        </p:nvPicPr>
        <p:blipFill>
          <a:blip r:embed="rId3"/>
          <a:stretch>
            <a:fillRect/>
          </a:stretch>
        </p:blipFill>
        <p:spPr>
          <a:xfrm>
            <a:off x="30868" y="3502761"/>
            <a:ext cx="4791174" cy="1829358"/>
          </a:xfrm>
          <a:prstGeom prst="rect">
            <a:avLst/>
          </a:prstGeom>
        </p:spPr>
      </p:pic>
      <p:pic>
        <p:nvPicPr>
          <p:cNvPr id="7" name="Picture 6">
            <a:extLst>
              <a:ext uri="{FF2B5EF4-FFF2-40B4-BE49-F238E27FC236}">
                <a16:creationId xmlns:a16="http://schemas.microsoft.com/office/drawing/2014/main" id="{C634F9C2-5BE0-6C35-33EE-135431249456}"/>
              </a:ext>
            </a:extLst>
          </p:cNvPr>
          <p:cNvPicPr>
            <a:picLocks noChangeAspect="1"/>
          </p:cNvPicPr>
          <p:nvPr/>
        </p:nvPicPr>
        <p:blipFill>
          <a:blip r:embed="rId4"/>
          <a:stretch>
            <a:fillRect/>
          </a:stretch>
        </p:blipFill>
        <p:spPr>
          <a:xfrm>
            <a:off x="4675023" y="3452975"/>
            <a:ext cx="4424607" cy="1928930"/>
          </a:xfrm>
          <a:prstGeom prst="rect">
            <a:avLst/>
          </a:prstGeom>
        </p:spPr>
      </p:pic>
    </p:spTree>
    <p:extLst>
      <p:ext uri="{BB962C8B-B14F-4D97-AF65-F5344CB8AC3E}">
        <p14:creationId xmlns:p14="http://schemas.microsoft.com/office/powerpoint/2010/main" val="1979823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Problem</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14</a:t>
            </a:fld>
            <a:endParaRPr lang="en-GB"/>
          </a:p>
        </p:txBody>
      </p:sp>
      <p:pic>
        <p:nvPicPr>
          <p:cNvPr id="8" name="Picture 7">
            <a:extLst>
              <a:ext uri="{FF2B5EF4-FFF2-40B4-BE49-F238E27FC236}">
                <a16:creationId xmlns:a16="http://schemas.microsoft.com/office/drawing/2014/main" id="{A85CA6D8-C3AC-5B15-D7EA-B74254D9F621}"/>
              </a:ext>
            </a:extLst>
          </p:cNvPr>
          <p:cNvPicPr>
            <a:picLocks noChangeAspect="1"/>
          </p:cNvPicPr>
          <p:nvPr/>
        </p:nvPicPr>
        <p:blipFill>
          <a:blip r:embed="rId2"/>
          <a:stretch>
            <a:fillRect/>
          </a:stretch>
        </p:blipFill>
        <p:spPr>
          <a:xfrm>
            <a:off x="1907704" y="1153449"/>
            <a:ext cx="5549900" cy="1981200"/>
          </a:xfrm>
          <a:prstGeom prst="rect">
            <a:avLst/>
          </a:prstGeom>
        </p:spPr>
      </p:pic>
      <p:pic>
        <p:nvPicPr>
          <p:cNvPr id="9" name="Picture 8">
            <a:extLst>
              <a:ext uri="{FF2B5EF4-FFF2-40B4-BE49-F238E27FC236}">
                <a16:creationId xmlns:a16="http://schemas.microsoft.com/office/drawing/2014/main" id="{2AA502F7-10AD-B7E9-147A-111D90AB3857}"/>
              </a:ext>
            </a:extLst>
          </p:cNvPr>
          <p:cNvPicPr>
            <a:picLocks noChangeAspect="1"/>
          </p:cNvPicPr>
          <p:nvPr/>
        </p:nvPicPr>
        <p:blipFill>
          <a:blip r:embed="rId3"/>
          <a:stretch>
            <a:fillRect/>
          </a:stretch>
        </p:blipFill>
        <p:spPr>
          <a:xfrm>
            <a:off x="1880846" y="3145098"/>
            <a:ext cx="5193084" cy="1021787"/>
          </a:xfrm>
          <a:prstGeom prst="rect">
            <a:avLst/>
          </a:prstGeom>
        </p:spPr>
      </p:pic>
      <p:pic>
        <p:nvPicPr>
          <p:cNvPr id="10" name="Picture 9">
            <a:extLst>
              <a:ext uri="{FF2B5EF4-FFF2-40B4-BE49-F238E27FC236}">
                <a16:creationId xmlns:a16="http://schemas.microsoft.com/office/drawing/2014/main" id="{D78B2FA6-05BE-1086-BC75-F4D100A70C25}"/>
              </a:ext>
            </a:extLst>
          </p:cNvPr>
          <p:cNvPicPr>
            <a:picLocks noChangeAspect="1"/>
          </p:cNvPicPr>
          <p:nvPr/>
        </p:nvPicPr>
        <p:blipFill>
          <a:blip r:embed="rId4"/>
          <a:stretch>
            <a:fillRect/>
          </a:stretch>
        </p:blipFill>
        <p:spPr>
          <a:xfrm>
            <a:off x="2009020" y="4184153"/>
            <a:ext cx="5125960" cy="2159548"/>
          </a:xfrm>
          <a:prstGeom prst="rect">
            <a:avLst/>
          </a:prstGeom>
        </p:spPr>
      </p:pic>
    </p:spTree>
    <p:extLst>
      <p:ext uri="{BB962C8B-B14F-4D97-AF65-F5344CB8AC3E}">
        <p14:creationId xmlns:p14="http://schemas.microsoft.com/office/powerpoint/2010/main" val="3589691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effectLst/>
                <a:latin typeface="Helvetica Neue" panose="02000503000000020004" pitchFamily="2" charset="0"/>
              </a:rPr>
              <a:t>38.2 Light Emitted as Photons:</a:t>
            </a:r>
            <a:r>
              <a:rPr lang="zh-CN" altLang="en-US" dirty="0">
                <a:effectLst/>
                <a:latin typeface="Helvetica Neue" panose="02000503000000020004" pitchFamily="2" charset="0"/>
              </a:rPr>
              <a:t> </a:t>
            </a:r>
            <a:r>
              <a:rPr lang="en-SG" dirty="0">
                <a:effectLst/>
                <a:latin typeface="Helvetica Neue" panose="02000503000000020004" pitchFamily="2" charset="0"/>
              </a:rPr>
              <a:t>X-Ray Production</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15</a:t>
            </a:fld>
            <a:endParaRPr lang="en-GB"/>
          </a:p>
        </p:txBody>
      </p:sp>
      <p:pic>
        <p:nvPicPr>
          <p:cNvPr id="6" name="Picture 5">
            <a:extLst>
              <a:ext uri="{FF2B5EF4-FFF2-40B4-BE49-F238E27FC236}">
                <a16:creationId xmlns:a16="http://schemas.microsoft.com/office/drawing/2014/main" id="{CDDFAEFE-20E0-8714-7A4B-106730A5D662}"/>
              </a:ext>
            </a:extLst>
          </p:cNvPr>
          <p:cNvPicPr>
            <a:picLocks noChangeAspect="1"/>
          </p:cNvPicPr>
          <p:nvPr/>
        </p:nvPicPr>
        <p:blipFill>
          <a:blip r:embed="rId2"/>
          <a:stretch>
            <a:fillRect/>
          </a:stretch>
        </p:blipFill>
        <p:spPr>
          <a:xfrm>
            <a:off x="446525" y="1282700"/>
            <a:ext cx="3746500" cy="4292600"/>
          </a:xfrm>
          <a:prstGeom prst="rect">
            <a:avLst/>
          </a:prstGeom>
        </p:spPr>
      </p:pic>
      <p:pic>
        <p:nvPicPr>
          <p:cNvPr id="7" name="Picture 6">
            <a:extLst>
              <a:ext uri="{FF2B5EF4-FFF2-40B4-BE49-F238E27FC236}">
                <a16:creationId xmlns:a16="http://schemas.microsoft.com/office/drawing/2014/main" id="{4ACD6762-A591-30D6-56D2-FC20882017BC}"/>
              </a:ext>
            </a:extLst>
          </p:cNvPr>
          <p:cNvPicPr>
            <a:picLocks noChangeAspect="1"/>
          </p:cNvPicPr>
          <p:nvPr/>
        </p:nvPicPr>
        <p:blipFill>
          <a:blip r:embed="rId3"/>
          <a:stretch>
            <a:fillRect/>
          </a:stretch>
        </p:blipFill>
        <p:spPr>
          <a:xfrm>
            <a:off x="2123728" y="5653374"/>
            <a:ext cx="4368800" cy="673100"/>
          </a:xfrm>
          <a:prstGeom prst="rect">
            <a:avLst/>
          </a:prstGeom>
        </p:spPr>
      </p:pic>
      <p:pic>
        <p:nvPicPr>
          <p:cNvPr id="8" name="Picture 7">
            <a:extLst>
              <a:ext uri="{FF2B5EF4-FFF2-40B4-BE49-F238E27FC236}">
                <a16:creationId xmlns:a16="http://schemas.microsoft.com/office/drawing/2014/main" id="{3E3F865E-DA84-D676-1FF1-EF4A7A3963DB}"/>
              </a:ext>
            </a:extLst>
          </p:cNvPr>
          <p:cNvPicPr>
            <a:picLocks noChangeAspect="1"/>
          </p:cNvPicPr>
          <p:nvPr/>
        </p:nvPicPr>
        <p:blipFill>
          <a:blip r:embed="rId4"/>
          <a:stretch>
            <a:fillRect/>
          </a:stretch>
        </p:blipFill>
        <p:spPr>
          <a:xfrm>
            <a:off x="5292080" y="1211514"/>
            <a:ext cx="2997645" cy="4363785"/>
          </a:xfrm>
          <a:prstGeom prst="rect">
            <a:avLst/>
          </a:prstGeom>
        </p:spPr>
      </p:pic>
    </p:spTree>
    <p:extLst>
      <p:ext uri="{BB962C8B-B14F-4D97-AF65-F5344CB8AC3E}">
        <p14:creationId xmlns:p14="http://schemas.microsoft.com/office/powerpoint/2010/main" val="2101192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effectLst/>
                <a:latin typeface="Helvetica Neue" panose="02000503000000020004" pitchFamily="2" charset="0"/>
              </a:rPr>
              <a:t>38.2 Light Emitted as Photons:</a:t>
            </a:r>
            <a:r>
              <a:rPr lang="zh-CN" altLang="en-US" dirty="0">
                <a:effectLst/>
                <a:latin typeface="Helvetica Neue" panose="02000503000000020004" pitchFamily="2" charset="0"/>
              </a:rPr>
              <a:t> </a:t>
            </a:r>
            <a:r>
              <a:rPr lang="en-SG" dirty="0">
                <a:effectLst/>
                <a:latin typeface="Helvetica Neue" panose="02000503000000020004" pitchFamily="2" charset="0"/>
              </a:rPr>
              <a:t>X-Ray Production</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16</a:t>
            </a:fld>
            <a:endParaRPr lang="en-GB"/>
          </a:p>
        </p:txBody>
      </p:sp>
      <p:pic>
        <p:nvPicPr>
          <p:cNvPr id="5" name="Picture 4">
            <a:extLst>
              <a:ext uri="{FF2B5EF4-FFF2-40B4-BE49-F238E27FC236}">
                <a16:creationId xmlns:a16="http://schemas.microsoft.com/office/drawing/2014/main" id="{32B35AA7-0AF1-04AA-3CD8-F45CF1816CC4}"/>
              </a:ext>
            </a:extLst>
          </p:cNvPr>
          <p:cNvPicPr>
            <a:picLocks noChangeAspect="1"/>
          </p:cNvPicPr>
          <p:nvPr/>
        </p:nvPicPr>
        <p:blipFill>
          <a:blip r:embed="rId2"/>
          <a:stretch>
            <a:fillRect/>
          </a:stretch>
        </p:blipFill>
        <p:spPr>
          <a:xfrm>
            <a:off x="1072662" y="1663700"/>
            <a:ext cx="3429000" cy="3530600"/>
          </a:xfrm>
          <a:prstGeom prst="rect">
            <a:avLst/>
          </a:prstGeom>
        </p:spPr>
      </p:pic>
      <p:pic>
        <p:nvPicPr>
          <p:cNvPr id="6" name="Picture 5">
            <a:extLst>
              <a:ext uri="{FF2B5EF4-FFF2-40B4-BE49-F238E27FC236}">
                <a16:creationId xmlns:a16="http://schemas.microsoft.com/office/drawing/2014/main" id="{141E4954-F44D-C5A4-4611-3E9B79A1852C}"/>
              </a:ext>
            </a:extLst>
          </p:cNvPr>
          <p:cNvPicPr>
            <a:picLocks noChangeAspect="1"/>
          </p:cNvPicPr>
          <p:nvPr/>
        </p:nvPicPr>
        <p:blipFill>
          <a:blip r:embed="rId3"/>
          <a:stretch>
            <a:fillRect/>
          </a:stretch>
        </p:blipFill>
        <p:spPr>
          <a:xfrm>
            <a:off x="5076056" y="1879600"/>
            <a:ext cx="3390900" cy="3098800"/>
          </a:xfrm>
          <a:prstGeom prst="rect">
            <a:avLst/>
          </a:prstGeom>
        </p:spPr>
      </p:pic>
    </p:spTree>
    <p:extLst>
      <p:ext uri="{BB962C8B-B14F-4D97-AF65-F5344CB8AC3E}">
        <p14:creationId xmlns:p14="http://schemas.microsoft.com/office/powerpoint/2010/main" val="33342584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Problem</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17</a:t>
            </a:fld>
            <a:endParaRPr lang="en-GB"/>
          </a:p>
        </p:txBody>
      </p:sp>
      <p:pic>
        <p:nvPicPr>
          <p:cNvPr id="5" name="Picture 4">
            <a:extLst>
              <a:ext uri="{FF2B5EF4-FFF2-40B4-BE49-F238E27FC236}">
                <a16:creationId xmlns:a16="http://schemas.microsoft.com/office/drawing/2014/main" id="{5649F915-F1B0-CEBF-597D-FCFF3A98889E}"/>
              </a:ext>
            </a:extLst>
          </p:cNvPr>
          <p:cNvPicPr>
            <a:picLocks noChangeAspect="1"/>
          </p:cNvPicPr>
          <p:nvPr/>
        </p:nvPicPr>
        <p:blipFill>
          <a:blip r:embed="rId2"/>
          <a:stretch>
            <a:fillRect/>
          </a:stretch>
        </p:blipFill>
        <p:spPr>
          <a:xfrm>
            <a:off x="1259632" y="1185036"/>
            <a:ext cx="4824536" cy="1791343"/>
          </a:xfrm>
          <a:prstGeom prst="rect">
            <a:avLst/>
          </a:prstGeom>
        </p:spPr>
      </p:pic>
      <p:pic>
        <p:nvPicPr>
          <p:cNvPr id="6" name="Picture 5">
            <a:extLst>
              <a:ext uri="{FF2B5EF4-FFF2-40B4-BE49-F238E27FC236}">
                <a16:creationId xmlns:a16="http://schemas.microsoft.com/office/drawing/2014/main" id="{59C2AE1D-C55E-CEC7-561D-58AA0F61E5AC}"/>
              </a:ext>
            </a:extLst>
          </p:cNvPr>
          <p:cNvPicPr>
            <a:picLocks noChangeAspect="1"/>
          </p:cNvPicPr>
          <p:nvPr/>
        </p:nvPicPr>
        <p:blipFill>
          <a:blip r:embed="rId3"/>
          <a:stretch>
            <a:fillRect/>
          </a:stretch>
        </p:blipFill>
        <p:spPr>
          <a:xfrm>
            <a:off x="1204768" y="3018415"/>
            <a:ext cx="4860925" cy="1209361"/>
          </a:xfrm>
          <a:prstGeom prst="rect">
            <a:avLst/>
          </a:prstGeom>
        </p:spPr>
      </p:pic>
      <p:pic>
        <p:nvPicPr>
          <p:cNvPr id="7" name="Picture 6">
            <a:extLst>
              <a:ext uri="{FF2B5EF4-FFF2-40B4-BE49-F238E27FC236}">
                <a16:creationId xmlns:a16="http://schemas.microsoft.com/office/drawing/2014/main" id="{AC5414D4-59F8-5E7C-6C15-2BB6D7A523DD}"/>
              </a:ext>
            </a:extLst>
          </p:cNvPr>
          <p:cNvPicPr>
            <a:picLocks noChangeAspect="1"/>
          </p:cNvPicPr>
          <p:nvPr/>
        </p:nvPicPr>
        <p:blipFill>
          <a:blip r:embed="rId4"/>
          <a:stretch>
            <a:fillRect/>
          </a:stretch>
        </p:blipFill>
        <p:spPr>
          <a:xfrm>
            <a:off x="1363880" y="4365104"/>
            <a:ext cx="4778990" cy="1991246"/>
          </a:xfrm>
          <a:prstGeom prst="rect">
            <a:avLst/>
          </a:prstGeom>
        </p:spPr>
      </p:pic>
    </p:spTree>
    <p:extLst>
      <p:ext uri="{BB962C8B-B14F-4D97-AF65-F5344CB8AC3E}">
        <p14:creationId xmlns:p14="http://schemas.microsoft.com/office/powerpoint/2010/main" val="3168055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effectLst/>
                <a:latin typeface="Helvetica Neue" panose="02000503000000020004" pitchFamily="2" charset="0"/>
              </a:rPr>
              <a:t>38.3 Light Scattered as Photons: Compton Scattering and Pair Production</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18</a:t>
            </a:fld>
            <a:endParaRPr lang="en-GB"/>
          </a:p>
        </p:txBody>
      </p:sp>
      <p:pic>
        <p:nvPicPr>
          <p:cNvPr id="8" name="Picture 7">
            <a:extLst>
              <a:ext uri="{FF2B5EF4-FFF2-40B4-BE49-F238E27FC236}">
                <a16:creationId xmlns:a16="http://schemas.microsoft.com/office/drawing/2014/main" id="{655B765F-8DD9-CEA9-5132-D55DCC5C7919}"/>
              </a:ext>
            </a:extLst>
          </p:cNvPr>
          <p:cNvPicPr>
            <a:picLocks noChangeAspect="1"/>
          </p:cNvPicPr>
          <p:nvPr/>
        </p:nvPicPr>
        <p:blipFill>
          <a:blip r:embed="rId2"/>
          <a:stretch>
            <a:fillRect/>
          </a:stretch>
        </p:blipFill>
        <p:spPr>
          <a:xfrm>
            <a:off x="555383" y="2492896"/>
            <a:ext cx="3867658" cy="2282552"/>
          </a:xfrm>
          <a:prstGeom prst="rect">
            <a:avLst/>
          </a:prstGeom>
        </p:spPr>
      </p:pic>
      <p:pic>
        <p:nvPicPr>
          <p:cNvPr id="9" name="Picture 8">
            <a:extLst>
              <a:ext uri="{FF2B5EF4-FFF2-40B4-BE49-F238E27FC236}">
                <a16:creationId xmlns:a16="http://schemas.microsoft.com/office/drawing/2014/main" id="{3B451E5A-FE51-49B5-3599-E2FFF9C28979}"/>
              </a:ext>
            </a:extLst>
          </p:cNvPr>
          <p:cNvPicPr>
            <a:picLocks noChangeAspect="1"/>
          </p:cNvPicPr>
          <p:nvPr/>
        </p:nvPicPr>
        <p:blipFill>
          <a:blip r:embed="rId3"/>
          <a:stretch>
            <a:fillRect/>
          </a:stretch>
        </p:blipFill>
        <p:spPr>
          <a:xfrm>
            <a:off x="4788024" y="1720850"/>
            <a:ext cx="3852508" cy="3940398"/>
          </a:xfrm>
          <a:prstGeom prst="rect">
            <a:avLst/>
          </a:prstGeom>
        </p:spPr>
      </p:pic>
      <p:sp>
        <p:nvSpPr>
          <p:cNvPr id="11" name="TextBox 10">
            <a:extLst>
              <a:ext uri="{FF2B5EF4-FFF2-40B4-BE49-F238E27FC236}">
                <a16:creationId xmlns:a16="http://schemas.microsoft.com/office/drawing/2014/main" id="{97DEF7E9-3AF1-E9DB-C546-810DAEE1B42D}"/>
              </a:ext>
            </a:extLst>
          </p:cNvPr>
          <p:cNvSpPr txBox="1"/>
          <p:nvPr/>
        </p:nvSpPr>
        <p:spPr>
          <a:xfrm>
            <a:off x="555383" y="1351518"/>
            <a:ext cx="4572000" cy="461665"/>
          </a:xfrm>
          <a:prstGeom prst="rect">
            <a:avLst/>
          </a:prstGeom>
          <a:noFill/>
        </p:spPr>
        <p:txBody>
          <a:bodyPr wrap="square">
            <a:spAutoFit/>
          </a:bodyPr>
          <a:lstStyle/>
          <a:p>
            <a:r>
              <a:rPr lang="en-SG" sz="2400" dirty="0">
                <a:effectLst/>
                <a:latin typeface="Times"/>
              </a:rPr>
              <a:t>Compton-effect experiment </a:t>
            </a:r>
            <a:endParaRPr lang="en-SG" sz="2400" dirty="0"/>
          </a:p>
        </p:txBody>
      </p:sp>
    </p:spTree>
    <p:extLst>
      <p:ext uri="{BB962C8B-B14F-4D97-AF65-F5344CB8AC3E}">
        <p14:creationId xmlns:p14="http://schemas.microsoft.com/office/powerpoint/2010/main" val="1698543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effectLst/>
                <a:latin typeface="Helvetica Neue" panose="02000503000000020004" pitchFamily="2" charset="0"/>
              </a:rPr>
              <a:t>38.3 Light Scattered as Photons: Compton Scattering and Pair Production</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19</a:t>
            </a:fld>
            <a:endParaRPr lang="en-GB"/>
          </a:p>
        </p:txBody>
      </p:sp>
      <p:pic>
        <p:nvPicPr>
          <p:cNvPr id="5" name="Picture 4">
            <a:extLst>
              <a:ext uri="{FF2B5EF4-FFF2-40B4-BE49-F238E27FC236}">
                <a16:creationId xmlns:a16="http://schemas.microsoft.com/office/drawing/2014/main" id="{C11A8033-AAD7-46A2-75A4-3D61455529BB}"/>
              </a:ext>
            </a:extLst>
          </p:cNvPr>
          <p:cNvPicPr>
            <a:picLocks noChangeAspect="1"/>
          </p:cNvPicPr>
          <p:nvPr/>
        </p:nvPicPr>
        <p:blipFill>
          <a:blip r:embed="rId2"/>
          <a:stretch>
            <a:fillRect/>
          </a:stretch>
        </p:blipFill>
        <p:spPr>
          <a:xfrm>
            <a:off x="1023378" y="1223789"/>
            <a:ext cx="7125131" cy="3024336"/>
          </a:xfrm>
          <a:prstGeom prst="rect">
            <a:avLst/>
          </a:prstGeom>
        </p:spPr>
      </p:pic>
      <p:pic>
        <p:nvPicPr>
          <p:cNvPr id="6" name="Picture 5">
            <a:extLst>
              <a:ext uri="{FF2B5EF4-FFF2-40B4-BE49-F238E27FC236}">
                <a16:creationId xmlns:a16="http://schemas.microsoft.com/office/drawing/2014/main" id="{AE64FEC6-EA02-A5BB-98C5-536568A9DFA6}"/>
              </a:ext>
            </a:extLst>
          </p:cNvPr>
          <p:cNvPicPr>
            <a:picLocks noChangeAspect="1"/>
          </p:cNvPicPr>
          <p:nvPr/>
        </p:nvPicPr>
        <p:blipFill>
          <a:blip r:embed="rId3"/>
          <a:stretch>
            <a:fillRect/>
          </a:stretch>
        </p:blipFill>
        <p:spPr>
          <a:xfrm>
            <a:off x="2195736" y="4340783"/>
            <a:ext cx="4965700" cy="660400"/>
          </a:xfrm>
          <a:prstGeom prst="rect">
            <a:avLst/>
          </a:prstGeom>
        </p:spPr>
      </p:pic>
      <p:pic>
        <p:nvPicPr>
          <p:cNvPr id="7" name="Picture 6">
            <a:extLst>
              <a:ext uri="{FF2B5EF4-FFF2-40B4-BE49-F238E27FC236}">
                <a16:creationId xmlns:a16="http://schemas.microsoft.com/office/drawing/2014/main" id="{BD288EDB-9091-272D-E42E-CDA08D8C1EF5}"/>
              </a:ext>
            </a:extLst>
          </p:cNvPr>
          <p:cNvPicPr>
            <a:picLocks noChangeAspect="1"/>
          </p:cNvPicPr>
          <p:nvPr/>
        </p:nvPicPr>
        <p:blipFill>
          <a:blip r:embed="rId4"/>
          <a:stretch>
            <a:fillRect/>
          </a:stretch>
        </p:blipFill>
        <p:spPr>
          <a:xfrm>
            <a:off x="1421036" y="5177842"/>
            <a:ext cx="6515100" cy="850900"/>
          </a:xfrm>
          <a:prstGeom prst="rect">
            <a:avLst/>
          </a:prstGeom>
        </p:spPr>
      </p:pic>
    </p:spTree>
    <p:extLst>
      <p:ext uri="{BB962C8B-B14F-4D97-AF65-F5344CB8AC3E}">
        <p14:creationId xmlns:p14="http://schemas.microsoft.com/office/powerpoint/2010/main" val="2816667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Problem</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20</a:t>
            </a:fld>
            <a:endParaRPr lang="en-GB"/>
          </a:p>
        </p:txBody>
      </p:sp>
      <p:pic>
        <p:nvPicPr>
          <p:cNvPr id="8" name="Picture 7">
            <a:extLst>
              <a:ext uri="{FF2B5EF4-FFF2-40B4-BE49-F238E27FC236}">
                <a16:creationId xmlns:a16="http://schemas.microsoft.com/office/drawing/2014/main" id="{68828A13-DA3B-6FD2-987D-EE532BC36680}"/>
              </a:ext>
            </a:extLst>
          </p:cNvPr>
          <p:cNvPicPr>
            <a:picLocks noChangeAspect="1"/>
          </p:cNvPicPr>
          <p:nvPr/>
        </p:nvPicPr>
        <p:blipFill rotWithShape="1">
          <a:blip r:embed="rId2"/>
          <a:srcRect t="8897"/>
          <a:stretch/>
        </p:blipFill>
        <p:spPr>
          <a:xfrm>
            <a:off x="719088" y="1172381"/>
            <a:ext cx="5125960" cy="1570396"/>
          </a:xfrm>
          <a:prstGeom prst="rect">
            <a:avLst/>
          </a:prstGeom>
        </p:spPr>
      </p:pic>
      <p:pic>
        <p:nvPicPr>
          <p:cNvPr id="9" name="Picture 8">
            <a:extLst>
              <a:ext uri="{FF2B5EF4-FFF2-40B4-BE49-F238E27FC236}">
                <a16:creationId xmlns:a16="http://schemas.microsoft.com/office/drawing/2014/main" id="{A9FD7621-F659-98FD-447D-BCC571345FC8}"/>
              </a:ext>
            </a:extLst>
          </p:cNvPr>
          <p:cNvPicPr>
            <a:picLocks noChangeAspect="1"/>
          </p:cNvPicPr>
          <p:nvPr/>
        </p:nvPicPr>
        <p:blipFill>
          <a:blip r:embed="rId3"/>
          <a:stretch>
            <a:fillRect/>
          </a:stretch>
        </p:blipFill>
        <p:spPr>
          <a:xfrm>
            <a:off x="719088" y="2811060"/>
            <a:ext cx="5003800" cy="1289868"/>
          </a:xfrm>
          <a:prstGeom prst="rect">
            <a:avLst/>
          </a:prstGeom>
        </p:spPr>
      </p:pic>
      <p:pic>
        <p:nvPicPr>
          <p:cNvPr id="10" name="Picture 9">
            <a:extLst>
              <a:ext uri="{FF2B5EF4-FFF2-40B4-BE49-F238E27FC236}">
                <a16:creationId xmlns:a16="http://schemas.microsoft.com/office/drawing/2014/main" id="{E80B5862-1611-B1D7-BCDD-ED8F88C9641F}"/>
              </a:ext>
            </a:extLst>
          </p:cNvPr>
          <p:cNvPicPr>
            <a:picLocks noChangeAspect="1"/>
          </p:cNvPicPr>
          <p:nvPr/>
        </p:nvPicPr>
        <p:blipFill>
          <a:blip r:embed="rId4"/>
          <a:stretch>
            <a:fillRect/>
          </a:stretch>
        </p:blipFill>
        <p:spPr>
          <a:xfrm>
            <a:off x="1020053" y="4181096"/>
            <a:ext cx="4507735" cy="2070812"/>
          </a:xfrm>
          <a:prstGeom prst="rect">
            <a:avLst/>
          </a:prstGeom>
        </p:spPr>
      </p:pic>
    </p:spTree>
    <p:extLst>
      <p:ext uri="{BB962C8B-B14F-4D97-AF65-F5344CB8AC3E}">
        <p14:creationId xmlns:p14="http://schemas.microsoft.com/office/powerpoint/2010/main" val="179820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effectLst/>
                <a:latin typeface="Helvetica Neue" panose="02000503000000020004" pitchFamily="2" charset="0"/>
              </a:rPr>
              <a:t>38.4 Wave Particle Duality, Probability, and Uncertainty</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21</a:t>
            </a:fld>
            <a:endParaRPr lang="en-GB"/>
          </a:p>
        </p:txBody>
      </p:sp>
      <p:pic>
        <p:nvPicPr>
          <p:cNvPr id="7" name="Picture 6">
            <a:extLst>
              <a:ext uri="{FF2B5EF4-FFF2-40B4-BE49-F238E27FC236}">
                <a16:creationId xmlns:a16="http://schemas.microsoft.com/office/drawing/2014/main" id="{846663A6-7256-F1DF-A411-4C48A86AF651}"/>
              </a:ext>
            </a:extLst>
          </p:cNvPr>
          <p:cNvPicPr>
            <a:picLocks noChangeAspect="1"/>
          </p:cNvPicPr>
          <p:nvPr/>
        </p:nvPicPr>
        <p:blipFill>
          <a:blip r:embed="rId2"/>
          <a:stretch>
            <a:fillRect/>
          </a:stretch>
        </p:blipFill>
        <p:spPr>
          <a:xfrm>
            <a:off x="539751" y="1162050"/>
            <a:ext cx="3683000" cy="5194300"/>
          </a:xfrm>
          <a:prstGeom prst="rect">
            <a:avLst/>
          </a:prstGeom>
        </p:spPr>
      </p:pic>
      <p:pic>
        <p:nvPicPr>
          <p:cNvPr id="8" name="Picture 7">
            <a:extLst>
              <a:ext uri="{FF2B5EF4-FFF2-40B4-BE49-F238E27FC236}">
                <a16:creationId xmlns:a16="http://schemas.microsoft.com/office/drawing/2014/main" id="{80D90D98-C14A-4E3A-C399-72D94C429203}"/>
              </a:ext>
            </a:extLst>
          </p:cNvPr>
          <p:cNvPicPr>
            <a:picLocks noChangeAspect="1"/>
          </p:cNvPicPr>
          <p:nvPr/>
        </p:nvPicPr>
        <p:blipFill>
          <a:blip r:embed="rId3"/>
          <a:stretch>
            <a:fillRect/>
          </a:stretch>
        </p:blipFill>
        <p:spPr>
          <a:xfrm>
            <a:off x="5497314" y="4645680"/>
            <a:ext cx="2102018" cy="807175"/>
          </a:xfrm>
          <a:prstGeom prst="rect">
            <a:avLst/>
          </a:prstGeom>
        </p:spPr>
      </p:pic>
      <p:sp>
        <p:nvSpPr>
          <p:cNvPr id="10" name="TextBox 9">
            <a:extLst>
              <a:ext uri="{FF2B5EF4-FFF2-40B4-BE49-F238E27FC236}">
                <a16:creationId xmlns:a16="http://schemas.microsoft.com/office/drawing/2014/main" id="{45B0BF56-D166-B019-04B0-77AA9C5BF079}"/>
              </a:ext>
            </a:extLst>
          </p:cNvPr>
          <p:cNvSpPr txBox="1"/>
          <p:nvPr/>
        </p:nvSpPr>
        <p:spPr>
          <a:xfrm>
            <a:off x="4921250" y="4028709"/>
            <a:ext cx="3312368" cy="369332"/>
          </a:xfrm>
          <a:prstGeom prst="rect">
            <a:avLst/>
          </a:prstGeom>
          <a:noFill/>
        </p:spPr>
        <p:txBody>
          <a:bodyPr wrap="square">
            <a:spAutoFit/>
          </a:bodyPr>
          <a:lstStyle/>
          <a:p>
            <a:r>
              <a:rPr lang="en-SG" sz="1800" dirty="0">
                <a:effectLst/>
                <a:latin typeface="Times"/>
              </a:rPr>
              <a:t>Heisenberg uncertainty principle </a:t>
            </a:r>
            <a:endParaRPr lang="en-SG" dirty="0"/>
          </a:p>
        </p:txBody>
      </p:sp>
      <p:sp>
        <p:nvSpPr>
          <p:cNvPr id="5" name="TextBox 4">
            <a:extLst>
              <a:ext uri="{FF2B5EF4-FFF2-40B4-BE49-F238E27FC236}">
                <a16:creationId xmlns:a16="http://schemas.microsoft.com/office/drawing/2014/main" id="{C92C1B02-F3A0-660C-D784-7162EEC9399D}"/>
              </a:ext>
            </a:extLst>
          </p:cNvPr>
          <p:cNvSpPr txBox="1"/>
          <p:nvPr/>
        </p:nvSpPr>
        <p:spPr>
          <a:xfrm>
            <a:off x="4341120" y="1993355"/>
            <a:ext cx="4802880" cy="830997"/>
          </a:xfrm>
          <a:prstGeom prst="rect">
            <a:avLst/>
          </a:prstGeom>
          <a:noFill/>
        </p:spPr>
        <p:txBody>
          <a:bodyPr wrap="square" rtlCol="0">
            <a:spAutoFit/>
          </a:bodyPr>
          <a:lstStyle/>
          <a:p>
            <a:pPr algn="just"/>
            <a:r>
              <a:rPr lang="en-US" altLang="zh-CN" sz="2400" dirty="0"/>
              <a:t>Impossible</a:t>
            </a:r>
            <a:r>
              <a:rPr lang="zh-CN" altLang="en-US" sz="2400" dirty="0"/>
              <a:t> </a:t>
            </a:r>
            <a:r>
              <a:rPr lang="en-US" altLang="zh-CN" sz="2400" dirty="0"/>
              <a:t>to</a:t>
            </a:r>
            <a:r>
              <a:rPr lang="zh-CN" altLang="en-US" sz="2400" dirty="0"/>
              <a:t> </a:t>
            </a:r>
            <a:r>
              <a:rPr lang="en-US" altLang="zh-CN" sz="2400" dirty="0"/>
              <a:t>measure</a:t>
            </a:r>
            <a:r>
              <a:rPr lang="zh-CN" altLang="en-US" sz="2400" dirty="0"/>
              <a:t> </a:t>
            </a:r>
            <a:r>
              <a:rPr lang="en-US" altLang="zh-CN" sz="2400" dirty="0"/>
              <a:t>the</a:t>
            </a:r>
            <a:r>
              <a:rPr lang="zh-CN" altLang="en-US" sz="2400" dirty="0"/>
              <a:t> </a:t>
            </a:r>
            <a:r>
              <a:rPr lang="en-US" altLang="zh-CN" sz="2400" dirty="0"/>
              <a:t>position</a:t>
            </a:r>
            <a:r>
              <a:rPr lang="zh-CN" altLang="en-US" sz="2400" dirty="0"/>
              <a:t> </a:t>
            </a:r>
            <a:r>
              <a:rPr lang="en-US" altLang="zh-CN" sz="2400" dirty="0"/>
              <a:t>and</a:t>
            </a:r>
            <a:r>
              <a:rPr lang="zh-CN" altLang="en-US" sz="2400" dirty="0"/>
              <a:t> </a:t>
            </a:r>
            <a:r>
              <a:rPr lang="en-US" altLang="zh-CN" sz="2400" dirty="0"/>
              <a:t>momentum</a:t>
            </a:r>
            <a:r>
              <a:rPr lang="zh-CN" altLang="en-US" sz="2400" dirty="0"/>
              <a:t> </a:t>
            </a:r>
            <a:r>
              <a:rPr lang="en-US" altLang="zh-CN" sz="2400" dirty="0"/>
              <a:t>simultaneously</a:t>
            </a:r>
            <a:endParaRPr lang="en-US" sz="2400" dirty="0"/>
          </a:p>
        </p:txBody>
      </p:sp>
      <p:sp>
        <p:nvSpPr>
          <p:cNvPr id="6" name="TextBox 5">
            <a:extLst>
              <a:ext uri="{FF2B5EF4-FFF2-40B4-BE49-F238E27FC236}">
                <a16:creationId xmlns:a16="http://schemas.microsoft.com/office/drawing/2014/main" id="{289929CF-607B-A781-D511-252F4FD6DDD5}"/>
              </a:ext>
            </a:extLst>
          </p:cNvPr>
          <p:cNvSpPr txBox="1"/>
          <p:nvPr/>
        </p:nvSpPr>
        <p:spPr>
          <a:xfrm>
            <a:off x="4738255" y="1389413"/>
            <a:ext cx="2891882" cy="461665"/>
          </a:xfrm>
          <a:prstGeom prst="rect">
            <a:avLst/>
          </a:prstGeom>
          <a:noFill/>
        </p:spPr>
        <p:txBody>
          <a:bodyPr wrap="none" rtlCol="0">
            <a:spAutoFit/>
          </a:bodyPr>
          <a:lstStyle/>
          <a:p>
            <a:r>
              <a:rPr lang="en-US" altLang="zh-CN" sz="2400" dirty="0"/>
              <a:t>Uncertainty</a:t>
            </a:r>
            <a:r>
              <a:rPr lang="zh-CN" altLang="en-US" sz="2400" dirty="0"/>
              <a:t> </a:t>
            </a:r>
            <a:r>
              <a:rPr lang="en-US" altLang="zh-CN" sz="2400" dirty="0"/>
              <a:t>principle:</a:t>
            </a:r>
            <a:endParaRPr lang="en-US" sz="2400" dirty="0"/>
          </a:p>
        </p:txBody>
      </p:sp>
    </p:spTree>
    <p:extLst>
      <p:ext uri="{BB962C8B-B14F-4D97-AF65-F5344CB8AC3E}">
        <p14:creationId xmlns:p14="http://schemas.microsoft.com/office/powerpoint/2010/main" val="1183638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AA9BA-1FDB-5F61-831C-33AA0AD6D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E170FB-4236-A7A2-18BE-8B769AEB2E8B}"/>
              </a:ext>
            </a:extLst>
          </p:cNvPr>
          <p:cNvSpPr>
            <a:spLocks noGrp="1"/>
          </p:cNvSpPr>
          <p:nvPr>
            <p:ph type="title"/>
          </p:nvPr>
        </p:nvSpPr>
        <p:spPr/>
        <p:txBody>
          <a:bodyPr>
            <a:normAutofit fontScale="90000"/>
          </a:bodyPr>
          <a:lstStyle/>
          <a:p>
            <a:r>
              <a:rPr lang="en-SG" dirty="0">
                <a:effectLst/>
                <a:latin typeface="Helvetica Neue" panose="02000503000000020004" pitchFamily="2" charset="0"/>
              </a:rPr>
              <a:t>38.4 Wave Particle Duality, Probability, and Uncertainty</a:t>
            </a:r>
          </a:p>
        </p:txBody>
      </p:sp>
      <p:sp>
        <p:nvSpPr>
          <p:cNvPr id="3" name="Date Placeholder 2">
            <a:extLst>
              <a:ext uri="{FF2B5EF4-FFF2-40B4-BE49-F238E27FC236}">
                <a16:creationId xmlns:a16="http://schemas.microsoft.com/office/drawing/2014/main" id="{5DA78F49-8B1B-A05C-D097-5429DE179F77}"/>
              </a:ext>
            </a:extLst>
          </p:cNvPr>
          <p:cNvSpPr>
            <a:spLocks noGrp="1"/>
          </p:cNvSpPr>
          <p:nvPr>
            <p:ph type="dt" sz="half" idx="10"/>
          </p:nvPr>
        </p:nvSpPr>
        <p:spPr/>
        <p:txBody>
          <a:bodyPr/>
          <a:lstStyle/>
          <a:p>
            <a:r>
              <a:rPr lang="en-SG" altLang="zh-TW"/>
              <a:t>Modern Physics I (Ch. 38)</a:t>
            </a:r>
            <a:endParaRPr lang="en-GB" dirty="0"/>
          </a:p>
        </p:txBody>
      </p:sp>
      <p:sp>
        <p:nvSpPr>
          <p:cNvPr id="4" name="Slide Number Placeholder 3">
            <a:extLst>
              <a:ext uri="{FF2B5EF4-FFF2-40B4-BE49-F238E27FC236}">
                <a16:creationId xmlns:a16="http://schemas.microsoft.com/office/drawing/2014/main" id="{3F04AE50-5F21-FCBC-696E-B58BE045CB8D}"/>
              </a:ext>
            </a:extLst>
          </p:cNvPr>
          <p:cNvSpPr>
            <a:spLocks noGrp="1"/>
          </p:cNvSpPr>
          <p:nvPr>
            <p:ph type="sldNum" sz="quarter" idx="12"/>
          </p:nvPr>
        </p:nvSpPr>
        <p:spPr/>
        <p:txBody>
          <a:bodyPr/>
          <a:lstStyle/>
          <a:p>
            <a:fld id="{60093787-08EC-4113-8521-0E445B8625BD}" type="slidenum">
              <a:rPr lang="en-GB" smtClean="0"/>
              <a:t>22</a:t>
            </a:fld>
            <a:endParaRPr lang="en-GB"/>
          </a:p>
        </p:txBody>
      </p:sp>
      <p:pic>
        <p:nvPicPr>
          <p:cNvPr id="7" name="Picture 6">
            <a:extLst>
              <a:ext uri="{FF2B5EF4-FFF2-40B4-BE49-F238E27FC236}">
                <a16:creationId xmlns:a16="http://schemas.microsoft.com/office/drawing/2014/main" id="{313444F7-E1D5-C846-7A0B-72DD84EB0FA3}"/>
              </a:ext>
            </a:extLst>
          </p:cNvPr>
          <p:cNvPicPr>
            <a:picLocks noChangeAspect="1"/>
          </p:cNvPicPr>
          <p:nvPr/>
        </p:nvPicPr>
        <p:blipFill>
          <a:blip r:embed="rId2"/>
          <a:stretch>
            <a:fillRect/>
          </a:stretch>
        </p:blipFill>
        <p:spPr>
          <a:xfrm>
            <a:off x="2933700" y="1719082"/>
            <a:ext cx="6210300" cy="4533900"/>
          </a:xfrm>
          <a:prstGeom prst="rect">
            <a:avLst/>
          </a:prstGeom>
        </p:spPr>
      </p:pic>
      <p:sp>
        <p:nvSpPr>
          <p:cNvPr id="8" name="TextBox 7">
            <a:extLst>
              <a:ext uri="{FF2B5EF4-FFF2-40B4-BE49-F238E27FC236}">
                <a16:creationId xmlns:a16="http://schemas.microsoft.com/office/drawing/2014/main" id="{48ADBB92-0EFE-FF51-2BE5-B9985076EA79}"/>
              </a:ext>
            </a:extLst>
          </p:cNvPr>
          <p:cNvSpPr txBox="1"/>
          <p:nvPr/>
        </p:nvSpPr>
        <p:spPr>
          <a:xfrm>
            <a:off x="4427984" y="1357079"/>
            <a:ext cx="3795141" cy="461665"/>
          </a:xfrm>
          <a:prstGeom prst="rect">
            <a:avLst/>
          </a:prstGeom>
          <a:noFill/>
        </p:spPr>
        <p:txBody>
          <a:bodyPr wrap="none" rtlCol="0">
            <a:spAutoFit/>
          </a:bodyPr>
          <a:lstStyle/>
          <a:p>
            <a:r>
              <a:rPr lang="en-US" sz="2400" dirty="0"/>
              <a:t>Counting</a:t>
            </a:r>
            <a:r>
              <a:rPr lang="zh-CN" altLang="en-US" sz="2400" dirty="0"/>
              <a:t> </a:t>
            </a:r>
            <a:r>
              <a:rPr lang="en-US" altLang="zh-CN" sz="2400" dirty="0"/>
              <a:t>number</a:t>
            </a:r>
            <a:r>
              <a:rPr lang="zh-CN" altLang="en-US" sz="2400" dirty="0"/>
              <a:t> </a:t>
            </a:r>
            <a:r>
              <a:rPr lang="en-US" altLang="zh-CN" sz="2400" dirty="0"/>
              <a:t>of</a:t>
            </a:r>
            <a:r>
              <a:rPr lang="zh-CN" altLang="en-US" sz="2400" dirty="0"/>
              <a:t> </a:t>
            </a:r>
            <a:r>
              <a:rPr lang="en-US" altLang="zh-CN" sz="2400" dirty="0"/>
              <a:t>photons</a:t>
            </a:r>
            <a:endParaRPr lang="en-US" sz="2400" dirty="0"/>
          </a:p>
        </p:txBody>
      </p:sp>
      <p:sp>
        <p:nvSpPr>
          <p:cNvPr id="5" name="TextBox 4">
            <a:extLst>
              <a:ext uri="{FF2B5EF4-FFF2-40B4-BE49-F238E27FC236}">
                <a16:creationId xmlns:a16="http://schemas.microsoft.com/office/drawing/2014/main" id="{A72D829F-A30B-D414-BA0B-A06210E1A057}"/>
              </a:ext>
            </a:extLst>
          </p:cNvPr>
          <p:cNvSpPr txBox="1"/>
          <p:nvPr/>
        </p:nvSpPr>
        <p:spPr>
          <a:xfrm>
            <a:off x="371277" y="1560110"/>
            <a:ext cx="2777427" cy="461665"/>
          </a:xfrm>
          <a:prstGeom prst="rect">
            <a:avLst/>
          </a:prstGeom>
          <a:noFill/>
        </p:spPr>
        <p:txBody>
          <a:bodyPr wrap="none" rtlCol="0">
            <a:spAutoFit/>
          </a:bodyPr>
          <a:lstStyle/>
          <a:p>
            <a:r>
              <a:rPr lang="en-US" altLang="zh-CN" sz="2400" dirty="0"/>
              <a:t>Uncertainty</a:t>
            </a:r>
            <a:r>
              <a:rPr lang="zh-CN" altLang="en-US" sz="2400" dirty="0"/>
              <a:t> </a:t>
            </a:r>
            <a:r>
              <a:rPr lang="en-US" altLang="zh-CN" sz="2400" dirty="0"/>
              <a:t>example</a:t>
            </a:r>
            <a:endParaRPr lang="en-US" sz="2400" dirty="0"/>
          </a:p>
        </p:txBody>
      </p:sp>
    </p:spTree>
    <p:extLst>
      <p:ext uri="{BB962C8B-B14F-4D97-AF65-F5344CB8AC3E}">
        <p14:creationId xmlns:p14="http://schemas.microsoft.com/office/powerpoint/2010/main" val="2164323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effectLst/>
                <a:latin typeface="Helvetica Neue" panose="02000503000000020004" pitchFamily="2" charset="0"/>
              </a:rPr>
              <a:t>38.4 Wave Particle Duality, Probability, and Uncertainty</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23</a:t>
            </a:fld>
            <a:endParaRPr lang="en-GB"/>
          </a:p>
        </p:txBody>
      </p:sp>
      <p:pic>
        <p:nvPicPr>
          <p:cNvPr id="5" name="Picture 4">
            <a:extLst>
              <a:ext uri="{FF2B5EF4-FFF2-40B4-BE49-F238E27FC236}">
                <a16:creationId xmlns:a16="http://schemas.microsoft.com/office/drawing/2014/main" id="{652C964C-B964-4473-5EEE-614936982D50}"/>
              </a:ext>
            </a:extLst>
          </p:cNvPr>
          <p:cNvPicPr>
            <a:picLocks noChangeAspect="1"/>
          </p:cNvPicPr>
          <p:nvPr/>
        </p:nvPicPr>
        <p:blipFill>
          <a:blip r:embed="rId2"/>
          <a:stretch>
            <a:fillRect/>
          </a:stretch>
        </p:blipFill>
        <p:spPr>
          <a:xfrm>
            <a:off x="179512" y="1319348"/>
            <a:ext cx="6471983" cy="3525118"/>
          </a:xfrm>
          <a:prstGeom prst="rect">
            <a:avLst/>
          </a:prstGeom>
        </p:spPr>
      </p:pic>
      <p:pic>
        <p:nvPicPr>
          <p:cNvPr id="6" name="Picture 5">
            <a:extLst>
              <a:ext uri="{FF2B5EF4-FFF2-40B4-BE49-F238E27FC236}">
                <a16:creationId xmlns:a16="http://schemas.microsoft.com/office/drawing/2014/main" id="{8D832C7A-6519-3CEC-EC19-A47A4B326B0A}"/>
              </a:ext>
            </a:extLst>
          </p:cNvPr>
          <p:cNvPicPr>
            <a:picLocks noChangeAspect="1"/>
          </p:cNvPicPr>
          <p:nvPr/>
        </p:nvPicPr>
        <p:blipFill>
          <a:blip r:embed="rId3"/>
          <a:stretch>
            <a:fillRect/>
          </a:stretch>
        </p:blipFill>
        <p:spPr>
          <a:xfrm>
            <a:off x="6579535" y="1109157"/>
            <a:ext cx="2564465" cy="3970784"/>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9821572-99C2-DE29-5AB1-F0E2FD6A0E44}"/>
                  </a:ext>
                </a:extLst>
              </p:cNvPr>
              <p:cNvSpPr txBox="1"/>
              <p:nvPr/>
            </p:nvSpPr>
            <p:spPr>
              <a:xfrm>
                <a:off x="-29858" y="4985411"/>
                <a:ext cx="9492791" cy="369332"/>
              </a:xfrm>
              <a:prstGeom prst="rect">
                <a:avLst/>
              </a:prstGeom>
              <a:noFill/>
            </p:spPr>
            <p:txBody>
              <a:bodyPr wrap="none" rtlCol="0">
                <a:spAutoFit/>
              </a:bodyPr>
              <a:lstStyle/>
              <a:p>
                <a:r>
                  <a:rPr lang="en-US" dirty="0"/>
                  <a:t>The</a:t>
                </a:r>
                <a:r>
                  <a:rPr lang="zh-CN" altLang="en-US" dirty="0"/>
                  <a:t> </a:t>
                </a:r>
                <a:r>
                  <a:rPr lang="en-US" altLang="zh-CN" dirty="0"/>
                  <a:t>uncertainty</a:t>
                </a:r>
                <a:r>
                  <a:rPr lang="zh-CN" altLang="en-US" dirty="0"/>
                  <a:t> </a:t>
                </a:r>
                <a:r>
                  <a:rPr lang="en-US" altLang="zh-CN" dirty="0"/>
                  <a:t>of</a:t>
                </a:r>
                <a:r>
                  <a:rPr lang="zh-CN" altLang="en-US" dirty="0"/>
                  <a:t> </a:t>
                </a:r>
                <a:r>
                  <a:rPr lang="en-US" altLang="zh-CN" dirty="0"/>
                  <a:t>position</a:t>
                </a:r>
                <a:r>
                  <a:rPr lang="zh-CN" altLang="en-US" dirty="0"/>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x</m:t>
                    </m:r>
                    <m:r>
                      <a:rPr lang="en-US" altLang="zh-CN" b="0" i="0" smtClean="0">
                        <a:latin typeface="Cambria Math" panose="02040503050406030204" pitchFamily="18" charset="0"/>
                        <a:ea typeface="Cambria Math" panose="02040503050406030204" pitchFamily="18" charset="0"/>
                      </a:rPr>
                      <m:t>:</m:t>
                    </m:r>
                  </m:oMath>
                </a14:m>
                <a:r>
                  <a:rPr lang="zh-CN" altLang="en-US" dirty="0"/>
                  <a:t> </a:t>
                </a:r>
                <a:r>
                  <a:rPr lang="en-US" altLang="zh-CN" dirty="0"/>
                  <a:t>the</a:t>
                </a:r>
                <a:r>
                  <a:rPr lang="zh-CN" altLang="en-US" dirty="0"/>
                  <a:t> </a:t>
                </a:r>
                <a:r>
                  <a:rPr lang="en-US" altLang="zh-CN" dirty="0"/>
                  <a:t>slit</a:t>
                </a:r>
                <a:r>
                  <a:rPr lang="zh-CN" altLang="en-US" dirty="0"/>
                  <a:t> </a:t>
                </a:r>
                <a:r>
                  <a:rPr lang="en-US" altLang="zh-CN" dirty="0"/>
                  <a:t>width,</a:t>
                </a:r>
                <a:r>
                  <a:rPr lang="zh-CN" altLang="en-US" dirty="0"/>
                  <a:t> </a:t>
                </a:r>
                <a:r>
                  <a:rPr lang="en-US" altLang="zh-CN" dirty="0"/>
                  <a:t>not</a:t>
                </a:r>
                <a:r>
                  <a:rPr lang="zh-CN" altLang="en-US" dirty="0"/>
                  <a:t> </a:t>
                </a:r>
                <a:r>
                  <a:rPr lang="en-US" altLang="zh-CN" dirty="0"/>
                  <a:t>sure</a:t>
                </a:r>
                <a:r>
                  <a:rPr lang="zh-CN" altLang="en-US" dirty="0"/>
                  <a:t> </a:t>
                </a:r>
                <a:r>
                  <a:rPr lang="en-US" altLang="zh-CN" dirty="0"/>
                  <a:t>the</a:t>
                </a:r>
                <a:r>
                  <a:rPr lang="zh-CN" altLang="en-US" dirty="0"/>
                  <a:t> </a:t>
                </a:r>
                <a:r>
                  <a:rPr lang="en-US" altLang="zh-CN" dirty="0"/>
                  <a:t>exact</a:t>
                </a:r>
                <a:r>
                  <a:rPr lang="zh-CN" altLang="en-US" dirty="0"/>
                  <a:t> </a:t>
                </a:r>
                <a:r>
                  <a:rPr lang="en-US" altLang="zh-CN" dirty="0"/>
                  <a:t>position</a:t>
                </a:r>
                <a:r>
                  <a:rPr lang="zh-CN" altLang="en-US" dirty="0"/>
                  <a:t> </a:t>
                </a:r>
                <a:r>
                  <a:rPr lang="en-US" altLang="zh-CN" dirty="0"/>
                  <a:t>of</a:t>
                </a:r>
                <a:r>
                  <a:rPr lang="zh-CN" altLang="en-US" dirty="0"/>
                  <a:t> </a:t>
                </a:r>
                <a:r>
                  <a:rPr lang="en-US" altLang="zh-CN" dirty="0"/>
                  <a:t>the</a:t>
                </a:r>
                <a:r>
                  <a:rPr lang="zh-CN" altLang="en-US" dirty="0"/>
                  <a:t> </a:t>
                </a:r>
                <a:r>
                  <a:rPr lang="en-US" altLang="zh-CN" dirty="0"/>
                  <a:t>incoming</a:t>
                </a:r>
                <a:r>
                  <a:rPr lang="zh-CN" altLang="en-US" dirty="0"/>
                  <a:t> </a:t>
                </a:r>
                <a:r>
                  <a:rPr lang="en-US" altLang="zh-CN" dirty="0"/>
                  <a:t>photons</a:t>
                </a:r>
                <a:r>
                  <a:rPr lang="zh-CN" altLang="en-US" dirty="0"/>
                  <a:t>   </a:t>
                </a:r>
                <a:endParaRPr lang="en-US" dirty="0"/>
              </a:p>
            </p:txBody>
          </p:sp>
        </mc:Choice>
        <mc:Fallback xmlns="">
          <p:sp>
            <p:nvSpPr>
              <p:cNvPr id="9" name="TextBox 8">
                <a:extLst>
                  <a:ext uri="{FF2B5EF4-FFF2-40B4-BE49-F238E27FC236}">
                    <a16:creationId xmlns:a16="http://schemas.microsoft.com/office/drawing/2014/main" id="{F9821572-99C2-DE29-5AB1-F0E2FD6A0E44}"/>
                  </a:ext>
                </a:extLst>
              </p:cNvPr>
              <p:cNvSpPr txBox="1">
                <a:spLocks noRot="1" noChangeAspect="1" noMove="1" noResize="1" noEditPoints="1" noAdjustHandles="1" noChangeArrowheads="1" noChangeShapeType="1" noTextEdit="1"/>
              </p:cNvSpPr>
              <p:nvPr/>
            </p:nvSpPr>
            <p:spPr>
              <a:xfrm>
                <a:off x="-29858" y="4985411"/>
                <a:ext cx="9492791" cy="369332"/>
              </a:xfrm>
              <a:prstGeom prst="rect">
                <a:avLst/>
              </a:prstGeom>
              <a:blipFill>
                <a:blip r:embed="rId4"/>
                <a:stretch>
                  <a:fillRect l="-535" t="-6667"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5F98D666-EF49-69CD-C9C4-FC64F776F658}"/>
                  </a:ext>
                </a:extLst>
              </p:cNvPr>
              <p:cNvSpPr txBox="1"/>
              <p:nvPr/>
            </p:nvSpPr>
            <p:spPr>
              <a:xfrm>
                <a:off x="-29858" y="5440048"/>
                <a:ext cx="8943217" cy="646331"/>
              </a:xfrm>
              <a:prstGeom prst="rect">
                <a:avLst/>
              </a:prstGeom>
              <a:noFill/>
            </p:spPr>
            <p:txBody>
              <a:bodyPr wrap="none" rtlCol="0">
                <a:spAutoFit/>
              </a:bodyPr>
              <a:lstStyle/>
              <a:p>
                <a:r>
                  <a:rPr lang="en-US" dirty="0"/>
                  <a:t>The</a:t>
                </a:r>
                <a:r>
                  <a:rPr lang="zh-CN" altLang="en-US" dirty="0"/>
                  <a:t> </a:t>
                </a:r>
                <a:r>
                  <a:rPr lang="en-US" altLang="zh-CN" dirty="0"/>
                  <a:t>uncertainty</a:t>
                </a:r>
                <a:r>
                  <a:rPr lang="zh-CN" altLang="en-US" dirty="0"/>
                  <a:t> </a:t>
                </a:r>
                <a:r>
                  <a:rPr lang="en-US" altLang="zh-CN" dirty="0"/>
                  <a:t>of</a:t>
                </a:r>
                <a:r>
                  <a:rPr lang="zh-CN" altLang="en-US" dirty="0"/>
                  <a:t> </a:t>
                </a:r>
                <a:r>
                  <a:rPr lang="en-US" altLang="zh-CN"/>
                  <a:t>momentum</a:t>
                </a:r>
                <a:r>
                  <a:rPr lang="zh-CN" altLang="en-US"/>
                  <a:t> </a:t>
                </a:r>
                <a14:m>
                  <m:oMath xmlns:m="http://schemas.openxmlformats.org/officeDocument/2006/math">
                    <m:r>
                      <a:rPr lang="en-US" altLang="zh-CN" i="1" smtClean="0">
                        <a:latin typeface="Cambria Math" panose="02040503050406030204" pitchFamily="18" charset="0"/>
                        <a:ea typeface="Cambria Math" panose="02040503050406030204" pitchFamily="18" charset="0"/>
                      </a:rPr>
                      <m:t>∆</m:t>
                    </m:r>
                    <m:r>
                      <m:rPr>
                        <m:sty m:val="p"/>
                      </m:rPr>
                      <a:rPr lang="en-US" altLang="zh-CN" b="0" i="0" smtClean="0">
                        <a:latin typeface="Cambria Math" panose="02040503050406030204" pitchFamily="18" charset="0"/>
                        <a:ea typeface="Cambria Math" panose="02040503050406030204" pitchFamily="18" charset="0"/>
                      </a:rPr>
                      <m:t>p</m:t>
                    </m:r>
                    <m:r>
                      <a:rPr lang="en-US" altLang="zh-CN" b="0" i="0" smtClean="0">
                        <a:latin typeface="Cambria Math" panose="02040503050406030204" pitchFamily="18" charset="0"/>
                        <a:ea typeface="Cambria Math" panose="02040503050406030204" pitchFamily="18" charset="0"/>
                      </a:rPr>
                      <m:t>:</m:t>
                    </m:r>
                  </m:oMath>
                </a14:m>
                <a:r>
                  <a:rPr lang="zh-CN" altLang="en-US" dirty="0"/>
                  <a:t> </a:t>
                </a:r>
                <a:r>
                  <a:rPr lang="en-US" altLang="zh-CN" dirty="0"/>
                  <a:t>contribute</a:t>
                </a:r>
                <a:r>
                  <a:rPr lang="zh-CN" altLang="en-US" dirty="0"/>
                  <a:t> </a:t>
                </a:r>
                <a:r>
                  <a:rPr lang="en-US" altLang="zh-CN" dirty="0"/>
                  <a:t>to</a:t>
                </a:r>
                <a:r>
                  <a:rPr lang="zh-CN" altLang="en-US" dirty="0"/>
                  <a:t> </a:t>
                </a:r>
                <a:r>
                  <a:rPr lang="en-US" altLang="zh-CN" dirty="0"/>
                  <a:t>the</a:t>
                </a:r>
                <a:r>
                  <a:rPr lang="zh-CN" altLang="en-US" dirty="0"/>
                  <a:t> </a:t>
                </a:r>
                <a:r>
                  <a:rPr lang="en-US" altLang="zh-CN" dirty="0"/>
                  <a:t>angular</a:t>
                </a:r>
                <a:r>
                  <a:rPr lang="zh-CN" altLang="en-US" dirty="0"/>
                  <a:t> </a:t>
                </a:r>
                <a:r>
                  <a:rPr lang="en-US" altLang="zh-CN" dirty="0"/>
                  <a:t>direction</a:t>
                </a:r>
                <a:r>
                  <a:rPr lang="zh-CN" altLang="en-US" dirty="0"/>
                  <a:t> </a:t>
                </a:r>
                <a:r>
                  <a:rPr lang="en-US" altLang="zh-CN" dirty="0"/>
                  <a:t>of</a:t>
                </a:r>
                <a:r>
                  <a:rPr lang="zh-CN" altLang="en-US" dirty="0"/>
                  <a:t> </a:t>
                </a:r>
                <a:r>
                  <a:rPr lang="en-US" altLang="zh-CN" dirty="0"/>
                  <a:t>the</a:t>
                </a:r>
                <a:r>
                  <a:rPr lang="zh-CN" altLang="en-US" dirty="0"/>
                  <a:t> </a:t>
                </a:r>
                <a:r>
                  <a:rPr lang="en-US" altLang="zh-CN" dirty="0"/>
                  <a:t>photon</a:t>
                </a:r>
                <a:r>
                  <a:rPr lang="zh-CN" altLang="en-US" dirty="0"/>
                  <a:t> </a:t>
                </a:r>
                <a:r>
                  <a:rPr lang="en-US" altLang="zh-CN" dirty="0"/>
                  <a:t>motion,</a:t>
                </a:r>
                <a:r>
                  <a:rPr lang="zh-CN" altLang="en-US" dirty="0"/>
                  <a:t> </a:t>
                </a:r>
                <a:endParaRPr lang="en-SG" altLang="zh-CN" dirty="0"/>
              </a:p>
              <a:p>
                <a:r>
                  <a:rPr lang="en-US" altLang="zh-CN" dirty="0"/>
                  <a:t>Affect</a:t>
                </a:r>
                <a:r>
                  <a:rPr lang="zh-CN" altLang="en-US" dirty="0"/>
                  <a:t> </a:t>
                </a:r>
                <a:r>
                  <a:rPr lang="en-US" altLang="zh-CN" dirty="0"/>
                  <a:t>the</a:t>
                </a:r>
                <a:r>
                  <a:rPr lang="zh-CN" altLang="en-US" dirty="0"/>
                  <a:t> </a:t>
                </a:r>
                <a:r>
                  <a:rPr lang="en-US" altLang="zh-CN" dirty="0"/>
                  <a:t>position</a:t>
                </a:r>
                <a:r>
                  <a:rPr lang="zh-CN" altLang="en-US" dirty="0"/>
                  <a:t> </a:t>
                </a:r>
                <a:r>
                  <a:rPr lang="en-US" altLang="zh-CN" dirty="0"/>
                  <a:t>of</a:t>
                </a:r>
                <a:r>
                  <a:rPr lang="zh-CN" altLang="en-US" dirty="0"/>
                  <a:t> </a:t>
                </a:r>
                <a:r>
                  <a:rPr lang="en-US" altLang="zh-CN" dirty="0"/>
                  <a:t>photon</a:t>
                </a:r>
                <a:r>
                  <a:rPr lang="zh-CN" altLang="en-US" dirty="0"/>
                  <a:t> </a:t>
                </a:r>
                <a:r>
                  <a:rPr lang="en-US" altLang="zh-CN" dirty="0"/>
                  <a:t>appearing</a:t>
                </a:r>
                <a:r>
                  <a:rPr lang="zh-CN" altLang="en-US" dirty="0"/>
                  <a:t> </a:t>
                </a:r>
                <a:r>
                  <a:rPr lang="en-US" altLang="zh-CN" dirty="0"/>
                  <a:t>on</a:t>
                </a:r>
                <a:r>
                  <a:rPr lang="zh-CN" altLang="en-US" dirty="0"/>
                  <a:t> </a:t>
                </a:r>
                <a:r>
                  <a:rPr lang="en-US" altLang="zh-CN" dirty="0"/>
                  <a:t>screen</a:t>
                </a:r>
                <a:endParaRPr lang="en-US" dirty="0"/>
              </a:p>
            </p:txBody>
          </p:sp>
        </mc:Choice>
        <mc:Fallback>
          <p:sp>
            <p:nvSpPr>
              <p:cNvPr id="10" name="TextBox 9">
                <a:extLst>
                  <a:ext uri="{FF2B5EF4-FFF2-40B4-BE49-F238E27FC236}">
                    <a16:creationId xmlns:a16="http://schemas.microsoft.com/office/drawing/2014/main" id="{5F98D666-EF49-69CD-C9C4-FC64F776F658}"/>
                  </a:ext>
                </a:extLst>
              </p:cNvPr>
              <p:cNvSpPr txBox="1">
                <a:spLocks noRot="1" noChangeAspect="1" noMove="1" noResize="1" noEditPoints="1" noAdjustHandles="1" noChangeArrowheads="1" noChangeShapeType="1" noTextEdit="1"/>
              </p:cNvSpPr>
              <p:nvPr/>
            </p:nvSpPr>
            <p:spPr>
              <a:xfrm>
                <a:off x="-29858" y="5440048"/>
                <a:ext cx="8943217" cy="646331"/>
              </a:xfrm>
              <a:prstGeom prst="rect">
                <a:avLst/>
              </a:prstGeom>
              <a:blipFill>
                <a:blip r:embed="rId5"/>
                <a:stretch>
                  <a:fillRect l="-567" t="-3846" b="-13462"/>
                </a:stretch>
              </a:blipFill>
            </p:spPr>
            <p:txBody>
              <a:bodyPr/>
              <a:lstStyle/>
              <a:p>
                <a:r>
                  <a:rPr lang="en-US">
                    <a:noFill/>
                  </a:rPr>
                  <a:t> </a:t>
                </a:r>
              </a:p>
            </p:txBody>
          </p:sp>
        </mc:Fallback>
      </mc:AlternateContent>
    </p:spTree>
    <p:extLst>
      <p:ext uri="{BB962C8B-B14F-4D97-AF65-F5344CB8AC3E}">
        <p14:creationId xmlns:p14="http://schemas.microsoft.com/office/powerpoint/2010/main" val="4219601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06006-16CE-CC06-96A5-916AD4D66D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7953DC-3A40-822B-C247-0396191CEF31}"/>
              </a:ext>
            </a:extLst>
          </p:cNvPr>
          <p:cNvSpPr>
            <a:spLocks noGrp="1"/>
          </p:cNvSpPr>
          <p:nvPr>
            <p:ph type="title"/>
          </p:nvPr>
        </p:nvSpPr>
        <p:spPr/>
        <p:txBody>
          <a:bodyPr>
            <a:normAutofit fontScale="90000"/>
          </a:bodyPr>
          <a:lstStyle/>
          <a:p>
            <a:r>
              <a:rPr lang="en-SG" dirty="0">
                <a:effectLst/>
                <a:latin typeface="Helvetica Neue" panose="02000503000000020004" pitchFamily="2" charset="0"/>
              </a:rPr>
              <a:t>38.4 Wave Particle Duality, Probability, and Uncertainty</a:t>
            </a:r>
          </a:p>
        </p:txBody>
      </p:sp>
      <p:sp>
        <p:nvSpPr>
          <p:cNvPr id="3" name="Date Placeholder 2">
            <a:extLst>
              <a:ext uri="{FF2B5EF4-FFF2-40B4-BE49-F238E27FC236}">
                <a16:creationId xmlns:a16="http://schemas.microsoft.com/office/drawing/2014/main" id="{EED01EC5-54CF-2F6B-FE60-282C02DF3FD6}"/>
              </a:ext>
            </a:extLst>
          </p:cNvPr>
          <p:cNvSpPr>
            <a:spLocks noGrp="1"/>
          </p:cNvSpPr>
          <p:nvPr>
            <p:ph type="dt" sz="half" idx="10"/>
          </p:nvPr>
        </p:nvSpPr>
        <p:spPr/>
        <p:txBody>
          <a:bodyPr/>
          <a:lstStyle/>
          <a:p>
            <a:r>
              <a:rPr lang="en-SG" altLang="zh-TW" dirty="0"/>
              <a:t>Modern Physics I (Ch. 38)</a:t>
            </a:r>
            <a:endParaRPr lang="en-GB" dirty="0"/>
          </a:p>
        </p:txBody>
      </p:sp>
      <p:sp>
        <p:nvSpPr>
          <p:cNvPr id="4" name="Slide Number Placeholder 3">
            <a:extLst>
              <a:ext uri="{FF2B5EF4-FFF2-40B4-BE49-F238E27FC236}">
                <a16:creationId xmlns:a16="http://schemas.microsoft.com/office/drawing/2014/main" id="{AAF53751-2D58-224C-6ED4-2D86E44D5D15}"/>
              </a:ext>
            </a:extLst>
          </p:cNvPr>
          <p:cNvSpPr>
            <a:spLocks noGrp="1"/>
          </p:cNvSpPr>
          <p:nvPr>
            <p:ph type="sldNum" sz="quarter" idx="12"/>
          </p:nvPr>
        </p:nvSpPr>
        <p:spPr/>
        <p:txBody>
          <a:bodyPr/>
          <a:lstStyle/>
          <a:p>
            <a:fld id="{60093787-08EC-4113-8521-0E445B8625BD}" type="slidenum">
              <a:rPr lang="en-GB" smtClean="0"/>
              <a:t>24</a:t>
            </a:fld>
            <a:endParaRPr lang="en-GB"/>
          </a:p>
        </p:txBody>
      </p:sp>
      <p:pic>
        <p:nvPicPr>
          <p:cNvPr id="10" name="Picture 9">
            <a:extLst>
              <a:ext uri="{FF2B5EF4-FFF2-40B4-BE49-F238E27FC236}">
                <a16:creationId xmlns:a16="http://schemas.microsoft.com/office/drawing/2014/main" id="{451F6D0B-2DFA-4054-0E1B-E608E74D8442}"/>
              </a:ext>
            </a:extLst>
          </p:cNvPr>
          <p:cNvPicPr>
            <a:picLocks noChangeAspect="1"/>
          </p:cNvPicPr>
          <p:nvPr/>
        </p:nvPicPr>
        <p:blipFill>
          <a:blip r:embed="rId2"/>
          <a:srcRect l="38942"/>
          <a:stretch/>
        </p:blipFill>
        <p:spPr>
          <a:xfrm>
            <a:off x="4428501" y="1175892"/>
            <a:ext cx="4454557" cy="3973689"/>
          </a:xfrm>
          <a:prstGeom prst="rect">
            <a:avLst/>
          </a:prstGeom>
        </p:spPr>
      </p:pic>
      <p:sp>
        <p:nvSpPr>
          <p:cNvPr id="11" name="Rectangle 10">
            <a:extLst>
              <a:ext uri="{FF2B5EF4-FFF2-40B4-BE49-F238E27FC236}">
                <a16:creationId xmlns:a16="http://schemas.microsoft.com/office/drawing/2014/main" id="{27444DAE-6487-D0BE-6A6B-E8FD0AFF4D19}"/>
              </a:ext>
            </a:extLst>
          </p:cNvPr>
          <p:cNvSpPr/>
          <p:nvPr/>
        </p:nvSpPr>
        <p:spPr>
          <a:xfrm>
            <a:off x="4349247" y="1361346"/>
            <a:ext cx="2282797" cy="9425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FFADEE5-7595-1614-4A14-F40975FD884D}"/>
              </a:ext>
            </a:extLst>
          </p:cNvPr>
          <p:cNvSpPr txBox="1"/>
          <p:nvPr/>
        </p:nvSpPr>
        <p:spPr>
          <a:xfrm>
            <a:off x="535134" y="1438135"/>
            <a:ext cx="3672416" cy="369332"/>
          </a:xfrm>
          <a:prstGeom prst="rect">
            <a:avLst/>
          </a:prstGeom>
          <a:noFill/>
        </p:spPr>
        <p:txBody>
          <a:bodyPr wrap="none" rtlCol="0">
            <a:spAutoFit/>
          </a:bodyPr>
          <a:lstStyle/>
          <a:p>
            <a:r>
              <a:rPr lang="en-US" altLang="zh-CN" dirty="0"/>
              <a:t>Path</a:t>
            </a:r>
            <a:r>
              <a:rPr lang="zh-CN" altLang="en-US" dirty="0"/>
              <a:t> </a:t>
            </a:r>
            <a:r>
              <a:rPr lang="en-US" altLang="zh-CN" dirty="0"/>
              <a:t>difference</a:t>
            </a:r>
            <a:r>
              <a:rPr lang="zh-CN" altLang="en-US" dirty="0"/>
              <a:t> </a:t>
            </a:r>
            <a:r>
              <a:rPr lang="en-US" altLang="zh-CN" dirty="0"/>
              <a:t>of</a:t>
            </a:r>
            <a:r>
              <a:rPr lang="zh-CN" altLang="en-US" dirty="0"/>
              <a:t> </a:t>
            </a:r>
            <a:r>
              <a:rPr lang="en-US" altLang="zh-CN" dirty="0"/>
              <a:t>ray</a:t>
            </a:r>
            <a:r>
              <a:rPr lang="zh-CN" altLang="en-US" dirty="0"/>
              <a:t> </a:t>
            </a:r>
            <a:r>
              <a:rPr lang="en-US" altLang="zh-CN" dirty="0"/>
              <a:t>from</a:t>
            </a:r>
            <a:r>
              <a:rPr lang="zh-CN" altLang="en-US" dirty="0"/>
              <a:t> </a:t>
            </a:r>
            <a:r>
              <a:rPr lang="en-US" altLang="zh-CN" dirty="0"/>
              <a:t>single</a:t>
            </a:r>
            <a:r>
              <a:rPr lang="zh-CN" altLang="en-US" dirty="0"/>
              <a:t> </a:t>
            </a:r>
            <a:r>
              <a:rPr lang="en-US" altLang="zh-CN" dirty="0"/>
              <a:t>slit</a:t>
            </a:r>
            <a:r>
              <a:rPr lang="zh-CN" altLang="en-US" dirty="0"/>
              <a:t> </a:t>
            </a: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D75A5C8-22F1-D0E6-56B8-D3E6AFF22EA9}"/>
                  </a:ext>
                </a:extLst>
              </p:cNvPr>
              <p:cNvSpPr txBox="1"/>
              <p:nvPr/>
            </p:nvSpPr>
            <p:spPr>
              <a:xfrm>
                <a:off x="4104115" y="1500502"/>
                <a:ext cx="9357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rPr>
                        <m:t>𝑑</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sin</m:t>
                          </m:r>
                        </m:fName>
                        <m:e>
                          <m:r>
                            <a:rPr lang="en-US" altLang="zh-CN" b="0" i="1" smtClean="0">
                              <a:latin typeface="Cambria Math" panose="02040503050406030204" pitchFamily="18" charset="0"/>
                              <a:ea typeface="Cambria Math" panose="02040503050406030204" pitchFamily="18" charset="0"/>
                            </a:rPr>
                            <m:t>𝜃</m:t>
                          </m:r>
                        </m:e>
                      </m:func>
                    </m:oMath>
                  </m:oMathPara>
                </a14:m>
                <a:endParaRPr lang="en-US" dirty="0"/>
              </a:p>
            </p:txBody>
          </p:sp>
        </mc:Choice>
        <mc:Fallback xmlns="">
          <p:sp>
            <p:nvSpPr>
              <p:cNvPr id="6" name="TextBox 5">
                <a:extLst>
                  <a:ext uri="{FF2B5EF4-FFF2-40B4-BE49-F238E27FC236}">
                    <a16:creationId xmlns:a16="http://schemas.microsoft.com/office/drawing/2014/main" id="{AD75A5C8-22F1-D0E6-56B8-D3E6AFF22EA9}"/>
                  </a:ext>
                </a:extLst>
              </p:cNvPr>
              <p:cNvSpPr txBox="1">
                <a:spLocks noRot="1" noChangeAspect="1" noMove="1" noResize="1" noEditPoints="1" noAdjustHandles="1" noChangeArrowheads="1" noChangeShapeType="1" noTextEdit="1"/>
              </p:cNvSpPr>
              <p:nvPr/>
            </p:nvSpPr>
            <p:spPr>
              <a:xfrm>
                <a:off x="4104115" y="1500502"/>
                <a:ext cx="935769" cy="276999"/>
              </a:xfrm>
              <a:prstGeom prst="rect">
                <a:avLst/>
              </a:prstGeom>
              <a:blipFill>
                <a:blip r:embed="rId3"/>
                <a:stretch>
                  <a:fillRect l="-2703" r="-5405" b="-86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421B137-1D32-58B4-8BDB-CD21614DCB60}"/>
                  </a:ext>
                </a:extLst>
              </p:cNvPr>
              <p:cNvSpPr txBox="1"/>
              <p:nvPr/>
            </p:nvSpPr>
            <p:spPr>
              <a:xfrm>
                <a:off x="533922" y="1875644"/>
                <a:ext cx="4780155" cy="369332"/>
              </a:xfrm>
              <a:prstGeom prst="rect">
                <a:avLst/>
              </a:prstGeom>
              <a:noFill/>
            </p:spPr>
            <p:txBody>
              <a:bodyPr wrap="none" rtlCol="0">
                <a:spAutoFit/>
              </a:bodyPr>
              <a:lstStyle/>
              <a:p>
                <a:r>
                  <a:rPr lang="en-US" altLang="zh-CN" dirty="0"/>
                  <a:t>Path</a:t>
                </a:r>
                <a:r>
                  <a:rPr lang="zh-CN" altLang="en-US" dirty="0"/>
                  <a:t> </a:t>
                </a:r>
                <a:r>
                  <a:rPr lang="en-US" altLang="zh-CN" dirty="0"/>
                  <a:t>difference</a:t>
                </a:r>
                <a:r>
                  <a:rPr lang="zh-CN" altLang="en-US" dirty="0"/>
                  <a:t> </a:t>
                </a:r>
                <a:r>
                  <a:rPr lang="en-US" altLang="zh-CN" dirty="0"/>
                  <a:t>for</a:t>
                </a:r>
                <a:r>
                  <a:rPr lang="zh-CN" altLang="en-US" dirty="0"/>
                  <a:t> </a:t>
                </a:r>
                <a:r>
                  <a:rPr lang="en-US" altLang="zh-CN" dirty="0"/>
                  <a:t>destructive</a:t>
                </a:r>
                <a:r>
                  <a:rPr lang="zh-CN" altLang="en-US" dirty="0"/>
                  <a:t> </a:t>
                </a:r>
                <a:r>
                  <a:rPr lang="en-US" altLang="zh-CN" dirty="0"/>
                  <a:t>interference</a:t>
                </a:r>
                <a14:m>
                  <m:oMath xmlns:m="http://schemas.openxmlformats.org/officeDocument/2006/math">
                    <m:r>
                      <a:rPr lang="zh-CN" altLang="en-US" b="0" i="0" smtClean="0">
                        <a:latin typeface="Cambria Math" panose="02040503050406030204" pitchFamily="18" charset="0"/>
                      </a:rPr>
                      <m:t> </m:t>
                    </m:r>
                    <m:r>
                      <a:rPr lang="en-US" altLang="zh-CN" b="0" i="1" smtClean="0">
                        <a:latin typeface="Cambria Math" panose="02040503050406030204" pitchFamily="18" charset="0"/>
                      </a:rPr>
                      <m:t>=</m:t>
                    </m:r>
                    <m:r>
                      <a:rPr lang="en-US" altLang="zh-CN" b="0" i="1" smtClean="0">
                        <a:latin typeface="Cambria Math" panose="02040503050406030204" pitchFamily="18" charset="0"/>
                      </a:rPr>
                      <m:t>𝑛</m:t>
                    </m:r>
                    <m:r>
                      <a:rPr lang="en-US" altLang="zh-CN" b="0" i="1" smtClean="0">
                        <a:latin typeface="Cambria Math" panose="02040503050406030204" pitchFamily="18" charset="0"/>
                        <a:ea typeface="Cambria Math" panose="02040503050406030204" pitchFamily="18" charset="0"/>
                      </a:rPr>
                      <m:t>𝜆</m:t>
                    </m:r>
                  </m:oMath>
                </a14:m>
                <a:endParaRPr lang="en-US" dirty="0"/>
              </a:p>
            </p:txBody>
          </p:sp>
        </mc:Choice>
        <mc:Fallback xmlns="">
          <p:sp>
            <p:nvSpPr>
              <p:cNvPr id="12" name="TextBox 11">
                <a:extLst>
                  <a:ext uri="{FF2B5EF4-FFF2-40B4-BE49-F238E27FC236}">
                    <a16:creationId xmlns:a16="http://schemas.microsoft.com/office/drawing/2014/main" id="{7421B137-1D32-58B4-8BDB-CD21614DCB60}"/>
                  </a:ext>
                </a:extLst>
              </p:cNvPr>
              <p:cNvSpPr txBox="1">
                <a:spLocks noRot="1" noChangeAspect="1" noMove="1" noResize="1" noEditPoints="1" noAdjustHandles="1" noChangeArrowheads="1" noChangeShapeType="1" noTextEdit="1"/>
              </p:cNvSpPr>
              <p:nvPr/>
            </p:nvSpPr>
            <p:spPr>
              <a:xfrm>
                <a:off x="533922" y="1875644"/>
                <a:ext cx="4780155" cy="369332"/>
              </a:xfrm>
              <a:prstGeom prst="rect">
                <a:avLst/>
              </a:prstGeom>
              <a:blipFill>
                <a:blip r:embed="rId4"/>
                <a:stretch>
                  <a:fillRect l="-1326"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F8C0C3E-37F5-0619-3420-673F1614D15F}"/>
                  </a:ext>
                </a:extLst>
              </p:cNvPr>
              <p:cNvSpPr txBox="1"/>
              <p:nvPr/>
            </p:nvSpPr>
            <p:spPr>
              <a:xfrm>
                <a:off x="523440" y="2268774"/>
                <a:ext cx="1979132" cy="369332"/>
              </a:xfrm>
              <a:prstGeom prst="rect">
                <a:avLst/>
              </a:prstGeom>
              <a:noFill/>
            </p:spPr>
            <p:txBody>
              <a:bodyPr wrap="none" rtlCol="0">
                <a:spAutoFit/>
              </a:bodyPr>
              <a:lstStyle/>
              <a:p>
                <a:r>
                  <a:rPr lang="en-US" dirty="0"/>
                  <a:t>First</a:t>
                </a:r>
                <a:r>
                  <a:rPr lang="zh-CN" altLang="en-US" dirty="0"/>
                  <a:t> </a:t>
                </a:r>
                <a:r>
                  <a:rPr lang="en-US" altLang="zh-CN" dirty="0"/>
                  <a:t>order</a:t>
                </a:r>
                <a:r>
                  <a:rPr lang="zh-CN" altLang="en-US" dirty="0"/>
                  <a:t> </a:t>
                </a:r>
                <a:r>
                  <a:rPr lang="en-US" altLang="zh-CN" dirty="0" err="1"/>
                  <a:t>p.d.</a:t>
                </a:r>
                <a:r>
                  <a:rPr lang="zh-CN" altLang="en-US" dirty="0"/>
                  <a:t> </a:t>
                </a:r>
                <a14:m>
                  <m:oMath xmlns:m="http://schemas.openxmlformats.org/officeDocument/2006/math">
                    <m:r>
                      <a:rPr lang="en-US" altLang="zh-CN" b="0" i="1" smtClean="0">
                        <a:latin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𝜆</m:t>
                    </m:r>
                  </m:oMath>
                </a14:m>
                <a:endParaRPr lang="en-US" dirty="0"/>
              </a:p>
            </p:txBody>
          </p:sp>
        </mc:Choice>
        <mc:Fallback xmlns="">
          <p:sp>
            <p:nvSpPr>
              <p:cNvPr id="13" name="TextBox 12">
                <a:extLst>
                  <a:ext uri="{FF2B5EF4-FFF2-40B4-BE49-F238E27FC236}">
                    <a16:creationId xmlns:a16="http://schemas.microsoft.com/office/drawing/2014/main" id="{2F8C0C3E-37F5-0619-3420-673F1614D15F}"/>
                  </a:ext>
                </a:extLst>
              </p:cNvPr>
              <p:cNvSpPr txBox="1">
                <a:spLocks noRot="1" noChangeAspect="1" noMove="1" noResize="1" noEditPoints="1" noAdjustHandles="1" noChangeArrowheads="1" noChangeShapeType="1" noTextEdit="1"/>
              </p:cNvSpPr>
              <p:nvPr/>
            </p:nvSpPr>
            <p:spPr>
              <a:xfrm>
                <a:off x="523440" y="2268774"/>
                <a:ext cx="1979132" cy="369332"/>
              </a:xfrm>
              <a:prstGeom prst="rect">
                <a:avLst/>
              </a:prstGeom>
              <a:blipFill>
                <a:blip r:embed="rId5"/>
                <a:stretch>
                  <a:fillRect l="-3185" t="-6667"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185D2E6-14B4-3DF2-3943-57CFBB25E923}"/>
                  </a:ext>
                </a:extLst>
              </p:cNvPr>
              <p:cNvSpPr txBox="1"/>
              <p:nvPr/>
            </p:nvSpPr>
            <p:spPr>
              <a:xfrm>
                <a:off x="629752" y="2718740"/>
                <a:ext cx="1585755" cy="52604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𝑑</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 </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𝜆</m:t>
                          </m:r>
                        </m:num>
                        <m:den>
                          <m:func>
                            <m:funcPr>
                              <m:ctrlPr>
                                <a:rPr lang="en-US" altLang="zh-CN" b="0" i="1" smtClean="0">
                                  <a:latin typeface="Cambria Math" panose="02040503050406030204" pitchFamily="18" charset="0"/>
                                  <a:ea typeface="Cambria Math" panose="02040503050406030204" pitchFamily="18" charset="0"/>
                                </a:rPr>
                              </m:ctrlPr>
                            </m:funcPr>
                            <m:fName>
                              <m:r>
                                <m:rPr>
                                  <m:sty m:val="p"/>
                                </m:rPr>
                                <a:rPr lang="en-US" altLang="zh-CN" b="0" i="0" smtClean="0">
                                  <a:latin typeface="Cambria Math" panose="02040503050406030204" pitchFamily="18" charset="0"/>
                                  <a:ea typeface="Cambria Math" panose="02040503050406030204" pitchFamily="18" charset="0"/>
                                </a:rPr>
                                <m:t>sin</m:t>
                              </m:r>
                            </m:fName>
                            <m:e>
                              <m:r>
                                <a:rPr lang="en-US" altLang="zh-CN" b="0" i="1" smtClean="0">
                                  <a:latin typeface="Cambria Math" panose="02040503050406030204" pitchFamily="18" charset="0"/>
                                  <a:ea typeface="Cambria Math" panose="02040503050406030204" pitchFamily="18" charset="0"/>
                                </a:rPr>
                                <m:t>𝜃</m:t>
                              </m:r>
                            </m:e>
                          </m:func>
                        </m:den>
                      </m:f>
                    </m:oMath>
                  </m:oMathPara>
                </a14:m>
                <a:endParaRPr lang="en-US" dirty="0"/>
              </a:p>
            </p:txBody>
          </p:sp>
        </mc:Choice>
        <mc:Fallback xmlns="">
          <p:sp>
            <p:nvSpPr>
              <p:cNvPr id="14" name="TextBox 13">
                <a:extLst>
                  <a:ext uri="{FF2B5EF4-FFF2-40B4-BE49-F238E27FC236}">
                    <a16:creationId xmlns:a16="http://schemas.microsoft.com/office/drawing/2014/main" id="{E185D2E6-14B4-3DF2-3943-57CFBB25E923}"/>
                  </a:ext>
                </a:extLst>
              </p:cNvPr>
              <p:cNvSpPr txBox="1">
                <a:spLocks noRot="1" noChangeAspect="1" noMove="1" noResize="1" noEditPoints="1" noAdjustHandles="1" noChangeArrowheads="1" noChangeShapeType="1" noTextEdit="1"/>
              </p:cNvSpPr>
              <p:nvPr/>
            </p:nvSpPr>
            <p:spPr>
              <a:xfrm>
                <a:off x="629752" y="2718740"/>
                <a:ext cx="1585755" cy="526041"/>
              </a:xfrm>
              <a:prstGeom prst="rect">
                <a:avLst/>
              </a:prstGeom>
              <a:blipFill>
                <a:blip r:embed="rId6"/>
                <a:stretch>
                  <a:fillRect l="-2381" t="-2381" r="-2381"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211BA7B-B079-AB27-4820-A491536EFC4F}"/>
                  </a:ext>
                </a:extLst>
              </p:cNvPr>
              <p:cNvSpPr txBox="1"/>
              <p:nvPr/>
            </p:nvSpPr>
            <p:spPr>
              <a:xfrm>
                <a:off x="629752" y="3924572"/>
                <a:ext cx="1230850"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𝑦</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𝑝</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sin</m:t>
                          </m:r>
                        </m:fName>
                        <m:e>
                          <m:r>
                            <a:rPr lang="en-US" altLang="zh-CN" b="0" i="1" smtClean="0">
                              <a:latin typeface="Cambria Math" panose="02040503050406030204" pitchFamily="18" charset="0"/>
                              <a:ea typeface="Cambria Math" panose="02040503050406030204" pitchFamily="18" charset="0"/>
                            </a:rPr>
                            <m:t>𝜃</m:t>
                          </m:r>
                        </m:e>
                      </m:func>
                    </m:oMath>
                  </m:oMathPara>
                </a14:m>
                <a:endParaRPr lang="en-US" dirty="0"/>
              </a:p>
            </p:txBody>
          </p:sp>
        </mc:Choice>
        <mc:Fallback xmlns="">
          <p:sp>
            <p:nvSpPr>
              <p:cNvPr id="16" name="TextBox 15">
                <a:extLst>
                  <a:ext uri="{FF2B5EF4-FFF2-40B4-BE49-F238E27FC236}">
                    <a16:creationId xmlns:a16="http://schemas.microsoft.com/office/drawing/2014/main" id="{B211BA7B-B079-AB27-4820-A491536EFC4F}"/>
                  </a:ext>
                </a:extLst>
              </p:cNvPr>
              <p:cNvSpPr txBox="1">
                <a:spLocks noRot="1" noChangeAspect="1" noMove="1" noResize="1" noEditPoints="1" noAdjustHandles="1" noChangeArrowheads="1" noChangeShapeType="1" noTextEdit="1"/>
              </p:cNvSpPr>
              <p:nvPr/>
            </p:nvSpPr>
            <p:spPr>
              <a:xfrm>
                <a:off x="629752" y="3924572"/>
                <a:ext cx="1230850" cy="298928"/>
              </a:xfrm>
              <a:prstGeom prst="rect">
                <a:avLst/>
              </a:prstGeom>
              <a:blipFill>
                <a:blip r:embed="rId7"/>
                <a:stretch>
                  <a:fillRect l="-4082" r="-3061" b="-20833"/>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862F3348-9A4D-80ED-4A94-DC7CB53BB288}"/>
              </a:ext>
            </a:extLst>
          </p:cNvPr>
          <p:cNvSpPr txBox="1"/>
          <p:nvPr/>
        </p:nvSpPr>
        <p:spPr>
          <a:xfrm>
            <a:off x="533922" y="3428554"/>
            <a:ext cx="2228431" cy="369332"/>
          </a:xfrm>
          <a:prstGeom prst="rect">
            <a:avLst/>
          </a:prstGeom>
          <a:noFill/>
        </p:spPr>
        <p:txBody>
          <a:bodyPr wrap="none" rtlCol="0">
            <a:spAutoFit/>
          </a:bodyPr>
          <a:lstStyle/>
          <a:p>
            <a:r>
              <a:rPr lang="en-US" altLang="zh-CN" dirty="0"/>
              <a:t>For</a:t>
            </a:r>
            <a:r>
              <a:rPr lang="zh-CN" altLang="en-US" dirty="0"/>
              <a:t> </a:t>
            </a:r>
            <a:r>
              <a:rPr lang="en-US" altLang="zh-CN" dirty="0"/>
              <a:t>the</a:t>
            </a:r>
            <a:r>
              <a:rPr lang="zh-CN" altLang="en-US" dirty="0"/>
              <a:t> </a:t>
            </a:r>
            <a:r>
              <a:rPr lang="en-US" altLang="zh-CN" dirty="0"/>
              <a:t>first</a:t>
            </a:r>
            <a:r>
              <a:rPr lang="zh-CN" altLang="en-US" dirty="0"/>
              <a:t> </a:t>
            </a:r>
            <a:r>
              <a:rPr lang="en-US" altLang="zh-CN" dirty="0"/>
              <a:t>minimum</a:t>
            </a:r>
            <a:endParaRPr lang="en-US" dirty="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1C959D35-0A41-E651-6E5F-98B001668723}"/>
                  </a:ext>
                </a:extLst>
              </p:cNvPr>
              <p:cNvSpPr txBox="1"/>
              <p:nvPr/>
            </p:nvSpPr>
            <p:spPr>
              <a:xfrm>
                <a:off x="609181" y="4770956"/>
                <a:ext cx="1496948"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𝑦</m:t>
                          </m:r>
                        </m:sub>
                      </m:sSub>
                      <m:r>
                        <a:rPr lang="en-US" altLang="zh-CN" i="1">
                          <a:latin typeface="Cambria Math" panose="02040503050406030204" pitchFamily="18" charset="0"/>
                        </a:rPr>
                        <m:t>≥</m:t>
                      </m:r>
                      <m:r>
                        <a:rPr lang="en-US" altLang="zh-CN" b="0" i="1" smtClean="0">
                          <a:latin typeface="Cambria Math" panose="02040503050406030204" pitchFamily="18" charset="0"/>
                        </a:rPr>
                        <m:t>2</m:t>
                      </m:r>
                      <m:r>
                        <a:rPr lang="en-US" altLang="zh-CN" b="0" i="1" smtClean="0">
                          <a:latin typeface="Cambria Math" panose="02040503050406030204" pitchFamily="18" charset="0"/>
                        </a:rPr>
                        <m:t>𝑝</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sin</m:t>
                          </m:r>
                        </m:fName>
                        <m:e>
                          <m:r>
                            <a:rPr lang="en-US" altLang="zh-CN" b="0" i="1" smtClean="0">
                              <a:latin typeface="Cambria Math" panose="02040503050406030204" pitchFamily="18" charset="0"/>
                              <a:ea typeface="Cambria Math" panose="02040503050406030204" pitchFamily="18" charset="0"/>
                            </a:rPr>
                            <m:t>𝜃</m:t>
                          </m:r>
                        </m:e>
                      </m:func>
                    </m:oMath>
                  </m:oMathPara>
                </a14:m>
                <a:endParaRPr lang="en-US" dirty="0"/>
              </a:p>
            </p:txBody>
          </p:sp>
        </mc:Choice>
        <mc:Fallback xmlns="">
          <p:sp>
            <p:nvSpPr>
              <p:cNvPr id="18" name="TextBox 17">
                <a:extLst>
                  <a:ext uri="{FF2B5EF4-FFF2-40B4-BE49-F238E27FC236}">
                    <a16:creationId xmlns:a16="http://schemas.microsoft.com/office/drawing/2014/main" id="{1C959D35-0A41-E651-6E5F-98B001668723}"/>
                  </a:ext>
                </a:extLst>
              </p:cNvPr>
              <p:cNvSpPr txBox="1">
                <a:spLocks noRot="1" noChangeAspect="1" noMove="1" noResize="1" noEditPoints="1" noAdjustHandles="1" noChangeArrowheads="1" noChangeShapeType="1" noTextEdit="1"/>
              </p:cNvSpPr>
              <p:nvPr/>
            </p:nvSpPr>
            <p:spPr>
              <a:xfrm>
                <a:off x="609181" y="4770956"/>
                <a:ext cx="1496948" cy="298928"/>
              </a:xfrm>
              <a:prstGeom prst="rect">
                <a:avLst/>
              </a:prstGeom>
              <a:blipFill>
                <a:blip r:embed="rId8"/>
                <a:stretch>
                  <a:fillRect l="-3390" r="-2542" b="-24000"/>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DE8393CE-76E1-8682-2900-8344E35C4F44}"/>
              </a:ext>
            </a:extLst>
          </p:cNvPr>
          <p:cNvSpPr txBox="1"/>
          <p:nvPr/>
        </p:nvSpPr>
        <p:spPr>
          <a:xfrm>
            <a:off x="523440" y="4322292"/>
            <a:ext cx="6571607" cy="369332"/>
          </a:xfrm>
          <a:prstGeom prst="rect">
            <a:avLst/>
          </a:prstGeom>
          <a:noFill/>
        </p:spPr>
        <p:txBody>
          <a:bodyPr wrap="none" rtlCol="0">
            <a:spAutoFit/>
          </a:bodyPr>
          <a:lstStyle/>
          <a:p>
            <a:r>
              <a:rPr lang="en-US" altLang="zh-CN" dirty="0"/>
              <a:t>Uncertainty</a:t>
            </a:r>
            <a:r>
              <a:rPr lang="zh-CN" altLang="en-US" dirty="0"/>
              <a:t> </a:t>
            </a:r>
            <a:r>
              <a:rPr lang="en-US" altLang="zh-CN" dirty="0"/>
              <a:t>for</a:t>
            </a:r>
            <a:r>
              <a:rPr lang="zh-CN" altLang="en-US" dirty="0"/>
              <a:t> </a:t>
            </a:r>
            <a:r>
              <a:rPr lang="en-US" altLang="zh-CN" dirty="0"/>
              <a:t>the</a:t>
            </a:r>
            <a:r>
              <a:rPr lang="zh-CN" altLang="en-US" dirty="0"/>
              <a:t> </a:t>
            </a:r>
            <a:r>
              <a:rPr lang="en-US" altLang="zh-CN" dirty="0"/>
              <a:t>momentum</a:t>
            </a:r>
            <a:r>
              <a:rPr lang="zh-CN" altLang="en-US" dirty="0"/>
              <a:t> </a:t>
            </a:r>
            <a:r>
              <a:rPr lang="en-US" altLang="zh-CN" dirty="0"/>
              <a:t>of</a:t>
            </a:r>
            <a:r>
              <a:rPr lang="zh-CN" altLang="en-US" dirty="0"/>
              <a:t> </a:t>
            </a:r>
            <a:r>
              <a:rPr lang="en-US" altLang="zh-CN" dirty="0"/>
              <a:t>photon</a:t>
            </a:r>
            <a:r>
              <a:rPr lang="zh-CN" altLang="en-US" dirty="0"/>
              <a:t> </a:t>
            </a:r>
            <a:r>
              <a:rPr lang="en-US" altLang="zh-CN" dirty="0"/>
              <a:t>at</a:t>
            </a:r>
            <a:r>
              <a:rPr lang="zh-CN" altLang="en-US" dirty="0"/>
              <a:t> </a:t>
            </a:r>
            <a:r>
              <a:rPr lang="en-US" altLang="zh-CN" dirty="0"/>
              <a:t>least</a:t>
            </a:r>
            <a:r>
              <a:rPr lang="zh-CN" altLang="en-US" dirty="0"/>
              <a:t> </a:t>
            </a:r>
            <a:r>
              <a:rPr lang="en-US" altLang="zh-CN" dirty="0"/>
              <a:t>got</a:t>
            </a:r>
            <a:r>
              <a:rPr lang="zh-CN" altLang="en-US" dirty="0"/>
              <a:t> </a:t>
            </a:r>
            <a:r>
              <a:rPr lang="en-US" altLang="zh-CN" dirty="0"/>
              <a:t>(+/-</a:t>
            </a:r>
            <a:r>
              <a:rPr lang="zh-CN" altLang="en-US" dirty="0"/>
              <a:t> </a:t>
            </a:r>
            <a:r>
              <a:rPr lang="en-US" altLang="zh-CN" dirty="0"/>
              <a:t>direction)</a:t>
            </a:r>
            <a:endParaRPr lang="en-US" dirty="0"/>
          </a:p>
        </p:txBody>
      </p:sp>
      <p:sp>
        <p:nvSpPr>
          <p:cNvPr id="20" name="TextBox 19">
            <a:extLst>
              <a:ext uri="{FF2B5EF4-FFF2-40B4-BE49-F238E27FC236}">
                <a16:creationId xmlns:a16="http://schemas.microsoft.com/office/drawing/2014/main" id="{DF80D70F-2E18-59A4-7735-23571BE99717}"/>
              </a:ext>
            </a:extLst>
          </p:cNvPr>
          <p:cNvSpPr txBox="1"/>
          <p:nvPr/>
        </p:nvSpPr>
        <p:spPr>
          <a:xfrm>
            <a:off x="568883" y="5297406"/>
            <a:ext cx="3712106" cy="369332"/>
          </a:xfrm>
          <a:prstGeom prst="rect">
            <a:avLst/>
          </a:prstGeom>
          <a:noFill/>
        </p:spPr>
        <p:txBody>
          <a:bodyPr wrap="none" rtlCol="0">
            <a:spAutoFit/>
          </a:bodyPr>
          <a:lstStyle/>
          <a:p>
            <a:r>
              <a:rPr lang="en-US" altLang="zh-CN" dirty="0"/>
              <a:t>Wavelength</a:t>
            </a:r>
            <a:r>
              <a:rPr lang="zh-CN" altLang="en-US" dirty="0"/>
              <a:t> </a:t>
            </a:r>
            <a:r>
              <a:rPr lang="en-US" altLang="zh-CN" dirty="0"/>
              <a:t>relation</a:t>
            </a:r>
            <a:r>
              <a:rPr lang="zh-CN" altLang="en-US" dirty="0"/>
              <a:t> </a:t>
            </a:r>
            <a:r>
              <a:rPr lang="en-US" altLang="zh-CN" dirty="0"/>
              <a:t>with</a:t>
            </a:r>
            <a:r>
              <a:rPr lang="zh-CN" altLang="en-US" dirty="0"/>
              <a:t> </a:t>
            </a:r>
            <a:r>
              <a:rPr lang="en-US" altLang="zh-CN" dirty="0"/>
              <a:t>momentum</a:t>
            </a:r>
            <a:endParaRPr lang="en-US"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A8FE9D6-5DD3-4017-4865-567CCB6E41C1}"/>
                  </a:ext>
                </a:extLst>
              </p:cNvPr>
              <p:cNvSpPr txBox="1"/>
              <p:nvPr/>
            </p:nvSpPr>
            <p:spPr>
              <a:xfrm>
                <a:off x="4535241" y="5177417"/>
                <a:ext cx="1557671" cy="5725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𝜆</m:t>
                      </m:r>
                      <m:r>
                        <a:rPr lang="en-US" altLang="zh-CN" b="0" i="1" smtClean="0">
                          <a:latin typeface="Cambria Math" panose="02040503050406030204" pitchFamily="18" charset="0"/>
                          <a:ea typeface="Cambria Math" panose="02040503050406030204" pitchFamily="18" charset="0"/>
                        </a:rPr>
                        <m:t>=</m:t>
                      </m:r>
                      <m:f>
                        <m:fPr>
                          <m:ctrlPr>
                            <a:rPr lang="en-US" altLang="zh-CN" b="0" i="1" smtClean="0">
                              <a:latin typeface="Cambria Math" panose="02040503050406030204" pitchFamily="18" charset="0"/>
                              <a:ea typeface="Cambria Math" panose="02040503050406030204" pitchFamily="18" charset="0"/>
                            </a:rPr>
                          </m:ctrlPr>
                        </m:fPr>
                        <m:num>
                          <m:r>
                            <a:rPr lang="en-US" altLang="zh-CN" b="0" i="1" smtClean="0">
                              <a:latin typeface="Cambria Math" panose="02040503050406030204" pitchFamily="18" charset="0"/>
                              <a:ea typeface="Cambria Math" panose="02040503050406030204" pitchFamily="18" charset="0"/>
                            </a:rPr>
                            <m:t>h</m:t>
                          </m:r>
                        </m:num>
                        <m:den>
                          <m:r>
                            <a:rPr lang="en-US" altLang="zh-CN" b="0" i="1" smtClean="0">
                              <a:latin typeface="Cambria Math" panose="02040503050406030204" pitchFamily="18" charset="0"/>
                              <a:ea typeface="Cambria Math" panose="02040503050406030204" pitchFamily="18" charset="0"/>
                            </a:rPr>
                            <m:t>𝑝</m:t>
                          </m:r>
                        </m:den>
                      </m:f>
                      <m:r>
                        <a:rPr lang="en-US" altLang="zh-CN" b="0" i="1" smtClean="0">
                          <a:latin typeface="Cambria Math" panose="02040503050406030204" pitchFamily="18" charset="0"/>
                          <a:ea typeface="Cambria Math" panose="02040503050406030204" pitchFamily="18" charset="0"/>
                        </a:rPr>
                        <m:t>=2</m:t>
                      </m:r>
                      <m:r>
                        <a:rPr lang="en-US" altLang="zh-CN" b="0" i="1" smtClean="0">
                          <a:latin typeface="Cambria Math" panose="02040503050406030204" pitchFamily="18" charset="0"/>
                          <a:ea typeface="Cambria Math" panose="02040503050406030204" pitchFamily="18" charset="0"/>
                        </a:rPr>
                        <m:t>𝜋</m:t>
                      </m:r>
                      <m:r>
                        <a:rPr lang="en-US" altLang="zh-CN" b="0" i="1" smtClean="0">
                          <a:latin typeface="Cambria Math" panose="02040503050406030204" pitchFamily="18" charset="0"/>
                          <a:ea typeface="Cambria Math" panose="02040503050406030204" pitchFamily="18" charset="0"/>
                        </a:rPr>
                        <m:t>ℏ/</m:t>
                      </m:r>
                      <m:r>
                        <a:rPr lang="en-US" altLang="zh-CN" b="0" i="1" smtClean="0">
                          <a:latin typeface="Cambria Math" panose="02040503050406030204" pitchFamily="18" charset="0"/>
                          <a:ea typeface="Cambria Math" panose="02040503050406030204" pitchFamily="18" charset="0"/>
                        </a:rPr>
                        <m:t>𝑝</m:t>
                      </m:r>
                    </m:oMath>
                  </m:oMathPara>
                </a14:m>
                <a:endParaRPr lang="en-US" dirty="0"/>
              </a:p>
            </p:txBody>
          </p:sp>
        </mc:Choice>
        <mc:Fallback xmlns="">
          <p:sp>
            <p:nvSpPr>
              <p:cNvPr id="21" name="TextBox 20">
                <a:extLst>
                  <a:ext uri="{FF2B5EF4-FFF2-40B4-BE49-F238E27FC236}">
                    <a16:creationId xmlns:a16="http://schemas.microsoft.com/office/drawing/2014/main" id="{3A8FE9D6-5DD3-4017-4865-567CCB6E41C1}"/>
                  </a:ext>
                </a:extLst>
              </p:cNvPr>
              <p:cNvSpPr txBox="1">
                <a:spLocks noRot="1" noChangeAspect="1" noMove="1" noResize="1" noEditPoints="1" noAdjustHandles="1" noChangeArrowheads="1" noChangeShapeType="1" noTextEdit="1"/>
              </p:cNvSpPr>
              <p:nvPr/>
            </p:nvSpPr>
            <p:spPr>
              <a:xfrm>
                <a:off x="4535241" y="5177417"/>
                <a:ext cx="1557671" cy="572593"/>
              </a:xfrm>
              <a:prstGeom prst="rect">
                <a:avLst/>
              </a:prstGeom>
              <a:blipFill>
                <a:blip r:embed="rId9"/>
                <a:stretch>
                  <a:fillRect l="-4065" t="-2174" r="-3252"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3EDA5F2-8624-07B7-5A76-4CE963D3DC63}"/>
                  </a:ext>
                </a:extLst>
              </p:cNvPr>
              <p:cNvSpPr txBox="1"/>
              <p:nvPr/>
            </p:nvSpPr>
            <p:spPr>
              <a:xfrm>
                <a:off x="674155" y="5774134"/>
                <a:ext cx="3488967" cy="5443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ea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𝑝</m:t>
                          </m:r>
                        </m:e>
                        <m:sub>
                          <m:r>
                            <a:rPr lang="en-US" altLang="zh-CN" b="0" i="1" smtClean="0">
                              <a:latin typeface="Cambria Math" panose="02040503050406030204" pitchFamily="18" charset="0"/>
                              <a:ea typeface="Cambria Math" panose="02040503050406030204" pitchFamily="18" charset="0"/>
                            </a:rPr>
                            <m:t>𝑦</m:t>
                          </m:r>
                        </m:sub>
                      </m:sSub>
                      <m:r>
                        <a:rPr lang="en-US"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𝑦</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2</m:t>
                      </m:r>
                      <m:r>
                        <a:rPr lang="en-US" altLang="zh-CN" b="0" i="1" smtClean="0">
                          <a:latin typeface="Cambria Math" panose="02040503050406030204" pitchFamily="18" charset="0"/>
                        </a:rPr>
                        <m:t>𝑝</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sin</m:t>
                          </m:r>
                        </m:fName>
                        <m:e>
                          <m:r>
                            <a:rPr lang="en-US" altLang="zh-CN" b="0" i="1" smtClean="0">
                              <a:latin typeface="Cambria Math" panose="02040503050406030204" pitchFamily="18" charset="0"/>
                              <a:ea typeface="Cambria Math" panose="02040503050406030204" pitchFamily="18" charset="0"/>
                            </a:rPr>
                            <m:t>𝜃</m:t>
                          </m:r>
                          <m:f>
                            <m:fPr>
                              <m:ctrlPr>
                                <a:rPr lang="en-US" altLang="zh-CN" i="1">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𝜆</m:t>
                              </m:r>
                            </m:num>
                            <m:den>
                              <m:func>
                                <m:funcPr>
                                  <m:ctrlPr>
                                    <a:rPr lang="en-US" altLang="zh-CN" i="1">
                                      <a:latin typeface="Cambria Math" panose="02040503050406030204" pitchFamily="18" charset="0"/>
                                      <a:ea typeface="Cambria Math" panose="02040503050406030204" pitchFamily="18" charset="0"/>
                                    </a:rPr>
                                  </m:ctrlPr>
                                </m:funcPr>
                                <m:fName>
                                  <m:r>
                                    <m:rPr>
                                      <m:sty m:val="p"/>
                                    </m:rPr>
                                    <a:rPr lang="en-US" altLang="zh-CN">
                                      <a:latin typeface="Cambria Math" panose="02040503050406030204" pitchFamily="18" charset="0"/>
                                      <a:ea typeface="Cambria Math" panose="02040503050406030204" pitchFamily="18" charset="0"/>
                                    </a:rPr>
                                    <m:t>sin</m:t>
                                  </m:r>
                                </m:fName>
                                <m:e>
                                  <m:r>
                                    <a:rPr lang="en-US" altLang="zh-CN" i="1">
                                      <a:latin typeface="Cambria Math" panose="02040503050406030204" pitchFamily="18" charset="0"/>
                                      <a:ea typeface="Cambria Math" panose="02040503050406030204" pitchFamily="18" charset="0"/>
                                    </a:rPr>
                                    <m:t>𝜃</m:t>
                                  </m:r>
                                </m:e>
                              </m:func>
                            </m:den>
                          </m:f>
                        </m:e>
                      </m:func>
                      <m:r>
                        <a:rPr lang="en-US" altLang="zh-CN" b="0" i="1" smtClean="0">
                          <a:latin typeface="Cambria Math" panose="02040503050406030204" pitchFamily="18" charset="0"/>
                        </a:rPr>
                        <m:t>=4</m:t>
                      </m:r>
                      <m:r>
                        <a:rPr lang="en-US" altLang="zh-CN" i="1">
                          <a:latin typeface="Cambria Math" panose="02040503050406030204" pitchFamily="18" charset="0"/>
                          <a:ea typeface="Cambria Math" panose="02040503050406030204" pitchFamily="18" charset="0"/>
                        </a:rPr>
                        <m:t>𝜋</m:t>
                      </m:r>
                      <m:r>
                        <a:rPr lang="en-US" altLang="zh-CN" i="1">
                          <a:latin typeface="Cambria Math" panose="02040503050406030204" pitchFamily="18" charset="0"/>
                          <a:ea typeface="Cambria Math" panose="02040503050406030204" pitchFamily="18" charset="0"/>
                        </a:rPr>
                        <m:t>ℏ&gt;</m:t>
                      </m:r>
                      <m:f>
                        <m:fPr>
                          <m:ctrlPr>
                            <a:rPr lang="en-US" altLang="zh-CN" b="0" i="1" smtClean="0">
                              <a:latin typeface="Cambria Math" panose="02040503050406030204" pitchFamily="18" charset="0"/>
                              <a:ea typeface="Cambria Math" panose="02040503050406030204" pitchFamily="18" charset="0"/>
                            </a:rPr>
                          </m:ctrlPr>
                        </m:fPr>
                        <m:num>
                          <m:r>
                            <a:rPr lang="en-US" altLang="zh-CN" i="1">
                              <a:latin typeface="Cambria Math" panose="02040503050406030204" pitchFamily="18" charset="0"/>
                              <a:ea typeface="Cambria Math" panose="02040503050406030204" pitchFamily="18" charset="0"/>
                            </a:rPr>
                            <m:t>ℏ</m:t>
                          </m:r>
                        </m:num>
                        <m:den>
                          <m:r>
                            <a:rPr lang="en-US" altLang="zh-CN" b="0" i="1" smtClean="0">
                              <a:latin typeface="Cambria Math" panose="02040503050406030204" pitchFamily="18" charset="0"/>
                              <a:ea typeface="Cambria Math" panose="02040503050406030204" pitchFamily="18" charset="0"/>
                            </a:rPr>
                            <m:t>2</m:t>
                          </m:r>
                        </m:den>
                      </m:f>
                    </m:oMath>
                  </m:oMathPara>
                </a14:m>
                <a:endParaRPr lang="en-US" dirty="0"/>
              </a:p>
            </p:txBody>
          </p:sp>
        </mc:Choice>
        <mc:Fallback xmlns="">
          <p:sp>
            <p:nvSpPr>
              <p:cNvPr id="22" name="TextBox 21">
                <a:extLst>
                  <a:ext uri="{FF2B5EF4-FFF2-40B4-BE49-F238E27FC236}">
                    <a16:creationId xmlns:a16="http://schemas.microsoft.com/office/drawing/2014/main" id="{93EDA5F2-8624-07B7-5A76-4CE963D3DC63}"/>
                  </a:ext>
                </a:extLst>
              </p:cNvPr>
              <p:cNvSpPr txBox="1">
                <a:spLocks noRot="1" noChangeAspect="1" noMove="1" noResize="1" noEditPoints="1" noAdjustHandles="1" noChangeArrowheads="1" noChangeShapeType="1" noTextEdit="1"/>
              </p:cNvSpPr>
              <p:nvPr/>
            </p:nvSpPr>
            <p:spPr>
              <a:xfrm>
                <a:off x="674155" y="5774134"/>
                <a:ext cx="3488967" cy="544316"/>
              </a:xfrm>
              <a:prstGeom prst="rect">
                <a:avLst/>
              </a:prstGeom>
              <a:blipFill>
                <a:blip r:embed="rId10"/>
                <a:stretch>
                  <a:fillRect t="-2273" r="-364" b="-11364"/>
                </a:stretch>
              </a:blipFill>
            </p:spPr>
            <p:txBody>
              <a:bodyPr/>
              <a:lstStyle/>
              <a:p>
                <a:r>
                  <a:rPr lang="en-US">
                    <a:noFill/>
                  </a:rPr>
                  <a:t> </a:t>
                </a:r>
              </a:p>
            </p:txBody>
          </p:sp>
        </mc:Fallback>
      </mc:AlternateContent>
    </p:spTree>
    <p:extLst>
      <p:ext uri="{BB962C8B-B14F-4D97-AF65-F5344CB8AC3E}">
        <p14:creationId xmlns:p14="http://schemas.microsoft.com/office/powerpoint/2010/main" val="28667470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SG" dirty="0">
                <a:effectLst/>
                <a:latin typeface="Helvetica Neue" panose="02000503000000020004" pitchFamily="2" charset="0"/>
              </a:rPr>
              <a:t>38.4 Wave Particle Duality, Probability, and Uncertainty</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25</a:t>
            </a:fld>
            <a:endParaRPr lang="en-GB"/>
          </a:p>
        </p:txBody>
      </p:sp>
      <p:pic>
        <p:nvPicPr>
          <p:cNvPr id="5" name="Picture 4">
            <a:extLst>
              <a:ext uri="{FF2B5EF4-FFF2-40B4-BE49-F238E27FC236}">
                <a16:creationId xmlns:a16="http://schemas.microsoft.com/office/drawing/2014/main" id="{FA6ED1AB-84A4-AEA9-77FC-6094E771CE50}"/>
              </a:ext>
            </a:extLst>
          </p:cNvPr>
          <p:cNvPicPr>
            <a:picLocks noChangeAspect="1"/>
          </p:cNvPicPr>
          <p:nvPr/>
        </p:nvPicPr>
        <p:blipFill>
          <a:blip r:embed="rId2"/>
          <a:stretch>
            <a:fillRect/>
          </a:stretch>
        </p:blipFill>
        <p:spPr>
          <a:xfrm>
            <a:off x="1403648" y="1414427"/>
            <a:ext cx="5956300" cy="2692400"/>
          </a:xfrm>
          <a:prstGeom prst="rect">
            <a:avLst/>
          </a:prstGeom>
        </p:spPr>
      </p:pic>
      <p:pic>
        <p:nvPicPr>
          <p:cNvPr id="6" name="Picture 5">
            <a:extLst>
              <a:ext uri="{FF2B5EF4-FFF2-40B4-BE49-F238E27FC236}">
                <a16:creationId xmlns:a16="http://schemas.microsoft.com/office/drawing/2014/main" id="{61031EE2-0687-3E47-D12E-6C42901FE918}"/>
              </a:ext>
            </a:extLst>
          </p:cNvPr>
          <p:cNvPicPr>
            <a:picLocks noChangeAspect="1"/>
          </p:cNvPicPr>
          <p:nvPr/>
        </p:nvPicPr>
        <p:blipFill>
          <a:blip r:embed="rId3"/>
          <a:stretch>
            <a:fillRect/>
          </a:stretch>
        </p:blipFill>
        <p:spPr>
          <a:xfrm>
            <a:off x="3721100" y="4466113"/>
            <a:ext cx="1701800" cy="571500"/>
          </a:xfrm>
          <a:prstGeom prst="rect">
            <a:avLst/>
          </a:prstGeom>
        </p:spPr>
      </p:pic>
      <p:sp>
        <p:nvSpPr>
          <p:cNvPr id="11" name="TextBox 10">
            <a:extLst>
              <a:ext uri="{FF2B5EF4-FFF2-40B4-BE49-F238E27FC236}">
                <a16:creationId xmlns:a16="http://schemas.microsoft.com/office/drawing/2014/main" id="{2B7A5411-978E-64EB-4BE1-B8A2BFD2A8F5}"/>
              </a:ext>
            </a:extLst>
          </p:cNvPr>
          <p:cNvSpPr txBox="1"/>
          <p:nvPr/>
        </p:nvSpPr>
        <p:spPr>
          <a:xfrm>
            <a:off x="1042411" y="5327849"/>
            <a:ext cx="7458744" cy="1200329"/>
          </a:xfrm>
          <a:prstGeom prst="rect">
            <a:avLst/>
          </a:prstGeom>
          <a:noFill/>
        </p:spPr>
        <p:txBody>
          <a:bodyPr wrap="square">
            <a:spAutoFit/>
          </a:bodyPr>
          <a:lstStyle/>
          <a:p>
            <a:r>
              <a:rPr lang="en-SG" sz="1800" dirty="0">
                <a:effectLst/>
                <a:latin typeface="Times"/>
              </a:rPr>
              <a:t>The photon is most likely to be found at the times when the amplitude is large. The price we pay for localizing the photon in time is that the wave does not have a definite energy</a:t>
            </a:r>
            <a:r>
              <a:rPr lang="en-US" altLang="zh-CN" sz="1800" dirty="0">
                <a:effectLst/>
                <a:latin typeface="Times"/>
              </a:rPr>
              <a:t>.</a:t>
            </a:r>
            <a:endParaRPr lang="en-SG" dirty="0"/>
          </a:p>
          <a:p>
            <a:endParaRPr lang="en-SG" dirty="0"/>
          </a:p>
        </p:txBody>
      </p:sp>
    </p:spTree>
    <p:extLst>
      <p:ext uri="{BB962C8B-B14F-4D97-AF65-F5344CB8AC3E}">
        <p14:creationId xmlns:p14="http://schemas.microsoft.com/office/powerpoint/2010/main" val="40601260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Problem</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26</a:t>
            </a:fld>
            <a:endParaRPr lang="en-GB"/>
          </a:p>
        </p:txBody>
      </p:sp>
      <p:pic>
        <p:nvPicPr>
          <p:cNvPr id="5" name="Picture 4">
            <a:extLst>
              <a:ext uri="{FF2B5EF4-FFF2-40B4-BE49-F238E27FC236}">
                <a16:creationId xmlns:a16="http://schemas.microsoft.com/office/drawing/2014/main" id="{F5800A14-4A53-F46B-D1E2-F6AD7EEC7DF4}"/>
              </a:ext>
            </a:extLst>
          </p:cNvPr>
          <p:cNvPicPr>
            <a:picLocks noChangeAspect="1"/>
          </p:cNvPicPr>
          <p:nvPr/>
        </p:nvPicPr>
        <p:blipFill>
          <a:blip r:embed="rId2"/>
          <a:stretch>
            <a:fillRect/>
          </a:stretch>
        </p:blipFill>
        <p:spPr>
          <a:xfrm>
            <a:off x="372877" y="1154026"/>
            <a:ext cx="8536954" cy="792088"/>
          </a:xfrm>
          <a:prstGeom prst="rect">
            <a:avLst/>
          </a:prstGeom>
        </p:spPr>
      </p:pic>
      <p:pic>
        <p:nvPicPr>
          <p:cNvPr id="6" name="Picture 5">
            <a:extLst>
              <a:ext uri="{FF2B5EF4-FFF2-40B4-BE49-F238E27FC236}">
                <a16:creationId xmlns:a16="http://schemas.microsoft.com/office/drawing/2014/main" id="{E77ACDBF-6535-3536-2756-DBA6A5377031}"/>
              </a:ext>
            </a:extLst>
          </p:cNvPr>
          <p:cNvPicPr>
            <a:picLocks noChangeAspect="1"/>
          </p:cNvPicPr>
          <p:nvPr/>
        </p:nvPicPr>
        <p:blipFill>
          <a:blip r:embed="rId3"/>
          <a:stretch>
            <a:fillRect/>
          </a:stretch>
        </p:blipFill>
        <p:spPr>
          <a:xfrm>
            <a:off x="899592" y="2204864"/>
            <a:ext cx="6629458" cy="3744416"/>
          </a:xfrm>
          <a:prstGeom prst="rect">
            <a:avLst/>
          </a:prstGeom>
        </p:spPr>
      </p:pic>
    </p:spTree>
    <p:extLst>
      <p:ext uri="{BB962C8B-B14F-4D97-AF65-F5344CB8AC3E}">
        <p14:creationId xmlns:p14="http://schemas.microsoft.com/office/powerpoint/2010/main" val="36675265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Problem</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27</a:t>
            </a:fld>
            <a:endParaRPr lang="en-GB"/>
          </a:p>
        </p:txBody>
      </p:sp>
      <p:pic>
        <p:nvPicPr>
          <p:cNvPr id="7" name="Picture 6">
            <a:extLst>
              <a:ext uri="{FF2B5EF4-FFF2-40B4-BE49-F238E27FC236}">
                <a16:creationId xmlns:a16="http://schemas.microsoft.com/office/drawing/2014/main" id="{7C2663C9-383B-FFCF-91C6-92623B3B948C}"/>
              </a:ext>
            </a:extLst>
          </p:cNvPr>
          <p:cNvPicPr>
            <a:picLocks noChangeAspect="1"/>
          </p:cNvPicPr>
          <p:nvPr/>
        </p:nvPicPr>
        <p:blipFill>
          <a:blip r:embed="rId2"/>
          <a:stretch>
            <a:fillRect/>
          </a:stretch>
        </p:blipFill>
        <p:spPr>
          <a:xfrm>
            <a:off x="487324" y="1340768"/>
            <a:ext cx="5524500" cy="3124200"/>
          </a:xfrm>
          <a:prstGeom prst="rect">
            <a:avLst/>
          </a:prstGeom>
        </p:spPr>
      </p:pic>
      <p:pic>
        <p:nvPicPr>
          <p:cNvPr id="8" name="Picture 7">
            <a:extLst>
              <a:ext uri="{FF2B5EF4-FFF2-40B4-BE49-F238E27FC236}">
                <a16:creationId xmlns:a16="http://schemas.microsoft.com/office/drawing/2014/main" id="{D8B261EA-2290-E73F-900B-656B51C9C529}"/>
              </a:ext>
            </a:extLst>
          </p:cNvPr>
          <p:cNvPicPr>
            <a:picLocks noChangeAspect="1"/>
          </p:cNvPicPr>
          <p:nvPr/>
        </p:nvPicPr>
        <p:blipFill>
          <a:blip r:embed="rId3"/>
          <a:stretch>
            <a:fillRect/>
          </a:stretch>
        </p:blipFill>
        <p:spPr>
          <a:xfrm>
            <a:off x="417110" y="4680409"/>
            <a:ext cx="5588000" cy="1460500"/>
          </a:xfrm>
          <a:prstGeom prst="rect">
            <a:avLst/>
          </a:prstGeom>
        </p:spPr>
      </p:pic>
    </p:spTree>
    <p:extLst>
      <p:ext uri="{BB962C8B-B14F-4D97-AF65-F5344CB8AC3E}">
        <p14:creationId xmlns:p14="http://schemas.microsoft.com/office/powerpoint/2010/main" val="8859426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Problem</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28</a:t>
            </a:fld>
            <a:endParaRPr lang="en-GB"/>
          </a:p>
        </p:txBody>
      </p:sp>
      <p:pic>
        <p:nvPicPr>
          <p:cNvPr id="5" name="Picture 4">
            <a:extLst>
              <a:ext uri="{FF2B5EF4-FFF2-40B4-BE49-F238E27FC236}">
                <a16:creationId xmlns:a16="http://schemas.microsoft.com/office/drawing/2014/main" id="{0B650642-1DDE-93FD-1A91-7B058B9C4E0C}"/>
              </a:ext>
            </a:extLst>
          </p:cNvPr>
          <p:cNvPicPr>
            <a:picLocks noChangeAspect="1"/>
          </p:cNvPicPr>
          <p:nvPr/>
        </p:nvPicPr>
        <p:blipFill>
          <a:blip r:embed="rId2"/>
          <a:stretch>
            <a:fillRect/>
          </a:stretch>
        </p:blipFill>
        <p:spPr>
          <a:xfrm>
            <a:off x="899592" y="1493912"/>
            <a:ext cx="4838448" cy="4511526"/>
          </a:xfrm>
          <a:prstGeom prst="rect">
            <a:avLst/>
          </a:prstGeom>
        </p:spPr>
      </p:pic>
    </p:spTree>
    <p:extLst>
      <p:ext uri="{BB962C8B-B14F-4D97-AF65-F5344CB8AC3E}">
        <p14:creationId xmlns:p14="http://schemas.microsoft.com/office/powerpoint/2010/main" val="39717036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Problem</a:t>
            </a:r>
          </a:p>
        </p:txBody>
      </p:sp>
      <p:sp>
        <p:nvSpPr>
          <p:cNvPr id="3" name="Date Placeholder 2"/>
          <p:cNvSpPr>
            <a:spLocks noGrp="1"/>
          </p:cNvSpPr>
          <p:nvPr>
            <p:ph type="dt" sz="half" idx="10"/>
          </p:nvPr>
        </p:nvSpPr>
        <p:spPr/>
        <p:txBody>
          <a:bodyPr/>
          <a:lstStyle/>
          <a:p>
            <a:r>
              <a:rPr lang="en-SG" altLang="zh-TW"/>
              <a:t>Modern Physics I (Ch. 38)</a:t>
            </a:r>
            <a:endParaRPr lang="en-GB" dirty="0"/>
          </a:p>
        </p:txBody>
      </p:sp>
      <p:sp>
        <p:nvSpPr>
          <p:cNvPr id="4" name="Slide Number Placeholder 3"/>
          <p:cNvSpPr>
            <a:spLocks noGrp="1"/>
          </p:cNvSpPr>
          <p:nvPr>
            <p:ph type="sldNum" sz="quarter" idx="12"/>
          </p:nvPr>
        </p:nvSpPr>
        <p:spPr/>
        <p:txBody>
          <a:bodyPr/>
          <a:lstStyle/>
          <a:p>
            <a:fld id="{60093787-08EC-4113-8521-0E445B8625BD}" type="slidenum">
              <a:rPr lang="en-GB" smtClean="0"/>
              <a:t>29</a:t>
            </a:fld>
            <a:endParaRPr lang="en-GB"/>
          </a:p>
        </p:txBody>
      </p:sp>
      <p:pic>
        <p:nvPicPr>
          <p:cNvPr id="6" name="Picture 5">
            <a:extLst>
              <a:ext uri="{FF2B5EF4-FFF2-40B4-BE49-F238E27FC236}">
                <a16:creationId xmlns:a16="http://schemas.microsoft.com/office/drawing/2014/main" id="{3986F1E3-48DE-6E67-ABCA-0BD39A62538A}"/>
              </a:ext>
            </a:extLst>
          </p:cNvPr>
          <p:cNvPicPr>
            <a:picLocks noChangeAspect="1"/>
          </p:cNvPicPr>
          <p:nvPr/>
        </p:nvPicPr>
        <p:blipFill>
          <a:blip r:embed="rId2"/>
          <a:stretch>
            <a:fillRect/>
          </a:stretch>
        </p:blipFill>
        <p:spPr>
          <a:xfrm>
            <a:off x="457200" y="1263318"/>
            <a:ext cx="5588000" cy="1130300"/>
          </a:xfrm>
          <a:prstGeom prst="rect">
            <a:avLst/>
          </a:prstGeom>
        </p:spPr>
      </p:pic>
      <p:pic>
        <p:nvPicPr>
          <p:cNvPr id="7" name="Picture 6">
            <a:extLst>
              <a:ext uri="{FF2B5EF4-FFF2-40B4-BE49-F238E27FC236}">
                <a16:creationId xmlns:a16="http://schemas.microsoft.com/office/drawing/2014/main" id="{80BD4F7B-1804-01BF-3683-0F589F31A677}"/>
              </a:ext>
            </a:extLst>
          </p:cNvPr>
          <p:cNvPicPr>
            <a:picLocks noChangeAspect="1"/>
          </p:cNvPicPr>
          <p:nvPr/>
        </p:nvPicPr>
        <p:blipFill>
          <a:blip r:embed="rId3"/>
          <a:stretch>
            <a:fillRect/>
          </a:stretch>
        </p:blipFill>
        <p:spPr>
          <a:xfrm>
            <a:off x="608783" y="2481451"/>
            <a:ext cx="5284834" cy="3842414"/>
          </a:xfrm>
          <a:prstGeom prst="rect">
            <a:avLst/>
          </a:prstGeom>
        </p:spPr>
      </p:pic>
    </p:spTree>
    <p:extLst>
      <p:ext uri="{BB962C8B-B14F-4D97-AF65-F5344CB8AC3E}">
        <p14:creationId xmlns:p14="http://schemas.microsoft.com/office/powerpoint/2010/main" val="37721439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自訂 1">
      <a:majorFont>
        <a:latin typeface="Bookman Old Style"/>
        <a:ea typeface="新細明體"/>
        <a:cs typeface=""/>
      </a:majorFont>
      <a:minorFont>
        <a:latin typeface="Calibri"/>
        <a:ea typeface="新細明體"/>
        <a:cs typeface=""/>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9463</TotalTime>
  <Words>835</Words>
  <Application>Microsoft Macintosh PowerPoint</Application>
  <PresentationFormat>On-screen Show (4:3)</PresentationFormat>
  <Paragraphs>128</Paragraphs>
  <Slides>29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open-sans</vt:lpstr>
      <vt:lpstr>Times</vt:lpstr>
      <vt:lpstr>Arial</vt:lpstr>
      <vt:lpstr>Bookman Old Style</vt:lpstr>
      <vt:lpstr>Calibri</vt:lpstr>
      <vt:lpstr>Cambria Math</vt:lpstr>
      <vt:lpstr>Helvetica Neue</vt:lpstr>
      <vt:lpstr>Wingdings</vt:lpstr>
      <vt:lpstr>Wingdings 3</vt:lpstr>
      <vt:lpstr>Origin</vt:lpstr>
      <vt:lpstr>PHYS1001B College Physics IB</vt:lpstr>
      <vt:lpstr>PowerPoint Presentation</vt:lpstr>
      <vt:lpstr>Outline</vt:lpstr>
      <vt:lpstr>PowerPoint Presentation</vt:lpstr>
      <vt:lpstr>PowerPoint Presentation</vt:lpstr>
      <vt:lpstr>38.1 Light Absorbed as Photons: The Photoelectric Effect</vt:lpstr>
      <vt:lpstr>38.1 Light Absorbed as Photons: The Photoelectric Effect</vt:lpstr>
      <vt:lpstr>38.1 Light Absorbed as Photons: The Photoelectric Effect</vt:lpstr>
      <vt:lpstr>38.1 Light Absorbed as Photons: The Photoelectric Effect</vt:lpstr>
      <vt:lpstr>38.1 Light Absorbed as Photons: The Photoelectric Effect</vt:lpstr>
      <vt:lpstr>38.1 Light Absorbed as Photons: The Photoelectric Effect</vt:lpstr>
      <vt:lpstr>38.1 Light Absorbed as Photons: The Photoelectric Effect</vt:lpstr>
      <vt:lpstr>Sample Problem</vt:lpstr>
      <vt:lpstr>Sample Problem</vt:lpstr>
      <vt:lpstr>38.2 Light Emitted as Photons: X-Ray Production</vt:lpstr>
      <vt:lpstr>38.2 Light Emitted as Photons: X-Ray Production</vt:lpstr>
      <vt:lpstr>Sample Problem</vt:lpstr>
      <vt:lpstr>38.3 Light Scattered as Photons: Compton Scattering and Pair Production</vt:lpstr>
      <vt:lpstr>38.3 Light Scattered as Photons: Compton Scattering and Pair Production</vt:lpstr>
      <vt:lpstr>Sample Problem</vt:lpstr>
      <vt:lpstr>38.4 Wave Particle Duality, Probability, and Uncertainty</vt:lpstr>
      <vt:lpstr>38.4 Wave Particle Duality, Probability, and Uncertainty</vt:lpstr>
      <vt:lpstr>38.4 Wave Particle Duality, Probability, and Uncertainty</vt:lpstr>
      <vt:lpstr>38.4 Wave Particle Duality, Probability, and Uncertainty</vt:lpstr>
      <vt:lpstr>38.4 Wave Particle Duality, Probability, and Uncertainty</vt:lpstr>
      <vt:lpstr>Sample Problem</vt:lpstr>
      <vt:lpstr>Sample Problem</vt:lpstr>
      <vt:lpstr>Sample Problem</vt:lpstr>
      <vt:lpstr>Sample Problem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CCN1049 Physics I</dc:title>
  <dc:creator>Hing-tung Mok [HKCC]</dc:creator>
  <cp:lastModifiedBy>tanka tang</cp:lastModifiedBy>
  <cp:revision>291</cp:revision>
  <cp:lastPrinted>2024-11-19T00:18:47Z</cp:lastPrinted>
  <dcterms:created xsi:type="dcterms:W3CDTF">2013-05-27T09:54:43Z</dcterms:created>
  <dcterms:modified xsi:type="dcterms:W3CDTF">2024-12-28T03:09:01Z</dcterms:modified>
</cp:coreProperties>
</file>