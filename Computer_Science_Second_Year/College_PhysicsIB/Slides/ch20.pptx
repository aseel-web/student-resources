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4"/>
  </p:notesMasterIdLst>
  <p:sldIdLst>
    <p:sldId id="256" r:id="rId2"/>
    <p:sldId id="264" r:id="rId3"/>
    <p:sldId id="257" r:id="rId4"/>
    <p:sldId id="306" r:id="rId5"/>
    <p:sldId id="316" r:id="rId6"/>
    <p:sldId id="315" r:id="rId7"/>
    <p:sldId id="317" r:id="rId8"/>
    <p:sldId id="350" r:id="rId9"/>
    <p:sldId id="351" r:id="rId10"/>
    <p:sldId id="352" r:id="rId11"/>
    <p:sldId id="354" r:id="rId12"/>
    <p:sldId id="353" r:id="rId13"/>
    <p:sldId id="320" r:id="rId14"/>
    <p:sldId id="321" r:id="rId15"/>
    <p:sldId id="323" r:id="rId16"/>
    <p:sldId id="324" r:id="rId17"/>
    <p:sldId id="325" r:id="rId18"/>
    <p:sldId id="349" r:id="rId19"/>
    <p:sldId id="326" r:id="rId20"/>
    <p:sldId id="347" r:id="rId21"/>
    <p:sldId id="348" r:id="rId22"/>
    <p:sldId id="346" r:id="rId23"/>
    <p:sldId id="328" r:id="rId24"/>
    <p:sldId id="329" r:id="rId25"/>
    <p:sldId id="330" r:id="rId26"/>
    <p:sldId id="332" r:id="rId27"/>
    <p:sldId id="331" r:id="rId28"/>
    <p:sldId id="333" r:id="rId29"/>
    <p:sldId id="335" r:id="rId30"/>
    <p:sldId id="339" r:id="rId31"/>
    <p:sldId id="345" r:id="rId32"/>
    <p:sldId id="338" r:id="rId33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4"/>
    <p:restoredTop sz="94714"/>
  </p:normalViewPr>
  <p:slideViewPr>
    <p:cSldViewPr>
      <p:cViewPr varScale="1">
        <p:scale>
          <a:sx n="134" d="100"/>
          <a:sy n="134" d="100"/>
        </p:scale>
        <p:origin x="1504" y="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2880"/>
        <p:guide pos="2160"/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AA16D03-D235-4816-A60A-290C0630A47B}" type="datetimeFigureOut">
              <a:rPr lang="en-GB" smtClean="0"/>
              <a:t>10/10/2025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C7D4A74-6C7F-4752-B49D-9BACC919F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92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63888" y="6356350"/>
            <a:ext cx="5125960" cy="365760"/>
          </a:xfrm>
        </p:spPr>
        <p:txBody>
          <a:bodyPr/>
          <a:lstStyle>
            <a:lvl1pPr algn="r">
              <a:defRPr/>
            </a:lvl1pPr>
          </a:lstStyle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7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PHYS1001B</a:t>
            </a:r>
            <a:r>
              <a:rPr lang="en-GB" dirty="0"/>
              <a:t> </a:t>
            </a:r>
            <a:r>
              <a:rPr lang="en-US" altLang="zh-CN" dirty="0"/>
              <a:t>College</a:t>
            </a:r>
            <a:r>
              <a:rPr lang="zh-CN" altLang="en-US" dirty="0"/>
              <a:t> </a:t>
            </a:r>
            <a:r>
              <a:rPr lang="en-GB" dirty="0"/>
              <a:t>Physics I</a:t>
            </a:r>
            <a:r>
              <a:rPr lang="en-US" altLang="zh-CN"/>
              <a:t>B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Thermodynamics</a:t>
            </a:r>
            <a:r>
              <a:rPr lang="zh-CN" altLang="en-US" dirty="0"/>
              <a:t> </a:t>
            </a:r>
            <a:r>
              <a:rPr lang="en-US" altLang="zh-CN" dirty="0"/>
              <a:t>IV</a:t>
            </a:r>
            <a:r>
              <a:rPr lang="zh-CN" altLang="en-US" dirty="0"/>
              <a:t> </a:t>
            </a:r>
            <a:r>
              <a:rPr lang="fr-FR" dirty="0"/>
              <a:t>— </a:t>
            </a:r>
            <a:r>
              <a:rPr lang="en-US" altLang="zh-CN" dirty="0"/>
              <a:t>The Second Law of Thermodynamics</a:t>
            </a:r>
            <a:r>
              <a:rPr lang="zh-CN" altLang="en-US" dirty="0"/>
              <a:t> </a:t>
            </a:r>
            <a:r>
              <a:rPr lang="fr-FR" dirty="0"/>
              <a:t>(Ch. </a:t>
            </a:r>
            <a:r>
              <a:rPr lang="en-US" altLang="zh-CN" dirty="0"/>
              <a:t>20</a:t>
            </a:r>
            <a:r>
              <a:rPr lang="fr-FR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01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F1B2F8-F216-92D9-4EF3-8DFB04589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212191"/>
            <a:ext cx="6120680" cy="501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5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Directions of Thermodynamic Processes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Heat Engines</a:t>
            </a:r>
          </a:p>
          <a:p>
            <a:r>
              <a:rPr lang="en-SG" dirty="0">
                <a:latin typeface="Helvetica Neue" panose="02000503000000020004" pitchFamily="2" charset="0"/>
              </a:rPr>
              <a:t>20-3 Internal-Combustion Engines</a:t>
            </a:r>
            <a:endParaRPr lang="en-SG" dirty="0">
              <a:effectLst/>
              <a:latin typeface="Helvetica Neue" panose="02000503000000020004" pitchFamily="2" charset="0"/>
            </a:endParaRP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Refrigerators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The Second Law of Thermodynamics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The Carnot Cycle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7 Entropy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074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Directions of Thermodynamic Processes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42388-8E58-45FC-8AEF-FC7ED6A18E50}"/>
              </a:ext>
            </a:extLst>
          </p:cNvPr>
          <p:cNvSpPr txBox="1"/>
          <p:nvPr/>
        </p:nvSpPr>
        <p:spPr>
          <a:xfrm>
            <a:off x="487774" y="1261432"/>
            <a:ext cx="81990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sz="2400" dirty="0">
                <a:effectLst/>
                <a:latin typeface="Times"/>
              </a:rPr>
              <a:t>Heat flow from a cool body to a hot body would not violate the first law of thermodynamics; energy would be conserved. But it doesn’t happen in nature. Why not? </a:t>
            </a:r>
            <a:endParaRPr lang="en-SG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3CB551-EA28-9B83-49C2-3D2EB140DFE1}"/>
              </a:ext>
            </a:extLst>
          </p:cNvPr>
          <p:cNvSpPr txBox="1"/>
          <p:nvPr/>
        </p:nvSpPr>
        <p:spPr>
          <a:xfrm>
            <a:off x="130471" y="5922297"/>
            <a:ext cx="9138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directions of thermodynamic processes</a:t>
            </a:r>
            <a:r>
              <a:rPr lang="en-US" altLang="zh-CN" sz="2400" dirty="0">
                <a:effectLst/>
                <a:latin typeface="Times"/>
              </a:rPr>
              <a:t>:</a:t>
            </a:r>
            <a:r>
              <a:rPr lang="en-SG" sz="2400" dirty="0">
                <a:effectLst/>
                <a:latin typeface="Times"/>
              </a:rPr>
              <a:t> </a:t>
            </a:r>
            <a:r>
              <a:rPr lang="en-SG" sz="2400" b="1" i="1" dirty="0">
                <a:effectLst/>
                <a:latin typeface="Times"/>
              </a:rPr>
              <a:t>second law of thermodynamics </a:t>
            </a:r>
            <a:endParaRPr lang="en-SG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F704B1-5F07-05FE-85EB-F451FCDB9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580193"/>
            <a:ext cx="4584247" cy="31933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E3194EBC-2D23-7321-1610-330CC9F2AEC7}"/>
              </a:ext>
            </a:extLst>
          </p:cNvPr>
          <p:cNvSpPr/>
          <p:nvPr/>
        </p:nvSpPr>
        <p:spPr>
          <a:xfrm rot="10800000">
            <a:off x="3851920" y="5432107"/>
            <a:ext cx="1584176" cy="304083"/>
          </a:xfrm>
          <a:prstGeom prst="rightArrow">
            <a:avLst>
              <a:gd name="adj1" fmla="val 57710"/>
              <a:gd name="adj2" fmla="val 50000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BDCFDC84-1F63-3CFA-52A2-CF73181CAC61}"/>
              </a:ext>
            </a:extLst>
          </p:cNvPr>
          <p:cNvSpPr/>
          <p:nvPr/>
        </p:nvSpPr>
        <p:spPr>
          <a:xfrm>
            <a:off x="4484967" y="5232317"/>
            <a:ext cx="360040" cy="703664"/>
          </a:xfrm>
          <a:prstGeom prst="mathMultipl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5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Heat Engines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71872-3A5B-FC51-0F0D-1DB0F2A23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135"/>
            <a:ext cx="7772400" cy="35256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E4D31B-1746-030B-A6AC-DBD8BD13F1F2}"/>
              </a:ext>
            </a:extLst>
          </p:cNvPr>
          <p:cNvSpPr txBox="1"/>
          <p:nvPr/>
        </p:nvSpPr>
        <p:spPr>
          <a:xfrm>
            <a:off x="758952" y="4885782"/>
            <a:ext cx="7772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>
                <a:effectLst/>
                <a:latin typeface="Times"/>
              </a:rPr>
              <a:t>Thermodynamic processes that occur in nature are all </a:t>
            </a:r>
            <a:r>
              <a:rPr lang="en-SG" sz="2400" b="1" dirty="0">
                <a:effectLst/>
                <a:latin typeface="Times"/>
              </a:rPr>
              <a:t>irreversible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>
                <a:effectLst/>
                <a:latin typeface="Times"/>
              </a:rPr>
              <a:t>Reversible processes are thus </a:t>
            </a:r>
            <a:r>
              <a:rPr lang="en-SG" sz="2400" b="1" dirty="0">
                <a:effectLst/>
                <a:latin typeface="Times"/>
              </a:rPr>
              <a:t>equilibrium processes, </a:t>
            </a:r>
            <a:r>
              <a:rPr lang="en-SG" sz="2400" dirty="0">
                <a:effectLst/>
                <a:latin typeface="Times"/>
              </a:rPr>
              <a:t>with the system always in thermodynamic equilibrium. </a:t>
            </a:r>
            <a:endParaRPr lang="en-SG" sz="2400" dirty="0"/>
          </a:p>
          <a:p>
            <a:r>
              <a:rPr lang="en-SG" sz="2400" b="1" dirty="0">
                <a:effectLst/>
                <a:latin typeface="Times"/>
              </a:rPr>
              <a:t> </a:t>
            </a:r>
            <a:endParaRPr lang="en-SG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A5C33B-EAB9-9F62-8FC6-1359D81E3C68}"/>
              </a:ext>
            </a:extLst>
          </p:cNvPr>
          <p:cNvSpPr txBox="1"/>
          <p:nvPr/>
        </p:nvSpPr>
        <p:spPr>
          <a:xfrm>
            <a:off x="5868144" y="1230803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>
                <a:effectLst/>
                <a:latin typeface="Times"/>
              </a:rPr>
              <a:t>Reversible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7AE9AF-814A-D130-60EB-4A16D4AB7683}"/>
              </a:ext>
            </a:extLst>
          </p:cNvPr>
          <p:cNvSpPr txBox="1"/>
          <p:nvPr/>
        </p:nvSpPr>
        <p:spPr>
          <a:xfrm>
            <a:off x="1763688" y="123080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>
                <a:effectLst/>
                <a:latin typeface="Times"/>
              </a:rPr>
              <a:t>Irreversible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79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Heat Engines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6</a:t>
            </a:fld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B007EF-50B7-0CA9-8510-83D6DC136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484784"/>
            <a:ext cx="3431182" cy="41744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B26C71-0021-7C22-006A-EC1AC5AED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2001321"/>
            <a:ext cx="4165600" cy="5207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AA5AEFE-F261-FB31-1366-9185E95F7024}"/>
              </a:ext>
            </a:extLst>
          </p:cNvPr>
          <p:cNvSpPr txBox="1"/>
          <p:nvPr/>
        </p:nvSpPr>
        <p:spPr>
          <a:xfrm>
            <a:off x="4297215" y="287549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b="1" dirty="0">
                <a:effectLst/>
                <a:latin typeface="Times"/>
              </a:rPr>
              <a:t>thermal efficiency </a:t>
            </a:r>
            <a:r>
              <a:rPr lang="en-SG" sz="1800" dirty="0">
                <a:effectLst/>
                <a:latin typeface="Times"/>
              </a:rPr>
              <a:t>of an engine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D9BD305-73AD-790B-825B-AEE17E841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303" y="3572001"/>
            <a:ext cx="37592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31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CBD8CE-4B4F-C103-FB1E-4AF13BBE3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1268759"/>
            <a:ext cx="4213684" cy="50249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41B019-AE03-A3D2-CBEE-A6FBDB12C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3132"/>
            <a:ext cx="4603699" cy="2184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BCD974-9927-CE60-D979-BE4BD4EAA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3522372"/>
            <a:ext cx="3240360" cy="283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4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A4BC-3282-C063-F9BA-22E28C1BA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Internal-Combustion Engines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D55295-57E7-0EA8-2000-0B50F332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F03F3-BB13-6883-7E86-F552530F8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085041-EA25-DC5A-E2B0-30DD44530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07" y="2502325"/>
            <a:ext cx="8436036" cy="38383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760A07-105F-6F3D-7A00-4D4301C75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1203688"/>
            <a:ext cx="64389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01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91DDB-679B-8EF9-4FBF-8311AD1E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5F586-DE58-6F69-E86D-61FB988FF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Internal-Combustion Engines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1F2B08-5F82-C0F6-119B-23291FA30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BAA57-4A4C-8E8E-4EAF-4193A309D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4D8E4-4C0C-4172-4BF7-1293F5C95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1" y="1530350"/>
            <a:ext cx="3576525" cy="44189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361958-45C8-27C0-547F-7944C7B8D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623" y="2822250"/>
            <a:ext cx="5305003" cy="183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165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9A574-004F-E863-3423-DF6BFA5C5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9A2A-FF97-DE46-FDFA-D4FFDA060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Internal-Combustion Engines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57FAC0-5E1F-98B0-E60D-39D007A00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38C2A-0AE2-A407-D071-843269965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8A43E-15CA-5DAA-0617-8246B259B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1" y="1530350"/>
            <a:ext cx="3576525" cy="4418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680F65-67EE-97E5-FCDA-73883B8D9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242" y="1167980"/>
            <a:ext cx="5386040" cy="51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6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3B1C-DDE1-8EB7-775D-C39B1A059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02EC-6CA2-DC6A-DEDB-5594CE1B9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Internal-Combustion Engines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575942-BB86-D770-A99E-975CFC813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D022-C2F3-144A-3A66-00CF6869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0131E1-B77B-AAA4-EEB8-4F280F46D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8" y="1206891"/>
            <a:ext cx="3576525" cy="44189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DFCC36-599F-9A93-3CBC-F9043ACBD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336" y="3647071"/>
            <a:ext cx="5976664" cy="7143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664ED3-50E2-55CD-7229-69186A426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2726047"/>
            <a:ext cx="44450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22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0AEA3-061A-A394-2164-CBDCD52F2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EB9F-D5E0-DA0D-16B2-5F68D3497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Internal-Combustion Engines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4B4D6E-F6B2-7F7B-65ED-5B01F8566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5EF9A-FBCA-A306-C9F6-DDE83E4E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4192A-73EB-0BB7-9DA8-5A98C9C3B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7939"/>
            <a:ext cx="3681792" cy="4483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AA69CE-7BAF-6068-E019-A647AF461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76" y="1844824"/>
            <a:ext cx="5578552" cy="1430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B02892-3588-6E45-8FA5-94B3F3163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7515" y="4159506"/>
            <a:ext cx="5468792" cy="116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57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Refrigerators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0C9F33-7F73-B428-C172-67C905613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858190"/>
            <a:ext cx="3163626" cy="3329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CB3216-801B-EA01-1F82-D8C0D1AC16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529"/>
          <a:stretch/>
        </p:blipFill>
        <p:spPr>
          <a:xfrm>
            <a:off x="1309714" y="1839542"/>
            <a:ext cx="3262286" cy="35113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563207-C7E4-BC34-19DD-4B4D463282D4}"/>
              </a:ext>
            </a:extLst>
          </p:cNvPr>
          <p:cNvSpPr txBox="1"/>
          <p:nvPr/>
        </p:nvSpPr>
        <p:spPr>
          <a:xfrm>
            <a:off x="290068" y="1242799"/>
            <a:ext cx="1686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Comparison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B3C8A-7BB6-73A8-BD6B-CBB74F78C74F}"/>
              </a:ext>
            </a:extLst>
          </p:cNvPr>
          <p:cNvSpPr txBox="1"/>
          <p:nvPr/>
        </p:nvSpPr>
        <p:spPr>
          <a:xfrm>
            <a:off x="761672" y="5391951"/>
            <a:ext cx="38103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"/>
              </a:rPr>
              <a:t>t</a:t>
            </a:r>
            <a:r>
              <a:rPr lang="en-SG" sz="1800" dirty="0" err="1">
                <a:effectLst/>
                <a:latin typeface="Times"/>
              </a:rPr>
              <a:t>akes</a:t>
            </a:r>
            <a:r>
              <a:rPr lang="en-SG" sz="1800" dirty="0">
                <a:effectLst/>
                <a:latin typeface="Times"/>
              </a:rPr>
              <a:t> heat from a hot place and gives off heat to a colder place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800" dirty="0">
                <a:effectLst/>
                <a:latin typeface="Times"/>
              </a:rPr>
              <a:t>a net </a:t>
            </a:r>
            <a:r>
              <a:rPr lang="en-SG" sz="1800" i="1" dirty="0">
                <a:effectLst/>
                <a:latin typeface="Times"/>
              </a:rPr>
              <a:t>output </a:t>
            </a:r>
            <a:r>
              <a:rPr lang="en-SG" sz="1800" dirty="0">
                <a:effectLst/>
                <a:latin typeface="Times"/>
              </a:rPr>
              <a:t>of mechanical work 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0760D-2354-49C2-F324-90132A597F81}"/>
              </a:ext>
            </a:extLst>
          </p:cNvPr>
          <p:cNvSpPr txBox="1"/>
          <p:nvPr/>
        </p:nvSpPr>
        <p:spPr>
          <a:xfrm>
            <a:off x="1937258" y="1560866"/>
            <a:ext cx="1554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>
                <a:effectLst/>
                <a:latin typeface="Times"/>
              </a:rPr>
              <a:t> </a:t>
            </a:r>
            <a:r>
              <a:rPr lang="en-US" altLang="zh-CN" sz="1800" dirty="0">
                <a:effectLst/>
                <a:latin typeface="Times"/>
              </a:rPr>
              <a:t>H</a:t>
            </a:r>
            <a:r>
              <a:rPr lang="en-SG" sz="1800" dirty="0">
                <a:effectLst/>
                <a:latin typeface="Times"/>
              </a:rPr>
              <a:t>eat engine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AA3700-CB1E-1B0A-E181-5BE11B185B82}"/>
              </a:ext>
            </a:extLst>
          </p:cNvPr>
          <p:cNvSpPr txBox="1"/>
          <p:nvPr/>
        </p:nvSpPr>
        <p:spPr>
          <a:xfrm>
            <a:off x="4788024" y="5350883"/>
            <a:ext cx="38103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"/>
              </a:rPr>
              <a:t>t</a:t>
            </a:r>
            <a:r>
              <a:rPr lang="en-SG" sz="1800" dirty="0" err="1">
                <a:effectLst/>
                <a:latin typeface="Times"/>
              </a:rPr>
              <a:t>akes</a:t>
            </a:r>
            <a:r>
              <a:rPr lang="en-SG" sz="1800" dirty="0">
                <a:effectLst/>
                <a:latin typeface="Times"/>
              </a:rPr>
              <a:t> heat from a </a:t>
            </a:r>
            <a:r>
              <a:rPr lang="en-US" altLang="zh-CN" sz="1800" dirty="0">
                <a:effectLst/>
                <a:latin typeface="Times"/>
              </a:rPr>
              <a:t>cold</a:t>
            </a:r>
            <a:r>
              <a:rPr lang="en-SG" sz="1800" dirty="0">
                <a:effectLst/>
                <a:latin typeface="Times"/>
              </a:rPr>
              <a:t> place and gives off heat to a </a:t>
            </a:r>
            <a:r>
              <a:rPr lang="en-US" altLang="zh-CN" sz="1800" dirty="0">
                <a:effectLst/>
                <a:latin typeface="Times"/>
              </a:rPr>
              <a:t>warmer</a:t>
            </a:r>
            <a:r>
              <a:rPr lang="en-SG" sz="1800" dirty="0">
                <a:effectLst/>
                <a:latin typeface="Times"/>
              </a:rPr>
              <a:t> place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800" dirty="0">
                <a:effectLst/>
                <a:latin typeface="Times"/>
              </a:rPr>
              <a:t>a net </a:t>
            </a:r>
            <a:r>
              <a:rPr lang="en-US" altLang="zh-CN" sz="1800" i="1" dirty="0">
                <a:effectLst/>
                <a:latin typeface="Times"/>
              </a:rPr>
              <a:t>input</a:t>
            </a:r>
            <a:r>
              <a:rPr lang="en-SG" sz="1800" i="1" dirty="0">
                <a:effectLst/>
                <a:latin typeface="Times"/>
              </a:rPr>
              <a:t> </a:t>
            </a:r>
            <a:r>
              <a:rPr lang="en-SG" sz="1800" dirty="0">
                <a:effectLst/>
                <a:latin typeface="Times"/>
              </a:rPr>
              <a:t>of mechanical work </a:t>
            </a:r>
            <a:endParaRPr lang="en-S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51B1C9-017A-3CCA-45EB-1EF9A044E8A1}"/>
              </a:ext>
            </a:extLst>
          </p:cNvPr>
          <p:cNvSpPr txBox="1"/>
          <p:nvPr/>
        </p:nvSpPr>
        <p:spPr>
          <a:xfrm>
            <a:off x="5785255" y="1560866"/>
            <a:ext cx="1313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"/>
              </a:rPr>
              <a:t>Refrigerator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502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Refrigerators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0C9F33-7F73-B428-C172-67C905613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916832"/>
            <a:ext cx="3163626" cy="3329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85FC8E-F66B-25B1-F4C8-DA69861FC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810" y="3111707"/>
            <a:ext cx="3048000" cy="939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F42666-41EE-8635-98AB-2E00EF322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096" y="1593507"/>
            <a:ext cx="2095500" cy="4699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442737-7ADE-D117-4E00-1B58255CF234}"/>
              </a:ext>
            </a:extLst>
          </p:cNvPr>
          <p:cNvSpPr txBox="1"/>
          <p:nvPr/>
        </p:nvSpPr>
        <p:spPr>
          <a:xfrm>
            <a:off x="3985810" y="246998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effectLst/>
                <a:latin typeface="Times"/>
              </a:rPr>
              <a:t>C</a:t>
            </a:r>
            <a:r>
              <a:rPr lang="en-SG" sz="1800" b="1" dirty="0" err="1">
                <a:effectLst/>
                <a:latin typeface="Times"/>
              </a:rPr>
              <a:t>oefficient</a:t>
            </a:r>
            <a:r>
              <a:rPr lang="en-SG" sz="1800" b="1" dirty="0">
                <a:effectLst/>
                <a:latin typeface="Times"/>
              </a:rPr>
              <a:t> of performance </a:t>
            </a:r>
            <a:endParaRPr lang="en-S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66FE25-CD52-AAA1-B3A1-9B12A319B085}"/>
              </a:ext>
            </a:extLst>
          </p:cNvPr>
          <p:cNvSpPr txBox="1"/>
          <p:nvPr/>
        </p:nvSpPr>
        <p:spPr>
          <a:xfrm>
            <a:off x="3840868" y="4509120"/>
            <a:ext cx="44035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1800" dirty="0">
                <a:effectLst/>
                <a:latin typeface="Times"/>
              </a:rPr>
              <a:t>Work is </a:t>
            </a:r>
            <a:r>
              <a:rPr lang="en-SG" sz="1800" i="1" dirty="0">
                <a:effectLst/>
                <a:latin typeface="Times"/>
              </a:rPr>
              <a:t>always </a:t>
            </a:r>
            <a:r>
              <a:rPr lang="en-SG" sz="1800" dirty="0">
                <a:effectLst/>
                <a:latin typeface="Times"/>
              </a:rPr>
              <a:t>needed to transfer heat from a colder to a hotter body.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1800" dirty="0">
                <a:effectLst/>
                <a:latin typeface="Times"/>
              </a:rPr>
              <a:t>Heat flows spontaneously from hotter to colder, and to reverse this flow requires the addition of work from the outside </a:t>
            </a:r>
            <a:endParaRPr lang="en-SG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12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Refrigerators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2979E-1737-4E24-23FC-1E583305A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834181"/>
            <a:ext cx="5523003" cy="3582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8FCF76-B226-1330-6FED-DEE6CB565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518" y="2071829"/>
            <a:ext cx="3163626" cy="332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246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The Second Law of Thermodynamics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AF1FC4-40D0-D5E9-0668-D869A8694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49" y="1856206"/>
            <a:ext cx="8419536" cy="9881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938B6F-641F-45E7-5C26-9B0FD020687C}"/>
              </a:ext>
            </a:extLst>
          </p:cNvPr>
          <p:cNvSpPr txBox="1"/>
          <p:nvPr/>
        </p:nvSpPr>
        <p:spPr>
          <a:xfrm>
            <a:off x="634360" y="5894685"/>
            <a:ext cx="8423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i="1" dirty="0">
                <a:effectLst/>
                <a:latin typeface="Times"/>
              </a:rPr>
              <a:t>impossible </a:t>
            </a:r>
            <a:r>
              <a:rPr lang="en-SG" sz="2400" dirty="0">
                <a:effectLst/>
                <a:latin typeface="Times"/>
              </a:rPr>
              <a:t>to build a heat engine with 100% thermal efficiency </a:t>
            </a:r>
            <a:endParaRPr lang="en-SG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3B8E74-90A4-91F8-025F-835EDBB7F52F}"/>
              </a:ext>
            </a:extLst>
          </p:cNvPr>
          <p:cNvSpPr txBox="1"/>
          <p:nvPr/>
        </p:nvSpPr>
        <p:spPr>
          <a:xfrm>
            <a:off x="410216" y="1263079"/>
            <a:ext cx="8323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“</a:t>
            </a:r>
            <a:r>
              <a:rPr lang="en-US" altLang="zh-CN" sz="2400" dirty="0">
                <a:effectLst/>
                <a:latin typeface="Times"/>
              </a:rPr>
              <a:t>E</a:t>
            </a:r>
            <a:r>
              <a:rPr lang="en-SG" sz="2400" dirty="0" err="1">
                <a:effectLst/>
                <a:latin typeface="Times"/>
              </a:rPr>
              <a:t>ngine</a:t>
            </a:r>
            <a:r>
              <a:rPr lang="en-SG" sz="2400" dirty="0">
                <a:effectLst/>
                <a:latin typeface="Times"/>
              </a:rPr>
              <a:t>” statement of the second law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(</a:t>
            </a:r>
            <a:r>
              <a:rPr lang="en-SG" sz="2400" i="1" dirty="0">
                <a:effectLst/>
                <a:latin typeface="Times"/>
              </a:rPr>
              <a:t>Kelvin–Planck statement </a:t>
            </a:r>
            <a:r>
              <a:rPr lang="en-US" altLang="zh-CN" sz="2400" dirty="0">
                <a:latin typeface="Times"/>
              </a:rPr>
              <a:t>)</a:t>
            </a:r>
            <a:endParaRPr lang="en-SG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E0C990-1C38-89BF-9786-0A18A1CE8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907" y="2844350"/>
            <a:ext cx="6120680" cy="31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58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The Second Law of Thermodynamics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17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601B9-725A-AFDE-3AE2-A0550EB7E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3" y="1737041"/>
            <a:ext cx="8987834" cy="688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D3F5A2-C4B7-95EA-2F95-25D27489C20B}"/>
              </a:ext>
            </a:extLst>
          </p:cNvPr>
          <p:cNvSpPr txBox="1"/>
          <p:nvPr/>
        </p:nvSpPr>
        <p:spPr>
          <a:xfrm>
            <a:off x="78083" y="1234614"/>
            <a:ext cx="8229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“</a:t>
            </a:r>
            <a:r>
              <a:rPr lang="en-US" altLang="zh-CN" sz="2400" dirty="0">
                <a:latin typeface="Times"/>
              </a:rPr>
              <a:t>R</a:t>
            </a:r>
            <a:r>
              <a:rPr lang="en-SG" sz="2400" dirty="0" err="1">
                <a:effectLst/>
                <a:latin typeface="Times"/>
              </a:rPr>
              <a:t>efrigerator</a:t>
            </a:r>
            <a:r>
              <a:rPr lang="en-SG" sz="2400" dirty="0">
                <a:effectLst/>
                <a:latin typeface="Times"/>
              </a:rPr>
              <a:t> ” statement of the second law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(</a:t>
            </a:r>
            <a:r>
              <a:rPr lang="en-SG" sz="2400" i="1" dirty="0">
                <a:effectLst/>
                <a:latin typeface="Times"/>
              </a:rPr>
              <a:t>Clausius statement </a:t>
            </a:r>
            <a:r>
              <a:rPr lang="en-US" altLang="zh-CN" sz="2400" dirty="0">
                <a:latin typeface="Times"/>
              </a:rPr>
              <a:t>)</a:t>
            </a:r>
            <a:endParaRPr lang="en-S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A051B-B15C-7950-1433-9BDE54553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143" y="2538830"/>
            <a:ext cx="6768752" cy="37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16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0AEF2-5B89-D670-C7CA-97B0DB56B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63380-C6D4-CFD5-1347-6DB590D3A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The Carnot Cycle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67DDD-C78E-8D2C-6D0B-508AE9AB1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D168C-2144-8FD2-B779-44797C07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B706E-5B3D-FFB0-C01C-E5EB1B87C43D}"/>
              </a:ext>
            </a:extLst>
          </p:cNvPr>
          <p:cNvSpPr txBox="1"/>
          <p:nvPr/>
        </p:nvSpPr>
        <p:spPr>
          <a:xfrm>
            <a:off x="380224" y="1412776"/>
            <a:ext cx="83331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Carnot</a:t>
            </a:r>
            <a:r>
              <a:rPr lang="zh-CN" altLang="en-US" sz="2400" dirty="0">
                <a:effectLst/>
                <a:latin typeface="Times"/>
              </a:rPr>
              <a:t> </a:t>
            </a:r>
            <a:r>
              <a:rPr lang="en-US" altLang="zh-CN" sz="2400" dirty="0">
                <a:effectLst/>
                <a:latin typeface="Times"/>
              </a:rPr>
              <a:t>engine:</a:t>
            </a:r>
            <a:r>
              <a:rPr lang="zh-CN" altLang="en-US" sz="2400" dirty="0">
                <a:effectLst/>
                <a:latin typeface="Times"/>
              </a:rPr>
              <a:t> </a:t>
            </a:r>
            <a:r>
              <a:rPr lang="en-SG" sz="2400" dirty="0">
                <a:effectLst/>
                <a:latin typeface="Times"/>
              </a:rPr>
              <a:t>idealized heat engine that has the maximum possible efficiency consistent with the second law </a:t>
            </a:r>
          </a:p>
          <a:p>
            <a:endParaRPr lang="en-SG" sz="2400" dirty="0">
              <a:latin typeface="Times"/>
            </a:endParaRPr>
          </a:p>
          <a:p>
            <a:r>
              <a:rPr lang="en-SG" sz="2400" i="1" dirty="0">
                <a:effectLst/>
                <a:latin typeface="Times"/>
              </a:rPr>
              <a:t>avoid all irreversible processes </a:t>
            </a:r>
            <a:endParaRPr lang="en-SG" sz="2400" dirty="0"/>
          </a:p>
          <a:p>
            <a:endParaRPr lang="en-SG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i="1" dirty="0">
                <a:effectLst/>
                <a:latin typeface="Times"/>
              </a:rPr>
              <a:t>Heat flow </a:t>
            </a:r>
            <a:r>
              <a:rPr lang="en-SG" sz="2400" dirty="0">
                <a:effectLst/>
                <a:latin typeface="Times"/>
              </a:rPr>
              <a:t>through a finite temperature drop is an irreversible process. </a:t>
            </a:r>
            <a:r>
              <a:rPr lang="zh-CN" altLang="en-US" sz="2400" dirty="0">
                <a:effectLst/>
                <a:latin typeface="Times"/>
              </a:rPr>
              <a:t> </a:t>
            </a:r>
            <a:endParaRPr lang="en-S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Times"/>
              </a:rPr>
              <a:t>N</a:t>
            </a:r>
            <a:r>
              <a:rPr lang="en-SG" sz="2400" i="1" dirty="0">
                <a:effectLst/>
                <a:latin typeface="Times"/>
              </a:rPr>
              <a:t>o </a:t>
            </a:r>
            <a:r>
              <a:rPr lang="en-SG" sz="2400" dirty="0">
                <a:effectLst/>
                <a:latin typeface="Times"/>
              </a:rPr>
              <a:t>heat transfer between the engine and either reservoir because such heat transfer could not be reversible. </a:t>
            </a:r>
            <a:endParaRPr lang="en-US" sz="2400" dirty="0">
              <a:effectLst/>
              <a:latin typeface="Time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"/>
              </a:rPr>
              <a:t>Carnot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Choice: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Combination of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adiabatic/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isothermal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process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904470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The Carnot Cycle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19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314C76-DA06-586C-1E00-EA3AF06C5F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48"/>
          <a:stretch/>
        </p:blipFill>
        <p:spPr>
          <a:xfrm>
            <a:off x="1043608" y="1174313"/>
            <a:ext cx="7200800" cy="3721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9C3CF-2D58-EED3-14EC-1F6AABB93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98" y="4889943"/>
            <a:ext cx="8162102" cy="143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464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The Carnot Cycle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314C76-DA06-586C-1E00-EA3AF06C5F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48"/>
          <a:stretch/>
        </p:blipFill>
        <p:spPr>
          <a:xfrm>
            <a:off x="1043608" y="1174313"/>
            <a:ext cx="7200800" cy="3721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4D852E-2336-1EFA-E8C1-5DAC95953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5302413"/>
            <a:ext cx="3009900" cy="76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DEAD19-20DE-02CB-2C2C-DC42956B39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7162"/>
          <a:stretch/>
        </p:blipFill>
        <p:spPr>
          <a:xfrm>
            <a:off x="4374356" y="5302413"/>
            <a:ext cx="4533900" cy="8311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8CBF43-AAD4-86A0-B489-1476220074A6}"/>
              </a:ext>
            </a:extLst>
          </p:cNvPr>
          <p:cNvSpPr txBox="1"/>
          <p:nvPr/>
        </p:nvSpPr>
        <p:spPr>
          <a:xfrm>
            <a:off x="266330" y="5477522"/>
            <a:ext cx="575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ab: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F34945-FE44-9429-6FF5-171123DD7525}"/>
              </a:ext>
            </a:extLst>
          </p:cNvPr>
          <p:cNvSpPr txBox="1"/>
          <p:nvPr/>
        </p:nvSpPr>
        <p:spPr>
          <a:xfrm>
            <a:off x="4002049" y="5463817"/>
            <a:ext cx="558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cd: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0554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The Carnot Cycle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21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314C76-DA06-586C-1E00-EA3AF06C5F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48"/>
          <a:stretch/>
        </p:blipFill>
        <p:spPr>
          <a:xfrm>
            <a:off x="1043608" y="1174313"/>
            <a:ext cx="7200800" cy="3721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D5720E-D472-4AC7-120D-C19D29C12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70" y="5500133"/>
            <a:ext cx="6383836" cy="6674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77ED3F-F130-5BDA-152C-D2A37483D8C4}"/>
              </a:ext>
            </a:extLst>
          </p:cNvPr>
          <p:cNvSpPr txBox="1"/>
          <p:nvPr/>
        </p:nvSpPr>
        <p:spPr>
          <a:xfrm>
            <a:off x="457200" y="5045610"/>
            <a:ext cx="3187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Adia</a:t>
            </a:r>
            <a:r>
              <a:rPr lang="en-US" altLang="zh-CN" sz="2400" dirty="0"/>
              <a:t>batic</a:t>
            </a:r>
            <a:r>
              <a:rPr lang="zh-CN" altLang="en-US" sz="2400" dirty="0"/>
              <a:t> </a:t>
            </a:r>
            <a:r>
              <a:rPr lang="en-US" altLang="zh-CN" sz="2400" dirty="0"/>
              <a:t>process</a:t>
            </a:r>
            <a:r>
              <a:rPr lang="zh-CN" altLang="en-US" sz="2400" dirty="0"/>
              <a:t> </a:t>
            </a:r>
            <a:r>
              <a:rPr lang="en-US" altLang="zh-CN" sz="2400" dirty="0"/>
              <a:t>da,</a:t>
            </a:r>
            <a:r>
              <a:rPr lang="zh-CN" altLang="en-US" sz="2400" dirty="0"/>
              <a:t> </a:t>
            </a:r>
            <a:r>
              <a:rPr lang="en-US" altLang="zh-CN" sz="2400" dirty="0" err="1"/>
              <a:t>bc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FEA5F1-8F70-4A20-CD1F-9E0BB2DC8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107" y="5010907"/>
            <a:ext cx="1411821" cy="117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27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The Carnot Cycle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22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BC214D-5DB7-6907-BD30-9BD5968E8272}"/>
              </a:ext>
            </a:extLst>
          </p:cNvPr>
          <p:cNvSpPr txBox="1"/>
          <p:nvPr/>
        </p:nvSpPr>
        <p:spPr>
          <a:xfrm>
            <a:off x="612648" y="1182869"/>
            <a:ext cx="7288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Times"/>
              </a:rPr>
              <a:t>T</a:t>
            </a:r>
            <a:r>
              <a:rPr lang="en-SG" sz="2400" dirty="0" err="1">
                <a:effectLst/>
                <a:latin typeface="Times"/>
              </a:rPr>
              <a:t>hermal</a:t>
            </a:r>
            <a:r>
              <a:rPr lang="en-SG" sz="2400" dirty="0">
                <a:effectLst/>
                <a:latin typeface="Times"/>
              </a:rPr>
              <a:t> efficiency </a:t>
            </a:r>
            <a:r>
              <a:rPr lang="en-SG" sz="2400" i="1" dirty="0">
                <a:effectLst/>
                <a:latin typeface="Times"/>
              </a:rPr>
              <a:t>e </a:t>
            </a:r>
            <a:r>
              <a:rPr lang="en-SG" sz="2400" dirty="0">
                <a:effectLst/>
                <a:latin typeface="Times"/>
              </a:rPr>
              <a:t>of a Carnot engine </a:t>
            </a:r>
            <a:endParaRPr lang="en-SG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E1307A-09EB-3BCA-CC21-7FE88D301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75" y="2725494"/>
            <a:ext cx="2844800" cy="876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3A6D09-B7B2-A43E-1994-5E5C0667B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55" y="4284910"/>
            <a:ext cx="1460500" cy="838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426B30-3A4C-5EA5-77B6-7C38B30D9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66" y="5343094"/>
            <a:ext cx="3225800" cy="81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97B727-929B-A0C0-8C1B-ADD25FBE8B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422" y="1756206"/>
            <a:ext cx="3759200" cy="800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80DC1E-C6D8-DA79-EC1A-A151C01F7A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814" t="13344" r="28000" b="20298"/>
          <a:stretch/>
        </p:blipFill>
        <p:spPr>
          <a:xfrm>
            <a:off x="4703919" y="2112691"/>
            <a:ext cx="4190358" cy="34181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AB5E89-30AA-EC28-3CC7-FB304493972A}"/>
              </a:ext>
            </a:extLst>
          </p:cNvPr>
          <p:cNvSpPr txBox="1"/>
          <p:nvPr/>
        </p:nvSpPr>
        <p:spPr>
          <a:xfrm>
            <a:off x="660979" y="3777109"/>
            <a:ext cx="38307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 </a:t>
            </a:r>
            <a:r>
              <a:rPr lang="en-US" altLang="zh-CN" sz="2400" dirty="0"/>
              <a:t>because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adiabatic</a:t>
            </a:r>
            <a:r>
              <a:rPr lang="zh-CN" altLang="en-US" sz="2400" dirty="0"/>
              <a:t> </a:t>
            </a:r>
            <a:r>
              <a:rPr lang="en-US" altLang="zh-CN" sz="2400" dirty="0"/>
              <a:t>process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64980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6577F-23FC-779D-E713-99C2F7DE1C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33"/>
          <a:stretch/>
        </p:blipFill>
        <p:spPr>
          <a:xfrm>
            <a:off x="323528" y="1196686"/>
            <a:ext cx="6288286" cy="1975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EE50D8-5626-B719-9F9A-63760670D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73" y="3172543"/>
            <a:ext cx="5785782" cy="30971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92BDF5-1CD2-79CE-0155-271CBB92B2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45"/>
          <a:stretch/>
        </p:blipFill>
        <p:spPr>
          <a:xfrm>
            <a:off x="6611814" y="1700808"/>
            <a:ext cx="2532004" cy="371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40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The Carnot Cycle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36ACC-5837-E6F6-9DFA-18DF6404D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68760"/>
            <a:ext cx="8682182" cy="27731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A72041-317B-DD32-910D-234649D95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4437112"/>
            <a:ext cx="6771152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36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The Carnot Cycle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871E57-1DF1-6729-3C95-80CA43091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63" y="1258138"/>
            <a:ext cx="7765834" cy="15041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9E57CC-690E-EFB1-B3C0-517DEE1F3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851953"/>
            <a:ext cx="6912768" cy="3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9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7 Entropy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8FA2B-C8AB-5A2F-3DAD-8665C4FF3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999" y="1564514"/>
            <a:ext cx="3848100" cy="4330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50759A-C845-2503-F3CB-A3338C0D4E21}"/>
              </a:ext>
            </a:extLst>
          </p:cNvPr>
          <p:cNvSpPr txBox="1"/>
          <p:nvPr/>
        </p:nvSpPr>
        <p:spPr>
          <a:xfrm>
            <a:off x="6660232" y="4005064"/>
            <a:ext cx="2266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>
                <a:effectLst/>
                <a:latin typeface="Times"/>
              </a:rPr>
              <a:t>firecrackers explode, disorder increases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96236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7 Entropy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91C9F7-5349-5AA9-DD90-3AC1B81FF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95" y="1850652"/>
            <a:ext cx="7708610" cy="927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BAB45E-288F-59BD-DC20-1B40B1B6401F}"/>
              </a:ext>
            </a:extLst>
          </p:cNvPr>
          <p:cNvSpPr txBox="1"/>
          <p:nvPr/>
        </p:nvSpPr>
        <p:spPr>
          <a:xfrm>
            <a:off x="584230" y="1353415"/>
            <a:ext cx="6940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1" dirty="0">
                <a:effectLst/>
                <a:latin typeface="Times"/>
              </a:rPr>
              <a:t>Entropy </a:t>
            </a:r>
            <a:r>
              <a:rPr lang="en-SG" sz="2400" dirty="0">
                <a:effectLst/>
                <a:latin typeface="Times"/>
              </a:rPr>
              <a:t>provides a </a:t>
            </a:r>
            <a:r>
              <a:rPr lang="en-SG" sz="2400" i="1" dirty="0">
                <a:effectLst/>
                <a:latin typeface="Times"/>
              </a:rPr>
              <a:t>quantitative </a:t>
            </a:r>
            <a:r>
              <a:rPr lang="en-SG" sz="2400" dirty="0">
                <a:effectLst/>
                <a:latin typeface="Times"/>
              </a:rPr>
              <a:t>measure of disorder. </a:t>
            </a:r>
            <a:endParaRPr lang="en-SG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19A788-00EA-E889-2354-6DA074A73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3226559"/>
            <a:ext cx="6429536" cy="10091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91ACBB-E372-A2C0-D92E-0CF7AB59E7E2}"/>
              </a:ext>
            </a:extLst>
          </p:cNvPr>
          <p:cNvSpPr txBox="1"/>
          <p:nvPr/>
        </p:nvSpPr>
        <p:spPr>
          <a:xfrm>
            <a:off x="612648" y="279458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Times"/>
              </a:rPr>
              <a:t>I</a:t>
            </a:r>
            <a:r>
              <a:rPr lang="en-SG" sz="2400" dirty="0" err="1">
                <a:effectLst/>
                <a:latin typeface="Times"/>
              </a:rPr>
              <a:t>nfinitesimal</a:t>
            </a:r>
            <a:r>
              <a:rPr lang="en-SG" sz="2400" dirty="0">
                <a:effectLst/>
                <a:latin typeface="Times"/>
              </a:rPr>
              <a:t> entropy change </a:t>
            </a:r>
            <a:endParaRPr lang="en-SG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6ED916-B047-9911-284C-A5F5FEAEE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30" y="4184367"/>
            <a:ext cx="8304517" cy="108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82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A86FFF-1F47-1D62-0283-545983977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70" y="1196752"/>
            <a:ext cx="7750861" cy="22322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86D66E-D251-1DB1-8CAF-1B9CCE49C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87" y="3482752"/>
            <a:ext cx="8152860" cy="787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6FCCCB-3FBB-F37F-83BC-CF8B79656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4368210"/>
            <a:ext cx="7538514" cy="104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42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7 Entropy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36B424-3005-8F7C-AAFF-912B9E3ED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8" y="1602280"/>
            <a:ext cx="8672043" cy="365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675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7 Entropy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6B44A8-F96D-9F0B-92D1-20986C238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86" y="1242338"/>
            <a:ext cx="8607228" cy="2389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96924F-E50D-863A-D274-61DB8F06E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3591249"/>
            <a:ext cx="1944216" cy="8625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B3D858-AACA-7B7D-B492-1FE19295E947}"/>
                  </a:ext>
                </a:extLst>
              </p:cNvPr>
              <p:cNvSpPr txBox="1"/>
              <p:nvPr/>
            </p:nvSpPr>
            <p:spPr>
              <a:xfrm>
                <a:off x="700434" y="3816040"/>
                <a:ext cx="35365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effectLst/>
                    <a:latin typeface="Times"/>
                  </a:rPr>
                  <a:t>T</a:t>
                </a:r>
                <a:r>
                  <a:rPr lang="en-SG" sz="2400" dirty="0" err="1">
                    <a:effectLst/>
                    <a:latin typeface="Times"/>
                  </a:rPr>
                  <a:t>otal</a:t>
                </a:r>
                <a:r>
                  <a:rPr lang="en-SG" sz="2400" dirty="0">
                    <a:effectLst/>
                    <a:latin typeface="Times"/>
                  </a:rPr>
                  <a:t> entropy change</a:t>
                </a:r>
                <a:r>
                  <a:rPr lang="zh-CN" altLang="en-US" sz="2400" dirty="0">
                    <a:latin typeface="Times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CN" sz="2400" dirty="0">
                    <a:latin typeface="Times"/>
                  </a:rPr>
                  <a:t>S=</a:t>
                </a:r>
                <a:endParaRPr lang="en-SG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B3D858-AACA-7B7D-B492-1FE19295E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34" y="3816040"/>
                <a:ext cx="3536596" cy="461665"/>
              </a:xfrm>
              <a:prstGeom prst="rect">
                <a:avLst/>
              </a:prstGeom>
              <a:blipFill>
                <a:blip r:embed="rId4"/>
                <a:stretch>
                  <a:fillRect l="-2867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13A6EB3-C163-7816-656F-09A0D25F2F99}"/>
              </a:ext>
            </a:extLst>
          </p:cNvPr>
          <p:cNvSpPr txBox="1"/>
          <p:nvPr/>
        </p:nvSpPr>
        <p:spPr>
          <a:xfrm>
            <a:off x="784248" y="4624530"/>
            <a:ext cx="7445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"/>
              </a:rPr>
              <a:t>T</a:t>
            </a:r>
            <a:r>
              <a:rPr lang="en-SG" sz="2400" dirty="0" err="1">
                <a:effectLst/>
                <a:latin typeface="Times"/>
              </a:rPr>
              <a:t>otal</a:t>
            </a:r>
            <a:r>
              <a:rPr lang="en-SG" sz="2400" dirty="0">
                <a:effectLst/>
                <a:latin typeface="Times"/>
              </a:rPr>
              <a:t> entropy change during </a:t>
            </a:r>
            <a:r>
              <a:rPr lang="en-SG" sz="2400" i="1" dirty="0">
                <a:effectLst/>
                <a:latin typeface="Times"/>
              </a:rPr>
              <a:t>any </a:t>
            </a:r>
            <a:r>
              <a:rPr lang="en-SG" sz="2400" dirty="0">
                <a:effectLst/>
                <a:latin typeface="Times"/>
              </a:rPr>
              <a:t>reversible cycle is zero </a:t>
            </a:r>
            <a:endParaRPr lang="en-SG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B1E67A-548C-7D1D-6FCF-ED2C153E4126}"/>
              </a:ext>
            </a:extLst>
          </p:cNvPr>
          <p:cNvSpPr txBox="1"/>
          <p:nvPr/>
        </p:nvSpPr>
        <p:spPr>
          <a:xfrm>
            <a:off x="784248" y="5294519"/>
            <a:ext cx="7985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Times"/>
              </a:rPr>
              <a:t>A</a:t>
            </a:r>
            <a:r>
              <a:rPr lang="en-SG" sz="2400" dirty="0" err="1">
                <a:effectLst/>
                <a:latin typeface="Times"/>
              </a:rPr>
              <a:t>ll</a:t>
            </a:r>
            <a:r>
              <a:rPr lang="en-SG" sz="2400" dirty="0">
                <a:effectLst/>
                <a:latin typeface="Times"/>
              </a:rPr>
              <a:t> </a:t>
            </a:r>
            <a:r>
              <a:rPr lang="en-SG" sz="2400" i="1" dirty="0">
                <a:effectLst/>
                <a:latin typeface="Times"/>
              </a:rPr>
              <a:t>irreversible </a:t>
            </a:r>
            <a:r>
              <a:rPr lang="en-SG" sz="2400" dirty="0">
                <a:effectLst/>
                <a:latin typeface="Times"/>
              </a:rPr>
              <a:t>processes involve an increase in entropy. Unlike energy, </a:t>
            </a:r>
            <a:r>
              <a:rPr lang="en-SG" sz="2400" i="1" dirty="0">
                <a:effectLst/>
                <a:latin typeface="Times"/>
              </a:rPr>
              <a:t>entropy is not a conserved quantity. 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4720730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990600"/>
          </a:xfrm>
        </p:spPr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20</a:t>
            </a:r>
            <a:r>
              <a:rPr lang="en-US" altLang="zh-CN" dirty="0">
                <a:latin typeface="Helvetica Neue" panose="02000503000000020004" pitchFamily="2" charset="0"/>
              </a:rPr>
              <a:t>-</a:t>
            </a:r>
            <a:r>
              <a:rPr lang="en-SG">
                <a:effectLst/>
                <a:latin typeface="Helvetica Neue" panose="02000503000000020004" pitchFamily="2" charset="0"/>
              </a:rPr>
              <a:t>7 Entropy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31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14FFCE-E532-4CE3-8253-BAEC21C97B65}"/>
              </a:ext>
            </a:extLst>
          </p:cNvPr>
          <p:cNvSpPr txBox="1"/>
          <p:nvPr/>
        </p:nvSpPr>
        <p:spPr>
          <a:xfrm>
            <a:off x="307848" y="263691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Entropy</a:t>
            </a:r>
            <a:r>
              <a:rPr lang="zh-CN" altLang="en-US" sz="2400" dirty="0"/>
              <a:t> </a:t>
            </a:r>
            <a:r>
              <a:rPr lang="en-US" altLang="zh-CN" sz="2400" dirty="0"/>
              <a:t>statement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second</a:t>
            </a:r>
            <a:r>
              <a:rPr lang="zh-CN" altLang="en-US" sz="2400" dirty="0"/>
              <a:t> </a:t>
            </a:r>
            <a:r>
              <a:rPr lang="en-US" altLang="zh-CN" sz="2400" dirty="0"/>
              <a:t>law: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48539F-42AF-70E3-42D4-512D6D95DFD2}"/>
              </a:ext>
            </a:extLst>
          </p:cNvPr>
          <p:cNvSpPr txBox="1"/>
          <p:nvPr/>
        </p:nvSpPr>
        <p:spPr>
          <a:xfrm>
            <a:off x="354360" y="3426509"/>
            <a:ext cx="843528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400" dirty="0">
                <a:effectLst/>
                <a:latin typeface="Times"/>
              </a:rPr>
              <a:t>T</a:t>
            </a:r>
            <a:r>
              <a:rPr lang="en-SG" sz="2400" dirty="0">
                <a:effectLst/>
                <a:latin typeface="Times"/>
              </a:rPr>
              <a:t>he entropy of a closed system can never decrease</a:t>
            </a:r>
            <a:r>
              <a:rPr lang="en-US" altLang="zh-CN" sz="2400" dirty="0">
                <a:latin typeface="Times"/>
              </a:rPr>
              <a:t>.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A</a:t>
            </a:r>
            <a:r>
              <a:rPr lang="en-SG" sz="2400" dirty="0">
                <a:effectLst/>
                <a:latin typeface="Times"/>
              </a:rPr>
              <a:t> closed system can never spontaneously undergo a process that decreases the number of possible microscopic states </a:t>
            </a:r>
            <a:endParaRPr lang="en-SG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FAFBB-0D22-800D-8569-DF2852F7693F}"/>
              </a:ext>
            </a:extLst>
          </p:cNvPr>
          <p:cNvSpPr txBox="1"/>
          <p:nvPr/>
        </p:nvSpPr>
        <p:spPr>
          <a:xfrm>
            <a:off x="3728621" y="7013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2255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IV (Ch. 20)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79A9EE-F07F-C9D6-972E-8596B6FCB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991349"/>
            <a:ext cx="7777393" cy="12936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7403D2-5C6C-61AC-5842-8DC952F1F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34" y="1260187"/>
            <a:ext cx="8079402" cy="8006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6FD56C-09D8-395E-9D4B-6B2ADD7E8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59" y="3212976"/>
            <a:ext cx="6779097" cy="306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817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自訂 1">
      <a:majorFont>
        <a:latin typeface="Bookman Old Style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6153</TotalTime>
  <Words>820</Words>
  <Application>Microsoft Office PowerPoint</Application>
  <PresentationFormat>On-screen Show (4:3)</PresentationFormat>
  <Paragraphs>145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Helvetica Neue</vt:lpstr>
      <vt:lpstr>Arial</vt:lpstr>
      <vt:lpstr>Bookman Old Style</vt:lpstr>
      <vt:lpstr>Calibri</vt:lpstr>
      <vt:lpstr>Cambria Math</vt:lpstr>
      <vt:lpstr>Times</vt:lpstr>
      <vt:lpstr>Wingdings</vt:lpstr>
      <vt:lpstr>Wingdings 3</vt:lpstr>
      <vt:lpstr>Origin</vt:lpstr>
      <vt:lpstr>PHYS1001B College Physics IB</vt:lpstr>
      <vt:lpstr>Introduction</vt:lpstr>
      <vt:lpstr>Outline</vt:lpstr>
      <vt:lpstr>20-1 Directions of Thermodynamic Processes</vt:lpstr>
      <vt:lpstr>20-2 Heat Engines</vt:lpstr>
      <vt:lpstr>20-2 Heat Engines</vt:lpstr>
      <vt:lpstr>Sample Problem</vt:lpstr>
      <vt:lpstr>20-3 Internal-Combustion Engines</vt:lpstr>
      <vt:lpstr>20-3 Internal-Combustion Engines</vt:lpstr>
      <vt:lpstr>20-3 Internal-Combustion Engines</vt:lpstr>
      <vt:lpstr>20-3 Internal-Combustion Engines</vt:lpstr>
      <vt:lpstr>20-3 Internal-Combustion Engines</vt:lpstr>
      <vt:lpstr>20-4 Refrigerators</vt:lpstr>
      <vt:lpstr>20-4 Refrigerators</vt:lpstr>
      <vt:lpstr>20-4 Refrigerators</vt:lpstr>
      <vt:lpstr>20-5 The Second Law of Thermodynamics</vt:lpstr>
      <vt:lpstr>20-5 The Second Law of Thermodynamics</vt:lpstr>
      <vt:lpstr>20-6 The Carnot Cycle</vt:lpstr>
      <vt:lpstr>20-6 The Carnot Cycle</vt:lpstr>
      <vt:lpstr>20-6 The Carnot Cycle</vt:lpstr>
      <vt:lpstr>20-6 The Carnot Cycle</vt:lpstr>
      <vt:lpstr>20-6 The Carnot Cycle</vt:lpstr>
      <vt:lpstr>Sample Problem</vt:lpstr>
      <vt:lpstr>20-6 The Carnot Cycle</vt:lpstr>
      <vt:lpstr>20-6 The Carnot Cycle</vt:lpstr>
      <vt:lpstr>20-7 Entropy</vt:lpstr>
      <vt:lpstr>20-7 Entropy</vt:lpstr>
      <vt:lpstr>Sample Problem</vt:lpstr>
      <vt:lpstr>20-7 Entropy</vt:lpstr>
      <vt:lpstr>20-7 Entropy</vt:lpstr>
      <vt:lpstr>20-7 Entropy</vt:lpstr>
      <vt:lpstr>Sample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CCN1049 Physics I</dc:title>
  <dc:creator>Hing-tung Mok [HKCC]</dc:creator>
  <cp:lastModifiedBy>waqas haider</cp:lastModifiedBy>
  <cp:revision>323</cp:revision>
  <cp:lastPrinted>2019-08-29T04:50:17Z</cp:lastPrinted>
  <dcterms:created xsi:type="dcterms:W3CDTF">2013-05-27T09:54:43Z</dcterms:created>
  <dcterms:modified xsi:type="dcterms:W3CDTF">2025-10-10T07:39:53Z</dcterms:modified>
</cp:coreProperties>
</file>