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1"/>
  </p:notesMasterIdLst>
  <p:sldIdLst>
    <p:sldId id="256" r:id="rId2"/>
    <p:sldId id="264" r:id="rId3"/>
    <p:sldId id="257" r:id="rId4"/>
    <p:sldId id="306" r:id="rId5"/>
    <p:sldId id="315" r:id="rId6"/>
    <p:sldId id="348" r:id="rId7"/>
    <p:sldId id="316" r:id="rId8"/>
    <p:sldId id="317" r:id="rId9"/>
    <p:sldId id="318" r:id="rId10"/>
    <p:sldId id="349" r:id="rId11"/>
    <p:sldId id="350" r:id="rId12"/>
    <p:sldId id="351" r:id="rId13"/>
    <p:sldId id="319" r:id="rId14"/>
    <p:sldId id="352" r:id="rId15"/>
    <p:sldId id="320" r:id="rId16"/>
    <p:sldId id="356" r:id="rId17"/>
    <p:sldId id="354" r:id="rId18"/>
    <p:sldId id="355" r:id="rId19"/>
    <p:sldId id="321" r:id="rId20"/>
    <p:sldId id="314" r:id="rId21"/>
    <p:sldId id="353" r:id="rId22"/>
    <p:sldId id="322" r:id="rId23"/>
    <p:sldId id="323" r:id="rId24"/>
    <p:sldId id="324" r:id="rId25"/>
    <p:sldId id="325" r:id="rId26"/>
    <p:sldId id="345" r:id="rId27"/>
    <p:sldId id="346" r:id="rId28"/>
    <p:sldId id="347" r:id="rId29"/>
    <p:sldId id="344" r:id="rId30"/>
    <p:sldId id="326" r:id="rId31"/>
    <p:sldId id="327" r:id="rId32"/>
    <p:sldId id="359" r:id="rId33"/>
    <p:sldId id="360" r:id="rId34"/>
    <p:sldId id="363" r:id="rId35"/>
    <p:sldId id="329" r:id="rId36"/>
    <p:sldId id="357" r:id="rId37"/>
    <p:sldId id="361" r:id="rId38"/>
    <p:sldId id="362" r:id="rId39"/>
    <p:sldId id="364" r:id="rId40"/>
    <p:sldId id="365" r:id="rId41"/>
    <p:sldId id="330" r:id="rId42"/>
    <p:sldId id="331" r:id="rId43"/>
    <p:sldId id="332" r:id="rId44"/>
    <p:sldId id="367" r:id="rId45"/>
    <p:sldId id="368" r:id="rId46"/>
    <p:sldId id="334" r:id="rId47"/>
    <p:sldId id="333" r:id="rId48"/>
    <p:sldId id="366" r:id="rId49"/>
    <p:sldId id="335" r:id="rId50"/>
    <p:sldId id="336" r:id="rId51"/>
    <p:sldId id="338" r:id="rId52"/>
    <p:sldId id="339" r:id="rId53"/>
    <p:sldId id="340" r:id="rId54"/>
    <p:sldId id="341" r:id="rId55"/>
    <p:sldId id="342" r:id="rId56"/>
    <p:sldId id="370" r:id="rId57"/>
    <p:sldId id="371" r:id="rId58"/>
    <p:sldId id="372" r:id="rId59"/>
    <p:sldId id="373" r:id="rId60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5"/>
    <p:restoredTop sz="94729"/>
  </p:normalViewPr>
  <p:slideViewPr>
    <p:cSldViewPr>
      <p:cViewPr varScale="1">
        <p:scale>
          <a:sx n="107" d="100"/>
          <a:sy n="107" d="100"/>
        </p:scale>
        <p:origin x="67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880"/>
        <p:guide pos="2160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AA16D03-D235-4816-A60A-290C0630A47B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C7D4A74-6C7F-4752-B49D-9BACC919F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13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227D-D2F5-DB66-0834-29701C883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98F6D-6558-E77E-8FA3-A35CFACC8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8E873-D445-6AEA-CB6D-99293490E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84282-94B6-063C-B499-E38FF1FF3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857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217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3888" y="6356350"/>
            <a:ext cx="5125960" cy="365760"/>
          </a:xfrm>
        </p:spPr>
        <p:txBody>
          <a:bodyPr/>
          <a:lstStyle>
            <a:lvl1pPr algn="r">
              <a:defRPr/>
            </a:lvl1pPr>
          </a:lstStyle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59.png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PHYS1001B</a:t>
            </a:r>
            <a:r>
              <a:rPr lang="en-GB" dirty="0"/>
              <a:t> </a:t>
            </a:r>
            <a:r>
              <a:rPr lang="en-US" altLang="zh-CN" dirty="0"/>
              <a:t>College</a:t>
            </a:r>
            <a:r>
              <a:rPr lang="zh-CN" altLang="en-US" dirty="0"/>
              <a:t> </a:t>
            </a:r>
            <a:r>
              <a:rPr lang="en-GB" dirty="0"/>
              <a:t>Physics I</a:t>
            </a:r>
            <a:r>
              <a:rPr lang="en-US" altLang="zh-CN"/>
              <a:t>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Optics</a:t>
            </a:r>
            <a:r>
              <a:rPr lang="fr-FR" dirty="0"/>
              <a:t> I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SG" altLang="zh-CN" dirty="0"/>
              <a:t>Geometric Optics</a:t>
            </a:r>
            <a:r>
              <a:rPr lang="zh-CN" altLang="en-US" dirty="0"/>
              <a:t> </a:t>
            </a:r>
            <a:r>
              <a:rPr lang="fr-FR" dirty="0"/>
              <a:t>(Ch. </a:t>
            </a:r>
            <a:r>
              <a:rPr lang="en-US" altLang="zh-CN" dirty="0"/>
              <a:t>34</a:t>
            </a:r>
            <a:r>
              <a:rPr lang="fr-FR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01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31A1FA-B7B1-2F03-7373-70F80173F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255434"/>
            <a:ext cx="6264696" cy="502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5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Reflection and Refraction at a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Plane Surface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Reflection at a Spherical Surface</a:t>
            </a:r>
          </a:p>
          <a:p>
            <a:r>
              <a:rPr lang="en-US" altLang="zh-CN" dirty="0">
                <a:latin typeface="Helvetica Neue" panose="02000503000000020004" pitchFamily="2" charset="0"/>
              </a:rPr>
              <a:t>34-3</a:t>
            </a:r>
            <a:r>
              <a:rPr lang="zh-CN" altLang="en-US" dirty="0">
                <a:latin typeface="Helvetica Neue" panose="02000503000000020004" pitchFamily="2" charset="0"/>
              </a:rPr>
              <a:t> </a:t>
            </a:r>
            <a:r>
              <a:rPr lang="en-US" altLang="zh-CN" dirty="0">
                <a:latin typeface="Helvetica Neue" panose="02000503000000020004" pitchFamily="2" charset="0"/>
              </a:rPr>
              <a:t>Refraction</a:t>
            </a:r>
            <a:r>
              <a:rPr lang="zh-CN" altLang="en-US" dirty="0">
                <a:latin typeface="Helvetica Neue" panose="02000503000000020004" pitchFamily="2" charset="0"/>
              </a:rPr>
              <a:t> </a:t>
            </a:r>
            <a:r>
              <a:rPr lang="en-US" altLang="zh-CN" dirty="0">
                <a:latin typeface="Helvetica Neue" panose="02000503000000020004" pitchFamily="2" charset="0"/>
              </a:rPr>
              <a:t>at</a:t>
            </a:r>
            <a:r>
              <a:rPr lang="zh-CN" altLang="en-US" dirty="0"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a Spherical Surface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Thin Lenses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Cameras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The Eye</a:t>
            </a:r>
          </a:p>
          <a:p>
            <a:r>
              <a:rPr lang="en-SG" dirty="0">
                <a:latin typeface="Helvetica Neue" panose="02000503000000020004" pitchFamily="2" charset="0"/>
              </a:rPr>
              <a:t>34-7 The Magnifier</a:t>
            </a:r>
          </a:p>
          <a:p>
            <a:r>
              <a:rPr lang="en-SG">
                <a:effectLst/>
                <a:latin typeface="Helvetica Neue" panose="02000503000000020004" pitchFamily="2" charset="0"/>
              </a:rPr>
              <a:t>34-</a:t>
            </a:r>
            <a:r>
              <a:rPr lang="en-SG">
                <a:latin typeface="Helvetica Neue" panose="02000503000000020004" pitchFamily="2" charset="0"/>
              </a:rPr>
              <a:t>8 Microscopes and Telescopes</a:t>
            </a:r>
            <a:endParaRPr lang="en-SG" dirty="0">
              <a:effectLst/>
              <a:latin typeface="Helvetica Neue" panose="02000503000000020004" pitchFamily="2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7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Reflection and Refraction at a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Plane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B59BA-4AE2-4C57-B1F8-96469E0FE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43031"/>
            <a:ext cx="2915240" cy="3027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A777E3-1C63-6380-6127-2A921AF80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772816"/>
            <a:ext cx="3945298" cy="378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5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Reflection and Refraction at a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Plane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58B91D-C50B-CA78-E187-48AA12DBA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791" y="1211070"/>
            <a:ext cx="3749363" cy="5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38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1F66-C626-81AE-4CD1-D3129A50E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AC519-6220-1D96-BF32-7F95F27D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Reflection and Refraction at a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Plane Surface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AADCA-5FE1-B641-264A-812ED7FE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09E2C-DB79-1D81-7E2D-92E6DC03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9AC5D-5798-6FF2-72AB-8DB335E8B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39" y="2499107"/>
            <a:ext cx="8640522" cy="3107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A0DEB8-C52D-2589-80FB-9D45F2B68632}"/>
              </a:ext>
            </a:extLst>
          </p:cNvPr>
          <p:cNvSpPr txBox="1"/>
          <p:nvPr/>
        </p:nvSpPr>
        <p:spPr>
          <a:xfrm>
            <a:off x="593766" y="1603169"/>
            <a:ext cx="17892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Sign</a:t>
            </a:r>
            <a:r>
              <a:rPr lang="zh-CN" altLang="en-US" sz="3200" dirty="0"/>
              <a:t> </a:t>
            </a:r>
            <a:r>
              <a:rPr lang="en-US" altLang="zh-CN" sz="3200" dirty="0"/>
              <a:t>rules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36525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Reflection and Refraction at a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Plane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57441-6BCC-7980-BC95-772D80D65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3079"/>
            <a:ext cx="3598712" cy="41780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5C0911-0324-0861-2EE9-709966707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1222466"/>
            <a:ext cx="3024336" cy="505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6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Reflection and Refraction at a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Plane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E34DD5-41FA-9A74-1D55-CBD6FC5A7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174" y="1315108"/>
            <a:ext cx="4642601" cy="3646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8FB3EB-AAE2-414A-D7A1-E405E2638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174" y="5133881"/>
            <a:ext cx="4642601" cy="8552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849787-025D-63FF-5FF5-65E16CD5E869}"/>
              </a:ext>
            </a:extLst>
          </p:cNvPr>
          <p:cNvSpPr txBox="1"/>
          <p:nvPr/>
        </p:nvSpPr>
        <p:spPr>
          <a:xfrm>
            <a:off x="6876256" y="5122842"/>
            <a:ext cx="2106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effectLst/>
                <a:latin typeface="Times"/>
              </a:rPr>
              <a:t>m&gt;0</a:t>
            </a:r>
            <a:r>
              <a:rPr lang="zh-CN" altLang="en-US" sz="2400" b="1" dirty="0">
                <a:effectLst/>
                <a:latin typeface="Times"/>
              </a:rPr>
              <a:t> </a:t>
            </a:r>
            <a:r>
              <a:rPr lang="en-SG" sz="2400" b="1" dirty="0">
                <a:effectLst/>
                <a:latin typeface="Times"/>
              </a:rPr>
              <a:t>erect</a:t>
            </a:r>
          </a:p>
          <a:p>
            <a:r>
              <a:rPr lang="en-US" altLang="zh-CN" sz="2400" b="1" dirty="0">
                <a:latin typeface="Times"/>
              </a:rPr>
              <a:t>m&lt;0</a:t>
            </a:r>
            <a:r>
              <a:rPr lang="en-SG" sz="2400" b="1" dirty="0">
                <a:effectLst/>
                <a:latin typeface="Times"/>
              </a:rPr>
              <a:t> </a:t>
            </a:r>
            <a:r>
              <a:rPr lang="en-US" altLang="zh-CN" sz="2400" b="1" dirty="0">
                <a:latin typeface="Times"/>
              </a:rPr>
              <a:t>inverted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756395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Reflection and Refraction at a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Plane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00F15-E662-8735-34D9-9BAE9E235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45" y="2113103"/>
            <a:ext cx="4008251" cy="3856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C21191-CC10-4080-ABCA-C4579BB66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790" y="1625298"/>
            <a:ext cx="4279900" cy="4470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67DA5-38D7-13DD-4376-0FFEAD528AD2}"/>
              </a:ext>
            </a:extLst>
          </p:cNvPr>
          <p:cNvSpPr txBox="1"/>
          <p:nvPr/>
        </p:nvSpPr>
        <p:spPr>
          <a:xfrm>
            <a:off x="298142" y="1264140"/>
            <a:ext cx="8579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The image formed by a plane mirror is virtual, erect, and reversed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931744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D33E7-9565-DE9C-AFD3-3A6296E03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8AD7-2A7D-278E-27B6-0CE70B29E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Reflection and Refraction at a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Plane Surface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613F1-DCB6-1F1B-8D92-2BAD4994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2F06E-DCBA-614C-B023-A6DF2DEE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675DE9-63F9-D5A4-EE31-1191E279BF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268"/>
          <a:stretch/>
        </p:blipFill>
        <p:spPr>
          <a:xfrm>
            <a:off x="4355976" y="2348879"/>
            <a:ext cx="4129202" cy="3519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B3B2F9-96EE-1793-6F3E-735494C386A3}"/>
              </a:ext>
            </a:extLst>
          </p:cNvPr>
          <p:cNvSpPr txBox="1"/>
          <p:nvPr/>
        </p:nvSpPr>
        <p:spPr>
          <a:xfrm>
            <a:off x="323528" y="1284274"/>
            <a:ext cx="5621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Image</a:t>
            </a:r>
            <a:r>
              <a:rPr lang="zh-CN" altLang="en-US" sz="2400" dirty="0"/>
              <a:t> </a:t>
            </a:r>
            <a:r>
              <a:rPr lang="en-US" altLang="zh-CN" sz="2400" dirty="0"/>
              <a:t>served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object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second</a:t>
            </a:r>
            <a:r>
              <a:rPr lang="zh-CN" altLang="en-US" sz="2400" dirty="0"/>
              <a:t> </a:t>
            </a:r>
            <a:r>
              <a:rPr lang="en-US" altLang="zh-CN" sz="2400" dirty="0"/>
              <a:t>surface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D508F2-2200-65DE-910B-C8CBFD2E0D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500"/>
          <a:stretch/>
        </p:blipFill>
        <p:spPr>
          <a:xfrm>
            <a:off x="226774" y="3286406"/>
            <a:ext cx="4129202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92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7B6B3-DF73-5D2C-C9EA-160C75A7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5BF8E-A275-51D6-9641-25F9DA4A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Reflection and Refraction at a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Plane Surface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0F29B-54B6-C226-1D43-3F49373F1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6DFBA-5CF9-BA2D-411B-77112B0F7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5EE42-02FB-365E-6DC2-5CD4C8F32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492896"/>
            <a:ext cx="8341714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971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3556C-00A9-5DEB-277B-60A44EEB2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97E9-F9CB-A985-82FD-645E0D844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Reflection at a Spherical Surface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BCBED-81EA-1E29-3827-2D86D8A61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1D375-7AA4-FDEB-CFB7-8D93EA46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39080-21A7-0923-B576-D4A06274D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708920"/>
            <a:ext cx="3582969" cy="2557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2B3851-56BC-ACA3-7821-2822DD393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073" y="2203937"/>
            <a:ext cx="3725161" cy="38448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180AEB3-F302-8DBF-E973-F014036E29CE}"/>
              </a:ext>
            </a:extLst>
          </p:cNvPr>
          <p:cNvSpPr txBox="1"/>
          <p:nvPr/>
        </p:nvSpPr>
        <p:spPr>
          <a:xfrm>
            <a:off x="755576" y="1402701"/>
            <a:ext cx="7411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Times"/>
              </a:rPr>
              <a:t>M</a:t>
            </a:r>
            <a:r>
              <a:rPr lang="en-SG" sz="2400" dirty="0" err="1">
                <a:effectLst/>
                <a:latin typeface="Times"/>
              </a:rPr>
              <a:t>agnifying</a:t>
            </a:r>
            <a:r>
              <a:rPr lang="en-SG" sz="2400" dirty="0">
                <a:effectLst/>
                <a:latin typeface="Times"/>
              </a:rPr>
              <a:t> mirror</a:t>
            </a:r>
            <a:r>
              <a:rPr lang="en-US" altLang="zh-CN" sz="2400" dirty="0">
                <a:latin typeface="Times"/>
              </a:rPr>
              <a:t>: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Larger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image</a:t>
            </a:r>
          </a:p>
          <a:p>
            <a:r>
              <a:rPr lang="en-US" altLang="zh-CN" sz="2400" dirty="0">
                <a:latin typeface="Times"/>
              </a:rPr>
              <a:t>S</a:t>
            </a:r>
            <a:r>
              <a:rPr lang="en-SG" sz="2400" dirty="0" err="1">
                <a:effectLst/>
                <a:latin typeface="Times"/>
              </a:rPr>
              <a:t>urveillance</a:t>
            </a:r>
            <a:r>
              <a:rPr lang="en-SG" sz="2400" dirty="0">
                <a:effectLst/>
                <a:latin typeface="Times"/>
              </a:rPr>
              <a:t> mirrors</a:t>
            </a:r>
            <a:r>
              <a:rPr lang="en-US" altLang="zh-CN" sz="2400" dirty="0">
                <a:latin typeface="Times"/>
              </a:rPr>
              <a:t>: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Smaller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image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221101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Reflection at a Spherical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5BDDB7-2207-4A82-0CF3-76E486D53E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31"/>
          <a:stretch/>
        </p:blipFill>
        <p:spPr>
          <a:xfrm>
            <a:off x="457200" y="1988839"/>
            <a:ext cx="4140200" cy="33853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4FF555-5FEC-DBDD-45EA-5381069FA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400" y="2473075"/>
            <a:ext cx="3776340" cy="5991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E70F1C-D715-D623-10A4-21DAF5ABD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020" y="3529550"/>
            <a:ext cx="1765300" cy="469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0644F1-0066-84A5-04B0-D5DA466A8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704" y="5489123"/>
            <a:ext cx="5898482" cy="783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D77032-D79A-3E21-F8DB-CAA56115D6A0}"/>
              </a:ext>
            </a:extLst>
          </p:cNvPr>
          <p:cNvSpPr txBox="1"/>
          <p:nvPr/>
        </p:nvSpPr>
        <p:spPr>
          <a:xfrm>
            <a:off x="431655" y="1331703"/>
            <a:ext cx="5695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Concave</a:t>
            </a:r>
            <a:r>
              <a:rPr lang="zh-CN" altLang="en-US" sz="2400" dirty="0"/>
              <a:t> </a:t>
            </a:r>
            <a:r>
              <a:rPr lang="en-US" altLang="zh-CN" sz="2400" dirty="0"/>
              <a:t>spherical</a:t>
            </a:r>
            <a:r>
              <a:rPr lang="zh-CN" altLang="en-US" sz="2400" dirty="0"/>
              <a:t> </a:t>
            </a:r>
            <a:r>
              <a:rPr lang="en-US" altLang="zh-CN" sz="2400" dirty="0"/>
              <a:t>mirror:</a:t>
            </a:r>
            <a:r>
              <a:rPr lang="zh-CN" altLang="en-US" sz="2400" dirty="0"/>
              <a:t> </a:t>
            </a:r>
            <a:r>
              <a:rPr lang="en-US" altLang="zh-CN" sz="2400" dirty="0"/>
              <a:t>Finding</a:t>
            </a:r>
            <a:r>
              <a:rPr lang="zh-CN" altLang="en-US" sz="2400" dirty="0"/>
              <a:t> </a:t>
            </a:r>
            <a:r>
              <a:rPr lang="en-US" altLang="zh-CN" sz="2400" dirty="0"/>
              <a:t>position</a:t>
            </a:r>
            <a:r>
              <a:rPr lang="zh-CN" altLang="en-US" sz="2400" dirty="0"/>
              <a:t> </a:t>
            </a:r>
            <a:r>
              <a:rPr lang="en-US" altLang="zh-CN" sz="2400" dirty="0"/>
              <a:t>s’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676EC-6C42-793D-2FD1-0766CEC88D11}"/>
              </a:ext>
            </a:extLst>
          </p:cNvPr>
          <p:cNvSpPr txBox="1"/>
          <p:nvPr/>
        </p:nvSpPr>
        <p:spPr>
          <a:xfrm>
            <a:off x="4313362" y="4529645"/>
            <a:ext cx="440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s:</a:t>
            </a:r>
            <a:r>
              <a:rPr lang="zh-CN" altLang="en-US" dirty="0"/>
              <a:t> </a:t>
            </a:r>
            <a:r>
              <a:rPr lang="en-US" altLang="zh-CN" dirty="0"/>
              <a:t>distance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object</a:t>
            </a:r>
            <a:r>
              <a:rPr lang="zh-CN" altLang="en-US" dirty="0"/>
              <a:t>        </a:t>
            </a:r>
            <a:r>
              <a:rPr lang="en-US" altLang="zh-CN" dirty="0"/>
              <a:t>s’:</a:t>
            </a:r>
            <a:r>
              <a:rPr lang="zh-CN" altLang="en-US" dirty="0"/>
              <a:t> </a:t>
            </a:r>
            <a:r>
              <a:rPr lang="en-US" altLang="zh-CN" dirty="0"/>
              <a:t>distance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76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C959-F7A8-F8E0-50AF-34AF811EE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E1C2-7959-6255-C7B5-AD4A5969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Reflection at a Spherical Surface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2C108-2E7D-B36A-2C62-5563BD03A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6782C-FDBC-2E5C-F189-64D361C6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E8815B-8929-FBC7-44D1-AD90719EB0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31"/>
          <a:stretch/>
        </p:blipFill>
        <p:spPr>
          <a:xfrm>
            <a:off x="457200" y="1988839"/>
            <a:ext cx="4140200" cy="33853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E70053-C2A1-63C3-0473-A424705B9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122" y="4134807"/>
            <a:ext cx="3708400" cy="76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406C91-4E3E-DFD6-6454-9EB6863A3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628" y="5374216"/>
            <a:ext cx="7910877" cy="9082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0FADA8-E568-854A-5CD0-C01976244040}"/>
                  </a:ext>
                </a:extLst>
              </p:cNvPr>
              <p:cNvSpPr txBox="1"/>
              <p:nvPr/>
            </p:nvSpPr>
            <p:spPr>
              <a:xfrm>
                <a:off x="4375427" y="2241730"/>
                <a:ext cx="35028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Small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angle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and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distance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0FADA8-E568-854A-5CD0-C01976244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427" y="2241730"/>
                <a:ext cx="3502882" cy="461665"/>
              </a:xfrm>
              <a:prstGeom prst="rect">
                <a:avLst/>
              </a:prstGeom>
              <a:blipFill>
                <a:blip r:embed="rId5"/>
                <a:stretch>
                  <a:fillRect l="-2888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56541BC-15F0-FD2A-9FA9-13B1377AEEA4}"/>
              </a:ext>
            </a:extLst>
          </p:cNvPr>
          <p:cNvSpPr txBox="1"/>
          <p:nvPr/>
        </p:nvSpPr>
        <p:spPr>
          <a:xfrm>
            <a:off x="431655" y="1331703"/>
            <a:ext cx="5695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Concave</a:t>
            </a:r>
            <a:r>
              <a:rPr lang="zh-CN" altLang="en-US" sz="2400" dirty="0"/>
              <a:t> </a:t>
            </a:r>
            <a:r>
              <a:rPr lang="en-US" altLang="zh-CN" sz="2400" dirty="0"/>
              <a:t>spherical</a:t>
            </a:r>
            <a:r>
              <a:rPr lang="zh-CN" altLang="en-US" sz="2400" dirty="0"/>
              <a:t> </a:t>
            </a:r>
            <a:r>
              <a:rPr lang="en-US" altLang="zh-CN" sz="2400" dirty="0"/>
              <a:t>mirror:</a:t>
            </a:r>
            <a:r>
              <a:rPr lang="zh-CN" altLang="en-US" sz="2400" dirty="0"/>
              <a:t> </a:t>
            </a:r>
            <a:r>
              <a:rPr lang="en-US" altLang="zh-CN" sz="2400" dirty="0"/>
              <a:t>Finding</a:t>
            </a:r>
            <a:r>
              <a:rPr lang="zh-CN" altLang="en-US" sz="2400" dirty="0"/>
              <a:t> </a:t>
            </a:r>
            <a:r>
              <a:rPr lang="en-US" altLang="zh-CN" sz="2400" dirty="0"/>
              <a:t>position</a:t>
            </a:r>
            <a:r>
              <a:rPr lang="zh-CN" altLang="en-US" sz="2400" dirty="0"/>
              <a:t> </a:t>
            </a:r>
            <a:r>
              <a:rPr lang="en-US" altLang="zh-CN" sz="2400" dirty="0"/>
              <a:t>s’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DB7D18-2CBF-C0BF-D8CB-DAB9FA79FB3F}"/>
              </a:ext>
            </a:extLst>
          </p:cNvPr>
          <p:cNvSpPr txBox="1"/>
          <p:nvPr/>
        </p:nvSpPr>
        <p:spPr>
          <a:xfrm>
            <a:off x="4408264" y="2867607"/>
            <a:ext cx="4420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effectLst/>
                <a:latin typeface="Times"/>
              </a:rPr>
              <a:t>P</a:t>
            </a:r>
            <a:r>
              <a:rPr lang="en-SG" sz="2400" dirty="0" err="1">
                <a:effectLst/>
                <a:latin typeface="Times"/>
              </a:rPr>
              <a:t>araxial</a:t>
            </a:r>
            <a:r>
              <a:rPr lang="en-SG" sz="2400" dirty="0">
                <a:effectLst/>
                <a:latin typeface="Times"/>
              </a:rPr>
              <a:t> approximation </a:t>
            </a:r>
            <a:endParaRPr lang="en-SG" sz="2400" dirty="0"/>
          </a:p>
          <a:p>
            <a:r>
              <a:rPr lang="en-SG" sz="2400" dirty="0">
                <a:effectLst/>
                <a:latin typeface="Times"/>
              </a:rPr>
              <a:t>Rays</a:t>
            </a:r>
            <a:r>
              <a:rPr lang="zh-CN" altLang="en-US" sz="2400" dirty="0">
                <a:effectLst/>
                <a:latin typeface="Times"/>
              </a:rPr>
              <a:t> </a:t>
            </a:r>
            <a:r>
              <a:rPr lang="en-SG" sz="2400" dirty="0">
                <a:effectLst/>
                <a:latin typeface="Times"/>
              </a:rPr>
              <a:t>nearly parallel to the axis are paraxial rays. </a:t>
            </a:r>
            <a:endParaRPr lang="en-S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4A6249-43A8-5B35-E9D4-22A0A6C841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080" y="4870573"/>
            <a:ext cx="24765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00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Reflection at a Spherical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07F210-9B9D-DD9C-54D3-8BF8E8131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1596413"/>
            <a:ext cx="4102100" cy="4330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4C2E50-41F8-C49F-0CDC-0BC4B3D44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916832"/>
            <a:ext cx="3987800" cy="387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3506F6-F183-D26E-A014-A06B0C4CEBD7}"/>
              </a:ext>
            </a:extLst>
          </p:cNvPr>
          <p:cNvSpPr txBox="1"/>
          <p:nvPr/>
        </p:nvSpPr>
        <p:spPr>
          <a:xfrm>
            <a:off x="4762560" y="1269562"/>
            <a:ext cx="1388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Positive</a:t>
            </a:r>
            <a:r>
              <a:rPr lang="zh-CN" altLang="en-US" sz="2400" dirty="0"/>
              <a:t> </a:t>
            </a:r>
            <a:r>
              <a:rPr lang="en-US" altLang="zh-CN" sz="2400" dirty="0"/>
              <a:t>R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77A6BE-9FF1-9A6E-3F6C-DB2EB7693624}"/>
              </a:ext>
            </a:extLst>
          </p:cNvPr>
          <p:cNvSpPr txBox="1"/>
          <p:nvPr/>
        </p:nvSpPr>
        <p:spPr>
          <a:xfrm>
            <a:off x="4644008" y="3717032"/>
            <a:ext cx="15195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Negative</a:t>
            </a:r>
            <a:r>
              <a:rPr lang="zh-CN" altLang="en-US" sz="2400" dirty="0"/>
              <a:t> </a:t>
            </a:r>
            <a:r>
              <a:rPr lang="en-US" altLang="zh-CN" sz="2400" dirty="0"/>
              <a:t>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44105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AC2E-0DF5-B350-925B-3AD49F9D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5BFC-1EB9-A555-C4EB-3CB8B2444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Reflection at a Spherical Surface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0BDC1-2D47-2CD8-2B9F-B1DE796AD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8B4B0-06EC-2A37-3847-6A69806DA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16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8A938-19E1-E8AC-77C4-E70B9DDEDE0B}"/>
              </a:ext>
            </a:extLst>
          </p:cNvPr>
          <p:cNvSpPr txBox="1"/>
          <p:nvPr/>
        </p:nvSpPr>
        <p:spPr>
          <a:xfrm>
            <a:off x="1871700" y="2993228"/>
            <a:ext cx="540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Times"/>
              </a:rPr>
              <a:t>R</a:t>
            </a:r>
            <a:r>
              <a:rPr lang="en-SG" sz="2400" dirty="0" err="1">
                <a:effectLst/>
                <a:latin typeface="Times"/>
              </a:rPr>
              <a:t>adius</a:t>
            </a:r>
            <a:r>
              <a:rPr lang="en-SG" sz="2400" dirty="0">
                <a:effectLst/>
                <a:latin typeface="Times"/>
              </a:rPr>
              <a:t> of curvature becomes infinite</a:t>
            </a:r>
            <a:r>
              <a:rPr lang="en-US" altLang="zh-CN" sz="2400" dirty="0">
                <a:effectLst/>
                <a:latin typeface="Times"/>
              </a:rPr>
              <a:t>?</a:t>
            </a:r>
          </a:p>
          <a:p>
            <a:r>
              <a:rPr lang="en-US" altLang="zh-CN" sz="2400" dirty="0">
                <a:latin typeface="Times"/>
              </a:rPr>
              <a:t>What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the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mirror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look</a:t>
            </a:r>
            <a:r>
              <a:rPr lang="zh-CN" altLang="en-US" sz="2400" dirty="0"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like?</a:t>
            </a:r>
          </a:p>
        </p:txBody>
      </p:sp>
    </p:spTree>
    <p:extLst>
      <p:ext uri="{BB962C8B-B14F-4D97-AF65-F5344CB8AC3E}">
        <p14:creationId xmlns:p14="http://schemas.microsoft.com/office/powerpoint/2010/main" val="3256135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46FE5-FE1F-FADC-5FB0-DD30A043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692D8-A2FF-C706-FC42-74C9FDE0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Reflection at a Spherical Surface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90D70-E4B7-9519-5041-D00EC8DF0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FABB2-2174-D2AD-01AC-465B8BB6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17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ECBAC-0AE3-EAD3-81DE-094D30E3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38" y="1882172"/>
            <a:ext cx="3888432" cy="44030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1432E1-6D04-6E8D-67F2-A840ADC619C1}"/>
              </a:ext>
            </a:extLst>
          </p:cNvPr>
          <p:cNvSpPr txBox="1"/>
          <p:nvPr/>
        </p:nvSpPr>
        <p:spPr>
          <a:xfrm>
            <a:off x="541538" y="1349406"/>
            <a:ext cx="3725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Focal</a:t>
            </a:r>
            <a:r>
              <a:rPr lang="zh-CN" altLang="en-US" sz="2400" dirty="0"/>
              <a:t> </a:t>
            </a:r>
            <a:r>
              <a:rPr lang="en-US" altLang="zh-CN" sz="2400" dirty="0"/>
              <a:t>point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Focal</a:t>
            </a:r>
            <a:r>
              <a:rPr lang="zh-CN" altLang="en-US" sz="2400" dirty="0"/>
              <a:t> </a:t>
            </a:r>
            <a:r>
              <a:rPr lang="en-US" altLang="zh-CN" sz="2400" dirty="0"/>
              <a:t>Length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E12F02-AF26-2A36-B0B1-37A2B0FAB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980" y="3485550"/>
            <a:ext cx="3814444" cy="12304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5CD4AB-E344-0FA8-5DD5-0E3944A0950A}"/>
              </a:ext>
            </a:extLst>
          </p:cNvPr>
          <p:cNvSpPr txBox="1"/>
          <p:nvPr/>
        </p:nvSpPr>
        <p:spPr>
          <a:xfrm>
            <a:off x="4429970" y="232174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Times"/>
              </a:rPr>
              <a:t>When the object point </a:t>
            </a:r>
            <a:r>
              <a:rPr lang="en-SG" sz="1800" i="1" dirty="0">
                <a:effectLst/>
                <a:latin typeface="Times"/>
              </a:rPr>
              <a:t>P </a:t>
            </a:r>
            <a:r>
              <a:rPr lang="en-SG" sz="1800" dirty="0">
                <a:effectLst/>
                <a:latin typeface="Times"/>
              </a:rPr>
              <a:t>is very far from the spherical mirror </a:t>
            </a:r>
            <a:r>
              <a:rPr lang="en-SG" sz="1800" i="1" dirty="0">
                <a:effectLst/>
                <a:latin typeface="Times"/>
              </a:rPr>
              <a:t>s </a:t>
            </a:r>
            <a:r>
              <a:rPr lang="en-SG" sz="1800" dirty="0">
                <a:effectLst/>
                <a:latin typeface="Optr2k"/>
              </a:rPr>
              <a:t>=  </a:t>
            </a:r>
            <a:r>
              <a:rPr lang="zh-CN" altLang="en-US" sz="1800" dirty="0">
                <a:effectLst/>
                <a:latin typeface="Optr2k"/>
              </a:rPr>
              <a:t>∞</a:t>
            </a:r>
            <a:endParaRPr lang="en-S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57080C-597D-0DF9-CC2D-D577EEA9AC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654"/>
          <a:stretch/>
        </p:blipFill>
        <p:spPr>
          <a:xfrm>
            <a:off x="5940152" y="5084053"/>
            <a:ext cx="1325452" cy="8732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1EA9804-D2E0-3E51-A7C9-7A9DFBE29094}"/>
              </a:ext>
            </a:extLst>
          </p:cNvPr>
          <p:cNvSpPr txBox="1"/>
          <p:nvPr/>
        </p:nvSpPr>
        <p:spPr>
          <a:xfrm>
            <a:off x="4616390" y="5351517"/>
            <a:ext cx="1315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US" altLang="zh-CN" dirty="0"/>
              <a:t>ocal</a:t>
            </a:r>
            <a:r>
              <a:rPr lang="zh-CN" altLang="en-US" dirty="0"/>
              <a:t> </a:t>
            </a:r>
            <a:r>
              <a:rPr lang="en-US" altLang="zh-CN" dirty="0"/>
              <a:t>length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113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E4D4D-0E90-DD29-0BE5-3B308319F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E97D-47D5-DA47-D427-5C0A20F10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Reflection at a Spherical Surface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D965DE-9BEB-03D0-8542-CD058B89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7D1AA-0F0C-A838-934D-E5F958BB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18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14EFE7-3D67-93D7-98E0-299A805BF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68" y="1700808"/>
            <a:ext cx="4001432" cy="44959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103EAC-AFE8-561D-822A-4F1CF9ED5469}"/>
              </a:ext>
            </a:extLst>
          </p:cNvPr>
          <p:cNvSpPr txBox="1"/>
          <p:nvPr/>
        </p:nvSpPr>
        <p:spPr>
          <a:xfrm>
            <a:off x="541538" y="1349406"/>
            <a:ext cx="3725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Focal</a:t>
            </a:r>
            <a:r>
              <a:rPr lang="zh-CN" altLang="en-US" sz="2400" dirty="0"/>
              <a:t> </a:t>
            </a:r>
            <a:r>
              <a:rPr lang="en-US" altLang="zh-CN" sz="2400" dirty="0"/>
              <a:t>point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Focal</a:t>
            </a:r>
            <a:r>
              <a:rPr lang="zh-CN" altLang="en-US" sz="2400" dirty="0"/>
              <a:t> </a:t>
            </a:r>
            <a:r>
              <a:rPr lang="en-US" altLang="zh-CN" sz="2400" dirty="0"/>
              <a:t>Length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F1436B-71E3-8C36-B52E-E965BFB84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917" y="3289591"/>
            <a:ext cx="4673600" cy="901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8DDB80-5156-034C-0882-7D4A03150567}"/>
              </a:ext>
            </a:extLst>
          </p:cNvPr>
          <p:cNvSpPr txBox="1"/>
          <p:nvPr/>
        </p:nvSpPr>
        <p:spPr>
          <a:xfrm>
            <a:off x="4266917" y="26959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ffectLst/>
                <a:latin typeface="Times"/>
              </a:rPr>
              <a:t>T</a:t>
            </a:r>
            <a:r>
              <a:rPr lang="en-SG" dirty="0">
                <a:effectLst/>
                <a:latin typeface="Times"/>
              </a:rPr>
              <a:t>he </a:t>
            </a:r>
            <a:r>
              <a:rPr lang="en-SG" i="1" dirty="0">
                <a:effectLst/>
                <a:latin typeface="Times"/>
              </a:rPr>
              <a:t>object </a:t>
            </a:r>
            <a:r>
              <a:rPr lang="en-SG" dirty="0">
                <a:effectLst/>
                <a:latin typeface="Times"/>
              </a:rPr>
              <a:t>is placed at the focal point </a:t>
            </a:r>
            <a:r>
              <a:rPr lang="en-SG" i="1" dirty="0">
                <a:effectLst/>
                <a:latin typeface="Times"/>
              </a:rPr>
              <a:t>F</a:t>
            </a:r>
            <a:r>
              <a:rPr lang="en-SG" dirty="0">
                <a:effectLst/>
                <a:latin typeface="Times"/>
              </a:rPr>
              <a:t>,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54505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Reflection at a Spherical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7A392-4FA7-1A7A-D0C7-B3079E7DD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08" y="1519726"/>
            <a:ext cx="6540500" cy="3530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2A901D-D641-A2D5-2BC9-C745ABD3D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5157192"/>
            <a:ext cx="8291033" cy="1095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CAE128-473A-5C00-1F65-838291C7964B}"/>
              </a:ext>
            </a:extLst>
          </p:cNvPr>
          <p:cNvSpPr txBox="1"/>
          <p:nvPr/>
        </p:nvSpPr>
        <p:spPr>
          <a:xfrm>
            <a:off x="593904" y="118202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an object with </a:t>
            </a:r>
            <a:r>
              <a:rPr lang="en-SG" sz="2400" i="1" dirty="0">
                <a:effectLst/>
                <a:latin typeface="Times"/>
              </a:rPr>
              <a:t>finite </a:t>
            </a:r>
            <a:r>
              <a:rPr lang="en-SG" sz="2400" dirty="0">
                <a:effectLst/>
                <a:latin typeface="Times"/>
              </a:rPr>
              <a:t>size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4169889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14D6E3-0C7A-8FA7-55AB-1C9AD4575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6370"/>
            <a:ext cx="6082874" cy="6048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16EA04-FB35-49C1-DC9D-8A9DE22CF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1234"/>
            <a:ext cx="7941737" cy="19309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268BF6-0CD9-A1CD-6DB4-253443C60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3701694"/>
            <a:ext cx="6408712" cy="26546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2EF2AA-1E18-43A2-ADDF-C64B80CB75A1}"/>
              </a:ext>
            </a:extLst>
          </p:cNvPr>
          <p:cNvSpPr/>
          <p:nvPr/>
        </p:nvSpPr>
        <p:spPr>
          <a:xfrm>
            <a:off x="1259632" y="3645024"/>
            <a:ext cx="1152128" cy="24482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DF5624-FB28-4898-14B7-EB7327FD4BFC}"/>
              </a:ext>
            </a:extLst>
          </p:cNvPr>
          <p:cNvSpPr/>
          <p:nvPr/>
        </p:nvSpPr>
        <p:spPr>
          <a:xfrm>
            <a:off x="6372200" y="3904375"/>
            <a:ext cx="432048" cy="176427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23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F462-0A14-6A8C-CC56-A4DE3E536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406D-EE7B-6396-D26E-2CCBD13E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64ABA-9607-D832-0464-7258E5E0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42269-1C06-8A9E-B360-7FAEBA1C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0A5EFB-43C6-CD70-8BDE-7D4115B74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6370"/>
            <a:ext cx="4972364" cy="4944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DEFB30-541E-F841-5512-FE59D9806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709963"/>
            <a:ext cx="6059016" cy="461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37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Reflection at a Spherical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FB630-4503-F554-9EE1-E881E64E1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26" y="2493698"/>
            <a:ext cx="8977874" cy="27363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AC620C-7C9D-6411-9835-33E398332BBB}"/>
              </a:ext>
            </a:extLst>
          </p:cNvPr>
          <p:cNvSpPr txBox="1"/>
          <p:nvPr/>
        </p:nvSpPr>
        <p:spPr>
          <a:xfrm>
            <a:off x="323528" y="1643046"/>
            <a:ext cx="46540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Image formation by a convex mirror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533654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Reflection at a Spherical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3FDEA3-5104-481A-547A-748560A1C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39" y="1916832"/>
            <a:ext cx="7921921" cy="4367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F62B70-9633-73FE-246F-586EDB19A04C}"/>
              </a:ext>
            </a:extLst>
          </p:cNvPr>
          <p:cNvSpPr txBox="1"/>
          <p:nvPr/>
        </p:nvSpPr>
        <p:spPr>
          <a:xfrm>
            <a:off x="611039" y="137911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Times"/>
              </a:rPr>
              <a:t>F</a:t>
            </a:r>
            <a:r>
              <a:rPr lang="en-SG" sz="2400" dirty="0" err="1">
                <a:effectLst/>
                <a:latin typeface="Times"/>
              </a:rPr>
              <a:t>ocal</a:t>
            </a:r>
            <a:r>
              <a:rPr lang="en-SG" sz="2400" dirty="0">
                <a:effectLst/>
                <a:latin typeface="Times"/>
              </a:rPr>
              <a:t> point and focal length </a:t>
            </a:r>
            <a:endParaRPr lang="en-S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7F8C6B-F5AE-ECF5-E97B-83719D193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1172732"/>
            <a:ext cx="20447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50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E7268-5A26-3015-5326-105A93A7AA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66"/>
          <a:stretch/>
        </p:blipFill>
        <p:spPr>
          <a:xfrm>
            <a:off x="304364" y="1161218"/>
            <a:ext cx="5125960" cy="2055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2C3CA4-D222-0FAD-7A04-F42DF5DAA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32" y="3190776"/>
            <a:ext cx="7566424" cy="303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21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4EA064-0B04-A4A8-398C-5EB3419CF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268760"/>
            <a:ext cx="5382925" cy="23038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140C3F-D056-EE77-1474-B80A46CCD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46" y="3848274"/>
            <a:ext cx="5730732" cy="22324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3D84E9-25F7-AA18-DBE0-7A84641CA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277" y="1268760"/>
            <a:ext cx="3497723" cy="241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53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58272-5936-46BC-4130-A8113F29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7A703-4052-CCBE-6F99-CF72C61DD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5F30F-02E1-7F03-F3E3-695C587E8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87405-E302-B794-D8E9-EFB4F322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DDF28C-2834-F023-C3AB-AC957A60F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4145"/>
            <a:ext cx="7772400" cy="727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95C9F1-A972-248A-7C67-6B58FBFE9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5919"/>
            <a:ext cx="8010723" cy="207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40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936E-7ECE-7D0F-D7D5-FB6A40708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FA19-37FA-70D6-3399-67239E17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0FED6-96E2-65AF-F40C-1E9AFDAE8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C8DF7-E8C7-ACF2-0DAF-D34B7263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285B64-E5DF-4679-FA9A-578C89DC4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714" y="1280783"/>
            <a:ext cx="6408712" cy="4900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B0CC1E-A1FC-90D4-65C6-A41750D3C8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50" r="11725"/>
          <a:stretch/>
        </p:blipFill>
        <p:spPr>
          <a:xfrm>
            <a:off x="179512" y="1318475"/>
            <a:ext cx="1981200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336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1F1D-772B-98A7-D2DB-09EFD744D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1D4D-1E6A-AED1-CFCE-3DFD4F31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3AA0D-35C5-08F8-4FEE-B84644C0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81C5C-EABD-11E9-3788-A80A0D27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4234C-F8BD-86E3-FCC1-912F64034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1" y="0"/>
            <a:ext cx="2535115" cy="114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618223-6F01-B552-1DA5-03E4906BD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20" y="1252440"/>
            <a:ext cx="6840760" cy="37258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AA2F28-7AF8-6D69-1113-457D597F5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0" y="5087758"/>
            <a:ext cx="7226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44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EE3F4-D87A-CA66-479F-4DE382D48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655C7-BB89-BD47-5228-72156208E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C4C346-67A1-F265-D125-221A7E4C0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C22F1-AD15-C966-50FD-00F0F06D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CDD9EA-FD91-92B9-B2DA-656F1A838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259079"/>
            <a:ext cx="6048672" cy="508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43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Refraction at a Spherical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30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18D715-D5CA-C1A5-BF29-CE61A4EAD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87" y="1667381"/>
            <a:ext cx="7917285" cy="3272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2D16CD-8001-F12B-0794-DDE1B2FCC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340" y="4956150"/>
            <a:ext cx="3314700" cy="546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386E2C-C14B-8E2E-28FB-53A1438F9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321" y="4926025"/>
            <a:ext cx="2286000" cy="520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EE43F0-C1E3-28B1-D8EB-8E0BEF00C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661" y="5680602"/>
            <a:ext cx="4094245" cy="5688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64D3FD-69E4-7EBD-731D-21B4C14AE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9540" y="5618768"/>
            <a:ext cx="2980068" cy="692551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840C0D64-6579-64F9-3AE1-763ACF2116C5}"/>
              </a:ext>
            </a:extLst>
          </p:cNvPr>
          <p:cNvSpPr/>
          <p:nvPr/>
        </p:nvSpPr>
        <p:spPr>
          <a:xfrm>
            <a:off x="4776823" y="5836220"/>
            <a:ext cx="569976" cy="257646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3B424-E40C-7045-5240-9303565CDEB4}"/>
              </a:ext>
            </a:extLst>
          </p:cNvPr>
          <p:cNvSpPr txBox="1"/>
          <p:nvPr/>
        </p:nvSpPr>
        <p:spPr>
          <a:xfrm>
            <a:off x="399661" y="1189615"/>
            <a:ext cx="1684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Point</a:t>
            </a:r>
            <a:r>
              <a:rPr lang="zh-CN" altLang="en-US" sz="2400" dirty="0"/>
              <a:t> </a:t>
            </a:r>
            <a:r>
              <a:rPr lang="en-US" altLang="zh-CN" sz="2400" dirty="0"/>
              <a:t>object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13159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Refraction at a Spherical Surface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D9A00-5422-028A-05CE-E50E1D44D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4647602"/>
            <a:ext cx="6057900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1255AA-C790-6276-7C4B-3C23F821E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560981"/>
            <a:ext cx="7010400" cy="299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42BA73-E0F8-DFBD-6271-0B8E771F5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434" y="5543029"/>
            <a:ext cx="5930900" cy="723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99005D-6446-9EFD-F638-5B03862D095F}"/>
              </a:ext>
            </a:extLst>
          </p:cNvPr>
          <p:cNvSpPr txBox="1"/>
          <p:nvPr/>
        </p:nvSpPr>
        <p:spPr>
          <a:xfrm>
            <a:off x="399661" y="1189615"/>
            <a:ext cx="2494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Object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height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9832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A8E4B-0FA4-A3FF-08B0-51C18AAC5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F545-A311-A28D-80E4-A370E505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Refraction at a Spherical Surface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570909-659A-2761-D1CD-BB30D8D0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33DAE-7B7E-9A30-0881-D23080DF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32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9CBF95-CCA4-1174-1A78-451344525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708" y="1163026"/>
            <a:ext cx="5256584" cy="476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616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2643-207D-050E-84EA-632FA006D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39D8-CF52-57AF-D951-41A0E978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Refraction at a Spherical Surface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CF70C-4AD4-4B47-5E63-3D311C656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CB153-506A-D6EF-A856-9D5B363E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03C12-762C-0868-9FAF-6F3BCE916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265" y="3884864"/>
            <a:ext cx="5935451" cy="1162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982EF-E28D-28CC-86F4-69430E6FB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786" y="3484930"/>
            <a:ext cx="936104" cy="3566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D55D87-E05D-0EEA-3A9A-D5429EE2E8A3}"/>
              </a:ext>
            </a:extLst>
          </p:cNvPr>
          <p:cNvSpPr txBox="1"/>
          <p:nvPr/>
        </p:nvSpPr>
        <p:spPr>
          <a:xfrm>
            <a:off x="522518" y="3379876"/>
            <a:ext cx="1855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Plane</a:t>
            </a:r>
            <a:r>
              <a:rPr lang="zh-CN" altLang="en-US" sz="2400" dirty="0"/>
              <a:t> </a:t>
            </a:r>
            <a:r>
              <a:rPr lang="en-US" altLang="zh-CN" sz="2400" dirty="0"/>
              <a:t>surface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4D29FB-23FC-740D-2F1C-2E075DE6E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848" y="5150234"/>
            <a:ext cx="1189980" cy="627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86EE46-2A76-9E6E-20EA-E16774097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9121" y="1323473"/>
            <a:ext cx="6057900" cy="838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5365F7-0B79-8B3B-8316-FD1F40CFF7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3688" y="2228194"/>
            <a:ext cx="59309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8723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A87BE-BE1A-F9DC-8816-208DAE02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39510-4ED5-890F-931B-E4B1A675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Refraction at a Spherical Surface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17B8A-AB16-93F8-A9A1-298A2B8D8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36571-7C7F-52A2-3445-8D09B4B5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34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475B3B-F407-DA17-EA63-1C7AF25AC6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217" t="11804" r="4556" b="17544"/>
          <a:stretch/>
        </p:blipFill>
        <p:spPr>
          <a:xfrm>
            <a:off x="266672" y="1723709"/>
            <a:ext cx="4654352" cy="37918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CD534A-B8A4-E9B5-7347-B4A02AA1C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024" y="1376639"/>
            <a:ext cx="4064000" cy="455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880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780E65-C4AC-691E-D9AC-4449F218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207087"/>
            <a:ext cx="6407624" cy="22270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293D39-5D02-6ECA-A9A4-AB85A85881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799"/>
          <a:stretch/>
        </p:blipFill>
        <p:spPr>
          <a:xfrm>
            <a:off x="222809" y="3720673"/>
            <a:ext cx="7905205" cy="234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988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3F9A-F20F-521A-4E85-BA8B6F024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6034-BE35-231E-95E2-85094A31A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F6C01-3215-61E4-C6CE-52970593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81A80-DD85-05BE-C898-672E10CE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656166-7D80-C256-4C55-F8FD066D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809" y="3597833"/>
            <a:ext cx="5125961" cy="25084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5111EC-4EF0-266C-3B60-74BCE0BF68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799"/>
          <a:stretch/>
        </p:blipFill>
        <p:spPr>
          <a:xfrm>
            <a:off x="457200" y="1180168"/>
            <a:ext cx="7905205" cy="234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990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B0338-2CEB-80CC-C569-7E1DFDE6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6E03-A023-DC13-0579-6C183E0D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67C794-94C7-C019-F391-4CE17829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21BC3-103D-7A3D-0A62-B4C7ECCE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DF64A-5424-1582-2A41-D6D692C86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667" y="1327225"/>
            <a:ext cx="7074666" cy="1864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81553C-F4F3-9DD8-8E26-58CC4C129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01641"/>
            <a:ext cx="7772400" cy="208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58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C7239-923A-AADC-EA05-50BC4DB65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76486-32A0-3188-3DA9-6F599B73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521C0-95AB-AF90-F4BC-D5240BA88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D413B-976A-01BF-4F4B-BEF11DE5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9ED053-D0BA-E9D2-0D9F-322D22D0B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32816"/>
            <a:ext cx="7772400" cy="20860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3213C4-CBFD-8734-D247-E0C1ED19E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439087"/>
            <a:ext cx="5143500" cy="135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14E5BE-A2E9-BA5B-7414-0850FE7AD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4818160"/>
            <a:ext cx="42545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979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D9A05-7BE7-F622-2B46-D00A3CF9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FD8E-0073-B795-1FC7-E676B0F56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C6523-3891-319A-552D-4E4EADCA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FC8E3-099B-02EC-A669-02167186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92674-BA39-B8FF-81B9-A2302D22E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74" y="1198858"/>
            <a:ext cx="7127704" cy="1773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7D20F3-B954-C152-36C9-7C3A27F8D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03" y="3573016"/>
            <a:ext cx="4253430" cy="12676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F7D1E2-DC4C-557A-2B9D-76DB6430D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463" y="2636912"/>
            <a:ext cx="2966354" cy="332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9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30D5E-45E4-72F0-227B-197C2E408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E86E5-3793-EE1C-D40F-231A8251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8550C-B944-A308-8720-45F29B4C7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B01A49-DC9D-CAFC-6FC7-970AAE6A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049"/>
          <a:stretch/>
        </p:blipFill>
        <p:spPr>
          <a:xfrm>
            <a:off x="3313211" y="3707917"/>
            <a:ext cx="5225226" cy="215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3E6C7E-4B43-A8FA-918A-ED3591194C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944"/>
          <a:stretch/>
        </p:blipFill>
        <p:spPr>
          <a:xfrm>
            <a:off x="620371" y="1197092"/>
            <a:ext cx="7788148" cy="215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47FDE3-8C21-D7DF-EF39-D434E419FA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603"/>
          <a:stretch/>
        </p:blipFill>
        <p:spPr>
          <a:xfrm>
            <a:off x="620371" y="3707917"/>
            <a:ext cx="2736304" cy="215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602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Thin Lenses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F48DA-4A19-1F4D-A67A-91AB8AEC8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242081"/>
            <a:ext cx="4392488" cy="482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9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Thin Lenses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AA411D-A84C-1187-0830-DB85E4B27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1800225"/>
            <a:ext cx="6527800" cy="3086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3A7D0A-E781-61C9-6157-FF1E6B62E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248" y="4974883"/>
            <a:ext cx="5705056" cy="6660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239003-CEC2-B60A-32CE-E0CE5F6E326C}"/>
              </a:ext>
            </a:extLst>
          </p:cNvPr>
          <p:cNvSpPr txBox="1"/>
          <p:nvPr/>
        </p:nvSpPr>
        <p:spPr>
          <a:xfrm>
            <a:off x="457200" y="1339626"/>
            <a:ext cx="6696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Image of an Extended Object: Converging Lens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A2D3AB-0D22-2847-E62F-03550CF4D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248" y="5601783"/>
            <a:ext cx="4269051" cy="70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632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Thin Lenses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6B538-3068-C6FE-EC86-E25A3C906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22" y="1245662"/>
            <a:ext cx="3600400" cy="5072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AB0850-F01A-C439-A623-C984754B6A65}"/>
              </a:ext>
            </a:extLst>
          </p:cNvPr>
          <p:cNvSpPr txBox="1"/>
          <p:nvPr/>
        </p:nvSpPr>
        <p:spPr>
          <a:xfrm>
            <a:off x="6126868" y="2564904"/>
            <a:ext cx="2472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Far-</a:t>
            </a:r>
            <a:r>
              <a:rPr lang="en-US" altLang="zh-CN" dirty="0"/>
              <a:t>sighted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49AAF-2F4F-CC46-B65A-B6F89DBBE134}"/>
              </a:ext>
            </a:extLst>
          </p:cNvPr>
          <p:cNvSpPr txBox="1"/>
          <p:nvPr/>
        </p:nvSpPr>
        <p:spPr>
          <a:xfrm>
            <a:off x="6126868" y="5085184"/>
            <a:ext cx="268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Short-sighted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755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7D2F-4ED6-4A9A-FB02-7248D2A21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38B3C-0FE5-9A32-A497-D40C5FF2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Thin Lenses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2A2AEF-B87C-78F1-2CD5-7E04F410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D7467-E1B0-0E80-B011-74871874F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D8B73D-24EB-4017-5697-874D36CF8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48" y="1205291"/>
            <a:ext cx="6814778" cy="8454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7CE8D2-E6E9-E26F-92B3-4C24737A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050733"/>
            <a:ext cx="2806255" cy="158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5BC307-38E2-B9A4-6A29-26031A3CE2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171"/>
          <a:stretch/>
        </p:blipFill>
        <p:spPr>
          <a:xfrm>
            <a:off x="683568" y="3710820"/>
            <a:ext cx="8168903" cy="2614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1F9F1F-D350-C28E-2BE5-8F6EBC034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943" y="2045826"/>
            <a:ext cx="2810190" cy="1728192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C9097D9C-AA7C-4902-A7AC-BF3F6D81B32B}"/>
              </a:ext>
            </a:extLst>
          </p:cNvPr>
          <p:cNvSpPr/>
          <p:nvPr/>
        </p:nvSpPr>
        <p:spPr>
          <a:xfrm>
            <a:off x="4710070" y="2676827"/>
            <a:ext cx="601134" cy="520137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289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DA6B5-1DD2-B136-D0F0-5C9DE401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57F05-FF91-E0D2-F538-5D453F91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Thin Lenses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2F106-F809-620E-1C42-9E0A4C5D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DF8E9-E4EE-C806-9411-84F79C92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12209-C0E8-222D-0BF2-D4E352D5E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20" y="1335616"/>
            <a:ext cx="4006755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1B66A-8C58-510F-6A77-787D52F3B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332" y="1534990"/>
            <a:ext cx="3748668" cy="896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B7AF70-7635-EC19-184F-D89870B59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188" y="2802362"/>
            <a:ext cx="2009570" cy="850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55AE41-73CC-C8E6-6305-73BE43719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2050" y="4559707"/>
            <a:ext cx="3730379" cy="10895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30C921-235D-6B20-1572-A4241678D31A}"/>
              </a:ext>
            </a:extLst>
          </p:cNvPr>
          <p:cNvSpPr txBox="1"/>
          <p:nvPr/>
        </p:nvSpPr>
        <p:spPr>
          <a:xfrm>
            <a:off x="297292" y="3832396"/>
            <a:ext cx="5098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Times"/>
              </a:rPr>
              <a:t>L</a:t>
            </a:r>
            <a:r>
              <a:rPr lang="en-SG" sz="2400" dirty="0" err="1">
                <a:effectLst/>
                <a:latin typeface="Times"/>
              </a:rPr>
              <a:t>ensmaker’s</a:t>
            </a:r>
            <a:r>
              <a:rPr lang="en-SG" sz="2400" dirty="0">
                <a:effectLst/>
                <a:latin typeface="Times"/>
              </a:rPr>
              <a:t> equation for a thin lens </a:t>
            </a:r>
            <a:endParaRPr lang="en-SG" sz="2400" dirty="0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B1B5EEA9-2E40-A25A-08A9-C4C89A5BED98}"/>
              </a:ext>
            </a:extLst>
          </p:cNvPr>
          <p:cNvSpPr/>
          <p:nvPr/>
        </p:nvSpPr>
        <p:spPr>
          <a:xfrm>
            <a:off x="4649759" y="1788684"/>
            <a:ext cx="439067" cy="36744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510D3768-88B9-DFFD-3714-4EC2D8577DFC}"/>
              </a:ext>
            </a:extLst>
          </p:cNvPr>
          <p:cNvSpPr/>
          <p:nvPr/>
        </p:nvSpPr>
        <p:spPr>
          <a:xfrm>
            <a:off x="5155280" y="1619862"/>
            <a:ext cx="308272" cy="1950312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98D478-65B6-D834-6812-88ECA725DF1D}"/>
              </a:ext>
            </a:extLst>
          </p:cNvPr>
          <p:cNvSpPr txBox="1"/>
          <p:nvPr/>
        </p:nvSpPr>
        <p:spPr>
          <a:xfrm>
            <a:off x="3013174" y="5754787"/>
            <a:ext cx="3712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**</a:t>
            </a:r>
            <a:r>
              <a:rPr lang="en-US" altLang="zh-CN" sz="2400" dirty="0"/>
              <a:t>Sign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/R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key</a:t>
            </a:r>
            <a:r>
              <a:rPr lang="zh-CN" altLang="en-US" sz="2400" dirty="0"/>
              <a:t>**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30220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D3756-7CCD-C8E9-5AFD-5BB338A49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143000"/>
            <a:ext cx="5523101" cy="2189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D251BF-4B09-9943-10A0-1D9507C80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8" y="3698829"/>
            <a:ext cx="5497614" cy="23902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1432C6-D8F7-0CBF-5DF4-DABF10ED8703}"/>
              </a:ext>
            </a:extLst>
          </p:cNvPr>
          <p:cNvSpPr txBox="1"/>
          <p:nvPr/>
        </p:nvSpPr>
        <p:spPr>
          <a:xfrm>
            <a:off x="97122" y="335311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34.35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268DFF-0509-C71A-AD84-3AFAD62173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005"/>
          <a:stretch/>
        </p:blipFill>
        <p:spPr>
          <a:xfrm>
            <a:off x="5761845" y="3916706"/>
            <a:ext cx="2736304" cy="1954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7269A5-35A5-86E2-5951-02C01252F9BB}"/>
              </a:ext>
            </a:extLst>
          </p:cNvPr>
          <p:cNvSpPr txBox="1"/>
          <p:nvPr/>
        </p:nvSpPr>
        <p:spPr>
          <a:xfrm>
            <a:off x="5761845" y="334160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34.31</a:t>
            </a:r>
          </a:p>
        </p:txBody>
      </p:sp>
    </p:spTree>
    <p:extLst>
      <p:ext uri="{BB962C8B-B14F-4D97-AF65-F5344CB8AC3E}">
        <p14:creationId xmlns:p14="http://schemas.microsoft.com/office/powerpoint/2010/main" val="36962469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C1C78B-9CD8-1A84-FB47-69976D55A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825093"/>
            <a:ext cx="5968118" cy="1440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D014F8-D8D1-4CD8-E4AC-F1003D151C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419"/>
          <a:stretch/>
        </p:blipFill>
        <p:spPr>
          <a:xfrm>
            <a:off x="264511" y="5259238"/>
            <a:ext cx="5857215" cy="1081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D4B2CE-EF86-37C6-66FE-B43DDF900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529" y="1186104"/>
            <a:ext cx="6116238" cy="2659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A7113A-1E3E-6E85-3B3F-7B444F33E9F7}"/>
              </a:ext>
            </a:extLst>
          </p:cNvPr>
          <p:cNvSpPr txBox="1"/>
          <p:nvPr/>
        </p:nvSpPr>
        <p:spPr>
          <a:xfrm>
            <a:off x="3779912" y="578052"/>
            <a:ext cx="5360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*Sign depends on sides of outgoing light*</a:t>
            </a:r>
          </a:p>
        </p:txBody>
      </p:sp>
    </p:spTree>
    <p:extLst>
      <p:ext uri="{BB962C8B-B14F-4D97-AF65-F5344CB8AC3E}">
        <p14:creationId xmlns:p14="http://schemas.microsoft.com/office/powerpoint/2010/main" val="25472736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BD691-3F23-25A1-C173-0C520A99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88-9415-3278-15CE-5D22F6DE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A85EB-214C-F37C-9B6D-999BFDC1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719F2-EA28-1E28-0F2E-05B5E010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48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C53C1A-68CA-50CC-6649-D0ABDF203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45"/>
          <a:stretch/>
        </p:blipFill>
        <p:spPr>
          <a:xfrm>
            <a:off x="1403648" y="3617455"/>
            <a:ext cx="6264696" cy="26379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D9052B-66CC-D20F-B3E3-C3AB56A5F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146" y="1433388"/>
            <a:ext cx="14097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485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Cameras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529213-BE9C-A44D-E6C4-AAB6A5536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182365"/>
            <a:ext cx="7259092" cy="3868550"/>
          </a:xfrm>
          <a:prstGeom prst="rect">
            <a:avLst/>
          </a:prstGeom>
        </p:spPr>
      </p:pic>
      <p:pic>
        <p:nvPicPr>
          <p:cNvPr id="7" name="Picture 6" descr="A diagram of a graph&#10;&#10;Description automatically generated">
            <a:extLst>
              <a:ext uri="{FF2B5EF4-FFF2-40B4-BE49-F238E27FC236}">
                <a16:creationId xmlns:a16="http://schemas.microsoft.com/office/drawing/2014/main" id="{8F4D3DB6-D5D2-99C7-04AA-F624EA324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4581128"/>
            <a:ext cx="3630297" cy="170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760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Cameras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FB7E2-F905-847F-1452-031EE1DBB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71" y="1399770"/>
            <a:ext cx="6923796" cy="22707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DB15EE-7020-1511-FBB1-B4A6C056B443}"/>
              </a:ext>
            </a:extLst>
          </p:cNvPr>
          <p:cNvSpPr txBox="1"/>
          <p:nvPr/>
        </p:nvSpPr>
        <p:spPr>
          <a:xfrm>
            <a:off x="246471" y="3964568"/>
            <a:ext cx="61310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long focal length, called a </a:t>
            </a:r>
            <a:r>
              <a:rPr lang="en-SG" sz="2400" i="1" dirty="0">
                <a:effectLst/>
                <a:latin typeface="Times"/>
              </a:rPr>
              <a:t>telephoto </a:t>
            </a:r>
            <a:r>
              <a:rPr lang="en-SG" sz="2400" dirty="0">
                <a:effectLst/>
                <a:latin typeface="Times"/>
              </a:rPr>
              <a:t>lens, gives a small angle of view and a large image of a distant object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a lens of short focal length gives a small image and a wide angle of view and is called a </a:t>
            </a:r>
            <a:r>
              <a:rPr lang="en-SG" sz="2400" i="1" dirty="0">
                <a:effectLst/>
                <a:latin typeface="Times"/>
              </a:rPr>
              <a:t>wide-angle </a:t>
            </a:r>
            <a:r>
              <a:rPr lang="en-SG" sz="2400" dirty="0">
                <a:effectLst/>
                <a:latin typeface="Times"/>
              </a:rPr>
              <a:t>lens. </a:t>
            </a:r>
            <a:endParaRPr lang="en-SG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SG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AAB13C-A274-6D39-E1F2-6BA14D102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448" y="1556074"/>
            <a:ext cx="2771552" cy="464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46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Cameras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51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1C328-5D8C-F918-CEB8-4C2BCB2CD444}"/>
              </a:ext>
            </a:extLst>
          </p:cNvPr>
          <p:cNvSpPr txBox="1"/>
          <p:nvPr/>
        </p:nvSpPr>
        <p:spPr>
          <a:xfrm>
            <a:off x="457839" y="1248884"/>
            <a:ext cx="77757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For the film to record the image properly, the total light energy per unit area reaching the film (the “exposure”) must fall within certain limits.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SG" sz="2400" dirty="0">
              <a:effectLst/>
              <a:latin typeface="Time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921D18-C6E7-264D-EB1E-B3BEBBE29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5136938"/>
            <a:ext cx="5052305" cy="9443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397B17-70D2-FA17-0550-358B93A4E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3029262"/>
            <a:ext cx="2309157" cy="3304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55AA55-83F9-FE67-0143-2D6060CAFF01}"/>
                  </a:ext>
                </a:extLst>
              </p:cNvPr>
              <p:cNvSpPr txBox="1"/>
              <p:nvPr/>
            </p:nvSpPr>
            <p:spPr>
              <a:xfrm>
                <a:off x="679924" y="3812899"/>
                <a:ext cx="4554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I</a:t>
                </a:r>
                <a:r>
                  <a:rPr lang="en-US" dirty="0"/>
                  <a:t>ntensity of light reaching </a:t>
                </a:r>
                <a:r>
                  <a:rPr lang="en-US" altLang="zh-CN" dirty="0" err="1"/>
                  <a:t>p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ortional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/</m:t>
                    </m:r>
                    <m:sSup>
                      <m:sSupPr>
                        <m:ctrlPr>
                          <a:rPr lang="en-SG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dirty="0">
                    <a:effectLst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55AA55-83F9-FE67-0143-2D6060CAF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24" y="3812899"/>
                <a:ext cx="4554132" cy="369332"/>
              </a:xfrm>
              <a:prstGeom prst="rect">
                <a:avLst/>
              </a:prstGeom>
              <a:blipFill>
                <a:blip r:embed="rId4"/>
                <a:stretch>
                  <a:fillRect l="-1111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FE65F3-8B4F-8F90-8F4D-5C1BDEFC1897}"/>
                  </a:ext>
                </a:extLst>
              </p:cNvPr>
              <p:cNvSpPr txBox="1"/>
              <p:nvPr/>
            </p:nvSpPr>
            <p:spPr>
              <a:xfrm>
                <a:off x="679924" y="2613312"/>
                <a:ext cx="763649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size of the area that the lens "sees" is proportional to the square of the angle of view of the lens, proportional to </a:t>
                </a:r>
                <a14:m>
                  <m:oMath xmlns:m="http://schemas.openxmlformats.org/officeDocument/2006/math">
                    <m:r>
                      <a:rPr lang="en-US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1/</m:t>
                    </m:r>
                    <m:sSup>
                      <m:sSupPr>
                        <m:ctrlPr>
                          <a:rPr lang="en-SG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FE65F3-8B4F-8F90-8F4D-5C1BDEFC1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24" y="2613312"/>
                <a:ext cx="7636491" cy="646331"/>
              </a:xfrm>
              <a:prstGeom prst="rect">
                <a:avLst/>
              </a:prstGeom>
              <a:blipFill>
                <a:blip r:embed="rId5"/>
                <a:stretch>
                  <a:fillRect l="-664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6AC960-9500-8B4F-1B8B-7CAAD97FA92A}"/>
                  </a:ext>
                </a:extLst>
              </p:cNvPr>
              <p:cNvSpPr txBox="1"/>
              <p:nvPr/>
            </p:nvSpPr>
            <p:spPr>
              <a:xfrm>
                <a:off x="679924" y="3324482"/>
                <a:ext cx="57583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ffective area is proportional to</a:t>
                </a:r>
                <a:r>
                  <a:rPr lang="zh-CN" altLang="en-US" dirty="0"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aperture</a:t>
                </a:r>
                <a:r>
                  <a:rPr lang="zh-CN" altLang="en-US" dirty="0"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diameter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6AC960-9500-8B4F-1B8B-7CAAD97FA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24" y="3324482"/>
                <a:ext cx="5758374" cy="369332"/>
              </a:xfrm>
              <a:prstGeom prst="rect">
                <a:avLst/>
              </a:prstGeom>
              <a:blipFill>
                <a:blip r:embed="rId6"/>
                <a:stretch>
                  <a:fillRect l="-88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5FC8165-88D9-D39E-66E3-AD4D542679C7}"/>
              </a:ext>
            </a:extLst>
          </p:cNvPr>
          <p:cNvSpPr txBox="1"/>
          <p:nvPr/>
        </p:nvSpPr>
        <p:spPr>
          <a:xfrm>
            <a:off x="701427" y="4546904"/>
            <a:ext cx="2884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Photographers</a:t>
            </a:r>
            <a:r>
              <a:rPr lang="zh-CN" altLang="en-US" sz="2400" dirty="0"/>
              <a:t> </a:t>
            </a:r>
            <a:r>
              <a:rPr lang="en-US" altLang="zh-CN" sz="2400" dirty="0"/>
              <a:t>define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303607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Problem</a:t>
            </a:r>
            <a:endParaRPr lang="en-SG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6F498-EB6C-E3A5-6703-9691B5A21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63924"/>
            <a:ext cx="5379019" cy="16890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2EC9CE-F550-F843-1326-CB76FB0C4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912865"/>
            <a:ext cx="5308600" cy="109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025E60-5D86-7DAC-7645-FAC4C874C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99" y="4147454"/>
            <a:ext cx="5372377" cy="204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4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The Eye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000F0-E164-6D6A-A509-286BE700C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10" y="1772816"/>
            <a:ext cx="8844579" cy="359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241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The Eye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2BA69A-2B68-79E2-6FA8-20B267C1A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8256"/>
            <a:ext cx="7772400" cy="44228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F02FC3-2E07-0526-1A9D-A4FB4566A4BB}"/>
              </a:ext>
            </a:extLst>
          </p:cNvPr>
          <p:cNvSpPr txBox="1"/>
          <p:nvPr/>
        </p:nvSpPr>
        <p:spPr>
          <a:xfrm>
            <a:off x="971600" y="13535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highlight>
                  <a:srgbClr val="FFFFFF"/>
                </a:highlight>
                <a:latin typeface="Times"/>
              </a:rPr>
              <a:t>H</a:t>
            </a:r>
            <a:r>
              <a:rPr lang="en-SG" sz="1800" dirty="0" err="1">
                <a:effectLst/>
                <a:highlight>
                  <a:srgbClr val="FFFFFF"/>
                </a:highlight>
                <a:latin typeface="Times"/>
              </a:rPr>
              <a:t>yperopic</a:t>
            </a:r>
            <a:r>
              <a:rPr lang="en-SG" sz="1800" dirty="0">
                <a:effectLst/>
                <a:highlight>
                  <a:srgbClr val="FFFFFF"/>
                </a:highlight>
                <a:latin typeface="Times"/>
              </a:rPr>
              <a:t> (farsighted) eye </a:t>
            </a:r>
            <a:endParaRPr lang="en-SG" dirty="0">
              <a:effectLst/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177111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The Eye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5A786-AB1A-D6C6-A860-EC502AB8E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254209"/>
            <a:ext cx="8649188" cy="32630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0854C-EE86-9908-C551-563D46B64841}"/>
              </a:ext>
            </a:extLst>
          </p:cNvPr>
          <p:cNvSpPr txBox="1"/>
          <p:nvPr/>
        </p:nvSpPr>
        <p:spPr>
          <a:xfrm>
            <a:off x="492478" y="141509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highlight>
                  <a:srgbClr val="FFFFFF"/>
                </a:highlight>
                <a:latin typeface="Times"/>
              </a:rPr>
              <a:t>M</a:t>
            </a:r>
            <a:r>
              <a:rPr lang="en-SG" sz="1800" dirty="0" err="1">
                <a:effectLst/>
                <a:highlight>
                  <a:srgbClr val="FFFFFF"/>
                </a:highlight>
                <a:latin typeface="Times"/>
              </a:rPr>
              <a:t>yopic</a:t>
            </a:r>
            <a:r>
              <a:rPr lang="en-SG" sz="1800" dirty="0">
                <a:effectLst/>
                <a:highlight>
                  <a:srgbClr val="FFFFFF"/>
                </a:highlight>
                <a:latin typeface="Times"/>
              </a:rPr>
              <a:t> (nearsighted) eye </a:t>
            </a:r>
            <a:endParaRPr lang="en-SG" dirty="0">
              <a:effectLst/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429133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D94EE-B8B8-C9E6-B7B8-15F91F95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6381-395E-ECB9-83ED-52E71F13B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altLang="zh-CN" dirty="0">
                <a:latin typeface="Helvetica Neue" panose="02000503000000020004" pitchFamily="2" charset="0"/>
              </a:rPr>
              <a:t>7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 The Magnifier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5D055A-C4C6-69E4-1407-E23E4D14C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703EA-4CF7-3A8D-F663-7CE15B07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1124E-7DC7-F895-013B-398F29406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3" y="1628800"/>
            <a:ext cx="9083973" cy="327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126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A124C-6605-EE6A-AABB-8D14BB70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5D7E2-9160-2FB5-9A45-52EDD3B6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altLang="zh-CN" dirty="0">
                <a:latin typeface="Helvetica Neue" panose="02000503000000020004" pitchFamily="2" charset="0"/>
              </a:rPr>
              <a:t>7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 The Magnifier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ADF63-1748-B5FF-25B4-BA4EF785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56AB8-1069-32F0-91E5-66058316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119784-BA56-9A29-4287-3C3272624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9" y="1691772"/>
            <a:ext cx="8557603" cy="382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661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AF3E9-4D5E-F033-83C0-344D61D31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998B-8632-1FA7-3FD7-A6DF9420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altLang="zh-CN" dirty="0">
                <a:latin typeface="Helvetica Neue" panose="02000503000000020004" pitchFamily="2" charset="0"/>
              </a:rPr>
              <a:t>8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 Microscopes and Telescopes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4D0934-D911-5FA7-E635-83CC22183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Optics II (Ch. 34)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701DF-C7EC-6654-5535-2BC16BF0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F1F08A-C2A9-918E-8BB8-44257C054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169878"/>
            <a:ext cx="6966864" cy="506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799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BE15-7451-A3BD-0ACE-0A25DB19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34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altLang="zh-CN" dirty="0">
                <a:latin typeface="Helvetica Neue" panose="02000503000000020004" pitchFamily="2" charset="0"/>
              </a:rPr>
              <a:t>8</a:t>
            </a:r>
            <a:r>
              <a:rPr lang="zh-CN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SG" dirty="0">
                <a:effectLst/>
                <a:latin typeface="Helvetica Neue" panose="02000503000000020004" pitchFamily="2" charset="0"/>
              </a:rPr>
              <a:t> Microscopes and Telescopes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C17F2D-5861-F843-E8DA-77D17B53C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58235"/>
            <a:ext cx="8507288" cy="4341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AE6233-0907-1248-6A29-ABC9635BF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5599764"/>
            <a:ext cx="65024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973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自訂 1">
      <a:majorFont>
        <a:latin typeface="Bookman Old Style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6872</TotalTime>
  <Words>1182</Words>
  <Application>Microsoft Macintosh PowerPoint</Application>
  <PresentationFormat>On-screen Show (4:3)</PresentationFormat>
  <Paragraphs>230</Paragraphs>
  <Slides>59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Optr2k</vt:lpstr>
      <vt:lpstr>Times</vt:lpstr>
      <vt:lpstr>Arial</vt:lpstr>
      <vt:lpstr>Bookman Old Style</vt:lpstr>
      <vt:lpstr>Calibri</vt:lpstr>
      <vt:lpstr>Cambria Math</vt:lpstr>
      <vt:lpstr>Georgia</vt:lpstr>
      <vt:lpstr>Helvetica Neue</vt:lpstr>
      <vt:lpstr>Wingdings</vt:lpstr>
      <vt:lpstr>Wingdings 3</vt:lpstr>
      <vt:lpstr>Origin</vt:lpstr>
      <vt:lpstr>PHYS1001B College Physics IB</vt:lpstr>
      <vt:lpstr>Introduction</vt:lpstr>
      <vt:lpstr>Outline</vt:lpstr>
      <vt:lpstr>34-1 Reflection and Refraction at a Plane Surface</vt:lpstr>
      <vt:lpstr>34-1 Reflection and Refraction at a Plane Surface</vt:lpstr>
      <vt:lpstr>34-1 Reflection and Refraction at a Plane Surface</vt:lpstr>
      <vt:lpstr>34-1 Reflection and Refraction at a Plane Surface</vt:lpstr>
      <vt:lpstr>34-1 Reflection and Refraction at a Plane Surface</vt:lpstr>
      <vt:lpstr>34-1 Reflection and Refraction at a Plane Surface</vt:lpstr>
      <vt:lpstr>34-1 Reflection and Refraction at a Plane Surface</vt:lpstr>
      <vt:lpstr>34-1 Reflection and Refraction at a Plane Surface</vt:lpstr>
      <vt:lpstr>34-2 Reflection at a Spherical Surface</vt:lpstr>
      <vt:lpstr>34-2 Reflection at a Spherical Surface</vt:lpstr>
      <vt:lpstr>34-2 Reflection at a Spherical Surface</vt:lpstr>
      <vt:lpstr>34-2 Reflection at a Spherical Surface</vt:lpstr>
      <vt:lpstr>34-2 Reflection at a Spherical Surface</vt:lpstr>
      <vt:lpstr>34-2 Reflection at a Spherical Surface</vt:lpstr>
      <vt:lpstr>34-2 Reflection at a Spherical Surface</vt:lpstr>
      <vt:lpstr>34-2 Reflection at a Spherical Surface</vt:lpstr>
      <vt:lpstr>Sample Problem</vt:lpstr>
      <vt:lpstr>Sample Problem</vt:lpstr>
      <vt:lpstr>34-2 Reflection at a Spherical Surface</vt:lpstr>
      <vt:lpstr>34-2 Reflection at a Spherical Surface</vt:lpstr>
      <vt:lpstr>Sample Problem</vt:lpstr>
      <vt:lpstr>Sample Problem</vt:lpstr>
      <vt:lpstr>Sample Problem</vt:lpstr>
      <vt:lpstr>Sample Problem</vt:lpstr>
      <vt:lpstr>Sample Problem</vt:lpstr>
      <vt:lpstr>Sample Problem</vt:lpstr>
      <vt:lpstr>34-3 Refraction at a Spherical Surface</vt:lpstr>
      <vt:lpstr>34-3 Refraction at a Spherical Surface</vt:lpstr>
      <vt:lpstr>34-3 Refraction at a Spherical Surface</vt:lpstr>
      <vt:lpstr>34-3 Refraction at a Spherical Surface</vt:lpstr>
      <vt:lpstr>34-3 Refraction at a Spherical Surface</vt:lpstr>
      <vt:lpstr>Sample Problem</vt:lpstr>
      <vt:lpstr>Sample Problem</vt:lpstr>
      <vt:lpstr>Sample Problem</vt:lpstr>
      <vt:lpstr>Sample Problem</vt:lpstr>
      <vt:lpstr>Sample Problem</vt:lpstr>
      <vt:lpstr>Summary</vt:lpstr>
      <vt:lpstr>34-4 Thin Lenses</vt:lpstr>
      <vt:lpstr>34-4 Thin Lenses</vt:lpstr>
      <vt:lpstr>34-4 Thin Lenses</vt:lpstr>
      <vt:lpstr>34-4 Thin Lenses</vt:lpstr>
      <vt:lpstr>34-4 Thin Lenses</vt:lpstr>
      <vt:lpstr>Sample Problem</vt:lpstr>
      <vt:lpstr>Sample Problem</vt:lpstr>
      <vt:lpstr>Sample Problem</vt:lpstr>
      <vt:lpstr>34-5 Cameras</vt:lpstr>
      <vt:lpstr>34-5 Cameras</vt:lpstr>
      <vt:lpstr>34-5 Cameras</vt:lpstr>
      <vt:lpstr>Sample Problem</vt:lpstr>
      <vt:lpstr>34-6 The Eye</vt:lpstr>
      <vt:lpstr>34-6 The Eye</vt:lpstr>
      <vt:lpstr>34-6 The Eye</vt:lpstr>
      <vt:lpstr>34-7  The Magnifier</vt:lpstr>
      <vt:lpstr>34-7  The Magnifier</vt:lpstr>
      <vt:lpstr>34-8  Microscopes and Telescopes</vt:lpstr>
      <vt:lpstr>34-8  Microscopes and Telescopes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CCN1049 Physics I</dc:title>
  <dc:creator>Hing-tung Mok [HKCC]</dc:creator>
  <cp:lastModifiedBy>tanka tang</cp:lastModifiedBy>
  <cp:revision>352</cp:revision>
  <cp:lastPrinted>2019-08-29T04:50:17Z</cp:lastPrinted>
  <dcterms:created xsi:type="dcterms:W3CDTF">2013-05-27T09:54:43Z</dcterms:created>
  <dcterms:modified xsi:type="dcterms:W3CDTF">2025-11-03T07:12:39Z</dcterms:modified>
</cp:coreProperties>
</file>