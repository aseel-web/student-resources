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6"/>
  </p:notesMasterIdLst>
  <p:sldIdLst>
    <p:sldId id="256" r:id="rId2"/>
    <p:sldId id="264" r:id="rId3"/>
    <p:sldId id="306" r:id="rId4"/>
    <p:sldId id="257" r:id="rId5"/>
    <p:sldId id="315" r:id="rId6"/>
    <p:sldId id="316" r:id="rId7"/>
    <p:sldId id="317" r:id="rId8"/>
    <p:sldId id="318" r:id="rId9"/>
    <p:sldId id="314" r:id="rId10"/>
    <p:sldId id="319" r:id="rId11"/>
    <p:sldId id="345" r:id="rId12"/>
    <p:sldId id="346" r:id="rId13"/>
    <p:sldId id="347" r:id="rId14"/>
    <p:sldId id="323" r:id="rId15"/>
    <p:sldId id="324" r:id="rId16"/>
    <p:sldId id="325" r:id="rId17"/>
    <p:sldId id="352" r:id="rId18"/>
    <p:sldId id="326" r:id="rId19"/>
    <p:sldId id="348" r:id="rId20"/>
    <p:sldId id="328" r:id="rId21"/>
    <p:sldId id="329" r:id="rId22"/>
    <p:sldId id="330" r:id="rId23"/>
    <p:sldId id="353" r:id="rId24"/>
    <p:sldId id="332" r:id="rId25"/>
    <p:sldId id="349" r:id="rId26"/>
    <p:sldId id="333" r:id="rId27"/>
    <p:sldId id="350" r:id="rId28"/>
    <p:sldId id="334" r:id="rId29"/>
    <p:sldId id="351" r:id="rId30"/>
    <p:sldId id="335" r:id="rId31"/>
    <p:sldId id="336" r:id="rId32"/>
    <p:sldId id="337" r:id="rId33"/>
    <p:sldId id="354" r:id="rId34"/>
    <p:sldId id="355" r:id="rId35"/>
    <p:sldId id="338" r:id="rId36"/>
    <p:sldId id="356" r:id="rId37"/>
    <p:sldId id="339" r:id="rId38"/>
    <p:sldId id="341" r:id="rId39"/>
    <p:sldId id="357" r:id="rId40"/>
    <p:sldId id="342" r:id="rId41"/>
    <p:sldId id="343" r:id="rId42"/>
    <p:sldId id="344" r:id="rId43"/>
    <p:sldId id="340" r:id="rId44"/>
    <p:sldId id="358" r:id="rId4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2"/>
    <p:restoredTop sz="94798"/>
  </p:normalViewPr>
  <p:slideViewPr>
    <p:cSldViewPr>
      <p:cViewPr varScale="1">
        <p:scale>
          <a:sx n="109" d="100"/>
          <a:sy n="109" d="100"/>
        </p:scale>
        <p:origin x="159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2:51.36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966 1122 8191,'54'27'0,"14"6"1092,-14-11 0,10 5 0,5 0-989,4 1 0,6 1 0,4 2 1,2 0-104,-6-3 0,2 1 0,3 1 0,1 0 0,2-1 146,-7-2 0,2 0 1,2 1-1,0-1 1,0-1-1,-2-1-146,10 3 0,0-2 0,-1 0 0,-1-1 0,-1-2 0,-6-1 0,0-2 0,-1 0 0,-1-2 0,0 0 250,16 0 1,-1 0 0,-1-3-1,-1-1-250,-5-3 0,-1-2 0,0-2 0,-1-1 0,-2-1 0,0-1 0,-2-2 0,-2-1 1092,14-1 0,-3-2 0,-3-1-710,-12 1 1,-2-1-1,-6-1 214,9-2 1,-7 0-597,-14 1 0,-3 1 1340,-3-1 1,-2 1-1341,46-3 2001,-4-4-2001,-11-4 517,-18-3-517,-20-2 0,-12-1 0,-1-9 0,3-5 0,2-9 0,3-13 0,-2-9 0,-4-4 0,-3-5 0,-10 2 0,-7-8 0,-5-5 0,-6 4 0,-3 8 0,-8 10 0,-6 4 0,-6 6 0,-11 3 0,-9 2 0,-28-7 0,9 19 0,-10 0 0,3 5 0,-8 0 0,-3-1-498,8 6 0,-2-1 1,-4 1-1,-1-1 498,-12-1 0,-3-1 0,-2 1 0,-1 1-438,16 5 0,0 1 0,-1 1 1,0 1-1,-1 0 438,0 0 0,0 2 0,-1 0 0,0 0 0,1 1 0,1 1 0,1 1 0,-1 0 0,2 1 0,0 1 0,-14-2 0,0 2 0,2 1 0,0 1-298,5 1 1,1 2-1,0 0 1,1 1 297,5 1 0,1 2 0,1 0 0,0 1 0,2 0 0,0 1 0,1 1 0,1 0 0,-24 1 0,1 1 0,2 1 0,6 1 0,2 0 0,0 0-183,3 1 1,1 0-1,0 1 183,3-1 0,1 0 0,2 0 784,-18 2 0,3 0-784,7 1 0,4 2 1083,12 1 0,3 2-1083,4 3 0,0 2 721,0 2 0,0 3-721,7 0 0,2 2 371,7 1 0,3 2-371,-23 26 0,17 4 0,13 7 0,17 5 0,10 4 0,14-2 0,10-9 0,10-8 0,16-1 0,26 5 0,-15-19 0,6-1 0,16 5 0,6 0 0,-20-14 0,3 0 0,0-1 0,28 10 0,-1-3 0,-10-7 0,-3-4 0,-12-4 0,-3-2 0,-8-5 0,-1 0 0,4 0 0,1-1 0,-1 1 0,-2-2 0,41 10 0,-28-6 0,-26-5 0,-18-3 0,-2-1 0,-7-1 0,-7-2 0,-5-2 0,14-1 0,-13-1 0,11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4:26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4420 24575,'10'-34'0,"25"-48"0,-8 20 0,6-6 0,-3 8 0,4-5 0,2-2 0,11-14 0,4-3 0,3-2-887,-5 11 0,2-1 1,2-2-1,2 0 887,-6 12 0,0-1 0,2 0 0,1 0 0,1-1 0,6-3 0,2-2 0,1 1 0,1 1 0,1 0 0,0 3 0,1 0 0,0 2 0,2 0 0,1 0 0,4-1 0,1 1 0,1 0 0,1 1 0,0 0 0,0 1 0,0-1 0,1 1 0,0 1 0,0 1 0,-2 2 0,1 0 0,0 2 0,0 0 0,0 0 0,-1 1 0,0 1 0,0 0 0,0 1 0,-2 2 0,-4 5 0,-2 0 0,0 2 0,0 1 0,1-1 0,17-10 0,0 0 0,0 2 0,-3 2-65,-9 7 0,-1 1 0,-1 2 0,-2 0 65,14-7 0,-2 0 0,-3 4-54,-13 8 0,-2 2 1,-4 3 53,11-4 0,-2 5 0,-6 4 0,1 3 0,4 5 0,1 3 1265,6 1 1,0 1-1266,2-1 0,-2 1 619,-9 1 1,-5 0-620,23-10 198,-30 3-198,-23 5 0,-14 7 0,-7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4:27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24575,'46'0'0,"1"0"0,7 1 0,30 0 0,5 1 0,2 0 0,-2 0 0,-14 1 0,-8 0 0,10 3 0,-61 1 0,-9 8 0,-14 16 0,-15 29 0,1-15 0,-2 3 0,-5 8 0,-2 3 0,-2 5 0,-1 0 0,2-3 0,1-1 0,5-10 0,2-2 0,-13 22 0,15-31 0,12-22 0,6-12 0,2-5 0,1-2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7:19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7:22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770 1157 24575,'68'-7'0,"30"0"0,-8 0 0,12 0-1402,-12 1 0,7-1 1,3 1 1401,-14 1 0,1 0 0,3 0 0,2 1 0,-10 0 0,3 0 0,0 0 0,2 0 0,0 1-394,5 0 0,2 1 1,1 0-1,-1 0 0,0 0 394,-2 0 0,-1 1 0,1 0 0,-1 0 0,-1 0 0,-3 0 0,1 1 0,-1-1 0,-2 0 0,-1 0 108,8 0 0,-2 0 1,-3-1-1,-3 0-108,7-1 0,-5 0 0,-3-2 0,-14 1 0,-2-1 0,-3-1 0,15-4 0,-5-3 897,-11 1 1,-4-2-898,-8-3 0,-2-1 1377,0-1 1,-1-1-1378,34-17 1191,-4-1-1191,-13 4 0,-5 0 0,-6 2 0,2 1 0,8-2 0,7-3 0,3-4 0,-6-2 0,-14 1 0,-16 6 0,-14 8 0,-14 10 0,-8 8 0,-3 4 0,-4 0 0,-5-4 0,-7-3 0,-8-5 0,-10-5 0,-16-6 0,-26-4 0,20 16 0,-10 0 0,-8 0-819,-2 0 1,-7 0 0,-5 1 0,-4 0 818,15 3 0,-4 1 0,-3-1 0,-1 1 0,-2 0 0,0 1-613,-8-1 1,-1 0 0,-3 1 0,1 1 0,-2 0 0,1 1 612,13 2 0,-1 0 0,-1 1 0,0 0 0,1 1 0,0 0 0,0 1 0,-12-1 0,0 1 0,0 1 0,1 1 0,1 0 0,1 0-318,4 2 0,0 0 1,2 0-1,0 1 0,1 0 1,2 1 317,-7-1 0,0 1 0,2 1 0,3 0 0,2 1-157,-5 1 1,4 2 0,2 0 0,3 2 156,-11 2 0,5 1 0,4 2 0,18-1 0,4 1 0,1 1 1046,-27 8 0,6 2-1046,23-3 0,5 2 1777,8-2 0,4 1-1777,-22 22 2730,8 5-2730,3 4 1101,5 2-1101,7-5 0,11-10 0,9-11 0,9-11 0,5-7 0,5-4 0,5-2 0,5 0 0,13 2 0,31 7 0,44 9 0,-23-7 0,9 1 0,-7-2 0,7-1 0,4 1-721,-2-1 1,4 0 0,3 1 0,4-1 720,-5-1 0,4 0 0,2 0 0,2 0 0,0 0 0,-10-3 0,2 1 0,0-1 0,1 1 0,0-2 0,-2 1 0,-2-1 0,1-1 0,-1 1 0,-1-1 0,-2-1 0,-3 0 0,23 2 0,-2-1 0,-6-2 0,-8 0 0,22 1 0,-17-2 0,7-1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2:07:31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1018 709 9293,'87'0'0,"-28"0"0,10 0 0,7 0 561,6 0 0,7 1 0,5-1 0,3 1-561,-18-1 0,3 1 0,2-1 0,1 0 0,1 1 0,0-1 0,2 1 0,0 0 0,2-1 0,-1 1 0,-1 0 0,-1-1 0,12 1 0,-2 0 0,-1 0 0,-1 0 0,-2-1 292,-7 1 0,-2-1 0,-1 1 0,-1-1 0,-1 0-292,13 1 0,-2-1 0,-1 1 0,1-1 266,-1 0 0,0 1 0,0-1 0,-1 0-266,-3 1 0,0 0 0,-2-1 0,0 0 796,-6 1 1,-1-1 0,-1 0 0,0-1-797,19 0 0,0-1 0,-2-2 0,-6 0 0,-1-1 0,-2-2 647,-3 0 0,-1-2 0,-1 0-647,-6 0 0,-2-1 0,-2 1 0,22-6 0,-5 1 952,-13 2 0,-3 0-952,-15 3 0,-4 0 1701,43-7-1701,-14 1 1261,3-5-1261,-4-4 520,-8-2-520,-11 0 0,-18 5 0,-16 3 0,-6 3 0,0-1 0,1-1 0,-3 2 0,-8 5 0,-6 1 0,-5-1 0,-3-2 0,-5-6 0,-19-8 0,-49-9 0,-2 11 0,-15 1 0,24 8 0,-6 1 0,-3 0 0,-3 1-639,-11-1 0,-2 2 0,-3 0 0,-2 1 639,13 2 0,-1 1 0,-2 1 0,0 0 0,1 1 0,2 0 0,0 1 0,0 1 0,0 0 0,1 1 0,2 0 0,0 2 0,0 0 0,0 0 0,-1 0 0,-2 0 0,0 0 0,0 0 0,-2 1 0,0-1 0,-6 1 0,-1-1 0,-1 1 0,-1-1 0,0 1-494,13-1 0,0 1 0,-1 0 0,1-1 0,-1 1 1,1-1 493,-17 1 0,1-1 0,0 1 0,1-1 0,1 0 0,4 1 0,1-1 0,1 1 0,1-1 0,2 1-287,-12 0 1,3 1 0,3-1 0,1 1 286,13-1 0,1 1 0,2 0 0,3 1-110,-12-1 0,3 1 0,1 0 110,7 1 0,0 0 0,4 0 0,-21 1 0,2 0 0,-8 0 0,0 0 0,4 1 0,3-1 0,8 1 0,5 0 961,9 0 1,4 0-962,-31 5 3052,30-2-3052,13 2 1530,5 1-1530,7 2 489,8 1-489,11 0 0,10-1 0,7 1 0,4 2 0,5 0 0,7 1 0,18 6 0,48 13 0,-21-15 0,6 0 0,14 1 0,4-1 0,0-3 0,-1-2 0,-11-5 0,-3-2 0,-7-1 0,-3-1 0,36 7 0,-14 1 0,-19-2 0,-17-2 0,-12-3 0,-5-1 0,3 2 0,6 0 0,-2-1 0,-4-2 0,-5-1 0,-1 1 0,2 3 0,0 1 0,-3 0 0,-7-1 0,-4-1 0,-1 1 0,-2-4 0,-4-3 0,-1-2 0,-1-2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0" Type="http://schemas.openxmlformats.org/officeDocument/2006/relationships/customXml" Target="../ink/ink6.xml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83.png"/><Relationship Id="rId7" Type="http://schemas.openxmlformats.org/officeDocument/2006/relationships/image" Target="../media/image8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025208" cy="533400"/>
          </a:xfrm>
        </p:spPr>
        <p:txBody>
          <a:bodyPr>
            <a:normAutofit fontScale="92500"/>
          </a:bodyPr>
          <a:lstStyle/>
          <a:p>
            <a:r>
              <a:rPr lang="fr-FR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Physics</a:t>
            </a:r>
            <a:r>
              <a:rPr lang="zh-CN" altLang="en-US" dirty="0"/>
              <a:t> </a:t>
            </a:r>
            <a:r>
              <a:rPr lang="fr-FR" dirty="0"/>
              <a:t>II</a:t>
            </a:r>
            <a:r>
              <a:rPr lang="zh-CN" altLang="en-US" dirty="0"/>
              <a:t> </a:t>
            </a:r>
            <a:r>
              <a:rPr lang="en-SG" altLang="zh-CN" dirty="0"/>
              <a:t>Particles Behaving as Waves </a:t>
            </a:r>
            <a:r>
              <a:rPr lang="fr-FR" dirty="0"/>
              <a:t>(Ch. </a:t>
            </a:r>
            <a:r>
              <a:rPr lang="en-US" altLang="zh-CN" dirty="0"/>
              <a:t>39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 descr="A diagram of a wave and a wave&#10;&#10;Description automatically generated with medium confidence">
            <a:extLst>
              <a:ext uri="{FF2B5EF4-FFF2-40B4-BE49-F238E27FC236}">
                <a16:creationId xmlns:a16="http://schemas.microsoft.com/office/drawing/2014/main" id="{98D06F9F-D1F3-386D-EEDE-1AC62B4A1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27423"/>
            <a:ext cx="8964488" cy="526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4B301-0070-96E2-DE8F-4843CE708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93890"/>
            <a:ext cx="3429000" cy="434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20AFB-F46C-F2FE-DC81-7D12A27DC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362" y="2276872"/>
            <a:ext cx="3657600" cy="213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F133F8-599C-9423-B855-FBD7B4024E3D}"/>
              </a:ext>
            </a:extLst>
          </p:cNvPr>
          <p:cNvSpPr txBox="1"/>
          <p:nvPr/>
        </p:nvSpPr>
        <p:spPr>
          <a:xfrm>
            <a:off x="5039362" y="484700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Nature loves symmetry </a:t>
            </a:r>
          </a:p>
          <a:p>
            <a:r>
              <a:rPr lang="en-US" altLang="zh-CN" dirty="0">
                <a:latin typeface="Times"/>
              </a:rPr>
              <a:t>Light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have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duality,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how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about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particles?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08" y="117231"/>
            <a:ext cx="8229600" cy="990600"/>
          </a:xfrm>
        </p:spPr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Continuous Spectra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Uncertainty Principle Revisited 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9083E-E8AA-6B17-6AA7-1C3E52296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88504"/>
            <a:ext cx="7776864" cy="808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CE0DC-5976-BAD9-669F-63803D85B7E7}"/>
                  </a:ext>
                </a:extLst>
              </p:cNvPr>
              <p:cNvSpPr txBox="1"/>
              <p:nvPr/>
            </p:nvSpPr>
            <p:spPr>
              <a:xfrm>
                <a:off x="971600" y="1471717"/>
                <a:ext cx="81724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2400" dirty="0">
                    <a:effectLst/>
                    <a:latin typeface="Times"/>
                  </a:rPr>
                  <a:t>If a particle acts like a wave, it should have a wavelength and a frequency. De Broglie postulated that a free particle with rest mass </a:t>
                </a:r>
                <a:r>
                  <a:rPr lang="en-SG" sz="2400" i="1" dirty="0">
                    <a:effectLst/>
                    <a:latin typeface="Times"/>
                  </a:rPr>
                  <a:t>m</a:t>
                </a:r>
                <a:r>
                  <a:rPr lang="en-SG" sz="2400" dirty="0">
                    <a:effectLst/>
                    <a:latin typeface="Times"/>
                  </a:rPr>
                  <a:t>, moving with nonrelativistic speed </a:t>
                </a:r>
                <a:r>
                  <a:rPr lang="en-SG" sz="2400" i="1" dirty="0">
                    <a:effectLst/>
                    <a:latin typeface="NewCenturySchlbk"/>
                  </a:rPr>
                  <a:t>v</a:t>
                </a:r>
                <a:r>
                  <a:rPr lang="en-SG" sz="2400" dirty="0">
                    <a:effectLst/>
                    <a:latin typeface="Times"/>
                  </a:rPr>
                  <a:t>, should have a wavelength </a:t>
                </a:r>
                <a14:m>
                  <m:oMath xmlns:m="http://schemas.openxmlformats.org/officeDocument/2006/math">
                    <m:r>
                      <a:rPr lang="en-SG" sz="24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>
                    <a:effectLst/>
                    <a:latin typeface="Times"/>
                  </a:rPr>
                  <a:t> </a:t>
                </a:r>
                <a:r>
                  <a:rPr lang="en-SG" sz="2400" dirty="0">
                    <a:effectLst/>
                    <a:latin typeface="Times"/>
                  </a:rPr>
                  <a:t>related to its momentum </a:t>
                </a:r>
                <a:r>
                  <a:rPr lang="en-SG" sz="2400" i="1" dirty="0">
                    <a:effectLst/>
                    <a:latin typeface="Times"/>
                  </a:rPr>
                  <a:t>p </a:t>
                </a:r>
                <a:r>
                  <a:rPr lang="en-SG" sz="2400" dirty="0">
                    <a:effectLst/>
                    <a:latin typeface="Optr2k"/>
                  </a:rPr>
                  <a:t>= </a:t>
                </a:r>
                <a:r>
                  <a:rPr lang="en-SG" sz="2400" i="1" dirty="0">
                    <a:effectLst/>
                    <a:latin typeface="Times"/>
                  </a:rPr>
                  <a:t>m</a:t>
                </a:r>
                <a:r>
                  <a:rPr lang="en-SG" sz="2400" i="1" dirty="0">
                    <a:effectLst/>
                    <a:latin typeface="NewCenturySchlbk"/>
                  </a:rPr>
                  <a:t>v </a:t>
                </a:r>
                <a:endParaRPr lang="en-SG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CE0DC-5976-BAD9-669F-63803D85B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471717"/>
                <a:ext cx="8172400" cy="1569660"/>
              </a:xfrm>
              <a:prstGeom prst="rect">
                <a:avLst/>
              </a:prstGeom>
              <a:blipFill>
                <a:blip r:embed="rId3"/>
                <a:stretch>
                  <a:fillRect l="-1087"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BEC6EBD-DD67-8FAB-7B54-C4CFA83D7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100" y="5086881"/>
            <a:ext cx="1913400" cy="63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CFFDF1-06AD-08AD-3A28-4C6E30F85969}"/>
              </a:ext>
            </a:extLst>
          </p:cNvPr>
          <p:cNvSpPr txBox="1"/>
          <p:nvPr/>
        </p:nvSpPr>
        <p:spPr>
          <a:xfrm>
            <a:off x="993298" y="42417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where </a:t>
            </a:r>
            <a:r>
              <a:rPr lang="en-SG" sz="2400" i="1" dirty="0">
                <a:effectLst/>
                <a:latin typeface="Times"/>
              </a:rPr>
              <a:t>h </a:t>
            </a:r>
            <a:r>
              <a:rPr lang="en-SG" sz="2400" dirty="0">
                <a:effectLst/>
                <a:latin typeface="Times"/>
              </a:rPr>
              <a:t>is Planck’s constant. 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E9717-2B9D-7D6C-93A1-6D8F7AA5A443}"/>
              </a:ext>
            </a:extLst>
          </p:cNvPr>
          <p:cNvSpPr txBox="1"/>
          <p:nvPr/>
        </p:nvSpPr>
        <p:spPr>
          <a:xfrm>
            <a:off x="993298" y="5104202"/>
            <a:ext cx="2863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Energy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particle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001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58514-A5DB-0F87-C8B4-C2A4E384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34" y="1559382"/>
            <a:ext cx="6588732" cy="3902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BEF53-4537-0528-CFEC-4352CF4363B2}"/>
              </a:ext>
            </a:extLst>
          </p:cNvPr>
          <p:cNvSpPr txBox="1"/>
          <p:nvPr/>
        </p:nvSpPr>
        <p:spPr>
          <a:xfrm>
            <a:off x="457200" y="1159738"/>
            <a:ext cx="555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Observing the Wave Nature of Electrons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78C66-AA48-1EE9-482A-DADD5366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5465932"/>
            <a:ext cx="7060766" cy="8112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3D3FF70-E809-F15D-34FE-36A834E7F799}"/>
                  </a:ext>
                </a:extLst>
              </p14:cNvPr>
              <p14:cNvContentPartPr/>
              <p14:nvPr/>
            </p14:nvContentPartPr>
            <p14:xfrm>
              <a:off x="2343666" y="4390134"/>
              <a:ext cx="2144880" cy="726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3D3FF70-E809-F15D-34FE-36A834E7F7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7666" y="4354494"/>
                <a:ext cx="2216520" cy="79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75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96360-414B-E03B-43D5-93BB544EC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688236"/>
            <a:ext cx="4544115" cy="4386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E2079-B285-A5CA-6A98-3524ECB8C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224575"/>
            <a:ext cx="2480356" cy="262329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C431A68-3318-8962-B122-EB5AC5A10FB5}"/>
              </a:ext>
            </a:extLst>
          </p:cNvPr>
          <p:cNvGrpSpPr/>
          <p:nvPr/>
        </p:nvGrpSpPr>
        <p:grpSpPr>
          <a:xfrm>
            <a:off x="4552986" y="3963174"/>
            <a:ext cx="2116080" cy="1703520"/>
            <a:chOff x="4552986" y="3963174"/>
            <a:chExt cx="2116080" cy="170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952936-6A3A-B83A-E325-C36CAEC7F253}"/>
                    </a:ext>
                  </a:extLst>
                </p14:cNvPr>
                <p14:cNvContentPartPr/>
                <p14:nvPr/>
              </p14:nvContentPartPr>
              <p14:xfrm>
                <a:off x="4552986" y="4075494"/>
                <a:ext cx="1912320" cy="1591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952936-6A3A-B83A-E325-C36CAEC7F2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44346" y="4066854"/>
                  <a:ext cx="1929960" cy="16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58D781-237F-AF14-0C64-5D9D220138CA}"/>
                    </a:ext>
                  </a:extLst>
                </p14:cNvPr>
                <p14:cNvContentPartPr/>
                <p14:nvPr/>
              </p14:nvContentPartPr>
              <p14:xfrm>
                <a:off x="6401586" y="3963174"/>
                <a:ext cx="267480" cy="29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58D781-237F-AF14-0C64-5D9D220138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92586" y="3954534"/>
                  <a:ext cx="285120" cy="31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0323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D176D-B9C0-8410-6C79-0598B462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64620"/>
            <a:ext cx="3771900" cy="358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6A8EA-3F1E-67D4-C643-66B07C24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5061580"/>
            <a:ext cx="3505200" cy="43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C17659-8265-3691-B528-976D3E93B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94" y="2419837"/>
            <a:ext cx="3695700" cy="1892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2107AE-E424-B4C3-5C45-3FD00B5A8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48" y="5588974"/>
            <a:ext cx="5969000" cy="685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DD52F8-0B93-C869-5D06-1B689F7A534D}"/>
                  </a:ext>
                </a:extLst>
              </p14:cNvPr>
              <p14:cNvContentPartPr/>
              <p14:nvPr/>
            </p14:nvContentPartPr>
            <p14:xfrm>
              <a:off x="5830626" y="355169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DD52F8-0B93-C869-5D06-1B689F7A53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21986" y="354305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84CEFF-A0F8-8FF0-F8B5-1C693B6C820B}"/>
                  </a:ext>
                </a:extLst>
              </p14:cNvPr>
              <p14:cNvContentPartPr/>
              <p14:nvPr/>
            </p14:nvContentPartPr>
            <p14:xfrm>
              <a:off x="5297466" y="1378734"/>
              <a:ext cx="2029680" cy="416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84CEFF-A0F8-8FF0-F8B5-1C693B6C82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88466" y="1369734"/>
                <a:ext cx="204732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F3B4AE-6C62-1AD1-040C-7C9A204FB4F8}"/>
                  </a:ext>
                </a:extLst>
              </p14:cNvPr>
              <p14:cNvContentPartPr/>
              <p14:nvPr/>
            </p14:nvContentPartPr>
            <p14:xfrm>
              <a:off x="5063466" y="4638174"/>
              <a:ext cx="2543760" cy="262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F3B4AE-6C62-1AD1-040C-7C9A204FB4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54466" y="4629174"/>
                <a:ext cx="256140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1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11A17-C683-2CC2-328C-63CEAE34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02" y="1181100"/>
            <a:ext cx="5575300" cy="224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EBCF76-06EC-B80C-6E35-C86FE832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764" y="4318894"/>
            <a:ext cx="5372100" cy="17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ED889-806A-0AF0-508F-20161C8E5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3490666"/>
            <a:ext cx="59690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Electron Waves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30637-17BF-7027-97FB-B472D91AF3C2}"/>
              </a:ext>
            </a:extLst>
          </p:cNvPr>
          <p:cNvSpPr txBox="1"/>
          <p:nvPr/>
        </p:nvSpPr>
        <p:spPr>
          <a:xfrm>
            <a:off x="323528" y="1398635"/>
            <a:ext cx="5856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 Broglie Waves and the Macroscopic World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ABB6D5-BDBC-D621-01B0-CAF3492E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158767"/>
            <a:ext cx="7543800" cy="2946400"/>
          </a:xfrm>
          <a:prstGeom prst="rect">
            <a:avLst/>
          </a:prstGeom>
        </p:spPr>
      </p:pic>
      <p:pic>
        <p:nvPicPr>
          <p:cNvPr id="12" name="Picture 11" descr="A sand dune in the desert&#10;&#10;Description automatically generated">
            <a:extLst>
              <a:ext uri="{FF2B5EF4-FFF2-40B4-BE49-F238E27FC236}">
                <a16:creationId xmlns:a16="http://schemas.microsoft.com/office/drawing/2014/main" id="{44251E83-7138-4128-741C-31ED8A900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241062"/>
            <a:ext cx="2736304" cy="18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1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5C6DF-231D-BEAA-8C8B-C6211537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337536"/>
            <a:ext cx="7226374" cy="462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33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EDE07-8BE7-8C35-3D3E-3B9816B2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660892"/>
            <a:ext cx="6284292" cy="36199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64FD96-FF39-699E-786F-726A66EF9BF3}"/>
              </a:ext>
            </a:extLst>
          </p:cNvPr>
          <p:cNvSpPr txBox="1"/>
          <p:nvPr/>
        </p:nvSpPr>
        <p:spPr>
          <a:xfrm>
            <a:off x="1740023" y="1535837"/>
            <a:ext cx="54970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Heated</a:t>
            </a:r>
            <a:r>
              <a:rPr lang="zh-CN" altLang="en-US" sz="2400" dirty="0"/>
              <a:t> </a:t>
            </a:r>
            <a:r>
              <a:rPr lang="en-US" altLang="zh-CN" sz="2400" dirty="0"/>
              <a:t>gas</a:t>
            </a:r>
            <a:r>
              <a:rPr lang="zh-CN" altLang="en-US" sz="2400" dirty="0"/>
              <a:t> </a:t>
            </a:r>
            <a:r>
              <a:rPr lang="en-US" altLang="zh-CN" sz="2400" dirty="0"/>
              <a:t>emits</a:t>
            </a:r>
            <a:r>
              <a:rPr lang="zh-CN" altLang="en-US" sz="2400" dirty="0"/>
              <a:t> </a:t>
            </a:r>
            <a:r>
              <a:rPr lang="en-US" altLang="zh-CN" sz="2400" dirty="0"/>
              <a:t>only</a:t>
            </a:r>
            <a:r>
              <a:rPr lang="zh-CN" altLang="en-US" sz="2400" dirty="0"/>
              <a:t> </a:t>
            </a:r>
            <a:r>
              <a:rPr lang="en-US" altLang="zh-CN" sz="2400" dirty="0"/>
              <a:t>certain</a:t>
            </a:r>
            <a:r>
              <a:rPr lang="zh-CN" altLang="en-US" sz="2400" dirty="0"/>
              <a:t> </a:t>
            </a:r>
            <a:r>
              <a:rPr lang="en-US" altLang="zh-CN" sz="2400" dirty="0"/>
              <a:t>wavelengths</a:t>
            </a:r>
          </a:p>
          <a:p>
            <a:r>
              <a:rPr lang="en-US" altLang="zh-CN" sz="2400" dirty="0"/>
              <a:t>Cool</a:t>
            </a:r>
            <a:r>
              <a:rPr lang="zh-CN" altLang="en-US" sz="2400" dirty="0"/>
              <a:t> </a:t>
            </a:r>
            <a:r>
              <a:rPr lang="en-US" altLang="zh-CN" sz="2400" dirty="0"/>
              <a:t>gas</a:t>
            </a:r>
            <a:r>
              <a:rPr lang="zh-CN" altLang="en-US" sz="2400" dirty="0"/>
              <a:t> </a:t>
            </a:r>
            <a:r>
              <a:rPr lang="en-US" altLang="zh-CN" sz="2400" dirty="0"/>
              <a:t>absorbs</a:t>
            </a:r>
            <a:r>
              <a:rPr lang="zh-CN" altLang="en-US" sz="2400" dirty="0"/>
              <a:t> </a:t>
            </a:r>
            <a:r>
              <a:rPr lang="en-US" altLang="zh-CN" sz="2400" dirty="0"/>
              <a:t>certain</a:t>
            </a:r>
            <a:r>
              <a:rPr lang="zh-CN" altLang="en-US" sz="2400" dirty="0"/>
              <a:t> </a:t>
            </a:r>
            <a:r>
              <a:rPr lang="en-US" altLang="zh-CN" sz="2400" dirty="0"/>
              <a:t>wavelengths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055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DF512-9B17-F11B-4A71-5BFB5B73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41" y="1473252"/>
            <a:ext cx="3965564" cy="4818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A75CD7-487B-BA16-3AC3-E0E0EE82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00275"/>
            <a:ext cx="45212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6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72AC7-1DB2-D356-1AF5-384FCDBE71B9}"/>
              </a:ext>
            </a:extLst>
          </p:cNvPr>
          <p:cNvSpPr txBox="1"/>
          <p:nvPr/>
        </p:nvSpPr>
        <p:spPr>
          <a:xfrm>
            <a:off x="390522" y="1280660"/>
            <a:ext cx="7649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Exploration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atom: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Rutherford scattering experiments 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17E1F-11A2-BAA5-E751-A78FFA6F6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764995"/>
            <a:ext cx="7053408" cy="45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EE75E-5CB8-1947-FD61-3511D6194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293096"/>
            <a:ext cx="3767881" cy="1910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A34A7-0B9D-5689-D229-BD34DA186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4171950"/>
            <a:ext cx="3556000" cy="210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F8BFFA-14A0-21F1-EBF0-C0B8F46BF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1360470"/>
            <a:ext cx="6046533" cy="252192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BCE2DCB-36AD-7170-1A52-9CE3698F2D7B}"/>
              </a:ext>
            </a:extLst>
          </p:cNvPr>
          <p:cNvSpPr/>
          <p:nvPr/>
        </p:nvSpPr>
        <p:spPr>
          <a:xfrm>
            <a:off x="4426914" y="5099284"/>
            <a:ext cx="558800" cy="412346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17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69492-0024-9C1F-17C2-1914DC26D0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582"/>
          <a:stretch/>
        </p:blipFill>
        <p:spPr>
          <a:xfrm>
            <a:off x="5028215" y="1639994"/>
            <a:ext cx="3970784" cy="4152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E1D1F3-4E6B-BBFF-2A8B-8459519F6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95" y="2155649"/>
            <a:ext cx="4142705" cy="318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46ACE9-DD74-8D8D-956D-478BC3F5699C}"/>
              </a:ext>
            </a:extLst>
          </p:cNvPr>
          <p:cNvSpPr txBox="1"/>
          <p:nvPr/>
        </p:nvSpPr>
        <p:spPr>
          <a:xfrm>
            <a:off x="785446" y="1418492"/>
            <a:ext cx="3388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Failure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classical</a:t>
            </a:r>
            <a:r>
              <a:rPr lang="zh-CN" altLang="en-US" sz="2400" dirty="0"/>
              <a:t> </a:t>
            </a:r>
            <a:r>
              <a:rPr lang="en-US" altLang="zh-CN" sz="2400" dirty="0"/>
              <a:t>physics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6276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9670-EEE2-413E-921B-33C66022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52DF-CBAA-A026-189E-5801B50F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The Nuclear Atom and Atomic Spectra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8BC58-7B94-3A55-DFC1-3A98D18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3E27-DEF1-8F93-6101-E47AF993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ABB19-2552-0184-7DCF-0D7F085E52CE}"/>
              </a:ext>
            </a:extLst>
          </p:cNvPr>
          <p:cNvSpPr txBox="1"/>
          <p:nvPr/>
        </p:nvSpPr>
        <p:spPr>
          <a:xfrm>
            <a:off x="1275997" y="1988840"/>
            <a:ext cx="446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Failure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classical</a:t>
            </a:r>
            <a:r>
              <a:rPr lang="zh-CN" altLang="en-US" sz="3200" dirty="0"/>
              <a:t> </a:t>
            </a:r>
            <a:r>
              <a:rPr lang="en-US" altLang="zh-CN" sz="3200" dirty="0"/>
              <a:t>physics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B2ECC-B2E5-C359-38F3-1C7CC46DE296}"/>
              </a:ext>
            </a:extLst>
          </p:cNvPr>
          <p:cNvSpPr txBox="1"/>
          <p:nvPr/>
        </p:nvSpPr>
        <p:spPr>
          <a:xfrm>
            <a:off x="1275997" y="2985627"/>
            <a:ext cx="57949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Need</a:t>
            </a:r>
            <a:r>
              <a:rPr lang="zh-CN" altLang="en-US" sz="3200" dirty="0"/>
              <a:t> </a:t>
            </a:r>
            <a:r>
              <a:rPr lang="en-US" altLang="zh-CN" sz="3200" dirty="0"/>
              <a:t>improvement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model</a:t>
            </a:r>
          </a:p>
          <a:p>
            <a:endParaRPr lang="en-US" sz="3200" dirty="0"/>
          </a:p>
          <a:p>
            <a:r>
              <a:rPr lang="en-US" altLang="zh-CN" sz="3200" dirty="0"/>
              <a:t>From</a:t>
            </a:r>
            <a:r>
              <a:rPr lang="zh-CN" altLang="en-US" sz="3200" dirty="0"/>
              <a:t> </a:t>
            </a:r>
            <a:r>
              <a:rPr lang="en-US" altLang="zh-CN" sz="3200" dirty="0"/>
              <a:t>Rutherford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Bohr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774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F1624-0F47-7FCA-8050-B1FD4210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4"/>
          <a:stretch/>
        </p:blipFill>
        <p:spPr>
          <a:xfrm>
            <a:off x="961278" y="1399281"/>
            <a:ext cx="7303007" cy="3226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4FB8E-8065-DF65-D4AE-DD0B6C7DF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5157192"/>
            <a:ext cx="7129768" cy="8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2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D344-E5EC-0A51-279C-EB910246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A062-1D66-8BCE-70B2-D1D4B9CB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2EA7C-76BF-DC2B-514F-25914833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81DF0-91FC-DF60-5305-6DE3ADB5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D007A2-16A9-E42B-F7A9-6B1C0FAAF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9" y="3618259"/>
            <a:ext cx="9071401" cy="2325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1EAFCF-C41C-5E4D-FE73-2413D3058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844824"/>
            <a:ext cx="7129768" cy="8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72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C11E6-A523-F8B5-3910-3CC468BF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7" y="1412776"/>
            <a:ext cx="880778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0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F585C-6B24-92CA-A36E-E0C11AC02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7" y="1143000"/>
            <a:ext cx="4848427" cy="170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4D8EC0-02DB-1A90-40CA-35996C37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6" y="2852936"/>
            <a:ext cx="4569296" cy="2232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C91305-C6E1-B746-560D-A24F743F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833" y="1268760"/>
            <a:ext cx="3614513" cy="39712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01E6C9-A50E-3CAD-F43A-48EDCB760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85184"/>
            <a:ext cx="4848427" cy="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3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F585C-6B24-92CA-A36E-E0C11AC02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7" y="1143000"/>
            <a:ext cx="4848427" cy="1709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C91305-C6E1-B746-560D-A24F743F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33" y="1268760"/>
            <a:ext cx="3614513" cy="3971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B7BA0-C94E-F5EC-8D4C-4CF0D39A4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20" y="3166351"/>
            <a:ext cx="4785544" cy="1106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31F1D-66CF-76BE-1DEC-FBFA90338A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904"/>
          <a:stretch/>
        </p:blipFill>
        <p:spPr>
          <a:xfrm>
            <a:off x="489620" y="4263082"/>
            <a:ext cx="4785544" cy="49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B097-A155-FA6A-DDB9-FBEB21CB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C851-C4AB-B5BD-B806-7A6C018A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0BCF1-E48C-2D35-39A1-01E290D2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CE620-D402-0ECE-FD53-CADBA233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55B2D-B9F2-3B4D-726D-627D26CED2DA}"/>
              </a:ext>
            </a:extLst>
          </p:cNvPr>
          <p:cNvSpPr txBox="1"/>
          <p:nvPr/>
        </p:nvSpPr>
        <p:spPr>
          <a:xfrm>
            <a:off x="971600" y="1916832"/>
            <a:ext cx="6336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Bohr</a:t>
            </a:r>
            <a:r>
              <a:rPr lang="zh-CN" altLang="en-US" sz="3200" dirty="0"/>
              <a:t> </a:t>
            </a:r>
            <a:r>
              <a:rPr lang="en-US" altLang="zh-CN" sz="3200" dirty="0"/>
              <a:t>model:</a:t>
            </a:r>
            <a:r>
              <a:rPr lang="zh-CN" altLang="en-US" sz="3200" dirty="0"/>
              <a:t> </a:t>
            </a:r>
            <a:r>
              <a:rPr lang="en-US" altLang="zh-CN" sz="3200" dirty="0"/>
              <a:t>Concept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quantization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151AC-CD93-D30A-FF70-6DFFC1D17555}"/>
              </a:ext>
            </a:extLst>
          </p:cNvPr>
          <p:cNvSpPr txBox="1"/>
          <p:nvPr/>
        </p:nvSpPr>
        <p:spPr>
          <a:xfrm>
            <a:off x="2580904" y="2769159"/>
            <a:ext cx="53086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Quantized</a:t>
            </a:r>
            <a:r>
              <a:rPr lang="zh-CN" altLang="en-US" sz="3200" dirty="0"/>
              <a:t> </a:t>
            </a:r>
            <a:r>
              <a:rPr lang="en-US" altLang="zh-CN" sz="3200" dirty="0"/>
              <a:t>angular</a:t>
            </a:r>
            <a:r>
              <a:rPr lang="zh-CN" altLang="en-US" sz="3200" dirty="0"/>
              <a:t> </a:t>
            </a:r>
            <a:r>
              <a:rPr lang="en-US" altLang="zh-CN" sz="3200" dirty="0"/>
              <a:t>momentum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97091-5404-B1BD-6344-BF496896366A}"/>
              </a:ext>
            </a:extLst>
          </p:cNvPr>
          <p:cNvSpPr txBox="1"/>
          <p:nvPr/>
        </p:nvSpPr>
        <p:spPr>
          <a:xfrm>
            <a:off x="2592779" y="3604873"/>
            <a:ext cx="4191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Quantized</a:t>
            </a:r>
            <a:r>
              <a:rPr lang="zh-CN" altLang="en-US" sz="3200" dirty="0"/>
              <a:t> </a:t>
            </a:r>
            <a:r>
              <a:rPr lang="en-US" altLang="zh-CN" sz="3200" dirty="0"/>
              <a:t>orbital</a:t>
            </a:r>
            <a:r>
              <a:rPr lang="zh-CN" altLang="en-US" sz="3200" dirty="0"/>
              <a:t> </a:t>
            </a:r>
            <a:r>
              <a:rPr lang="en-US" altLang="zh-CN" sz="3200" dirty="0"/>
              <a:t>radius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B2F5F-5D4C-E41F-0FE1-4209D38F0370}"/>
              </a:ext>
            </a:extLst>
          </p:cNvPr>
          <p:cNvSpPr txBox="1"/>
          <p:nvPr/>
        </p:nvSpPr>
        <p:spPr>
          <a:xfrm>
            <a:off x="2588999" y="4547896"/>
            <a:ext cx="3125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Quantized</a:t>
            </a:r>
            <a:r>
              <a:rPr lang="zh-CN" altLang="en-US" sz="3200" dirty="0"/>
              <a:t> </a:t>
            </a:r>
            <a:r>
              <a:rPr lang="en-US" altLang="zh-CN" sz="3200" dirty="0"/>
              <a:t>energy</a:t>
            </a: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37DDF-8EE0-D29E-5D17-64C9C51C6F2A}"/>
              </a:ext>
            </a:extLst>
          </p:cNvPr>
          <p:cNvSpPr txBox="1"/>
          <p:nvPr/>
        </p:nvSpPr>
        <p:spPr>
          <a:xfrm>
            <a:off x="3563888" y="5520636"/>
            <a:ext cx="1902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Quantum!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9413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CD6D5-979B-7258-97C4-ABEF0968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94"/>
          <a:stretch/>
        </p:blipFill>
        <p:spPr>
          <a:xfrm>
            <a:off x="2339752" y="2141332"/>
            <a:ext cx="4152011" cy="2756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483114-5554-E12C-7F6D-E57D604E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1233008"/>
            <a:ext cx="1439350" cy="419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62DE1-C41D-B22E-DD64-0F23C07D3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80" y="5461806"/>
            <a:ext cx="8598640" cy="803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F7C9A-635D-A5E3-E0E6-A4C83C4E5582}"/>
              </a:ext>
            </a:extLst>
          </p:cNvPr>
          <p:cNvSpPr txBox="1"/>
          <p:nvPr/>
        </p:nvSpPr>
        <p:spPr>
          <a:xfrm>
            <a:off x="612648" y="1245252"/>
            <a:ext cx="6122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Bohr</a:t>
            </a:r>
            <a:r>
              <a:rPr lang="zh-CN" altLang="en-US" sz="2400" dirty="0"/>
              <a:t> </a:t>
            </a:r>
            <a:r>
              <a:rPr lang="en-US" altLang="zh-CN" sz="2400" dirty="0"/>
              <a:t>proposal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quantized</a:t>
            </a:r>
            <a:r>
              <a:rPr lang="zh-CN" altLang="en-US" sz="2400" dirty="0"/>
              <a:t> </a:t>
            </a:r>
            <a:r>
              <a:rPr lang="en-US" altLang="zh-CN" sz="2400" dirty="0"/>
              <a:t>angular</a:t>
            </a:r>
            <a:r>
              <a:rPr lang="zh-CN" altLang="en-US" sz="2400" dirty="0"/>
              <a:t> </a:t>
            </a:r>
            <a:r>
              <a:rPr lang="en-US" altLang="zh-CN" sz="2400" dirty="0"/>
              <a:t>momentum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7455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2E1D-3BAA-9E22-F66E-EADF1366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2434-086D-042F-8B0C-160FC13D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3146D-D88B-C1D5-56C2-1FD3855C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CC0E8-2FCA-DC39-CA2D-C7A8C670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7E870-F669-0736-C5E5-EFF79F50E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27470" y="-235534"/>
            <a:ext cx="2154208" cy="6278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ECBC0-C937-A5B4-D706-5204E2B5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80" y="4497216"/>
            <a:ext cx="8598640" cy="803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656515-5EC6-4547-1277-95D9961BCC89}"/>
              </a:ext>
            </a:extLst>
          </p:cNvPr>
          <p:cNvSpPr txBox="1"/>
          <p:nvPr/>
        </p:nvSpPr>
        <p:spPr>
          <a:xfrm>
            <a:off x="612648" y="1245252"/>
            <a:ext cx="7011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Simpler</a:t>
            </a:r>
            <a:r>
              <a:rPr lang="zh-CN" altLang="en-US" sz="2400" dirty="0"/>
              <a:t> </a:t>
            </a:r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Bohr</a:t>
            </a:r>
            <a:r>
              <a:rPr lang="zh-CN" altLang="en-US" sz="2400" dirty="0"/>
              <a:t> </a:t>
            </a:r>
            <a:r>
              <a:rPr lang="en-US" altLang="zh-CN" sz="2400" dirty="0"/>
              <a:t>proposal:</a:t>
            </a:r>
            <a:r>
              <a:rPr lang="zh-CN" altLang="en-US" sz="2400" dirty="0"/>
              <a:t> </a:t>
            </a:r>
            <a:r>
              <a:rPr lang="en-US" altLang="zh-CN" sz="2400" dirty="0"/>
              <a:t>standing</a:t>
            </a:r>
            <a:r>
              <a:rPr lang="zh-CN" altLang="en-US" sz="2400" dirty="0"/>
              <a:t> </a:t>
            </a:r>
            <a:r>
              <a:rPr lang="en-US" altLang="zh-CN" sz="2400" dirty="0"/>
              <a:t>wave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wave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591BF-E2F0-0D38-7C62-4C5A12414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077"/>
          <a:stretch/>
        </p:blipFill>
        <p:spPr>
          <a:xfrm>
            <a:off x="359945" y="2164121"/>
            <a:ext cx="1979807" cy="418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3C178A-1A65-4F59-EEF9-2286E9592E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37"/>
          <a:stretch/>
        </p:blipFill>
        <p:spPr>
          <a:xfrm>
            <a:off x="325956" y="2842938"/>
            <a:ext cx="1797772" cy="466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12D938-494A-960C-307B-71CF53B9E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954" y="3694496"/>
            <a:ext cx="2357846" cy="47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27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F8A2E-BDCA-A0FA-4E6F-AB96D7643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2" y="1714689"/>
            <a:ext cx="4367518" cy="44131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4388B7-5986-9E1F-FC22-33DA7D0DF825}"/>
              </a:ext>
            </a:extLst>
          </p:cNvPr>
          <p:cNvSpPr txBox="1"/>
          <p:nvPr/>
        </p:nvSpPr>
        <p:spPr>
          <a:xfrm>
            <a:off x="194465" y="124407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Bohr model of the hydrogen atom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980129-3A75-C1AE-3B58-F152D36F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032" y="1569709"/>
            <a:ext cx="3174490" cy="1252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BDAD74-227A-E80F-C04B-576CCBADF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194" y="2884410"/>
            <a:ext cx="3083451" cy="11688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59469C-C615-0073-64DC-43294DE9B4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333" b="-9757"/>
          <a:stretch/>
        </p:blipFill>
        <p:spPr>
          <a:xfrm>
            <a:off x="5652120" y="4859353"/>
            <a:ext cx="2864128" cy="12310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E04B80-363D-56AA-3B99-FB3DC57DB810}"/>
              </a:ext>
            </a:extLst>
          </p:cNvPr>
          <p:cNvSpPr txBox="1"/>
          <p:nvPr/>
        </p:nvSpPr>
        <p:spPr>
          <a:xfrm>
            <a:off x="4944658" y="4220332"/>
            <a:ext cx="4199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Quantized</a:t>
            </a:r>
            <a:r>
              <a:rPr lang="zh-CN" altLang="en-US" sz="2400" dirty="0"/>
              <a:t> </a:t>
            </a:r>
            <a:r>
              <a:rPr lang="en-US" altLang="zh-CN" sz="2400" dirty="0"/>
              <a:t>o</a:t>
            </a:r>
            <a:r>
              <a:rPr lang="en-US" sz="2400" dirty="0"/>
              <a:t>rbital radii</a:t>
            </a:r>
          </a:p>
        </p:txBody>
      </p:sp>
    </p:spTree>
    <p:extLst>
      <p:ext uri="{BB962C8B-B14F-4D97-AF65-F5344CB8AC3E}">
        <p14:creationId xmlns:p14="http://schemas.microsoft.com/office/powerpoint/2010/main" val="3201213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0BBB-21E9-CEBE-C01E-4DD15AC9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9E10-1E18-E5B2-8AE2-CB48664F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CA1AB-996A-8F53-E973-D1D83036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06902-3009-449E-C4FB-0F0F6B75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BAC51E-4AF2-712E-4BAF-F7610B6D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59" y="1358098"/>
            <a:ext cx="4460638" cy="11494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857A5D-3E9D-2D31-224F-006B0F719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3169945"/>
            <a:ext cx="1707844" cy="5181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B9E7D-E3EE-3057-912C-89B29112CCDA}"/>
              </a:ext>
            </a:extLst>
          </p:cNvPr>
          <p:cNvSpPr txBox="1"/>
          <p:nvPr/>
        </p:nvSpPr>
        <p:spPr>
          <a:xfrm>
            <a:off x="597332" y="1705655"/>
            <a:ext cx="10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Define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8DF6D-E391-7D98-9E7A-D4EDE8F034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33" b="-9757"/>
          <a:stretch/>
        </p:blipFill>
        <p:spPr>
          <a:xfrm>
            <a:off x="1951068" y="2932587"/>
            <a:ext cx="2120789" cy="911566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29E3AE8B-6165-5F45-53D7-5FE739B8FB5F}"/>
              </a:ext>
            </a:extLst>
          </p:cNvPr>
          <p:cNvSpPr/>
          <p:nvPr/>
        </p:nvSpPr>
        <p:spPr>
          <a:xfrm>
            <a:off x="4187250" y="3255994"/>
            <a:ext cx="460692" cy="34601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6F261D-99CB-FECB-C7F0-3CCEA6E56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659" y="4592577"/>
            <a:ext cx="6742714" cy="137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80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6AFCF-ABB8-3765-918E-BB4109BF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304" y="4941168"/>
            <a:ext cx="5385392" cy="877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1E261-E0D9-41C9-3DF9-2EA2ADE8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45" y="1222195"/>
            <a:ext cx="8534310" cy="2419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BA227-B8DB-3788-A539-7845ECF61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8773"/>
            <a:ext cx="7772400" cy="9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29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F9ED-4EB6-E40A-749A-61666C00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0ABE-A2FA-3F88-6637-2693AC6F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EA6AE-C358-0AE1-5524-DD81D7C8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7ABA8-855E-EADD-7FA4-D797F68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5D636-7FD2-0E86-79F3-F4259CCC5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474"/>
            <a:ext cx="8917419" cy="502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55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Energy Levels and the Bohr Model of the Atom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BA908B-A4CC-0152-BDAB-0BE4B97C8F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30"/>
          <a:stretch/>
        </p:blipFill>
        <p:spPr>
          <a:xfrm>
            <a:off x="602949" y="4688588"/>
            <a:ext cx="7925783" cy="1667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E6B2BF-6942-F36B-EBD8-7FAD5CD8F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848" y="1215108"/>
            <a:ext cx="3410039" cy="339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76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EC53E7-314A-83CD-FBCF-DDB7223B4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4906888" cy="1309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9D5F3-E535-E133-1886-640439FE6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1" y="2838290"/>
            <a:ext cx="4723092" cy="2651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D66C58-4689-C41B-A2E4-A69AD071B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201" y="2619611"/>
            <a:ext cx="4175504" cy="30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C1167-E2A4-4A6F-AE74-DE26C135E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772816"/>
            <a:ext cx="6336704" cy="370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2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FC5B-B6A8-4685-8ECA-98FEE09B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53F2-3193-0D4B-AF86-654FEFB8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49163-F7C9-6DD6-3FFA-58B93345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CB129-C16B-2EEF-1ED2-D45CD0E9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9D88B9-5265-EF4E-AF51-03005C55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574413"/>
            <a:ext cx="6696744" cy="4340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14C2D3-C59E-9F2E-64E3-845E63234691}"/>
              </a:ext>
            </a:extLst>
          </p:cNvPr>
          <p:cNvSpPr txBox="1"/>
          <p:nvPr/>
        </p:nvSpPr>
        <p:spPr>
          <a:xfrm>
            <a:off x="4941243" y="5229200"/>
            <a:ext cx="3769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/>
              <a:t>Random</a:t>
            </a:r>
            <a:r>
              <a:rPr lang="zh-CN" altLang="en-US" sz="2400" dirty="0"/>
              <a:t> </a:t>
            </a:r>
            <a:r>
              <a:rPr lang="en-US" altLang="zh-CN" sz="2400" dirty="0"/>
              <a:t>phase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direction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5072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F407-3F77-9B2A-CBAA-FC94F28B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2A01-18C7-7312-E9B9-3A17CB7D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97197-DE9C-8B95-75E1-38802742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BF1C-E16D-F447-C359-EB0E0A0A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A76C2-E64A-84C1-F5C4-ADBCEC73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10" y="1556792"/>
            <a:ext cx="7488832" cy="3744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B6BA17-F2BA-46F8-939C-5A7F8522AD91}"/>
              </a:ext>
            </a:extLst>
          </p:cNvPr>
          <p:cNvSpPr txBox="1"/>
          <p:nvPr/>
        </p:nvSpPr>
        <p:spPr>
          <a:xfrm>
            <a:off x="3347864" y="5341647"/>
            <a:ext cx="5193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Resonance</a:t>
            </a:r>
            <a:r>
              <a:rPr lang="zh-CN" altLang="en-US" sz="2400" dirty="0"/>
              <a:t> </a:t>
            </a:r>
            <a:r>
              <a:rPr lang="en-US" altLang="zh-CN" sz="2400" dirty="0"/>
              <a:t>effect</a:t>
            </a:r>
          </a:p>
          <a:p>
            <a:r>
              <a:rPr lang="en-US" altLang="zh-CN" sz="2400" dirty="0"/>
              <a:t>Phonons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same</a:t>
            </a:r>
            <a:r>
              <a:rPr lang="zh-CN" altLang="en-US" sz="2400" dirty="0"/>
              <a:t> </a:t>
            </a:r>
            <a:r>
              <a:rPr lang="en-US" altLang="zh-CN" sz="2400" dirty="0"/>
              <a:t>phase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direction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7132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C1167-E2A4-4A6F-AE74-DE26C135E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8" y="1143000"/>
            <a:ext cx="4256140" cy="24852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A01EA-BDC2-59E8-F2E9-6A698BD2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818282"/>
            <a:ext cx="4131543" cy="11403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B066A2-B474-E3A4-DA62-30949382B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315" y="3584608"/>
            <a:ext cx="7401433" cy="270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69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4688-CF2F-0994-84D9-8528294F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E884-2117-5611-FDF3-B4CA769A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208E-663A-F827-A47D-3A3DA9F9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88352-4ACA-9092-19E5-777A7FCC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5FD3F-1CAE-D030-1FD9-5D40F04B1F91}"/>
              </a:ext>
            </a:extLst>
          </p:cNvPr>
          <p:cNvSpPr txBox="1"/>
          <p:nvPr/>
        </p:nvSpPr>
        <p:spPr>
          <a:xfrm>
            <a:off x="453643" y="1184184"/>
            <a:ext cx="8064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Laser</a:t>
            </a:r>
            <a:r>
              <a:rPr lang="en-US" altLang="zh-CN" sz="2400" dirty="0">
                <a:latin typeface="Times"/>
              </a:rPr>
              <a:t>:</a:t>
            </a:r>
            <a:r>
              <a:rPr lang="zh-CN" altLang="en-US" sz="2400" dirty="0"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a </a:t>
            </a:r>
            <a:r>
              <a:rPr lang="en-SG" sz="2400" i="1" dirty="0">
                <a:effectLst/>
                <a:latin typeface="Times"/>
              </a:rPr>
              <a:t>nonequilibrium </a:t>
            </a:r>
            <a:r>
              <a:rPr lang="en-SG" sz="2400" dirty="0">
                <a:effectLst/>
                <a:latin typeface="Times"/>
              </a:rPr>
              <a:t>situation in which the number of atoms in a higher-energy state is greater than the number in a lower-energy state</a:t>
            </a:r>
            <a:r>
              <a:rPr lang="en-US" altLang="zh-CN" sz="2400" dirty="0">
                <a:latin typeface="Times"/>
              </a:rPr>
              <a:t>,</a:t>
            </a:r>
            <a:r>
              <a:rPr lang="zh-CN" altLang="en-US" sz="2400" dirty="0"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 </a:t>
            </a:r>
            <a:r>
              <a:rPr lang="en-SG" sz="2400" b="1" dirty="0">
                <a:effectLst/>
                <a:latin typeface="Times"/>
              </a:rPr>
              <a:t>population inversion 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E3771-49B5-AECE-CF33-5C6EE887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510226"/>
            <a:ext cx="5350360" cy="37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The Laser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BA439-A983-490F-7DCC-32B5343A12D4}"/>
              </a:ext>
            </a:extLst>
          </p:cNvPr>
          <p:cNvSpPr txBox="1"/>
          <p:nvPr/>
        </p:nvSpPr>
        <p:spPr>
          <a:xfrm>
            <a:off x="453643" y="1184184"/>
            <a:ext cx="8064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Laser</a:t>
            </a:r>
            <a:r>
              <a:rPr lang="en-US" altLang="zh-CN" sz="2400" dirty="0">
                <a:latin typeface="Times"/>
              </a:rPr>
              <a:t>:</a:t>
            </a:r>
            <a:r>
              <a:rPr lang="zh-CN" altLang="en-US" sz="2400" dirty="0"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a </a:t>
            </a:r>
            <a:r>
              <a:rPr lang="en-SG" sz="2400" i="1" dirty="0">
                <a:effectLst/>
                <a:latin typeface="Times"/>
              </a:rPr>
              <a:t>nonequilibrium </a:t>
            </a:r>
            <a:r>
              <a:rPr lang="en-SG" sz="2400" dirty="0">
                <a:effectLst/>
                <a:latin typeface="Times"/>
              </a:rPr>
              <a:t>situation in which the number of atoms in a higher-energy state is greater than the number in a lower-energy state</a:t>
            </a:r>
            <a:r>
              <a:rPr lang="en-US" altLang="zh-CN" sz="2400" dirty="0">
                <a:latin typeface="Times"/>
              </a:rPr>
              <a:t>,</a:t>
            </a:r>
            <a:r>
              <a:rPr lang="zh-CN" altLang="en-US" sz="2400" dirty="0"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 </a:t>
            </a:r>
            <a:r>
              <a:rPr lang="en-SG" sz="2400" b="1" dirty="0">
                <a:effectLst/>
                <a:latin typeface="Times"/>
              </a:rPr>
              <a:t>population inversion </a:t>
            </a:r>
            <a:endParaRPr lang="en-SG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78E6E-E0C3-708D-A6F3-BA23EC4D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" y="2643369"/>
            <a:ext cx="9116318" cy="28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96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Continuous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BC271D-3006-836C-A078-B6EB91753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942387"/>
            <a:ext cx="2012905" cy="6225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14137-34A5-17AF-86AF-945432416326}"/>
              </a:ext>
            </a:extLst>
          </p:cNvPr>
          <p:cNvSpPr txBox="1"/>
          <p:nvPr/>
        </p:nvSpPr>
        <p:spPr>
          <a:xfrm>
            <a:off x="4296767" y="2096548"/>
            <a:ext cx="4933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Stefan–Boltzmann law for a blackbody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A9B75D-A3AD-8361-B8EA-F30A46B88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738" y="3949109"/>
            <a:ext cx="4690158" cy="862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EB8C9E-A6E7-6611-DDC5-CDC52045C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8" y="1695247"/>
            <a:ext cx="4253439" cy="429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05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F4EC-E86A-5E74-9E30-1EFD7A24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E6CC-C922-1A59-23AC-AF612D52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Continuous Spectra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21C8C-CD16-AF6D-263A-74AFD16E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522A-1BD7-013E-F2C6-E2237CD6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5CDD8-BB40-F1E3-EF92-7A12AA9B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23" y="1254480"/>
            <a:ext cx="3762377" cy="3993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DE148-5961-1C15-5A4E-176B54612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5563114"/>
            <a:ext cx="2012905" cy="622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3C0E5-3D95-0B50-DA3F-D49FDEA9A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12" y="5645641"/>
            <a:ext cx="3394337" cy="3693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F0D05-D190-A5D9-865F-040963D98711}"/>
              </a:ext>
            </a:extLst>
          </p:cNvPr>
          <p:cNvSpPr txBox="1"/>
          <p:nvPr/>
        </p:nvSpPr>
        <p:spPr>
          <a:xfrm>
            <a:off x="179512" y="5588001"/>
            <a:ext cx="198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Dark sunspots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244374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Continuous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0A121-23A2-EB3E-D620-D31B30686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00910"/>
            <a:ext cx="4059932" cy="4839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C7ED02-1CA0-5467-A4AF-2B03E6B8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43" y="2646381"/>
            <a:ext cx="3989391" cy="5748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CE6988-EF62-FC7C-C175-9C81330E72BB}"/>
              </a:ext>
            </a:extLst>
          </p:cNvPr>
          <p:cNvSpPr txBox="1"/>
          <p:nvPr/>
        </p:nvSpPr>
        <p:spPr>
          <a:xfrm>
            <a:off x="4802721" y="1988840"/>
            <a:ext cx="3384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Wien displacement law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B30590-7886-7E27-4858-E757BAF5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319" y="4415030"/>
            <a:ext cx="2924040" cy="11487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59F240-BCFA-3D28-C6D4-F7FBAB873FEB}"/>
              </a:ext>
            </a:extLst>
          </p:cNvPr>
          <p:cNvSpPr txBox="1"/>
          <p:nvPr/>
        </p:nvSpPr>
        <p:spPr>
          <a:xfrm>
            <a:off x="5007392" y="3762307"/>
            <a:ext cx="19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intensity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2D800-E98E-1C21-D24B-6486EC58EFD3}"/>
              </a:ext>
            </a:extLst>
          </p:cNvPr>
          <p:cNvSpPr txBox="1"/>
          <p:nvPr/>
        </p:nvSpPr>
        <p:spPr>
          <a:xfrm>
            <a:off x="4672580" y="3327643"/>
            <a:ext cx="1762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Peak</a:t>
            </a:r>
            <a:r>
              <a:rPr lang="zh-CN" altLang="en-US" dirty="0"/>
              <a:t> </a:t>
            </a:r>
            <a:r>
              <a:rPr lang="en-US" altLang="zh-CN" dirty="0"/>
              <a:t>wavelength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57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Continuous Spectra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7A601-8A94-C5C5-90C1-92094876D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077" y="1958561"/>
            <a:ext cx="3965986" cy="11743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84474-9599-0765-8E2F-16B321B5902E}"/>
              </a:ext>
            </a:extLst>
          </p:cNvPr>
          <p:cNvSpPr txBox="1"/>
          <p:nvPr/>
        </p:nvSpPr>
        <p:spPr>
          <a:xfrm>
            <a:off x="20283" y="2237450"/>
            <a:ext cx="3305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Planck radiation law </a:t>
            </a:r>
            <a:endParaRPr lang="en-SG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CFDB4A-EFCB-5E8A-AFCE-13FE9BE4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715" y="4027563"/>
            <a:ext cx="4543702" cy="8654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0EACA1-A56A-CC23-710D-C77A8550B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17" y="5033355"/>
            <a:ext cx="1614979" cy="8896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7D73DC-E9F8-51BF-A9AB-E932AF2C3D08}"/>
              </a:ext>
            </a:extLst>
          </p:cNvPr>
          <p:cNvSpPr txBox="1"/>
          <p:nvPr/>
        </p:nvSpPr>
        <p:spPr>
          <a:xfrm>
            <a:off x="4720814" y="3512245"/>
            <a:ext cx="4558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Resulting in Stefan–Boltzmann law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95438-6098-9363-1053-0D15CCB7EBED}"/>
              </a:ext>
            </a:extLst>
          </p:cNvPr>
          <p:cNvSpPr txBox="1"/>
          <p:nvPr/>
        </p:nvSpPr>
        <p:spPr>
          <a:xfrm>
            <a:off x="2781435" y="1203437"/>
            <a:ext cx="366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Quantum</a:t>
            </a:r>
            <a:r>
              <a:rPr lang="zh-CN" altLang="en-US" sz="3200" dirty="0"/>
              <a:t> </a:t>
            </a:r>
            <a:r>
              <a:rPr lang="en-US" altLang="zh-CN" sz="3200" dirty="0"/>
              <a:t>hypothesis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25D5D-A866-BF21-D1F5-56A350DE5189}"/>
              </a:ext>
            </a:extLst>
          </p:cNvPr>
          <p:cNvSpPr txBox="1"/>
          <p:nvPr/>
        </p:nvSpPr>
        <p:spPr>
          <a:xfrm>
            <a:off x="338761" y="3565898"/>
            <a:ext cx="2867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Resulting in </a:t>
            </a:r>
            <a:r>
              <a:rPr lang="en-US" altLang="zh-CN" sz="2400" dirty="0"/>
              <a:t>Wien</a:t>
            </a:r>
            <a:r>
              <a:rPr lang="zh-CN" altLang="en-US" sz="2400" dirty="0"/>
              <a:t> </a:t>
            </a:r>
            <a:r>
              <a:rPr lang="en-US" altLang="zh-CN" sz="2400" dirty="0"/>
              <a:t>law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B0187E-8B23-70E1-4115-9B92E265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162" y="4673982"/>
            <a:ext cx="1892699" cy="972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D4659F-B47D-9661-44BD-23AC4B038F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162" y="4235276"/>
            <a:ext cx="24257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35C19E-49B5-82AB-48B8-0AD8E18B68C4}"/>
              </a:ext>
            </a:extLst>
          </p:cNvPr>
          <p:cNvSpPr txBox="1"/>
          <p:nvPr/>
        </p:nvSpPr>
        <p:spPr>
          <a:xfrm>
            <a:off x="387660" y="4294981"/>
            <a:ext cx="848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Solve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FF5C38-3D85-BC18-4345-9E57BF62D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609" y="5737059"/>
            <a:ext cx="3269311" cy="4711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D408EC-D11D-BF88-22B2-DF631E9895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5614" y="5639246"/>
            <a:ext cx="1614980" cy="4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47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7F93C-F673-4445-6D51-0677A2824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243" y="1143000"/>
            <a:ext cx="6284207" cy="2280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5FC54-03BA-4F15-188B-0DA20FBE8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495995"/>
            <a:ext cx="5702864" cy="1418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04F24B-3479-C8D6-8F81-1BA1A507A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868" y="5090009"/>
            <a:ext cx="56007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1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39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Uncertainty Principle Revisited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43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68AB2E-F763-F433-3B7F-D72BC7F46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1" y="1240214"/>
            <a:ext cx="7777972" cy="31630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C278E6-68FF-EDFD-4748-8E33DA68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403310"/>
            <a:ext cx="5969000" cy="1244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F22651-30B2-4DD0-87BC-E6D47D15D5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028"/>
          <a:stretch/>
        </p:blipFill>
        <p:spPr>
          <a:xfrm>
            <a:off x="1746250" y="5617786"/>
            <a:ext cx="5651500" cy="70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757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 (Ch. 39)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D36C3D-7518-F7DB-3757-509881BCE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39" y="1284992"/>
            <a:ext cx="5487998" cy="506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65AB6D-D8AF-470A-25FE-04DB078E8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38" y="1881579"/>
            <a:ext cx="4815933" cy="1366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F7BADB-A376-F6BF-EA38-3F461C685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38" y="3400537"/>
            <a:ext cx="3883679" cy="11154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C229BE-2BE2-5DC3-0F40-3B21CD4C2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984" y="3541738"/>
            <a:ext cx="4651226" cy="24748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65F53E-EBE1-2A83-DCC3-3CCB3999F8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891" y="1226342"/>
            <a:ext cx="2934697" cy="222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2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8206</TotalTime>
  <Words>995</Words>
  <Application>Microsoft Macintosh PowerPoint</Application>
  <PresentationFormat>On-screen Show (4:3)</PresentationFormat>
  <Paragraphs>176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NewCenturySchlbk</vt:lpstr>
      <vt:lpstr>Optr2k</vt:lpstr>
      <vt:lpstr>Times</vt:lpstr>
      <vt:lpstr>Bookman Old Style</vt:lpstr>
      <vt:lpstr>Calibri</vt:lpstr>
      <vt:lpstr>Cambria Math</vt:lpstr>
      <vt:lpstr>Helvetica Neue</vt:lpstr>
      <vt:lpstr>Wingdings</vt:lpstr>
      <vt:lpstr>Wingdings 3</vt:lpstr>
      <vt:lpstr>Origin</vt:lpstr>
      <vt:lpstr>PHYS1001B College Physics IB</vt:lpstr>
      <vt:lpstr>Introduction</vt:lpstr>
      <vt:lpstr>PowerPoint Presentation</vt:lpstr>
      <vt:lpstr>Outline</vt:lpstr>
      <vt:lpstr>39-1 Electron Waves</vt:lpstr>
      <vt:lpstr>39-1 Electron Waves</vt:lpstr>
      <vt:lpstr>39-1 Electron Waves</vt:lpstr>
      <vt:lpstr>39-1 Electron Waves</vt:lpstr>
      <vt:lpstr>Sample Problem</vt:lpstr>
      <vt:lpstr>39-1 Electron Waves</vt:lpstr>
      <vt:lpstr>39-2 The Nuclear Atom and Atomic Spectra</vt:lpstr>
      <vt:lpstr>39-2 The Nuclear Atom and Atomic Spectra</vt:lpstr>
      <vt:lpstr>39-2 The Nuclear Atom and Atomic Spectra</vt:lpstr>
      <vt:lpstr>39-2 The Nuclear Atom and Atomic Spectra</vt:lpstr>
      <vt:lpstr>39-2 The Nuclear Atom and Atomic Spectra</vt:lpstr>
      <vt:lpstr>39-2 The Nuclear Atom and Atomic Spectra</vt:lpstr>
      <vt:lpstr>39-2 The Nuclear Atom and Atomic Spectra</vt:lpstr>
      <vt:lpstr>39-3 Energy Levels and the Bohr Model of the Atom</vt:lpstr>
      <vt:lpstr>39-3 Energy Levels and the Bohr Model of the Atom</vt:lpstr>
      <vt:lpstr>39-3 Energy Levels and the Bohr Model of the Atom</vt:lpstr>
      <vt:lpstr>Sample Problem</vt:lpstr>
      <vt:lpstr>Sample Problem</vt:lpstr>
      <vt:lpstr>39-3 Energy Levels and the Bohr Model of the Atom</vt:lpstr>
      <vt:lpstr>39-3 Energy Levels and the Bohr Model of the Atom</vt:lpstr>
      <vt:lpstr>39-3 Energy Levels and the Bohr Model of the Atom</vt:lpstr>
      <vt:lpstr>39-3 Energy Levels and the Bohr Model of the Atom</vt:lpstr>
      <vt:lpstr>39-3 Energy Levels and the Bohr Model of the Atom</vt:lpstr>
      <vt:lpstr>39-3 Energy Levels and the Bohr Model of the Atom</vt:lpstr>
      <vt:lpstr>39-3 Energy Levels and the Bohr Model of the Atom</vt:lpstr>
      <vt:lpstr>39-3 Energy Levels and the Bohr Model of the Atom</vt:lpstr>
      <vt:lpstr>Sample Problem</vt:lpstr>
      <vt:lpstr>39-4 The Laser</vt:lpstr>
      <vt:lpstr>39-4 The Laser</vt:lpstr>
      <vt:lpstr>39-4 The Laser</vt:lpstr>
      <vt:lpstr>39-4 The Laser</vt:lpstr>
      <vt:lpstr>39-4 The Laser</vt:lpstr>
      <vt:lpstr>39-4 The Laser</vt:lpstr>
      <vt:lpstr>39-5 Continuous Spectra</vt:lpstr>
      <vt:lpstr>39-5 Continuous Spectra</vt:lpstr>
      <vt:lpstr>39-5 Continuous Spectra</vt:lpstr>
      <vt:lpstr>39-5 Continuous Spectra</vt:lpstr>
      <vt:lpstr>Sample Problem</vt:lpstr>
      <vt:lpstr>39-6 The Uncertainty Principle Revisited </vt:lpstr>
      <vt:lpstr>Sample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364</cp:revision>
  <cp:lastPrinted>2019-08-29T04:50:17Z</cp:lastPrinted>
  <dcterms:created xsi:type="dcterms:W3CDTF">2013-05-27T09:54:43Z</dcterms:created>
  <dcterms:modified xsi:type="dcterms:W3CDTF">2025-12-06T03:46:48Z</dcterms:modified>
</cp:coreProperties>
</file>