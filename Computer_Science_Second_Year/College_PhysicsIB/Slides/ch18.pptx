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256" r:id="rId2"/>
    <p:sldId id="264" r:id="rId3"/>
    <p:sldId id="257" r:id="rId4"/>
    <p:sldId id="306" r:id="rId5"/>
    <p:sldId id="315" r:id="rId6"/>
    <p:sldId id="316" r:id="rId7"/>
    <p:sldId id="317" r:id="rId8"/>
    <p:sldId id="314" r:id="rId9"/>
    <p:sldId id="319" r:id="rId10"/>
    <p:sldId id="318" r:id="rId11"/>
    <p:sldId id="320" r:id="rId12"/>
    <p:sldId id="321" r:id="rId13"/>
    <p:sldId id="322" r:id="rId14"/>
    <p:sldId id="342" r:id="rId15"/>
    <p:sldId id="323" r:id="rId16"/>
    <p:sldId id="324" r:id="rId17"/>
    <p:sldId id="325" r:id="rId18"/>
    <p:sldId id="326" r:id="rId19"/>
    <p:sldId id="327" r:id="rId20"/>
    <p:sldId id="328" r:id="rId21"/>
    <p:sldId id="343" r:id="rId22"/>
    <p:sldId id="344" r:id="rId23"/>
    <p:sldId id="345" r:id="rId24"/>
    <p:sldId id="329" r:id="rId25"/>
    <p:sldId id="330" r:id="rId26"/>
    <p:sldId id="346" r:id="rId27"/>
    <p:sldId id="333" r:id="rId28"/>
    <p:sldId id="331" r:id="rId29"/>
    <p:sldId id="332" r:id="rId30"/>
    <p:sldId id="335" r:id="rId31"/>
    <p:sldId id="347" r:id="rId32"/>
    <p:sldId id="348" r:id="rId33"/>
    <p:sldId id="336" r:id="rId34"/>
    <p:sldId id="337" r:id="rId35"/>
    <p:sldId id="338" r:id="rId36"/>
    <p:sldId id="339" r:id="rId3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036"/>
    <p:restoredTop sz="94714"/>
  </p:normalViewPr>
  <p:slideViewPr>
    <p:cSldViewPr>
      <p:cViewPr varScale="1">
        <p:scale>
          <a:sx n="107" d="100"/>
          <a:sy n="107" d="100"/>
        </p:scale>
        <p:origin x="133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0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www.chegg.com</a:t>
            </a:r>
            <a:r>
              <a:rPr lang="en-US"/>
              <a:t>/homework-help/questions-and-answers/potential-energy-70-pm-o-ev-r-50-ev-5-pt-molecular-binding-energy-diagram-shows-potential--q53683420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710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www.chegg.com</a:t>
            </a:r>
            <a:r>
              <a:rPr lang="en-US"/>
              <a:t>/homework-help/questions-and-answers/potential-energy-70-pm-o-ev-r-50-ev-5-pt-molecular-binding-energy-diagram-shows-potential--q53683420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372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931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Thermodynamics</a:t>
            </a:r>
            <a:r>
              <a:rPr lang="zh-CN" altLang="en-US" dirty="0"/>
              <a:t> </a:t>
            </a:r>
            <a:r>
              <a:rPr lang="en-US" altLang="zh-CN" dirty="0"/>
              <a:t>II</a:t>
            </a:r>
            <a:r>
              <a:rPr lang="zh-CN" altLang="en-US" dirty="0"/>
              <a:t> </a:t>
            </a:r>
            <a:r>
              <a:rPr lang="fr-FR" dirty="0"/>
              <a:t>— </a:t>
            </a:r>
            <a:r>
              <a:rPr lang="en-US" altLang="zh-CN" dirty="0"/>
              <a:t>Thermal Properties of Matter</a:t>
            </a:r>
            <a:r>
              <a:rPr lang="zh-CN" altLang="en-US" dirty="0"/>
              <a:t> </a:t>
            </a:r>
            <a:r>
              <a:rPr lang="fr-FR" dirty="0"/>
              <a:t>(Ch. 1</a:t>
            </a:r>
            <a:r>
              <a:rPr lang="en-US" altLang="zh-CN" dirty="0"/>
              <a:t>8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752A9-79E8-A42E-BCE4-D3CB6512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12651"/>
            <a:ext cx="6583260" cy="50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Molecular Properties of Matter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Molecular Speeds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Phases of Matter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B8BBD-49C3-0404-1ED6-BBAF4D6C3A82}"/>
              </a:ext>
            </a:extLst>
          </p:cNvPr>
          <p:cNvSpPr txBox="1"/>
          <p:nvPr/>
        </p:nvSpPr>
        <p:spPr>
          <a:xfrm>
            <a:off x="799383" y="1175792"/>
            <a:ext cx="80648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The conditions in which a particular material exists are described by physical quantities such as pressure, volume, temperature, and amount of substance. These variables describe the </a:t>
            </a:r>
            <a:r>
              <a:rPr lang="en-SG" sz="2400" i="1" dirty="0">
                <a:effectLst/>
                <a:latin typeface="Times"/>
              </a:rPr>
              <a:t>state </a:t>
            </a:r>
            <a:r>
              <a:rPr lang="en-SG" sz="2400" dirty="0">
                <a:effectLst/>
                <a:latin typeface="Times"/>
              </a:rPr>
              <a:t>of the material and are called </a:t>
            </a:r>
            <a:r>
              <a:rPr lang="en-SG" sz="2400" b="1" dirty="0">
                <a:effectLst/>
                <a:latin typeface="Times"/>
              </a:rPr>
              <a:t>state variables. </a:t>
            </a:r>
            <a:endParaRPr lang="en-SG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In a few cases the relationship among </a:t>
            </a:r>
            <a:r>
              <a:rPr lang="en-SG" sz="2400" i="1" dirty="0">
                <a:effectLst/>
                <a:latin typeface="Times"/>
              </a:rPr>
              <a:t>p</a:t>
            </a:r>
            <a:r>
              <a:rPr lang="en-SG" sz="2400" dirty="0">
                <a:effectLst/>
                <a:latin typeface="Times"/>
              </a:rPr>
              <a:t>, </a:t>
            </a:r>
            <a:r>
              <a:rPr lang="en-SG" sz="2400" i="1" dirty="0">
                <a:effectLst/>
                <a:latin typeface="Times"/>
              </a:rPr>
              <a:t>V</a:t>
            </a:r>
            <a:r>
              <a:rPr lang="en-SG" sz="2400" dirty="0">
                <a:effectLst/>
                <a:latin typeface="Times"/>
              </a:rPr>
              <a:t>, </a:t>
            </a:r>
            <a:r>
              <a:rPr lang="en-SG" sz="2400" i="1" dirty="0">
                <a:effectLst/>
                <a:latin typeface="Times"/>
              </a:rPr>
              <a:t>T</a:t>
            </a:r>
            <a:r>
              <a:rPr lang="en-SG" sz="2400" dirty="0">
                <a:effectLst/>
                <a:latin typeface="Times"/>
              </a:rPr>
              <a:t>, and </a:t>
            </a:r>
            <a:r>
              <a:rPr lang="en-SG" sz="2400" i="1" dirty="0">
                <a:effectLst/>
                <a:latin typeface="Times"/>
              </a:rPr>
              <a:t>m </a:t>
            </a:r>
            <a:r>
              <a:rPr lang="en-SG" sz="2400" dirty="0">
                <a:effectLst/>
                <a:latin typeface="Times"/>
              </a:rPr>
              <a:t>(or </a:t>
            </a:r>
            <a:r>
              <a:rPr lang="en-SG" sz="2400" i="1" dirty="0">
                <a:effectLst/>
                <a:latin typeface="Times"/>
              </a:rPr>
              <a:t>n</a:t>
            </a:r>
            <a:r>
              <a:rPr lang="en-SG" sz="2400" dirty="0">
                <a:effectLst/>
                <a:latin typeface="Times"/>
              </a:rPr>
              <a:t>) is simple enough that we can express it as an equation called the </a:t>
            </a:r>
            <a:r>
              <a:rPr lang="en-SG" sz="2400" b="1" dirty="0">
                <a:effectLst/>
                <a:latin typeface="Times"/>
              </a:rPr>
              <a:t>equation of state. </a:t>
            </a:r>
            <a:endParaRPr lang="en-SG" sz="2400" dirty="0"/>
          </a:p>
          <a:p>
            <a:endParaRPr lang="en-SG" sz="2400" dirty="0"/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0D7C9-6583-2840-ACC0-30B1A763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054" y="4832985"/>
            <a:ext cx="6843554" cy="814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97933F-0353-E683-2F87-4D1D47D7C94E}"/>
              </a:ext>
            </a:extLst>
          </p:cNvPr>
          <p:cNvSpPr txBox="1"/>
          <p:nvPr/>
        </p:nvSpPr>
        <p:spPr>
          <a:xfrm>
            <a:off x="1043608" y="4265992"/>
            <a:ext cx="549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Equation of state for a solid material 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5BCB24-C72F-182B-65D5-F84B0130C9E0}"/>
                  </a:ext>
                </a:extLst>
              </p:cNvPr>
              <p:cNvSpPr txBox="1"/>
              <p:nvPr/>
            </p:nvSpPr>
            <p:spPr>
              <a:xfrm>
                <a:off x="1115616" y="5518711"/>
                <a:ext cx="616430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2400" dirty="0">
                    <a:effectLst/>
                    <a:latin typeface="Times"/>
                  </a:rPr>
                  <a:t>temperature coefficient of volume expansion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>
                    <a:effectLst/>
                    <a:latin typeface="Times"/>
                  </a:rPr>
                  <a:t> </a:t>
                </a:r>
                <a:r>
                  <a:rPr lang="en-SG" sz="2400" dirty="0">
                    <a:effectLst/>
                    <a:latin typeface="Times"/>
                  </a:rPr>
                  <a:t>compressibility </a:t>
                </a:r>
                <a:r>
                  <a:rPr lang="en-SG" sz="2400" i="1" dirty="0">
                    <a:effectLst/>
                    <a:latin typeface="Times"/>
                  </a:rPr>
                  <a:t>k </a:t>
                </a:r>
                <a:endParaRPr lang="en-SG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5BCB24-C72F-182B-65D5-F84B0130C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518711"/>
                <a:ext cx="6164306" cy="830997"/>
              </a:xfrm>
              <a:prstGeom prst="rect">
                <a:avLst/>
              </a:prstGeom>
              <a:blipFill>
                <a:blip r:embed="rId3"/>
                <a:stretch>
                  <a:fillRect l="-1437" t="-5970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0B266-C57A-C651-294E-B9ED999C6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28" y="1287413"/>
            <a:ext cx="3537486" cy="49245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15EA15-35F5-789D-AA35-E4BC1F6DD43B}"/>
              </a:ext>
            </a:extLst>
          </p:cNvPr>
          <p:cNvSpPr txBox="1"/>
          <p:nvPr/>
        </p:nvSpPr>
        <p:spPr>
          <a:xfrm>
            <a:off x="4117958" y="1364406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SG" dirty="0">
                <a:effectLst/>
                <a:latin typeface="Times"/>
              </a:rPr>
              <a:t>The volume </a:t>
            </a:r>
            <a:r>
              <a:rPr lang="en-SG" i="1" dirty="0">
                <a:effectLst/>
                <a:latin typeface="Times"/>
              </a:rPr>
              <a:t>V </a:t>
            </a:r>
            <a:r>
              <a:rPr lang="en-SG" dirty="0">
                <a:effectLst/>
                <a:latin typeface="Times"/>
              </a:rPr>
              <a:t>is proportional to the number of moles </a:t>
            </a:r>
            <a:r>
              <a:rPr lang="en-SG" i="1" dirty="0">
                <a:effectLst/>
                <a:latin typeface="Times"/>
              </a:rPr>
              <a:t>n</a:t>
            </a:r>
            <a:r>
              <a:rPr lang="en-SG" dirty="0">
                <a:effectLst/>
                <a:latin typeface="Times"/>
              </a:rPr>
              <a:t>. If we double the number of moles, keeping pressure and temperature constant, the volume doubles.</a:t>
            </a:r>
          </a:p>
          <a:p>
            <a:pPr marL="342900" indent="-342900" algn="just">
              <a:buAutoNum type="arabicPeriod"/>
            </a:pPr>
            <a:r>
              <a:rPr lang="en-SG" dirty="0">
                <a:effectLst/>
                <a:latin typeface="Times"/>
              </a:rPr>
              <a:t>The volume varies </a:t>
            </a:r>
            <a:r>
              <a:rPr lang="en-SG" i="1" dirty="0">
                <a:effectLst/>
                <a:latin typeface="Times"/>
              </a:rPr>
              <a:t>inversely </a:t>
            </a:r>
            <a:r>
              <a:rPr lang="en-SG" dirty="0">
                <a:effectLst/>
                <a:latin typeface="Times"/>
              </a:rPr>
              <a:t>with the absolute pressure </a:t>
            </a:r>
            <a:r>
              <a:rPr lang="en-SG" i="1" dirty="0">
                <a:effectLst/>
                <a:latin typeface="Times"/>
              </a:rPr>
              <a:t>p</a:t>
            </a:r>
            <a:r>
              <a:rPr lang="en-SG" dirty="0">
                <a:effectLst/>
                <a:latin typeface="Times"/>
              </a:rPr>
              <a:t>. If we double the pressure while holding the temperature </a:t>
            </a:r>
            <a:r>
              <a:rPr lang="en-SG" i="1" dirty="0">
                <a:effectLst/>
                <a:latin typeface="Times"/>
              </a:rPr>
              <a:t>T </a:t>
            </a:r>
            <a:r>
              <a:rPr lang="en-SG" dirty="0">
                <a:effectLst/>
                <a:latin typeface="Times"/>
              </a:rPr>
              <a:t>and number of moles </a:t>
            </a:r>
            <a:r>
              <a:rPr lang="en-SG" i="1" dirty="0">
                <a:effectLst/>
                <a:latin typeface="Times"/>
              </a:rPr>
              <a:t>n </a:t>
            </a:r>
            <a:r>
              <a:rPr lang="en-SG" dirty="0">
                <a:effectLst/>
                <a:latin typeface="Times"/>
              </a:rPr>
              <a:t>constant, the gas compresses to one-half of its initial volume. In other words, </a:t>
            </a:r>
            <a:r>
              <a:rPr lang="en-SG" i="1" dirty="0" err="1">
                <a:effectLst/>
                <a:latin typeface="Times"/>
              </a:rPr>
              <a:t>pV</a:t>
            </a:r>
            <a:r>
              <a:rPr lang="en-SG" i="1" dirty="0">
                <a:effectLst/>
                <a:latin typeface="Times"/>
              </a:rPr>
              <a:t> </a:t>
            </a:r>
            <a:r>
              <a:rPr lang="en-SG" dirty="0">
                <a:effectLst/>
                <a:latin typeface="Optr2k"/>
              </a:rPr>
              <a:t>= </a:t>
            </a:r>
            <a:r>
              <a:rPr lang="en-SG" dirty="0">
                <a:effectLst/>
                <a:latin typeface="Times"/>
              </a:rPr>
              <a:t>constant when </a:t>
            </a:r>
            <a:r>
              <a:rPr lang="en-SG" i="1" dirty="0">
                <a:effectLst/>
                <a:latin typeface="Times"/>
              </a:rPr>
              <a:t>n </a:t>
            </a:r>
            <a:r>
              <a:rPr lang="en-SG" dirty="0">
                <a:effectLst/>
                <a:latin typeface="Times"/>
              </a:rPr>
              <a:t>and </a:t>
            </a:r>
            <a:r>
              <a:rPr lang="en-SG" i="1" dirty="0">
                <a:effectLst/>
                <a:latin typeface="Times"/>
              </a:rPr>
              <a:t>T </a:t>
            </a:r>
            <a:r>
              <a:rPr lang="en-SG" dirty="0">
                <a:effectLst/>
                <a:latin typeface="Times"/>
              </a:rPr>
              <a:t>are constant. </a:t>
            </a:r>
          </a:p>
          <a:p>
            <a:pPr marL="342900" indent="-342900" algn="just">
              <a:buFontTx/>
              <a:buAutoNum type="arabicPeriod"/>
            </a:pPr>
            <a:r>
              <a:rPr lang="en-SG" dirty="0">
                <a:effectLst/>
                <a:latin typeface="Times"/>
              </a:rPr>
              <a:t>The pressure is proportional to the </a:t>
            </a:r>
            <a:r>
              <a:rPr lang="en-SG" i="1" dirty="0">
                <a:effectLst/>
                <a:latin typeface="Times"/>
              </a:rPr>
              <a:t>absolute </a:t>
            </a:r>
            <a:r>
              <a:rPr lang="en-SG" dirty="0">
                <a:effectLst/>
                <a:latin typeface="Times"/>
              </a:rPr>
              <a:t>temperature. If we double the absolute temperature, keeping the volume and number of moles constant, the pressure doubles. In other words, </a:t>
            </a:r>
            <a:r>
              <a:rPr lang="en-SG" i="1" dirty="0">
                <a:effectLst/>
                <a:latin typeface="Times"/>
              </a:rPr>
              <a:t>p </a:t>
            </a:r>
            <a:r>
              <a:rPr lang="en-SG" dirty="0">
                <a:effectLst/>
                <a:latin typeface="Optr2k"/>
              </a:rPr>
              <a:t>= </a:t>
            </a:r>
            <a:r>
              <a:rPr lang="en-SG" dirty="0">
                <a:effectLst/>
                <a:latin typeface="Times"/>
              </a:rPr>
              <a:t>(constant)</a:t>
            </a:r>
            <a:r>
              <a:rPr lang="zh-CN" altLang="en-US" dirty="0">
                <a:effectLst/>
                <a:latin typeface="Times"/>
              </a:rPr>
              <a:t> </a:t>
            </a:r>
            <a:r>
              <a:rPr lang="en-SG" i="1" dirty="0">
                <a:effectLst/>
                <a:latin typeface="Times"/>
              </a:rPr>
              <a:t>T </a:t>
            </a:r>
            <a:r>
              <a:rPr lang="en-SG" dirty="0">
                <a:effectLst/>
                <a:latin typeface="Times"/>
              </a:rPr>
              <a:t>when </a:t>
            </a:r>
            <a:r>
              <a:rPr lang="en-SG" i="1" dirty="0">
                <a:effectLst/>
                <a:latin typeface="Times"/>
              </a:rPr>
              <a:t>n </a:t>
            </a:r>
            <a:r>
              <a:rPr lang="en-SG" dirty="0">
                <a:effectLst/>
                <a:latin typeface="Times"/>
              </a:rPr>
              <a:t>and </a:t>
            </a:r>
            <a:r>
              <a:rPr lang="en-SG" i="1" dirty="0">
                <a:effectLst/>
                <a:latin typeface="Times"/>
              </a:rPr>
              <a:t>V </a:t>
            </a:r>
            <a:r>
              <a:rPr lang="en-SG" dirty="0">
                <a:effectLst/>
                <a:latin typeface="Times"/>
              </a:rPr>
              <a:t>are constant. </a:t>
            </a:r>
          </a:p>
          <a:p>
            <a:pPr marL="342900" indent="-342900" algn="just"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933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0B266-C57A-C651-294E-B9ED999C6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28" y="1287413"/>
            <a:ext cx="3537486" cy="4924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30126-CF2C-610A-172A-554C5D8B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947964"/>
            <a:ext cx="2427982" cy="7636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89300B-6567-95E2-3956-72B911BEF0B4}"/>
              </a:ext>
            </a:extLst>
          </p:cNvPr>
          <p:cNvSpPr txBox="1"/>
          <p:nvPr/>
        </p:nvSpPr>
        <p:spPr>
          <a:xfrm>
            <a:off x="3707904" y="139501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Ideal-gas equation </a:t>
            </a:r>
            <a:endParaRPr lang="en-SG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DB918-7126-650C-ED84-5294FAC44A96}"/>
              </a:ext>
            </a:extLst>
          </p:cNvPr>
          <p:cNvSpPr txBox="1"/>
          <p:nvPr/>
        </p:nvSpPr>
        <p:spPr>
          <a:xfrm>
            <a:off x="3748318" y="2951896"/>
            <a:ext cx="4964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Gas constant </a:t>
            </a:r>
            <a:r>
              <a:rPr lang="en-SG" sz="2400" dirty="0">
                <a:effectLst/>
                <a:latin typeface="Times"/>
              </a:rPr>
              <a:t>(or </a:t>
            </a:r>
            <a:r>
              <a:rPr lang="en-SG" sz="2400" i="1" dirty="0">
                <a:effectLst/>
                <a:latin typeface="Times"/>
              </a:rPr>
              <a:t>ideal-gas constant</a:t>
            </a:r>
            <a:r>
              <a:rPr lang="en-SG" sz="2400" dirty="0">
                <a:effectLst/>
                <a:latin typeface="Times"/>
              </a:rPr>
              <a:t>) </a:t>
            </a:r>
            <a:endParaRPr lang="en-SG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6B57A6-9958-7D12-0B3C-242FEEA66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451" y="3536773"/>
            <a:ext cx="3009900" cy="495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DDBD99-0679-CDC9-71EC-F22A0A9F4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357" y="4775279"/>
            <a:ext cx="2578100" cy="1168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7846FB-854E-A386-EF18-3077C143F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300" y="4864179"/>
            <a:ext cx="1460500" cy="990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525DAF-A400-9EBA-67EA-F987B4CD18C3}"/>
              </a:ext>
            </a:extLst>
          </p:cNvPr>
          <p:cNvSpPr txBox="1"/>
          <p:nvPr/>
        </p:nvSpPr>
        <p:spPr>
          <a:xfrm>
            <a:off x="3874678" y="4416447"/>
            <a:ext cx="4964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Variation</a:t>
            </a:r>
            <a:r>
              <a:rPr lang="zh-CN" altLang="en-US" sz="2400" b="1" dirty="0">
                <a:effectLst/>
                <a:latin typeface="Times"/>
              </a:rPr>
              <a:t> </a:t>
            </a:r>
            <a:r>
              <a:rPr lang="en-US" altLang="zh-CN" sz="2400" b="1" dirty="0">
                <a:effectLst/>
                <a:latin typeface="Times"/>
              </a:rPr>
              <a:t>-</a:t>
            </a:r>
            <a:r>
              <a:rPr lang="zh-CN" altLang="en-US" sz="2400" b="1" dirty="0">
                <a:effectLst/>
                <a:latin typeface="Times"/>
              </a:rPr>
              <a:t> </a:t>
            </a:r>
            <a:r>
              <a:rPr lang="en-SG" sz="2400" b="1" dirty="0">
                <a:effectLst/>
                <a:latin typeface="Times"/>
              </a:rPr>
              <a:t>Density</a:t>
            </a:r>
            <a:r>
              <a:rPr lang="zh-CN" altLang="en-US" sz="2400" b="1" dirty="0">
                <a:effectLst/>
                <a:latin typeface="Times"/>
              </a:rPr>
              <a:t> </a:t>
            </a:r>
            <a:r>
              <a:rPr lang="en-US" altLang="zh-CN" sz="2400" b="1" dirty="0">
                <a:effectLst/>
                <a:latin typeface="Times"/>
              </a:rPr>
              <a:t>expression</a:t>
            </a: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5B447-5869-9E8B-020B-655C7638E120}"/>
              </a:ext>
            </a:extLst>
          </p:cNvPr>
          <p:cNvSpPr txBox="1"/>
          <p:nvPr/>
        </p:nvSpPr>
        <p:spPr>
          <a:xfrm>
            <a:off x="6499711" y="1350528"/>
            <a:ext cx="2672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n: Number of moles</a:t>
            </a:r>
          </a:p>
        </p:txBody>
      </p:sp>
    </p:spTree>
    <p:extLst>
      <p:ext uri="{BB962C8B-B14F-4D97-AF65-F5344CB8AC3E}">
        <p14:creationId xmlns:p14="http://schemas.microsoft.com/office/powerpoint/2010/main" val="402930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39F4C-82DD-8365-0D2B-6EC3B565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2607927"/>
            <a:ext cx="4521200" cy="3213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569D1A-4FBB-86BB-42A2-D9CB93C9C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466" y="1700808"/>
            <a:ext cx="3784600" cy="444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36D240-2F42-EAF3-1ACC-90EB56CBC318}"/>
              </a:ext>
            </a:extLst>
          </p:cNvPr>
          <p:cNvSpPr txBox="1"/>
          <p:nvPr/>
        </p:nvSpPr>
        <p:spPr>
          <a:xfrm>
            <a:off x="166732" y="1270735"/>
            <a:ext cx="4521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2400" dirty="0">
                <a:effectLst/>
                <a:latin typeface="Times"/>
              </a:rPr>
              <a:t>As the tire warms (</a:t>
            </a:r>
            <a:r>
              <a:rPr lang="en-SG" sz="2400" i="1" dirty="0">
                <a:effectLst/>
                <a:latin typeface="Times"/>
              </a:rPr>
              <a:t>T </a:t>
            </a:r>
            <a:r>
              <a:rPr lang="en-SG" sz="2400" dirty="0">
                <a:effectLst/>
                <a:latin typeface="Times"/>
              </a:rPr>
              <a:t>increases), the volume </a:t>
            </a:r>
            <a:r>
              <a:rPr lang="en-SG" sz="2400" i="1" dirty="0">
                <a:effectLst/>
                <a:latin typeface="Times"/>
              </a:rPr>
              <a:t>V </a:t>
            </a:r>
            <a:r>
              <a:rPr lang="en-SG" sz="2400" dirty="0">
                <a:effectLst/>
                <a:latin typeface="Times"/>
              </a:rPr>
              <a:t>changes only slightly but the pressure </a:t>
            </a:r>
            <a:r>
              <a:rPr lang="en-SG" sz="2400" i="1" dirty="0">
                <a:effectLst/>
                <a:latin typeface="Times"/>
              </a:rPr>
              <a:t>p </a:t>
            </a:r>
            <a:r>
              <a:rPr lang="en-SG" sz="2400" dirty="0">
                <a:effectLst/>
                <a:latin typeface="Times"/>
              </a:rPr>
              <a:t>increases. </a:t>
            </a:r>
            <a:endParaRPr lang="en-SG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68E667-E8F6-DC9F-413E-8E979D5FE692}"/>
              </a:ext>
            </a:extLst>
          </p:cNvPr>
          <p:cNvSpPr txBox="1"/>
          <p:nvPr/>
        </p:nvSpPr>
        <p:spPr>
          <a:xfrm>
            <a:off x="5398055" y="1270735"/>
            <a:ext cx="2799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Pressure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volume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682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14A17-2553-F665-C2CC-07C84995F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82" y="1183477"/>
            <a:ext cx="8886636" cy="2533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2A6B2A-B2E1-695B-AA75-DC9D0D084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84" y="3717032"/>
            <a:ext cx="7862923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5CD36-0941-1D1C-2489-C110AA00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4" y="1853828"/>
            <a:ext cx="4498950" cy="3150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2E51F-9D67-224B-200E-17250251F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708" y="1988840"/>
            <a:ext cx="4374014" cy="3179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CF6CAB-92B4-0DBD-B24E-9B9CE2696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18" y="5253579"/>
            <a:ext cx="2156222" cy="67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5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B0DB7-7F37-6B32-C9DE-DF9376E506A4}"/>
              </a:ext>
            </a:extLst>
          </p:cNvPr>
          <p:cNvSpPr txBox="1"/>
          <p:nvPr/>
        </p:nvSpPr>
        <p:spPr>
          <a:xfrm>
            <a:off x="730497" y="367275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Van der Waals equation</a:t>
            </a:r>
            <a:endParaRPr lang="en-SG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EFC2B1-3B58-D5D1-0B1F-84C3CC3A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69" y="4074114"/>
            <a:ext cx="4521200" cy="1066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13245E-A935-F030-78B7-A0172F4456E1}"/>
              </a:ext>
            </a:extLst>
          </p:cNvPr>
          <p:cNvSpPr txBox="1"/>
          <p:nvPr/>
        </p:nvSpPr>
        <p:spPr>
          <a:xfrm>
            <a:off x="803451" y="5330013"/>
            <a:ext cx="78833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The constants </a:t>
            </a:r>
            <a:r>
              <a:rPr lang="en-SG" sz="2400" i="1" dirty="0">
                <a:effectLst/>
                <a:latin typeface="Times"/>
              </a:rPr>
              <a:t>a </a:t>
            </a:r>
            <a:r>
              <a:rPr lang="en-SG" sz="2400" dirty="0">
                <a:effectLst/>
                <a:latin typeface="Times"/>
              </a:rPr>
              <a:t>and </a:t>
            </a:r>
            <a:r>
              <a:rPr lang="en-SG" sz="2400" i="1" dirty="0">
                <a:effectLst/>
                <a:latin typeface="Times"/>
              </a:rPr>
              <a:t>b </a:t>
            </a:r>
            <a:r>
              <a:rPr lang="en-SG" sz="2400" dirty="0">
                <a:effectLst/>
                <a:latin typeface="Times"/>
              </a:rPr>
              <a:t>are empirical constants, different for different gases. </a:t>
            </a:r>
            <a:endParaRPr lang="en-SG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D5C48-ECF9-3167-C957-7A23E04339B1}"/>
              </a:ext>
            </a:extLst>
          </p:cNvPr>
          <p:cNvSpPr txBox="1"/>
          <p:nvPr/>
        </p:nvSpPr>
        <p:spPr>
          <a:xfrm>
            <a:off x="5173216" y="2703258"/>
            <a:ext cx="39707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volumes of the molecules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attractive forces between molecules </a:t>
            </a:r>
            <a:endParaRPr lang="en-SG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7EF11F-1B10-5CCE-C54D-EA81CAB3E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009" y="1846357"/>
            <a:ext cx="2427982" cy="7636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65AF03-88CC-6D4C-227D-9D7D71A9FCDD}"/>
              </a:ext>
            </a:extLst>
          </p:cNvPr>
          <p:cNvSpPr txBox="1"/>
          <p:nvPr/>
        </p:nvSpPr>
        <p:spPr>
          <a:xfrm>
            <a:off x="730497" y="133656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Ideal-gas equation </a:t>
            </a:r>
            <a:endParaRPr lang="en-SG" sz="2400" dirty="0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C8F67EB2-B371-3B55-4762-7277273EC1A5}"/>
              </a:ext>
            </a:extLst>
          </p:cNvPr>
          <p:cNvSpPr/>
          <p:nvPr/>
        </p:nvSpPr>
        <p:spPr>
          <a:xfrm>
            <a:off x="4231999" y="2796286"/>
            <a:ext cx="680002" cy="806211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6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Equations of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1B85F-237A-2B4C-4DAC-D070C719B562}"/>
              </a:ext>
            </a:extLst>
          </p:cNvPr>
          <p:cNvSpPr txBox="1"/>
          <p:nvPr/>
        </p:nvSpPr>
        <p:spPr>
          <a:xfrm>
            <a:off x="387996" y="11638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"/>
              </a:rPr>
              <a:t>pV</a:t>
            </a:r>
            <a:r>
              <a:rPr lang="zh-CN" altLang="en-US" sz="2400" b="1" dirty="0">
                <a:latin typeface="Times"/>
              </a:rPr>
              <a:t> </a:t>
            </a:r>
            <a:r>
              <a:rPr lang="en-US" altLang="zh-CN" sz="2400" b="1" dirty="0">
                <a:latin typeface="Times"/>
              </a:rPr>
              <a:t>-</a:t>
            </a:r>
            <a:r>
              <a:rPr lang="zh-CN" altLang="en-US" sz="2400" b="1" dirty="0">
                <a:latin typeface="Times"/>
              </a:rPr>
              <a:t> </a:t>
            </a:r>
            <a:r>
              <a:rPr lang="en-US" altLang="zh-CN" sz="2400" b="1" dirty="0">
                <a:latin typeface="Times"/>
              </a:rPr>
              <a:t>diagram</a:t>
            </a:r>
            <a:endParaRPr lang="en-SG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F6702-3DCC-1614-29B2-3032D5B8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850262"/>
            <a:ext cx="4347348" cy="3469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9147A3-B083-A518-14B8-132146AC59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45" b="3449"/>
          <a:stretch/>
        </p:blipFill>
        <p:spPr>
          <a:xfrm>
            <a:off x="5327607" y="2975991"/>
            <a:ext cx="3536348" cy="33150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A50D8B-F828-2A70-55C6-45FC725C8494}"/>
              </a:ext>
            </a:extLst>
          </p:cNvPr>
          <p:cNvSpPr txBox="1"/>
          <p:nvPr/>
        </p:nvSpPr>
        <p:spPr>
          <a:xfrm>
            <a:off x="612648" y="1603361"/>
            <a:ext cx="8423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Each curve, representing </a:t>
            </a:r>
            <a:r>
              <a:rPr lang="en-SG" sz="2400" dirty="0" err="1">
                <a:effectLst/>
                <a:latin typeface="Times"/>
              </a:rPr>
              <a:t>behavior</a:t>
            </a:r>
            <a:r>
              <a:rPr lang="en-SG" sz="2400" dirty="0">
                <a:effectLst/>
                <a:latin typeface="Times"/>
              </a:rPr>
              <a:t> at a specific temperature, is called an </a:t>
            </a:r>
            <a:r>
              <a:rPr lang="en-SG" sz="2400" b="1" dirty="0">
                <a:effectLst/>
                <a:latin typeface="Times"/>
              </a:rPr>
              <a:t>isotherm </a:t>
            </a:r>
            <a:endParaRPr lang="en-SG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13BF6-F3F6-38D6-646B-ECE0FF863353}"/>
              </a:ext>
            </a:extLst>
          </p:cNvPr>
          <p:cNvSpPr txBox="1"/>
          <p:nvPr/>
        </p:nvSpPr>
        <p:spPr>
          <a:xfrm>
            <a:off x="1974056" y="2418065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</a:t>
            </a:r>
            <a:r>
              <a:rPr lang="zh-CN" altLang="en-US" sz="2400" dirty="0"/>
              <a:t> </a:t>
            </a:r>
            <a:r>
              <a:rPr lang="en-US" altLang="zh-CN" sz="2400" dirty="0"/>
              <a:t>gas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F6F0CF-062A-49D2-38C7-6AF976FE7C7B}"/>
              </a:ext>
            </a:extLst>
          </p:cNvPr>
          <p:cNvSpPr txBox="1"/>
          <p:nvPr/>
        </p:nvSpPr>
        <p:spPr>
          <a:xfrm>
            <a:off x="6202396" y="2440012"/>
            <a:ext cx="1786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Nonideal</a:t>
            </a:r>
            <a:r>
              <a:rPr lang="zh-CN" altLang="en-US" sz="2400" dirty="0"/>
              <a:t> </a:t>
            </a:r>
            <a:r>
              <a:rPr lang="en-US" altLang="zh-CN" sz="2400" dirty="0"/>
              <a:t>gas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8934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Molecular Properties of Matter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BE3137-F04F-E698-4247-1A9F2CD70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306332"/>
            <a:ext cx="3924581" cy="49200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C90D2C-4604-52CD-C3F8-4976684A13BB}"/>
              </a:ext>
            </a:extLst>
          </p:cNvPr>
          <p:cNvSpPr txBox="1"/>
          <p:nvPr/>
        </p:nvSpPr>
        <p:spPr>
          <a:xfrm>
            <a:off x="251520" y="1272934"/>
            <a:ext cx="42484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At close separations, the electrons around each atom repel each other through electrostatic repulsion.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At intermediate separations, the electrons and protons of the atoms attract each other through electrostatic (dipole) attraction.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At far separations, the binding force decreases exponentially.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8D908-165D-8112-1F03-ACE59E8E6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141" y="836712"/>
            <a:ext cx="1955320" cy="155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5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Molecular Properties of Matter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7E2B3-96CB-1CA0-67AC-DC84E873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72" y="1436266"/>
            <a:ext cx="3924581" cy="4920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49FCDD-C6F6-2E0C-854F-2C1B39373263}"/>
              </a:ext>
            </a:extLst>
          </p:cNvPr>
          <p:cNvSpPr txBox="1"/>
          <p:nvPr/>
        </p:nvSpPr>
        <p:spPr>
          <a:xfrm>
            <a:off x="4234148" y="1193430"/>
            <a:ext cx="46201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2400" dirty="0">
                <a:effectLst/>
                <a:latin typeface="Times"/>
              </a:rPr>
              <a:t>In </a:t>
            </a:r>
            <a:r>
              <a:rPr lang="en-SG" sz="2400" i="1" dirty="0">
                <a:effectLst/>
                <a:latin typeface="Times"/>
              </a:rPr>
              <a:t>solids, </a:t>
            </a:r>
            <a:r>
              <a:rPr lang="en-SG" sz="2400" dirty="0">
                <a:effectLst/>
                <a:latin typeface="Times"/>
              </a:rPr>
              <a:t>molecules vibrate about more or less fixed points. In a crystalline solid these points are arranged in a </a:t>
            </a:r>
            <a:r>
              <a:rPr lang="en-SG" sz="2400" i="1" dirty="0">
                <a:effectLst/>
                <a:latin typeface="Times"/>
              </a:rPr>
              <a:t>crystal lattice</a:t>
            </a:r>
            <a:r>
              <a:rPr lang="en-US" altLang="zh-CN" sz="2400" i="1" dirty="0">
                <a:effectLst/>
                <a:latin typeface="Times"/>
              </a:rPr>
              <a:t>.</a:t>
            </a:r>
            <a:r>
              <a:rPr lang="en-SG" sz="2400" dirty="0">
                <a:effectLst/>
                <a:latin typeface="Times"/>
              </a:rPr>
              <a:t> The vibration of molecules in a solid about their equilibrium positions may be nearly simple harmonic if the potential well is approximately parabolic in shape at distances close to </a:t>
            </a:r>
            <a:r>
              <a:rPr lang="en-SG" sz="2400" i="1" dirty="0">
                <a:effectLst/>
                <a:latin typeface="Times"/>
              </a:rPr>
              <a:t>r</a:t>
            </a:r>
            <a:r>
              <a:rPr lang="en-SG" sz="2400" baseline="-25000" dirty="0">
                <a:effectLst/>
                <a:latin typeface="Times"/>
              </a:rPr>
              <a:t>0</a:t>
            </a:r>
            <a:r>
              <a:rPr lang="en-SG" sz="2400" dirty="0">
                <a:effectLst/>
                <a:latin typeface="Times"/>
              </a:rPr>
              <a:t>. </a:t>
            </a:r>
            <a:endParaRPr lang="en-SG" sz="2400" dirty="0"/>
          </a:p>
          <a:p>
            <a:pPr algn="just"/>
            <a:endParaRPr lang="en-SG" sz="2400" dirty="0"/>
          </a:p>
          <a:p>
            <a:pPr algn="just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8E9771-DFDD-A9FC-7180-0B7EEB13A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4581128"/>
            <a:ext cx="2088232" cy="16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07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Molecular Properties of Matter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9FCDD-C6F6-2E0C-854F-2C1B39373263}"/>
              </a:ext>
            </a:extLst>
          </p:cNvPr>
          <p:cNvSpPr txBox="1"/>
          <p:nvPr/>
        </p:nvSpPr>
        <p:spPr>
          <a:xfrm>
            <a:off x="328770" y="1160452"/>
            <a:ext cx="86331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In a </a:t>
            </a:r>
            <a:r>
              <a:rPr lang="en-SG" sz="2400" i="1" dirty="0">
                <a:effectLst/>
                <a:latin typeface="Times"/>
              </a:rPr>
              <a:t>liquid, </a:t>
            </a:r>
            <a:r>
              <a:rPr lang="en-SG" sz="2400" dirty="0">
                <a:effectLst/>
                <a:latin typeface="Times"/>
              </a:rPr>
              <a:t>the intermolecular distances are usually only slightly greater than in the solid phase of the same substance, but the molecules have much greater freedom of movement. </a:t>
            </a:r>
            <a:endParaRPr lang="en-SG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The molecules of a </a:t>
            </a:r>
            <a:r>
              <a:rPr lang="en-SG" sz="2400" i="1" dirty="0">
                <a:effectLst/>
                <a:latin typeface="Times"/>
              </a:rPr>
              <a:t>gas </a:t>
            </a:r>
            <a:r>
              <a:rPr lang="en-SG" sz="2400" dirty="0">
                <a:effectLst/>
                <a:latin typeface="Times"/>
              </a:rPr>
              <a:t>are usually widely separated and so have only very small attractive forces. In molecular terms, an </a:t>
            </a:r>
            <a:r>
              <a:rPr lang="en-SG" sz="2400" i="1" dirty="0">
                <a:effectLst/>
                <a:latin typeface="Times"/>
              </a:rPr>
              <a:t>ideal gas </a:t>
            </a:r>
            <a:r>
              <a:rPr lang="en-SG" sz="2400" dirty="0">
                <a:effectLst/>
                <a:latin typeface="Times"/>
              </a:rPr>
              <a:t>is a gas whose molecules exert </a:t>
            </a:r>
            <a:r>
              <a:rPr lang="en-SG" sz="2400" i="1" dirty="0">
                <a:effectLst/>
                <a:latin typeface="Times"/>
              </a:rPr>
              <a:t>no </a:t>
            </a:r>
            <a:r>
              <a:rPr lang="en-SG" sz="2400" dirty="0">
                <a:effectLst/>
                <a:latin typeface="Times"/>
              </a:rPr>
              <a:t>attractive forces on each other and therefore have no </a:t>
            </a:r>
            <a:r>
              <a:rPr lang="en-SG" sz="2400" i="1" dirty="0">
                <a:effectLst/>
                <a:latin typeface="Times"/>
              </a:rPr>
              <a:t>potential </a:t>
            </a:r>
            <a:r>
              <a:rPr lang="en-SG" sz="2400" dirty="0">
                <a:effectLst/>
                <a:latin typeface="Times"/>
              </a:rPr>
              <a:t>energy. </a:t>
            </a:r>
            <a:endParaRPr lang="en-SG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EED338-EFE1-4910-649B-B888AE02A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248" y="3825817"/>
            <a:ext cx="6585874" cy="253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51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2 Molecular Properties of Matter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FFACD7-F5B7-5D41-E661-A33296A6E6A5}"/>
              </a:ext>
            </a:extLst>
          </p:cNvPr>
          <p:cNvSpPr txBox="1"/>
          <p:nvPr/>
        </p:nvSpPr>
        <p:spPr>
          <a:xfrm>
            <a:off x="457200" y="13407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Moles and Avogadro’s Number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7A83D-A911-8BCF-B9F3-3BBF0E91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3" y="1929634"/>
            <a:ext cx="8975596" cy="687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467DAA-B34A-EC72-848E-E2D836593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3135661"/>
            <a:ext cx="6972300" cy="812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43F37A-1039-2E35-3054-C8FCD72EAC79}"/>
              </a:ext>
            </a:extLst>
          </p:cNvPr>
          <p:cNvSpPr txBox="1"/>
          <p:nvPr/>
        </p:nvSpPr>
        <p:spPr>
          <a:xfrm>
            <a:off x="1085850" y="4710165"/>
            <a:ext cx="6972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i="1" dirty="0">
                <a:effectLst/>
                <a:latin typeface="Times"/>
              </a:rPr>
              <a:t>N</a:t>
            </a:r>
            <a:r>
              <a:rPr lang="en-SG" sz="2400" baseline="-25000" dirty="0">
                <a:effectLst/>
                <a:latin typeface="Times"/>
              </a:rPr>
              <a:t>A</a:t>
            </a:r>
            <a:r>
              <a:rPr lang="en-SG" sz="2400" dirty="0">
                <a:effectLst/>
                <a:latin typeface="Times"/>
              </a:rPr>
              <a:t> </a:t>
            </a:r>
            <a:r>
              <a:rPr lang="en-SG" sz="2400" dirty="0">
                <a:effectLst/>
                <a:latin typeface="Optr2k"/>
              </a:rPr>
              <a:t>= </a:t>
            </a:r>
            <a:r>
              <a:rPr lang="en-SG" sz="2400" dirty="0">
                <a:effectLst/>
                <a:latin typeface="Times"/>
              </a:rPr>
              <a:t>6.02214179</a:t>
            </a:r>
            <a:r>
              <a:rPr lang="en-SG" sz="2400" dirty="0">
                <a:effectLst/>
                <a:latin typeface="PBB2k"/>
              </a:rPr>
              <a:t>1</a:t>
            </a:r>
            <a:r>
              <a:rPr lang="en-SG" sz="2400" dirty="0">
                <a:effectLst/>
                <a:latin typeface="Times"/>
              </a:rPr>
              <a:t>30</a:t>
            </a:r>
            <a:r>
              <a:rPr lang="en-SG" sz="2400" dirty="0">
                <a:effectLst/>
                <a:latin typeface="PBB2k"/>
              </a:rPr>
              <a:t>2 </a:t>
            </a:r>
            <a:r>
              <a:rPr lang="en-SG" sz="2400" dirty="0">
                <a:effectLst/>
                <a:latin typeface="Optr2k"/>
              </a:rPr>
              <a:t>* </a:t>
            </a:r>
            <a:r>
              <a:rPr lang="en-SG" sz="2400" dirty="0">
                <a:effectLst/>
                <a:latin typeface="Times"/>
              </a:rPr>
              <a:t>1</a:t>
            </a:r>
            <a:r>
              <a:rPr lang="en-US" altLang="zh-CN" sz="2400" dirty="0">
                <a:effectLst/>
                <a:latin typeface="Times"/>
              </a:rPr>
              <a:t>0</a:t>
            </a:r>
            <a:r>
              <a:rPr lang="en-US" altLang="zh-CN" sz="2400" baseline="30000" dirty="0">
                <a:effectLst/>
                <a:latin typeface="Times"/>
              </a:rPr>
              <a:t>23</a:t>
            </a:r>
            <a:r>
              <a:rPr lang="zh-CN" altLang="en-US" sz="2400" baseline="30000" dirty="0">
                <a:effectLst/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molecules</a:t>
            </a:r>
            <a:r>
              <a:rPr lang="en-US" altLang="zh-CN" sz="2400" dirty="0">
                <a:effectLst/>
                <a:latin typeface="PBB2k"/>
              </a:rPr>
              <a:t>/</a:t>
            </a:r>
            <a:r>
              <a:rPr lang="en-SG" sz="2400" dirty="0">
                <a:effectLst/>
                <a:latin typeface="Times"/>
              </a:rPr>
              <a:t>mol (Avogadro’s number)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54966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A70B1-48A8-B781-E179-1717F934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169888"/>
            <a:ext cx="4164713" cy="513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6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2289A-D479-C89D-387C-87A2845A6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84" y="1546217"/>
            <a:ext cx="4407436" cy="4428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EA2300-9AC2-60F6-23D3-A49B6C986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110" y="1721610"/>
            <a:ext cx="2013257" cy="9107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B04F93-7F95-6897-9A92-524D9BF7A122}"/>
              </a:ext>
            </a:extLst>
          </p:cNvPr>
          <p:cNvSpPr txBox="1"/>
          <p:nvPr/>
        </p:nvSpPr>
        <p:spPr>
          <a:xfrm>
            <a:off x="4114800" y="137564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"/>
              </a:rPr>
              <a:t>N</a:t>
            </a:r>
            <a:r>
              <a:rPr lang="en-SG" sz="1800" dirty="0">
                <a:effectLst/>
                <a:latin typeface="Times"/>
              </a:rPr>
              <a:t>umber of collisions with </a:t>
            </a:r>
            <a:r>
              <a:rPr lang="en-SG" sz="1800" i="1" dirty="0">
                <a:effectLst/>
                <a:latin typeface="Times"/>
              </a:rPr>
              <a:t>A </a:t>
            </a:r>
            <a:r>
              <a:rPr lang="en-SG" sz="1800" dirty="0">
                <a:effectLst/>
                <a:latin typeface="Times"/>
              </a:rPr>
              <a:t>during </a:t>
            </a:r>
            <a:r>
              <a:rPr lang="en-SG" sz="1800" i="1" dirty="0">
                <a:effectLst/>
                <a:latin typeface="Times"/>
              </a:rPr>
              <a:t>dt 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B84AE-7598-C82B-24B0-EF5BA9DC5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819" y="2927540"/>
            <a:ext cx="4708996" cy="780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D9B53F-2837-E35F-2AD3-945197AE4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3110" y="4246267"/>
            <a:ext cx="1972722" cy="8381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CA74E0-5CA9-D9EF-D9EB-58B45D8D1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4834" y="5068821"/>
            <a:ext cx="2830686" cy="10740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6FCCEA-9CD7-2E3F-E98D-7A985A6A4251}"/>
              </a:ext>
            </a:extLst>
          </p:cNvPr>
          <p:cNvSpPr txBox="1"/>
          <p:nvPr/>
        </p:nvSpPr>
        <p:spPr>
          <a:xfrm>
            <a:off x="4137819" y="2578274"/>
            <a:ext cx="229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momentum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A6318-DF90-2E91-318C-5B0733F4AEC2}"/>
              </a:ext>
            </a:extLst>
          </p:cNvPr>
          <p:cNvSpPr txBox="1"/>
          <p:nvPr/>
        </p:nvSpPr>
        <p:spPr>
          <a:xfrm>
            <a:off x="4120742" y="3951096"/>
            <a:ext cx="3696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Rate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momentum</a:t>
            </a:r>
            <a:r>
              <a:rPr lang="zh-CN" altLang="en-US" dirty="0"/>
              <a:t> </a:t>
            </a:r>
            <a:r>
              <a:rPr lang="en-US" altLang="zh-CN" dirty="0"/>
              <a:t>(Force)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03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6EC4E-32D3-BDB2-BC39-A8B4759913CF}"/>
              </a:ext>
            </a:extLst>
          </p:cNvPr>
          <p:cNvSpPr txBox="1"/>
          <p:nvPr/>
        </p:nvSpPr>
        <p:spPr>
          <a:xfrm>
            <a:off x="595131" y="1412776"/>
            <a:ext cx="5544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Pressure and Molecular Kinetic Energies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6EF31-AAE3-63F7-84E8-F17F6858C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2144217"/>
            <a:ext cx="3517900" cy="749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164441-5674-916E-D813-5D1185DC3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2907357"/>
            <a:ext cx="5410200" cy="69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98F8BA-37E1-67E3-9504-7E48D5D9B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100" y="3838103"/>
            <a:ext cx="2717800" cy="76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B937DE-FD47-E816-F53E-33AAEDF335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r="47932" b="14285"/>
          <a:stretch/>
        </p:blipFill>
        <p:spPr>
          <a:xfrm>
            <a:off x="3215000" y="4683224"/>
            <a:ext cx="2717800" cy="76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6D1377-B7CF-E5E4-95DE-889C0EE65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7439" y="5511229"/>
            <a:ext cx="1739900" cy="800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1DDA74-95FB-DFF3-67A7-C3B2356703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8792" y="5589240"/>
            <a:ext cx="1371600" cy="584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C0B0EB-87F9-91DC-6D0E-8301D169467E}"/>
              </a:ext>
            </a:extLst>
          </p:cNvPr>
          <p:cNvSpPr txBox="1"/>
          <p:nvPr/>
        </p:nvSpPr>
        <p:spPr>
          <a:xfrm>
            <a:off x="5998383" y="5685145"/>
            <a:ext cx="772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/>
              <a:t>K</a:t>
            </a:r>
            <a:r>
              <a:rPr lang="en-US" altLang="zh-CN" sz="2400" baseline="-25000" dirty="0" err="1"/>
              <a:t>tr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7109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67608-DCE3-EB52-1165-B394A3667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40" y="2080425"/>
            <a:ext cx="6743700" cy="825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1A51BF-0C55-1449-5D7F-2CB3FABF3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27" y="1226058"/>
            <a:ext cx="1816100" cy="736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58E29E-7D37-80EF-3D79-F7A3C5ABD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753" y="1242785"/>
            <a:ext cx="1638300" cy="63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C614B8-7009-EBEF-B7E7-153E528711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402"/>
          <a:stretch/>
        </p:blipFill>
        <p:spPr>
          <a:xfrm>
            <a:off x="773390" y="3264217"/>
            <a:ext cx="7772400" cy="1569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5B6828-A22D-8F52-24F7-D0743EC2B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90" y="5157000"/>
            <a:ext cx="7366000" cy="876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BE29181-2E9C-E265-1498-58B19AA89D05}"/>
              </a:ext>
            </a:extLst>
          </p:cNvPr>
          <p:cNvSpPr txBox="1"/>
          <p:nvPr/>
        </p:nvSpPr>
        <p:spPr>
          <a:xfrm>
            <a:off x="87590" y="343800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Boltzmann constant</a:t>
            </a:r>
          </a:p>
        </p:txBody>
      </p:sp>
    </p:spTree>
    <p:extLst>
      <p:ext uri="{BB962C8B-B14F-4D97-AF65-F5344CB8AC3E}">
        <p14:creationId xmlns:p14="http://schemas.microsoft.com/office/powerpoint/2010/main" val="2652645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79D61-1ABE-40DF-C856-80C81E44C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0" y="2024543"/>
            <a:ext cx="5397500" cy="977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1E7E5D-8876-2B38-B070-3C1B9AEAC074}"/>
              </a:ext>
            </a:extLst>
          </p:cNvPr>
          <p:cNvSpPr txBox="1"/>
          <p:nvPr/>
        </p:nvSpPr>
        <p:spPr>
          <a:xfrm>
            <a:off x="636252" y="1306247"/>
            <a:ext cx="6634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root-mean-square speed </a:t>
            </a:r>
            <a:r>
              <a:rPr lang="en-SG" sz="2400" i="1" dirty="0" err="1">
                <a:effectLst/>
                <a:latin typeface="NewCenturySchlbk"/>
              </a:rPr>
              <a:t>v</a:t>
            </a:r>
            <a:r>
              <a:rPr lang="en-SG" sz="2400" baseline="-25000" dirty="0" err="1">
                <a:effectLst/>
                <a:latin typeface="Times"/>
              </a:rPr>
              <a:t>rms</a:t>
            </a:r>
            <a:r>
              <a:rPr lang="en-SG" sz="2400" dirty="0">
                <a:effectLst/>
                <a:latin typeface="Times"/>
              </a:rPr>
              <a:t> </a:t>
            </a:r>
            <a:endParaRPr lang="en-SG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D082FF-3C32-B4D5-8A7A-699AD4F71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650" y="3317796"/>
            <a:ext cx="3314700" cy="16383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1ED133-8899-DD3E-04B0-ED690FB4DB35}"/>
              </a:ext>
            </a:extLst>
          </p:cNvPr>
          <p:cNvSpPr txBox="1"/>
          <p:nvPr/>
        </p:nvSpPr>
        <p:spPr>
          <a:xfrm>
            <a:off x="5120334" y="5043928"/>
            <a:ext cx="1650422" cy="36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"/>
              </a:rPr>
              <a:t>32</a:t>
            </a:r>
            <a:r>
              <a:rPr lang="en-SG" sz="1800" dirty="0">
                <a:effectLst/>
                <a:latin typeface="Times"/>
              </a:rPr>
              <a:t> g</a:t>
            </a:r>
            <a:r>
              <a:rPr lang="zh-CN" altLang="en-US" sz="1800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mol</a:t>
            </a:r>
            <a:r>
              <a:rPr lang="en-US" altLang="zh-CN" sz="1800" baseline="30000" dirty="0">
                <a:effectLst/>
                <a:latin typeface="Times"/>
              </a:rPr>
              <a:t>-1</a:t>
            </a:r>
            <a:r>
              <a:rPr lang="en-SG" sz="1800" dirty="0">
                <a:effectLst/>
                <a:latin typeface="Times"/>
              </a:rPr>
              <a:t> </a:t>
            </a:r>
            <a:endParaRPr lang="en-S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0F7428-3946-B606-BE4D-500AC39C7B06}"/>
              </a:ext>
            </a:extLst>
          </p:cNvPr>
          <p:cNvSpPr txBox="1"/>
          <p:nvPr/>
        </p:nvSpPr>
        <p:spPr>
          <a:xfrm>
            <a:off x="1975732" y="5043928"/>
            <a:ext cx="538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i="1" dirty="0">
                <a:effectLst/>
                <a:latin typeface="Times"/>
              </a:rPr>
              <a:t>M</a:t>
            </a:r>
            <a:r>
              <a:rPr lang="en-US" altLang="zh-CN" sz="1800" i="1" dirty="0">
                <a:effectLst/>
                <a:latin typeface="Times"/>
              </a:rPr>
              <a:t>:</a:t>
            </a:r>
            <a:r>
              <a:rPr lang="en-SG" sz="1800" dirty="0">
                <a:effectLst/>
                <a:latin typeface="Optr2k"/>
              </a:rPr>
              <a:t> 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3355F6-5E4B-F3A1-176E-4E94C363F341}"/>
              </a:ext>
            </a:extLst>
          </p:cNvPr>
          <p:cNvSpPr txBox="1"/>
          <p:nvPr/>
        </p:nvSpPr>
        <p:spPr>
          <a:xfrm>
            <a:off x="3993573" y="5042337"/>
            <a:ext cx="1650422" cy="36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effectLst/>
                <a:latin typeface="Times"/>
              </a:rPr>
              <a:t>28 g</a:t>
            </a:r>
            <a:r>
              <a:rPr lang="zh-CN" altLang="en-US" sz="1800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mol</a:t>
            </a:r>
            <a:r>
              <a:rPr lang="en-US" altLang="zh-CN" sz="1800" baseline="30000" dirty="0">
                <a:effectLst/>
                <a:latin typeface="Times"/>
              </a:rPr>
              <a:t>-1</a:t>
            </a:r>
            <a:r>
              <a:rPr lang="en-SG" sz="1800" dirty="0">
                <a:effectLst/>
                <a:latin typeface="Times"/>
              </a:rPr>
              <a:t> </a:t>
            </a:r>
            <a:endParaRPr lang="en-S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BCDF99-1366-C427-0EE0-040DC42E9F17}"/>
              </a:ext>
            </a:extLst>
          </p:cNvPr>
          <p:cNvSpPr txBox="1"/>
          <p:nvPr/>
        </p:nvSpPr>
        <p:spPr>
          <a:xfrm>
            <a:off x="2886472" y="5040746"/>
            <a:ext cx="1650422" cy="36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"/>
              </a:rPr>
              <a:t>2</a:t>
            </a:r>
            <a:r>
              <a:rPr lang="en-SG" sz="1800" dirty="0">
                <a:effectLst/>
                <a:latin typeface="Times"/>
              </a:rPr>
              <a:t> g</a:t>
            </a:r>
            <a:r>
              <a:rPr lang="zh-CN" altLang="en-US" sz="1800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mol</a:t>
            </a:r>
            <a:r>
              <a:rPr lang="en-US" altLang="zh-CN" sz="1800" baseline="30000" dirty="0">
                <a:effectLst/>
                <a:latin typeface="Times"/>
              </a:rPr>
              <a:t>-1</a:t>
            </a:r>
            <a:r>
              <a:rPr lang="en-SG" sz="1800" dirty="0">
                <a:effectLst/>
                <a:latin typeface="Times"/>
              </a:rPr>
              <a:t> </a:t>
            </a:r>
            <a:endParaRPr lang="en-S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ED0AE3-E69C-C1F1-89B8-65F6E5D02BEE}"/>
              </a:ext>
            </a:extLst>
          </p:cNvPr>
          <p:cNvSpPr txBox="1"/>
          <p:nvPr/>
        </p:nvSpPr>
        <p:spPr>
          <a:xfrm>
            <a:off x="1204731" y="5682991"/>
            <a:ext cx="6664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Which</a:t>
            </a:r>
            <a:r>
              <a:rPr lang="zh-CN" altLang="en-US" sz="2400" dirty="0"/>
              <a:t> </a:t>
            </a:r>
            <a:r>
              <a:rPr lang="en-US" altLang="zh-CN" sz="2400" dirty="0"/>
              <a:t>one</a:t>
            </a:r>
            <a:r>
              <a:rPr lang="zh-CN" altLang="en-US" sz="2400" dirty="0"/>
              <a:t> </a:t>
            </a:r>
            <a:r>
              <a:rPr lang="en-US" altLang="zh-CN" sz="2400" dirty="0"/>
              <a:t>can</a:t>
            </a:r>
            <a:r>
              <a:rPr lang="zh-CN" altLang="en-US" sz="2400" dirty="0"/>
              <a:t> </a:t>
            </a:r>
            <a:r>
              <a:rPr lang="en-US" altLang="zh-CN" sz="2400" dirty="0"/>
              <a:t>most</a:t>
            </a:r>
            <a:r>
              <a:rPr lang="zh-CN" altLang="en-US" sz="2400" dirty="0"/>
              <a:t> </a:t>
            </a:r>
            <a:r>
              <a:rPr lang="en-US" altLang="zh-CN" sz="2400" dirty="0"/>
              <a:t>easy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escape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earth?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1728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766F-B3E4-18D5-5DDB-F1C0EBB6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0B04-C1BA-22E9-ABAC-FC05F963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4A0CD-3188-ED44-5FBF-F141491F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9606F-1866-8B5B-E4A3-2CCB7CBD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6EB22-DCF3-94CA-37DE-186A780D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147793"/>
            <a:ext cx="4533900" cy="406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B9611-92C0-2292-C046-672175323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02865"/>
            <a:ext cx="7772400" cy="10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69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EA3D1-84E1-1FCA-491D-A0A32DF1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FA7E-E9B1-3377-183C-CBEA648F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3F2419-6272-CA56-7CBC-7C3C6D4D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62189-932B-4B85-BD76-E8FD3C67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8DCC5-2405-A85D-0D47-AA32F8C0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642"/>
          <a:stretch/>
        </p:blipFill>
        <p:spPr>
          <a:xfrm>
            <a:off x="791251" y="1368713"/>
            <a:ext cx="7561497" cy="412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90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982B-D229-AEBA-7AC6-3A2EF714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604C-AA68-4EF8-D01B-F41A1A95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3 Kinetic-Molecular Model of an Ideal Gas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24C22-3260-5A58-10E7-C5F35E5D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7BD46-D3AD-4D0E-4433-10DB53DA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798B5-BCFD-38E8-A802-5F89C2928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76823"/>
            <a:ext cx="7772400" cy="2119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2AAAC-B6EA-FAAC-F027-00EC44F7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795" y="3475763"/>
            <a:ext cx="2936106" cy="3181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CC6521-29DE-1567-EA79-7A45736C3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74" y="3734482"/>
            <a:ext cx="1193800" cy="36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ED9146-99A6-05A5-4FA9-D9BA2F56E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929" y="4291773"/>
            <a:ext cx="18669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77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6FA72-6C24-0DF9-0C83-B700CE12E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85" y="1242740"/>
            <a:ext cx="5037676" cy="1864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3BD681-BC07-40EC-D677-784C1ED9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" y="3407750"/>
            <a:ext cx="4324607" cy="939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6FD95D-C631-83C5-C278-7B83497599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219"/>
          <a:stretch/>
        </p:blipFill>
        <p:spPr>
          <a:xfrm>
            <a:off x="4507200" y="3401664"/>
            <a:ext cx="4603368" cy="19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6257C6-96EB-729E-2C3C-8BB1C1E159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5338"/>
          <a:stretch/>
        </p:blipFill>
        <p:spPr>
          <a:xfrm>
            <a:off x="33432" y="4494951"/>
            <a:ext cx="4603368" cy="67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1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C564B-D1AA-0139-C3AA-E16874E49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315170"/>
            <a:ext cx="3136076" cy="3365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4830F-F172-1A48-87C5-1C1AD96BB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679" y="1206589"/>
            <a:ext cx="3096343" cy="3365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3D787-75A7-A507-46D5-FDD0360A8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149" y="4636172"/>
            <a:ext cx="3917702" cy="152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09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16D1-B8FE-E67F-EC69-4D719F18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9BBC-CA8E-A925-750E-11AB12CF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360EC-BDBA-5258-91EF-D3BCB4A8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69C30-171B-AC48-100B-B15EFBA43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41D2C-4F3A-C5CF-D3D9-AD902176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49658"/>
            <a:ext cx="6624736" cy="495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76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9E7D44-8035-D94E-5B62-A26355AF9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5" y="1863389"/>
            <a:ext cx="2679127" cy="2666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89BC7F-72EA-3CDF-F7A1-252669174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076" y="1867617"/>
            <a:ext cx="2821388" cy="276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09E2B-0B51-7B4C-AA10-67F44CF68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33" y="1894819"/>
            <a:ext cx="3032517" cy="25328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BA2593-3F61-CE89-574D-9CD1E758FB39}"/>
              </a:ext>
            </a:extLst>
          </p:cNvPr>
          <p:cNvSpPr txBox="1"/>
          <p:nvPr/>
        </p:nvSpPr>
        <p:spPr>
          <a:xfrm>
            <a:off x="307848" y="12646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Motions of a diatomic molecule </a:t>
            </a:r>
            <a:endParaRPr lang="en-SG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86307-3E40-B391-9A0D-C880DD42219C}"/>
              </a:ext>
            </a:extLst>
          </p:cNvPr>
          <p:cNvSpPr txBox="1"/>
          <p:nvPr/>
        </p:nvSpPr>
        <p:spPr>
          <a:xfrm>
            <a:off x="387354" y="4585194"/>
            <a:ext cx="86211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effectLst/>
                <a:latin typeface="Times"/>
              </a:rPr>
              <a:t>P</a:t>
            </a:r>
            <a:r>
              <a:rPr lang="en-SG" sz="2400" dirty="0" err="1">
                <a:effectLst/>
                <a:latin typeface="Times"/>
              </a:rPr>
              <a:t>rinciple</a:t>
            </a:r>
            <a:r>
              <a:rPr lang="en-SG" sz="2400" dirty="0">
                <a:effectLst/>
                <a:latin typeface="Times"/>
              </a:rPr>
              <a:t> of </a:t>
            </a:r>
            <a:r>
              <a:rPr lang="en-SG" sz="2400" b="1" dirty="0">
                <a:effectLst/>
                <a:latin typeface="Times"/>
              </a:rPr>
              <a:t>equipartition of energy </a:t>
            </a:r>
            <a:endParaRPr lang="en-SG" sz="2400" dirty="0">
              <a:effectLst/>
              <a:latin typeface="Times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The number of velocity components needed to describe the motion of a molecule completely is called the number of </a:t>
            </a:r>
            <a:r>
              <a:rPr lang="en-SG" sz="2400" b="1" dirty="0">
                <a:effectLst/>
                <a:latin typeface="Times"/>
              </a:rPr>
              <a:t>degrees of freedom </a:t>
            </a:r>
            <a:endParaRPr lang="en-S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29935-8071-4033-20CB-85CFBA402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752" y="5791610"/>
            <a:ext cx="4225089" cy="4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45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C3D5C-51F4-3F93-8DA9-7B035C13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50" y="2360248"/>
            <a:ext cx="3893864" cy="439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7033A1-E558-4DE7-D092-86D05C790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50" y="2930438"/>
            <a:ext cx="3893864" cy="3984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707077-8AEB-9D37-9D63-A9C4BA51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11" y="3573016"/>
            <a:ext cx="4225089" cy="418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3630BB-133E-CD6D-90CF-3109FE82A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87" y="4283482"/>
            <a:ext cx="3893928" cy="3832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6DD5A8-A3D2-442A-9BD0-79ACE82C23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934"/>
          <a:stretch/>
        </p:blipFill>
        <p:spPr>
          <a:xfrm>
            <a:off x="4703980" y="1676780"/>
            <a:ext cx="4181754" cy="392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91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29</a:t>
            </a:fld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68501C-C829-AF6C-B9E9-03A9E5344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54767"/>
            <a:ext cx="6550496" cy="45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4 Heat Capacities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A311D-175F-B979-8195-C64FAD17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0" y="1263685"/>
            <a:ext cx="4799671" cy="4017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5BA91-39C3-30D3-D0A6-D15DFEA4D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461" y="5344798"/>
            <a:ext cx="3454400" cy="749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E7DC58-7B1C-6083-C1C4-31010E59B858}"/>
              </a:ext>
            </a:extLst>
          </p:cNvPr>
          <p:cNvSpPr txBox="1"/>
          <p:nvPr/>
        </p:nvSpPr>
        <p:spPr>
          <a:xfrm>
            <a:off x="4730548" y="2806133"/>
            <a:ext cx="44134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"/>
              </a:rPr>
              <a:t>3D</a:t>
            </a:r>
            <a:r>
              <a:rPr lang="en-SG" sz="2400" dirty="0">
                <a:effectLst/>
                <a:latin typeface="Times"/>
              </a:rPr>
              <a:t> harmonic oscillator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average kinetic energy 3</a:t>
            </a:r>
            <a:r>
              <a:rPr lang="en-US" altLang="zh-CN" sz="2400" dirty="0">
                <a:effectLst/>
                <a:latin typeface="Times"/>
              </a:rPr>
              <a:t>/</a:t>
            </a:r>
            <a:r>
              <a:rPr lang="en-SG" sz="2400" dirty="0">
                <a:effectLst/>
                <a:latin typeface="Times"/>
              </a:rPr>
              <a:t>2 </a:t>
            </a:r>
            <a:r>
              <a:rPr lang="en-SG" sz="2400" i="1" dirty="0" err="1">
                <a:effectLst/>
                <a:latin typeface="Times"/>
              </a:rPr>
              <a:t>kT</a:t>
            </a:r>
            <a:r>
              <a:rPr lang="en-SG" sz="2400" i="1" dirty="0">
                <a:effectLst/>
                <a:latin typeface="Times"/>
              </a:rPr>
              <a:t> </a:t>
            </a:r>
            <a:endParaRPr lang="en-SG" sz="2400" dirty="0">
              <a:effectLst/>
              <a:latin typeface="Time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>
                <a:effectLst/>
                <a:latin typeface="Times"/>
              </a:rPr>
              <a:t>average potential energy 3</a:t>
            </a:r>
            <a:r>
              <a:rPr lang="en-US" altLang="zh-CN" sz="2400" dirty="0">
                <a:effectLst/>
                <a:latin typeface="Times"/>
              </a:rPr>
              <a:t>/</a:t>
            </a:r>
            <a:r>
              <a:rPr lang="en-SG" sz="2400" dirty="0">
                <a:effectLst/>
                <a:latin typeface="Times"/>
              </a:rPr>
              <a:t>2 </a:t>
            </a:r>
            <a:r>
              <a:rPr lang="en-SG" sz="2400" i="1" dirty="0" err="1">
                <a:effectLst/>
                <a:latin typeface="Times"/>
              </a:rPr>
              <a:t>kT</a:t>
            </a:r>
            <a:r>
              <a:rPr lang="en-SG" sz="2400" i="1" dirty="0">
                <a:effectLst/>
                <a:latin typeface="Times"/>
              </a:rPr>
              <a:t> </a:t>
            </a:r>
            <a:endParaRPr lang="en-SG" sz="2400" dirty="0"/>
          </a:p>
          <a:p>
            <a:r>
              <a:rPr lang="en-SG" sz="1800" dirty="0">
                <a:effectLst/>
                <a:latin typeface="Times"/>
              </a:rPr>
              <a:t> </a:t>
            </a:r>
            <a:endParaRPr lang="en-SG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48D4D7-9E9C-6AE8-C816-AD476820B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753" y="5459098"/>
            <a:ext cx="14986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5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66AA-EF15-C360-826E-49B58D71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FF98-A039-354C-F203-46478196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Molecular Speeds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2D29-3FB9-BF41-353B-8F8DEB66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81E55-D333-DF52-9B89-9A9D6BFC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B882D-7E54-D1D9-4F1C-65E091703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40768"/>
            <a:ext cx="7772400" cy="3123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B9E27C-19DC-A81C-BF4C-E280F9A04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79663"/>
            <a:ext cx="7772400" cy="146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1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479F-ACBA-1216-7BF2-89CA6D8C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FA1A-7606-9D6C-5C13-E609619F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Molecular Speeds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5953B-DB44-8053-7E7C-C4CD832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0C2B3-186A-44CD-EE4F-0988B557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02111D-7E2B-47D0-C0EF-05F7C1C96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004543"/>
            <a:ext cx="2616200" cy="83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4A2B8-E578-21DC-989D-A44E5BDB9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91" y="3864433"/>
            <a:ext cx="3022600" cy="88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7A0D3F-94A1-F1E2-3590-8108D5887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20" y="4965082"/>
            <a:ext cx="29591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57C45B-BCE3-5256-B67B-12176E55D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1413053"/>
            <a:ext cx="7772400" cy="16022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76319C-0105-4E78-782F-2A6E78197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029" y="3228867"/>
            <a:ext cx="3772152" cy="290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81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Molecular Speeds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33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55207A-D568-86AF-A033-484E90D6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39533"/>
            <a:ext cx="5728992" cy="42918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AB610B-50C0-46BE-04AD-E1AE7A78ED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9851" b="-6266"/>
          <a:stretch/>
        </p:blipFill>
        <p:spPr>
          <a:xfrm>
            <a:off x="4572000" y="2564904"/>
            <a:ext cx="4476956" cy="990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A0EA73-E16D-C0F8-2B0F-8C505E97987B}"/>
              </a:ext>
            </a:extLst>
          </p:cNvPr>
          <p:cNvSpPr txBox="1"/>
          <p:nvPr/>
        </p:nvSpPr>
        <p:spPr>
          <a:xfrm>
            <a:off x="457200" y="129809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>
                <a:effectLst/>
                <a:latin typeface="Times"/>
              </a:rPr>
              <a:t>Maxwell–Boltzmann distribution. </a:t>
            </a:r>
            <a:endParaRPr lang="en-SG" sz="2400" dirty="0"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192097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Molecular Speeds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4663B-6F64-C544-892A-23C543F8F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011" y="1299175"/>
            <a:ext cx="4478708" cy="3451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A14486-6880-DA09-1725-AC434E4DE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88" y="5214376"/>
            <a:ext cx="2414459" cy="1141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4B2F22-836D-5102-7F8D-C47ACF1D5C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634"/>
          <a:stretch/>
        </p:blipFill>
        <p:spPr>
          <a:xfrm>
            <a:off x="3635800" y="5198306"/>
            <a:ext cx="2349175" cy="1158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0DB9CC-FFF2-4C60-709F-872107BD0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00" y="5157176"/>
            <a:ext cx="2014678" cy="11580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787B7E-A1B8-D07E-4461-CCA1C25F2C40}"/>
              </a:ext>
            </a:extLst>
          </p:cNvPr>
          <p:cNvSpPr txBox="1"/>
          <p:nvPr/>
        </p:nvSpPr>
        <p:spPr>
          <a:xfrm>
            <a:off x="1118849" y="4784433"/>
            <a:ext cx="2047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M</a:t>
            </a:r>
            <a:r>
              <a:rPr lang="en-SG" sz="2400" dirty="0" err="1">
                <a:effectLst/>
                <a:latin typeface="Times"/>
              </a:rPr>
              <a:t>ost</a:t>
            </a:r>
            <a:r>
              <a:rPr lang="en-SG" sz="2400" dirty="0">
                <a:effectLst/>
                <a:latin typeface="Times"/>
              </a:rPr>
              <a:t> probable </a:t>
            </a:r>
            <a:endParaRPr lang="en-SG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551CA-388A-886A-8369-9219EC4D572A}"/>
              </a:ext>
            </a:extLst>
          </p:cNvPr>
          <p:cNvSpPr txBox="1"/>
          <p:nvPr/>
        </p:nvSpPr>
        <p:spPr>
          <a:xfrm>
            <a:off x="4067944" y="4793693"/>
            <a:ext cx="1203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Average</a:t>
            </a:r>
            <a:endParaRPr lang="en-SG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E0F94-1708-74F0-AD04-6AC9EE90DA6A}"/>
              </a:ext>
            </a:extLst>
          </p:cNvPr>
          <p:cNvSpPr txBox="1"/>
          <p:nvPr/>
        </p:nvSpPr>
        <p:spPr>
          <a:xfrm>
            <a:off x="6180238" y="4784433"/>
            <a:ext cx="2466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Root</a:t>
            </a:r>
            <a:r>
              <a:rPr lang="zh-CN" altLang="en-US" sz="2400" dirty="0"/>
              <a:t> </a:t>
            </a:r>
            <a:r>
              <a:rPr lang="en-US" altLang="zh-CN" sz="2400" dirty="0"/>
              <a:t>mean</a:t>
            </a:r>
            <a:r>
              <a:rPr lang="zh-CN" altLang="en-US" sz="2400" dirty="0"/>
              <a:t> </a:t>
            </a:r>
            <a:r>
              <a:rPr lang="en-US" altLang="zh-CN" sz="2400" dirty="0"/>
              <a:t>square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669436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5 Molecular Speeds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4663B-6F64-C544-892A-23C543F8F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50" y="1623081"/>
            <a:ext cx="3992749" cy="3077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018780-6100-A32A-183C-EBB7B2207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291" y="1193002"/>
            <a:ext cx="3767107" cy="51133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AB8C8B-C49E-00A1-CDB8-84CAE8362255}"/>
              </a:ext>
            </a:extLst>
          </p:cNvPr>
          <p:cNvSpPr txBox="1"/>
          <p:nvPr/>
        </p:nvSpPr>
        <p:spPr>
          <a:xfrm>
            <a:off x="179512" y="4765079"/>
            <a:ext cx="5007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/>
              <a:t>related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cooling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evaporation</a:t>
            </a:r>
          </a:p>
          <a:p>
            <a:pPr algn="just"/>
            <a:r>
              <a:rPr lang="en-US" altLang="zh-CN" sz="2400" dirty="0"/>
              <a:t>activation</a:t>
            </a:r>
            <a:r>
              <a:rPr lang="zh-CN" altLang="en-US" sz="2400" dirty="0"/>
              <a:t> </a:t>
            </a:r>
            <a:r>
              <a:rPr lang="en-US" altLang="zh-CN" sz="2400" dirty="0"/>
              <a:t>energy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chemical</a:t>
            </a:r>
            <a:r>
              <a:rPr lang="zh-CN" altLang="en-US" sz="2400" dirty="0"/>
              <a:t> </a:t>
            </a:r>
            <a:r>
              <a:rPr lang="en-US" altLang="zh-CN" sz="2400" dirty="0"/>
              <a:t>reaction</a:t>
            </a:r>
            <a:r>
              <a:rPr lang="zh-CN" altLang="en-US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4384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18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6 Phases of Matter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 (Ch. 18)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D3C39-D5DE-6A7A-A629-7E7D1344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5" y="1330227"/>
            <a:ext cx="7772400" cy="4204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79E113-8C76-97DE-27B5-D7A9AFE5FA48}"/>
              </a:ext>
            </a:extLst>
          </p:cNvPr>
          <p:cNvSpPr txBox="1"/>
          <p:nvPr/>
        </p:nvSpPr>
        <p:spPr>
          <a:xfrm>
            <a:off x="457200" y="11430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effectLst/>
                <a:latin typeface="Times"/>
              </a:rPr>
              <a:t>P</a:t>
            </a:r>
            <a:r>
              <a:rPr lang="en-SG" sz="2400" b="1" dirty="0" err="1">
                <a:effectLst/>
                <a:latin typeface="Times"/>
              </a:rPr>
              <a:t>hase</a:t>
            </a:r>
            <a:r>
              <a:rPr lang="en-SG" sz="2400" b="1" dirty="0">
                <a:effectLst/>
                <a:latin typeface="Times"/>
              </a:rPr>
              <a:t> diagram </a:t>
            </a:r>
            <a:endParaRPr lang="en-SG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FDF31-8A6E-5BBE-5799-CC0C0BFA92B4}"/>
              </a:ext>
            </a:extLst>
          </p:cNvPr>
          <p:cNvSpPr txBox="1"/>
          <p:nvPr/>
        </p:nvSpPr>
        <p:spPr>
          <a:xfrm>
            <a:off x="452265" y="5494238"/>
            <a:ext cx="8435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A transition from one phase to another ordinarily requires </a:t>
            </a:r>
            <a:r>
              <a:rPr lang="en-SG" sz="2400" b="1" dirty="0">
                <a:effectLst/>
                <a:latin typeface="Times"/>
              </a:rPr>
              <a:t>phase equilibrium </a:t>
            </a:r>
            <a:r>
              <a:rPr lang="en-SG" sz="2400" dirty="0">
                <a:effectLst/>
                <a:latin typeface="Times"/>
              </a:rPr>
              <a:t>between the two phases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5679389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4884</TotalTime>
  <Words>1230</Words>
  <Application>Microsoft Office PowerPoint</Application>
  <PresentationFormat>On-screen Show (4:3)</PresentationFormat>
  <Paragraphs>178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Helvetica Neue</vt:lpstr>
      <vt:lpstr>NewCenturySchlbk</vt:lpstr>
      <vt:lpstr>Optr2k</vt:lpstr>
      <vt:lpstr>PBB2k</vt:lpstr>
      <vt:lpstr>Arial</vt:lpstr>
      <vt:lpstr>Bookman Old Style</vt:lpstr>
      <vt:lpstr>Calibri</vt:lpstr>
      <vt:lpstr>Cambria Math</vt:lpstr>
      <vt:lpstr>Times</vt:lpstr>
      <vt:lpstr>Wingdings</vt:lpstr>
      <vt:lpstr>Wingdings 3</vt:lpstr>
      <vt:lpstr>Origin</vt:lpstr>
      <vt:lpstr>PHYS1001B College Physics IB</vt:lpstr>
      <vt:lpstr>Introduction</vt:lpstr>
      <vt:lpstr>Outline</vt:lpstr>
      <vt:lpstr>18-1 Equations of State</vt:lpstr>
      <vt:lpstr>18-1 Equations of State</vt:lpstr>
      <vt:lpstr>18-1 Equations of State</vt:lpstr>
      <vt:lpstr>18-1 Equations of State</vt:lpstr>
      <vt:lpstr>Sample Problem</vt:lpstr>
      <vt:lpstr>18-1 Equations of State</vt:lpstr>
      <vt:lpstr>18-1 Equations of State</vt:lpstr>
      <vt:lpstr>18-1 Equations of State</vt:lpstr>
      <vt:lpstr>18-2 Molecular Properties of Matter</vt:lpstr>
      <vt:lpstr>18-2 Molecular Properties of Matter</vt:lpstr>
      <vt:lpstr>18-2 Molecular Properties of Matter</vt:lpstr>
      <vt:lpstr>18-2 Molecular Properties of Matter</vt:lpstr>
      <vt:lpstr>18-3 Kinetic-Molecular Model of an Ideal Gas</vt:lpstr>
      <vt:lpstr>18-3 Kinetic-Molecular Model of an Ideal Gas</vt:lpstr>
      <vt:lpstr>18-3 Kinetic-Molecular Model of an Ideal Gas</vt:lpstr>
      <vt:lpstr>18-3 Kinetic-Molecular Model of an Ideal Gas</vt:lpstr>
      <vt:lpstr>18-3 Kinetic-Molecular Model of an Ideal Gas</vt:lpstr>
      <vt:lpstr>18-3 Kinetic-Molecular Model of an Ideal Gas</vt:lpstr>
      <vt:lpstr>18-3 Kinetic-Molecular Model of an Ideal Gas</vt:lpstr>
      <vt:lpstr>18-3 Kinetic-Molecular Model of an Ideal Gas</vt:lpstr>
      <vt:lpstr>Sample Problem</vt:lpstr>
      <vt:lpstr>18-4 Heat Capacities</vt:lpstr>
      <vt:lpstr>18-4 Heat Capacities</vt:lpstr>
      <vt:lpstr>18-4 Heat Capacities</vt:lpstr>
      <vt:lpstr>18-4 Heat Capacities</vt:lpstr>
      <vt:lpstr>18-4 Heat Capacities</vt:lpstr>
      <vt:lpstr>18-4 Heat Capacities</vt:lpstr>
      <vt:lpstr>18-5 Molecular Speeds</vt:lpstr>
      <vt:lpstr>18-5 Molecular Speeds</vt:lpstr>
      <vt:lpstr>18-5 Molecular Speeds</vt:lpstr>
      <vt:lpstr>18-5 Molecular Speeds</vt:lpstr>
      <vt:lpstr>18-5 Molecular Speeds</vt:lpstr>
      <vt:lpstr>18-6 Phases of Matter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waqas haider</cp:lastModifiedBy>
  <cp:revision>312</cp:revision>
  <cp:lastPrinted>2019-08-29T04:50:17Z</cp:lastPrinted>
  <dcterms:created xsi:type="dcterms:W3CDTF">2013-05-27T09:54:43Z</dcterms:created>
  <dcterms:modified xsi:type="dcterms:W3CDTF">2025-09-22T12:35:44Z</dcterms:modified>
</cp:coreProperties>
</file>