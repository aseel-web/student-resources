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64" r:id="rId3"/>
    <p:sldId id="257" r:id="rId4"/>
    <p:sldId id="306" r:id="rId5"/>
    <p:sldId id="315" r:id="rId6"/>
    <p:sldId id="316" r:id="rId7"/>
    <p:sldId id="317" r:id="rId8"/>
    <p:sldId id="318" r:id="rId9"/>
    <p:sldId id="319" r:id="rId10"/>
    <p:sldId id="314" r:id="rId11"/>
    <p:sldId id="320" r:id="rId12"/>
    <p:sldId id="321" r:id="rId13"/>
    <p:sldId id="322" r:id="rId14"/>
    <p:sldId id="323" r:id="rId15"/>
    <p:sldId id="324" r:id="rId16"/>
    <p:sldId id="325" r:id="rId17"/>
    <p:sldId id="327" r:id="rId18"/>
    <p:sldId id="328" r:id="rId19"/>
    <p:sldId id="329" r:id="rId2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63"/>
    <p:restoredTop sz="94637"/>
  </p:normalViewPr>
  <p:slideViewPr>
    <p:cSldViewPr>
      <p:cViewPr varScale="1">
        <p:scale>
          <a:sx n="88" d="100"/>
          <a:sy n="88" d="100"/>
        </p:scale>
        <p:origin x="176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00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964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022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025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561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Optics</a:t>
            </a:r>
            <a:r>
              <a:rPr lang="fr-FR" dirty="0"/>
              <a:t> I</a:t>
            </a:r>
            <a:r>
              <a:rPr lang="en-US" altLang="zh-CN" dirty="0"/>
              <a:t>V</a:t>
            </a:r>
            <a:r>
              <a:rPr lang="zh-CN" altLang="en-US" dirty="0"/>
              <a:t> </a:t>
            </a:r>
            <a:r>
              <a:rPr lang="en-SG" altLang="zh-CN" dirty="0"/>
              <a:t>Diffraction</a:t>
            </a:r>
            <a:r>
              <a:rPr lang="zh-CN" altLang="en-US" dirty="0"/>
              <a:t> </a:t>
            </a:r>
            <a:r>
              <a:rPr lang="fr-FR" dirty="0"/>
              <a:t>(Ch. </a:t>
            </a:r>
            <a:r>
              <a:rPr lang="en-US" altLang="zh-CN" dirty="0"/>
              <a:t>36</a:t>
            </a:r>
            <a:r>
              <a:rPr lang="fr-FR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333AC6-6727-01D8-A864-3F6DF756E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78600"/>
            <a:ext cx="6046440" cy="494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5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Fresnel and Fraunhofer Diffraction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Diffraction from a Single Slit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Intensity in the Single-Slit Pattern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Multiple Slits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Diffraction Grating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X-Ray Diffraction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7 Circular Apertures and Resolving Power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8 Holography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Fresnel and Fraunhofer Diffraction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793CA-D27B-CCC0-5F27-0B60B9654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88" y="1349561"/>
            <a:ext cx="4331612" cy="48002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36A22A-25C4-8CA2-BE80-849F328E94C0}"/>
              </a:ext>
            </a:extLst>
          </p:cNvPr>
          <p:cNvSpPr txBox="1"/>
          <p:nvPr/>
        </p:nvSpPr>
        <p:spPr>
          <a:xfrm>
            <a:off x="4701208" y="2413337"/>
            <a:ext cx="39855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1800" dirty="0">
                <a:effectLst/>
                <a:latin typeface="Times"/>
              </a:rPr>
              <a:t>no fundamental distinction between </a:t>
            </a:r>
            <a:r>
              <a:rPr lang="en-SG" sz="1800" i="1" dirty="0">
                <a:effectLst/>
                <a:latin typeface="Times"/>
              </a:rPr>
              <a:t>interference </a:t>
            </a:r>
            <a:r>
              <a:rPr lang="en-SG" sz="1800" dirty="0">
                <a:effectLst/>
                <a:latin typeface="Times"/>
              </a:rPr>
              <a:t>and </a:t>
            </a:r>
            <a:r>
              <a:rPr lang="en-SG" sz="1800" i="1" dirty="0">
                <a:effectLst/>
                <a:latin typeface="Times"/>
              </a:rPr>
              <a:t>diffraction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SG" i="1" dirty="0">
              <a:latin typeface="Times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1800" dirty="0">
                <a:effectLst/>
                <a:latin typeface="Times"/>
              </a:rPr>
              <a:t>the </a:t>
            </a:r>
            <a:r>
              <a:rPr lang="en-SG" sz="1800" dirty="0" err="1">
                <a:effectLst/>
                <a:latin typeface="Times"/>
              </a:rPr>
              <a:t>behavior</a:t>
            </a:r>
            <a:r>
              <a:rPr lang="en-SG" sz="1800" dirty="0">
                <a:effectLst/>
                <a:latin typeface="Times"/>
              </a:rPr>
              <a:t> of waves after they pass through an aperture is an example of diffraction </a:t>
            </a:r>
            <a:endParaRPr lang="en-SG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755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Fresnel and Fraunhofer Diffraction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0405F-04CF-F75C-ED9D-8040EE4A3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97" y="1340768"/>
            <a:ext cx="8681935" cy="28679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469C0A-0F29-C2C5-6ADF-CE426E3B7BE2}"/>
              </a:ext>
            </a:extLst>
          </p:cNvPr>
          <p:cNvCxnSpPr>
            <a:cxnSpLocks/>
          </p:cNvCxnSpPr>
          <p:nvPr/>
        </p:nvCxnSpPr>
        <p:spPr>
          <a:xfrm>
            <a:off x="3995936" y="1988840"/>
            <a:ext cx="0" cy="237626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92A0ACB-1A0C-1AF6-175D-5404F180CEEB}"/>
              </a:ext>
            </a:extLst>
          </p:cNvPr>
          <p:cNvSpPr txBox="1"/>
          <p:nvPr/>
        </p:nvSpPr>
        <p:spPr>
          <a:xfrm>
            <a:off x="275471" y="5239715"/>
            <a:ext cx="85930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b="1" dirty="0">
                <a:effectLst/>
                <a:latin typeface="Times"/>
              </a:rPr>
              <a:t>Fresnel diffraction </a:t>
            </a:r>
            <a:r>
              <a:rPr lang="en-US" altLang="zh-CN" sz="1800" b="1" dirty="0">
                <a:effectLst/>
                <a:latin typeface="Times"/>
              </a:rPr>
              <a:t>:</a:t>
            </a:r>
            <a:r>
              <a:rPr lang="zh-CN" altLang="en-US" sz="1800" b="1" dirty="0">
                <a:effectLst/>
                <a:latin typeface="Times"/>
              </a:rPr>
              <a:t> </a:t>
            </a:r>
            <a:r>
              <a:rPr lang="en-SG" sz="1800" dirty="0">
                <a:effectLst/>
                <a:latin typeface="Times"/>
              </a:rPr>
              <a:t>the source, obstacle, and screen are </a:t>
            </a:r>
            <a:r>
              <a:rPr lang="en-US" altLang="zh-CN" sz="1800" dirty="0">
                <a:effectLst/>
                <a:latin typeface="Times"/>
              </a:rPr>
              <a:t>close</a:t>
            </a:r>
            <a:endParaRPr lang="en-SG" dirty="0"/>
          </a:p>
          <a:p>
            <a:r>
              <a:rPr lang="en-SG" sz="1800" b="1" dirty="0">
                <a:effectLst/>
                <a:latin typeface="Times"/>
              </a:rPr>
              <a:t>Fraunhofer diffraction</a:t>
            </a:r>
            <a:r>
              <a:rPr lang="en-US" altLang="zh-CN" sz="1800" b="1" dirty="0">
                <a:effectLst/>
                <a:latin typeface="Times"/>
              </a:rPr>
              <a:t>:</a:t>
            </a:r>
            <a:r>
              <a:rPr lang="en-SG" sz="1800" dirty="0">
                <a:effectLst/>
                <a:latin typeface="Times"/>
              </a:rPr>
              <a:t>the source, obstacle, and screen are far enough apart </a:t>
            </a:r>
            <a:r>
              <a:rPr lang="zh-CN" altLang="en-US" sz="1800" dirty="0">
                <a:effectLst/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(this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chapter)</a:t>
            </a:r>
            <a:endParaRPr lang="en-SG" dirty="0"/>
          </a:p>
          <a:p>
            <a:r>
              <a:rPr lang="en-SG" sz="1800" b="1" dirty="0">
                <a:effectLst/>
                <a:latin typeface="Times"/>
              </a:rPr>
              <a:t> </a:t>
            </a:r>
            <a:endParaRPr lang="en-S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975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Diffraction from a Single Slit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46842-48CE-EF87-5E04-AD2DF2B9B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" y="2345519"/>
            <a:ext cx="9048004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55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Diffraction from a Single Slit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745D29-5322-8899-4662-01A7C2324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1" y="2104526"/>
            <a:ext cx="9083639" cy="265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7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Diffraction from a Single Slit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2B9D51-2AF1-497D-82F3-91B11933E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6643"/>
            <a:ext cx="7772400" cy="4304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A10A26-291B-DDBF-D4A3-DF726F8C3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5581356"/>
            <a:ext cx="73533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15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Diffraction from a Single Slit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E7A98E-0ADD-9EE3-10B1-75C76E992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646" y="1175991"/>
            <a:ext cx="3327350" cy="5061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889C5F-3B4C-E659-7799-05980FEC9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33" y="2803464"/>
            <a:ext cx="4356100" cy="876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C60B9C-45FF-E6BE-8248-B2CD23362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4313726"/>
            <a:ext cx="3327400" cy="774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BC9475-81BE-4BD3-DF6D-C9F5B761644E}"/>
              </a:ext>
            </a:extLst>
          </p:cNvPr>
          <p:cNvSpPr txBox="1"/>
          <p:nvPr/>
        </p:nvSpPr>
        <p:spPr>
          <a:xfrm>
            <a:off x="785813" y="2314575"/>
            <a:ext cx="229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dark</a:t>
            </a:r>
            <a:r>
              <a:rPr lang="zh-CN" altLang="en-US" dirty="0"/>
              <a:t> </a:t>
            </a:r>
            <a:r>
              <a:rPr lang="en-US" altLang="zh-CN" dirty="0"/>
              <a:t>fringe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11E80-C1D8-C071-DC5C-71CA24C6568E}"/>
              </a:ext>
            </a:extLst>
          </p:cNvPr>
          <p:cNvSpPr txBox="1"/>
          <p:nvPr/>
        </p:nvSpPr>
        <p:spPr>
          <a:xfrm>
            <a:off x="842963" y="3871913"/>
            <a:ext cx="124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Small</a:t>
            </a:r>
            <a:r>
              <a:rPr lang="zh-CN" altLang="en-US" dirty="0"/>
              <a:t> </a:t>
            </a:r>
            <a:r>
              <a:rPr lang="en-US" altLang="zh-CN" dirty="0"/>
              <a:t>theta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2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35B84-113E-2D3B-B634-5AF440D5D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26" y="1666615"/>
            <a:ext cx="5255496" cy="17623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207B3C-8357-C0AC-5D97-C7441504E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622" y="1720671"/>
            <a:ext cx="3600400" cy="2029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A715C8-C65E-40CC-1EC6-3C989BB8F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13" y="3900224"/>
            <a:ext cx="6315141" cy="226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2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Intensity in the Single-Slit Pattern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E7A98E-0ADD-9EE3-10B1-75C76E992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646" y="1175991"/>
            <a:ext cx="3327350" cy="5061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889C5F-3B4C-E659-7799-05980FEC9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33" y="2803464"/>
            <a:ext cx="4356100" cy="876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C60B9C-45FF-E6BE-8248-B2CD23362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4313726"/>
            <a:ext cx="3327400" cy="774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BC9475-81BE-4BD3-DF6D-C9F5B761644E}"/>
              </a:ext>
            </a:extLst>
          </p:cNvPr>
          <p:cNvSpPr txBox="1"/>
          <p:nvPr/>
        </p:nvSpPr>
        <p:spPr>
          <a:xfrm>
            <a:off x="785813" y="2314575"/>
            <a:ext cx="229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dark</a:t>
            </a:r>
            <a:r>
              <a:rPr lang="zh-CN" altLang="en-US" dirty="0"/>
              <a:t> </a:t>
            </a:r>
            <a:r>
              <a:rPr lang="en-US" altLang="zh-CN" dirty="0"/>
              <a:t>fringe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11E80-C1D8-C071-DC5C-71CA24C6568E}"/>
              </a:ext>
            </a:extLst>
          </p:cNvPr>
          <p:cNvSpPr txBox="1"/>
          <p:nvPr/>
        </p:nvSpPr>
        <p:spPr>
          <a:xfrm>
            <a:off x="842963" y="3871913"/>
            <a:ext cx="124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Small</a:t>
            </a:r>
            <a:r>
              <a:rPr lang="zh-CN" altLang="en-US" dirty="0"/>
              <a:t> </a:t>
            </a:r>
            <a:r>
              <a:rPr lang="en-US" altLang="zh-CN" dirty="0"/>
              <a:t>theta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43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Multiple Slits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EE5E4C-721B-FE49-B368-ECEB497F7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43" y="1788410"/>
            <a:ext cx="3724901" cy="4474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6A3DF4-18C0-2DD8-3E20-B3B1411DC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167" y="1219422"/>
            <a:ext cx="3351593" cy="50435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4DE801-DBE6-CB58-5C62-AF61970F36F3}"/>
              </a:ext>
            </a:extLst>
          </p:cNvPr>
          <p:cNvSpPr txBox="1"/>
          <p:nvPr/>
        </p:nvSpPr>
        <p:spPr>
          <a:xfrm>
            <a:off x="179512" y="1219423"/>
            <a:ext cx="5473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Two-slit:</a:t>
            </a:r>
            <a:r>
              <a:rPr lang="zh-CN" altLang="en-US" sz="2400" dirty="0"/>
              <a:t> </a:t>
            </a:r>
            <a:r>
              <a:rPr lang="en-US" altLang="zh-CN" sz="2400" dirty="0"/>
              <a:t>both</a:t>
            </a:r>
            <a:r>
              <a:rPr lang="zh-CN" altLang="en-US" sz="2400" dirty="0"/>
              <a:t> </a:t>
            </a:r>
            <a:r>
              <a:rPr lang="en-US" altLang="zh-CN" sz="2400" dirty="0"/>
              <a:t>interference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diffraction</a:t>
            </a:r>
            <a:r>
              <a:rPr lang="zh-CN" altLang="en-US" sz="2400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26353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Multiple Slits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9AC2DF-06F2-F4F2-C661-4CB3F01CC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9" y="1565333"/>
            <a:ext cx="3519736" cy="42193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3765F9-F177-8A2A-A440-D2DE48A0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871" y="1178718"/>
            <a:ext cx="2448272" cy="2266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FDE8D6-3E1E-6F70-BDDF-6FCD5B94D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172" y="3585417"/>
            <a:ext cx="2704971" cy="2199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6B3C49-7C4A-22D8-BEC4-BCC58B418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748" y="2363264"/>
            <a:ext cx="2634252" cy="219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1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Diffraction Grating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BF922A-5AE9-E790-F3AF-50CA3788FDDB}"/>
              </a:ext>
            </a:extLst>
          </p:cNvPr>
          <p:cNvSpPr txBox="1"/>
          <p:nvPr/>
        </p:nvSpPr>
        <p:spPr>
          <a:xfrm>
            <a:off x="457201" y="1370181"/>
            <a:ext cx="8229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effectLst/>
                <a:latin typeface="Times"/>
              </a:rPr>
              <a:t>An array of a large number of parallel slits, all with the same width </a:t>
            </a:r>
            <a:r>
              <a:rPr lang="en-SG" i="1" dirty="0">
                <a:effectLst/>
                <a:latin typeface="Times"/>
              </a:rPr>
              <a:t>a </a:t>
            </a:r>
            <a:r>
              <a:rPr lang="en-SG" dirty="0">
                <a:effectLst/>
                <a:latin typeface="Times"/>
              </a:rPr>
              <a:t>and spaced equal distances </a:t>
            </a:r>
            <a:r>
              <a:rPr lang="en-SG" i="1" dirty="0">
                <a:effectLst/>
                <a:latin typeface="Times"/>
              </a:rPr>
              <a:t>d </a:t>
            </a:r>
            <a:r>
              <a:rPr lang="en-SG" dirty="0">
                <a:effectLst/>
                <a:latin typeface="Times"/>
              </a:rPr>
              <a:t>between </a:t>
            </a:r>
            <a:r>
              <a:rPr lang="en-SG" dirty="0" err="1">
                <a:effectLst/>
                <a:latin typeface="Times"/>
              </a:rPr>
              <a:t>centers</a:t>
            </a:r>
            <a:r>
              <a:rPr lang="en-SG" dirty="0">
                <a:effectLst/>
                <a:latin typeface="Times"/>
              </a:rPr>
              <a:t>, is called a </a:t>
            </a:r>
            <a:r>
              <a:rPr lang="en-SG" b="1" dirty="0">
                <a:effectLst/>
                <a:latin typeface="Times"/>
              </a:rPr>
              <a:t>diffraction grating. 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AF55CE-6834-D7E9-D430-F8903C054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51" y="2071875"/>
            <a:ext cx="3456384" cy="4284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AAABFF-8BC6-2D56-EACE-6C541654E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808" y="3948774"/>
            <a:ext cx="49022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3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Diffraction Grating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09B9B-AFEC-AF2C-3A39-62CF871FF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6" y="1654175"/>
            <a:ext cx="4381500" cy="419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B6047F-0862-F823-209E-D1312C2672A6}"/>
              </a:ext>
            </a:extLst>
          </p:cNvPr>
          <p:cNvSpPr txBox="1"/>
          <p:nvPr/>
        </p:nvSpPr>
        <p:spPr>
          <a:xfrm>
            <a:off x="4572000" y="2690336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800" dirty="0">
                <a:effectLst/>
                <a:latin typeface="Times"/>
              </a:rPr>
              <a:t>The “grooves” are tiny pits 0.12 </a:t>
            </a:r>
            <a:r>
              <a:rPr lang="el-GR" sz="1800" dirty="0">
                <a:effectLst/>
                <a:latin typeface="Times"/>
              </a:rPr>
              <a:t>μ</a:t>
            </a:r>
            <a:r>
              <a:rPr lang="en-SG" sz="1800" dirty="0">
                <a:effectLst/>
                <a:latin typeface="Times"/>
              </a:rPr>
              <a:t>m deep in the sur- face of the disc, with a uniform radial spacing of 0.74 </a:t>
            </a:r>
            <a:r>
              <a:rPr lang="el-GR" sz="1800" dirty="0">
                <a:effectLst/>
                <a:latin typeface="Times"/>
              </a:rPr>
              <a:t>μ</a:t>
            </a:r>
            <a:r>
              <a:rPr lang="en-SG" sz="1800" dirty="0">
                <a:effectLst/>
                <a:latin typeface="Times"/>
              </a:rPr>
              <a:t>m </a:t>
            </a:r>
            <a:r>
              <a:rPr lang="en-SG" sz="1800" dirty="0">
                <a:effectLst/>
                <a:latin typeface="Optr2k"/>
              </a:rPr>
              <a:t>= </a:t>
            </a:r>
            <a:r>
              <a:rPr lang="en-SG" sz="1800" dirty="0">
                <a:effectLst/>
                <a:latin typeface="Times"/>
              </a:rPr>
              <a:t>740 nm. Information is coded on the DVD by varying the </a:t>
            </a:r>
            <a:r>
              <a:rPr lang="en-SG" sz="1800" i="1" dirty="0">
                <a:effectLst/>
                <a:latin typeface="Times"/>
              </a:rPr>
              <a:t>length </a:t>
            </a:r>
            <a:r>
              <a:rPr lang="en-SG" sz="1800" dirty="0">
                <a:effectLst/>
                <a:latin typeface="Times"/>
              </a:rPr>
              <a:t>of the pits.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05235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X-Ray Diffraction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 dirty="0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564F-3C35-CAF1-DB3B-7287E4640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6" y="1988840"/>
            <a:ext cx="8981387" cy="33001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14D1B2-1BE6-ED3B-8C54-5B263794F145}"/>
              </a:ext>
            </a:extLst>
          </p:cNvPr>
          <p:cNvSpPr txBox="1"/>
          <p:nvPr/>
        </p:nvSpPr>
        <p:spPr>
          <a:xfrm>
            <a:off x="1259969" y="5453352"/>
            <a:ext cx="74268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"/>
              </a:rPr>
              <a:t>E</a:t>
            </a:r>
            <a:r>
              <a:rPr lang="en-SG" sz="1800" dirty="0" err="1">
                <a:effectLst/>
                <a:latin typeface="Times"/>
              </a:rPr>
              <a:t>lectromagnetic</a:t>
            </a:r>
            <a:r>
              <a:rPr lang="en-SG" sz="1800" dirty="0">
                <a:effectLst/>
                <a:latin typeface="Times"/>
              </a:rPr>
              <a:t> waves with wavelengths of the order of 1</a:t>
            </a:r>
            <a:r>
              <a:rPr lang="en-US" altLang="zh-CN" sz="1800" dirty="0">
                <a:effectLst/>
                <a:latin typeface="Times"/>
              </a:rPr>
              <a:t>0</a:t>
            </a:r>
            <a:r>
              <a:rPr lang="en-US" altLang="zh-CN" sz="1800" baseline="30000" dirty="0">
                <a:effectLst/>
                <a:latin typeface="Times"/>
              </a:rPr>
              <a:t>-10</a:t>
            </a:r>
            <a:r>
              <a:rPr lang="zh-CN" altLang="en-US" sz="1800" baseline="30000" dirty="0">
                <a:effectLst/>
                <a:latin typeface="Times"/>
              </a:rPr>
              <a:t> </a:t>
            </a:r>
            <a:r>
              <a:rPr lang="en-SG" sz="1800" dirty="0">
                <a:effectLst/>
                <a:latin typeface="Times"/>
              </a:rPr>
              <a:t>m</a:t>
            </a:r>
            <a:r>
              <a:rPr lang="en-US" altLang="zh-CN" dirty="0">
                <a:latin typeface="Times"/>
              </a:rPr>
              <a:t>,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similar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to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the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scale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of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atomic</a:t>
            </a:r>
            <a:r>
              <a:rPr lang="zh-CN" altLang="en-US" dirty="0">
                <a:latin typeface="Times"/>
              </a:rPr>
              <a:t> </a:t>
            </a:r>
            <a:r>
              <a:rPr lang="en-US" altLang="zh-CN" dirty="0">
                <a:latin typeface="Times"/>
              </a:rPr>
              <a:t>distance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34519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X-Ray Diffraction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 dirty="0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3C251-D202-C509-6A4D-3ED9B2DE55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282"/>
          <a:stretch/>
        </p:blipFill>
        <p:spPr>
          <a:xfrm>
            <a:off x="594927" y="1544693"/>
            <a:ext cx="3960440" cy="4409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7FD755-CB93-4DB0-BC4F-81E23673C0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2271"/>
          <a:stretch/>
        </p:blipFill>
        <p:spPr>
          <a:xfrm>
            <a:off x="5053624" y="1175743"/>
            <a:ext cx="2668896" cy="26132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829190-1F21-9AC1-871D-04911C2ED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447" y="3821783"/>
            <a:ext cx="2542712" cy="247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68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7 Circular Apertures and Resolving Power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 dirty="0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570FFC-8E12-BF14-93E4-8D7DAC03A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352550"/>
            <a:ext cx="7213600" cy="415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67CF0A-7868-F44F-C46F-A7BDCED65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613400"/>
            <a:ext cx="5943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33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36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8 Holography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 dirty="0"/>
              <a:t>Optics IV (Ch. 36)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53FF5-2E38-CAA7-A7BF-F158C34DF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3" y="2723094"/>
            <a:ext cx="8906253" cy="3600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93B875-9279-E6B7-AE7E-0E7E7E34CCF5}"/>
              </a:ext>
            </a:extLst>
          </p:cNvPr>
          <p:cNvSpPr txBox="1"/>
          <p:nvPr/>
        </p:nvSpPr>
        <p:spPr>
          <a:xfrm>
            <a:off x="251520" y="1332882"/>
            <a:ext cx="8640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800" b="1" dirty="0">
                <a:effectLst/>
                <a:latin typeface="Times"/>
              </a:rPr>
              <a:t>Holography </a:t>
            </a:r>
            <a:r>
              <a:rPr lang="en-SG" sz="1800" dirty="0">
                <a:effectLst/>
                <a:latin typeface="Times"/>
              </a:rPr>
              <a:t>is a technique for recording and reproducing an image of an object through the use of interference effects. Unlike the two-dimensional images recorded by an ordinary photograph or television system, a holographic image is truly three-dimensional.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1702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4628</TotalTime>
  <Words>523</Words>
  <Application>Microsoft Macintosh PowerPoint</Application>
  <PresentationFormat>On-screen Show (4:3)</PresentationFormat>
  <Paragraphs>84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Optr2k</vt:lpstr>
      <vt:lpstr>Times</vt:lpstr>
      <vt:lpstr>Arial</vt:lpstr>
      <vt:lpstr>Bookman Old Style</vt:lpstr>
      <vt:lpstr>Calibri</vt:lpstr>
      <vt:lpstr>Helvetica Neue</vt:lpstr>
      <vt:lpstr>Wingdings</vt:lpstr>
      <vt:lpstr>Wingdings 3</vt:lpstr>
      <vt:lpstr>Origin</vt:lpstr>
      <vt:lpstr>PHYS1001B College Physics IB</vt:lpstr>
      <vt:lpstr>Introduction</vt:lpstr>
      <vt:lpstr>Outline</vt:lpstr>
      <vt:lpstr>36-1 Fresnel and Fraunhofer Diffraction</vt:lpstr>
      <vt:lpstr>36-1 Fresnel and Fraunhofer Diffraction</vt:lpstr>
      <vt:lpstr>36-2 Diffraction from a Single Slit</vt:lpstr>
      <vt:lpstr>36-2 Diffraction from a Single Slit</vt:lpstr>
      <vt:lpstr>36-2 Diffraction from a Single Slit</vt:lpstr>
      <vt:lpstr>36-2 Diffraction from a Single Slit</vt:lpstr>
      <vt:lpstr>Sample Problem</vt:lpstr>
      <vt:lpstr>36-3 Intensity in the Single-Slit Pattern</vt:lpstr>
      <vt:lpstr>36-4 Multiple Slits</vt:lpstr>
      <vt:lpstr>36-4 Multiple Slits</vt:lpstr>
      <vt:lpstr>36-5 The Diffraction Grating</vt:lpstr>
      <vt:lpstr>36-5 The Diffraction Grating</vt:lpstr>
      <vt:lpstr>36-6 X-Ray Diffraction</vt:lpstr>
      <vt:lpstr>36-6 X-Ray Diffraction</vt:lpstr>
      <vt:lpstr>36-7 Circular Apertures and Resolving Power</vt:lpstr>
      <vt:lpstr>36-8 Holography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tanka tang</cp:lastModifiedBy>
  <cp:revision>234</cp:revision>
  <cp:lastPrinted>2019-08-29T04:50:17Z</cp:lastPrinted>
  <dcterms:created xsi:type="dcterms:W3CDTF">2013-05-27T09:54:43Z</dcterms:created>
  <dcterms:modified xsi:type="dcterms:W3CDTF">2024-08-16T03:40:01Z</dcterms:modified>
</cp:coreProperties>
</file>