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7"/>
  </p:notesMasterIdLst>
  <p:sldIdLst>
    <p:sldId id="256" r:id="rId2"/>
    <p:sldId id="264" r:id="rId3"/>
    <p:sldId id="257" r:id="rId4"/>
    <p:sldId id="306" r:id="rId5"/>
    <p:sldId id="315" r:id="rId6"/>
    <p:sldId id="316" r:id="rId7"/>
    <p:sldId id="317" r:id="rId8"/>
    <p:sldId id="314" r:id="rId9"/>
    <p:sldId id="319" r:id="rId10"/>
    <p:sldId id="318" r:id="rId11"/>
    <p:sldId id="320" r:id="rId12"/>
    <p:sldId id="321" r:id="rId13"/>
    <p:sldId id="322" r:id="rId14"/>
    <p:sldId id="325" r:id="rId15"/>
    <p:sldId id="326" r:id="rId16"/>
    <p:sldId id="324" r:id="rId17"/>
    <p:sldId id="340" r:id="rId18"/>
    <p:sldId id="341" r:id="rId19"/>
    <p:sldId id="342" r:id="rId20"/>
    <p:sldId id="343" r:id="rId21"/>
    <p:sldId id="339" r:id="rId22"/>
    <p:sldId id="327" r:id="rId23"/>
    <p:sldId id="330" r:id="rId24"/>
    <p:sldId id="328" r:id="rId25"/>
    <p:sldId id="329" r:id="rId26"/>
    <p:sldId id="331" r:id="rId27"/>
    <p:sldId id="332" r:id="rId28"/>
    <p:sldId id="333" r:id="rId29"/>
    <p:sldId id="334" r:id="rId30"/>
    <p:sldId id="335" r:id="rId31"/>
    <p:sldId id="344" r:id="rId32"/>
    <p:sldId id="345" r:id="rId33"/>
    <p:sldId id="336" r:id="rId34"/>
    <p:sldId id="337" r:id="rId35"/>
    <p:sldId id="338" r:id="rId3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52"/>
    <p:restoredTop sz="94607"/>
  </p:normalViewPr>
  <p:slideViewPr>
    <p:cSldViewPr>
      <p:cViewPr varScale="1">
        <p:scale>
          <a:sx n="144" d="100"/>
          <a:sy n="144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29/09/2024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D4A74-6C7F-4752-B49D-9BACC919F9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5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588" y="5157192"/>
            <a:ext cx="7169224" cy="533400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Thermodynamics</a:t>
            </a:r>
            <a:r>
              <a:rPr lang="zh-CN" altLang="en-US" dirty="0"/>
              <a:t> </a:t>
            </a:r>
            <a:r>
              <a:rPr lang="en-US" altLang="zh-CN" dirty="0"/>
              <a:t>III</a:t>
            </a:r>
            <a:r>
              <a:rPr lang="zh-CN" altLang="en-US" dirty="0"/>
              <a:t> </a:t>
            </a:r>
            <a:r>
              <a:rPr lang="fr-FR" dirty="0"/>
              <a:t>— </a:t>
            </a:r>
            <a:r>
              <a:rPr lang="en-US" altLang="zh-CN" dirty="0"/>
              <a:t>The First Law of Thermodynamics</a:t>
            </a:r>
            <a:r>
              <a:rPr lang="zh-CN" altLang="en-US" dirty="0"/>
              <a:t> </a:t>
            </a:r>
            <a:r>
              <a:rPr lang="fr-FR" dirty="0"/>
              <a:t>(Ch. 1</a:t>
            </a:r>
            <a:r>
              <a:rPr lang="en-US" altLang="zh-CN" dirty="0"/>
              <a:t>9</a:t>
            </a:r>
            <a:r>
              <a:rPr lang="fr-FR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E20F42-56FC-0BE7-A32A-580316683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0" y="2276872"/>
            <a:ext cx="2729930" cy="23836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F2A70C-F65E-6085-EAB7-CE1C1E2CF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40" y="1888830"/>
            <a:ext cx="3479365" cy="27716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A481FA-E7E4-98A2-F2FC-1EBA6BF70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0" y="1749239"/>
            <a:ext cx="2070100" cy="3759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599D1A-EDF5-0FCE-B401-579204D7B5C4}"/>
              </a:ext>
            </a:extLst>
          </p:cNvPr>
          <p:cNvSpPr txBox="1"/>
          <p:nvPr/>
        </p:nvSpPr>
        <p:spPr>
          <a:xfrm>
            <a:off x="785446" y="1336431"/>
            <a:ext cx="36358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Thermodynamics processes</a:t>
            </a:r>
          </a:p>
        </p:txBody>
      </p:sp>
    </p:spTree>
    <p:extLst>
      <p:ext uri="{BB962C8B-B14F-4D97-AF65-F5344CB8AC3E}">
        <p14:creationId xmlns:p14="http://schemas.microsoft.com/office/powerpoint/2010/main" val="326305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19.1 Thermodynamic Systems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19.2 Work Done During Volume Changes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19.3 Paths Between Thermodynamic States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19.4 Internal Energy and the First Law of Thermodynamics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19.5 Kinds of Thermodynamic Processes 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19.6 Internal Energy of an </a:t>
            </a:r>
            <a:r>
              <a:rPr lang="en-SG" dirty="0" err="1">
                <a:effectLst/>
                <a:latin typeface="Helvetica Neue" panose="02000503000000020004" pitchFamily="2" charset="0"/>
              </a:rPr>
              <a:t>ldeal</a:t>
            </a:r>
            <a:r>
              <a:rPr lang="en-SG" dirty="0">
                <a:effectLst/>
                <a:latin typeface="Helvetica Neue" panose="02000503000000020004" pitchFamily="2" charset="0"/>
              </a:rPr>
              <a:t> Gas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19.7 Heat Capacities of an Ideal Gas </a:t>
            </a:r>
          </a:p>
          <a:p>
            <a:r>
              <a:rPr lang="en-SG" dirty="0">
                <a:effectLst/>
                <a:latin typeface="Helvetica Neue" panose="02000503000000020004" pitchFamily="2" charset="0"/>
              </a:rPr>
              <a:t>19.8 Adiabatic Processes for an Ideal Gas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19.1 Thermodynamic Systems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0D81C-FD9B-FEC1-E463-88A873084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412776"/>
            <a:ext cx="4064000" cy="3771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BFFC6A-0BE3-1DC1-3037-D887B4520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215542"/>
            <a:ext cx="3168352" cy="509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5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19.2 Work Done During Volume Changes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5E78BD-2C8D-7C91-28D8-EE670CFE6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378075"/>
            <a:ext cx="421640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F11B7D-10AD-6AF8-036D-540B9E94A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361511"/>
            <a:ext cx="42164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5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19.2 Work Done During Volume Changes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BEFB8-9123-7551-09D5-1460ACA9F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14" y="1323353"/>
            <a:ext cx="4498541" cy="3743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33538D-213F-580E-F66A-D53B6350A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703" y="1805362"/>
            <a:ext cx="3825120" cy="702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9E9884-F1EC-00E0-0D61-672B020BC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2676378"/>
            <a:ext cx="2159550" cy="611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992F90-2A0B-D779-9199-F59D4F5802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144" y="3358710"/>
            <a:ext cx="1902612" cy="6115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16A754-0CD5-7686-7108-86F819C349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0677" y="5016317"/>
            <a:ext cx="7341997" cy="117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19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19.2 Work Done During Volume Changes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7BBDA-EC98-E1A0-D3D9-F508D3B3C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3" y="1844824"/>
            <a:ext cx="9017293" cy="356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0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2ADAE-F386-FCEE-7CCE-6B6FA903D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112" y="1252254"/>
            <a:ext cx="5781041" cy="17545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FEF08-57A3-7DD7-41DD-F44DA60F7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106" y="3492046"/>
            <a:ext cx="4311074" cy="2207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CA9F1-5096-B00A-3924-06CE0B7F0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633" y="3689712"/>
            <a:ext cx="4752528" cy="198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2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19.3 Paths Between Thermodynamic States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50B86-592E-121C-1096-D628511902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13"/>
          <a:stretch/>
        </p:blipFill>
        <p:spPr>
          <a:xfrm>
            <a:off x="3096963" y="1837295"/>
            <a:ext cx="3247713" cy="2302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E9BE02-8186-C3FF-EEE3-4172EAB5ED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34"/>
          <a:stretch/>
        </p:blipFill>
        <p:spPr>
          <a:xfrm>
            <a:off x="167492" y="4293096"/>
            <a:ext cx="2874156" cy="19746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1EECDD-8353-E4A5-603E-0506BB160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532" y="4365104"/>
            <a:ext cx="2957299" cy="1880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2CDA02-547D-EA41-5AFA-A622FBCFE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399" y="4293096"/>
            <a:ext cx="2698232" cy="19676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975058-B120-0F95-47F8-A211C1131961}"/>
              </a:ext>
            </a:extLst>
          </p:cNvPr>
          <p:cNvSpPr txBox="1"/>
          <p:nvPr/>
        </p:nvSpPr>
        <p:spPr>
          <a:xfrm>
            <a:off x="307848" y="1327435"/>
            <a:ext cx="5560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Work done in a thermodynamic Process</a:t>
            </a:r>
          </a:p>
        </p:txBody>
      </p:sp>
    </p:spTree>
    <p:extLst>
      <p:ext uri="{BB962C8B-B14F-4D97-AF65-F5344CB8AC3E}">
        <p14:creationId xmlns:p14="http://schemas.microsoft.com/office/powerpoint/2010/main" val="2206285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19.3 Paths Between Thermodynamic States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93A013-6A7F-A5F9-D89E-64294573A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99" y="1759992"/>
            <a:ext cx="4031360" cy="39336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8A0CD8-37E4-D585-D629-FAC21FCBE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73771"/>
            <a:ext cx="3960440" cy="3948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32E6A3-0310-A9B2-C7EF-34E72C0C8667}"/>
              </a:ext>
            </a:extLst>
          </p:cNvPr>
          <p:cNvSpPr txBox="1"/>
          <p:nvPr/>
        </p:nvSpPr>
        <p:spPr>
          <a:xfrm>
            <a:off x="475710" y="1268760"/>
            <a:ext cx="5968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Heat Added in a Thermodynamic Process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8B2EAA-534D-DDD3-49F7-480A4B534436}"/>
              </a:ext>
            </a:extLst>
          </p:cNvPr>
          <p:cNvSpPr txBox="1"/>
          <p:nvPr/>
        </p:nvSpPr>
        <p:spPr>
          <a:xfrm>
            <a:off x="107504" y="5758289"/>
            <a:ext cx="9426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i="1" dirty="0">
                <a:effectLst/>
                <a:latin typeface="Times"/>
              </a:rPr>
              <a:t>heat depends not only on the initial and final states but also on the path.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4285970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19.4 Internal Energy and the First Law of Thermodynamics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AEB396-914F-3863-63D8-D72838623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66" y="1209020"/>
            <a:ext cx="3809635" cy="496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3CB504-611A-C748-CD63-F7897137F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7" y="2236715"/>
            <a:ext cx="3779912" cy="2124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12DF37-ADCF-DDF6-DDFA-794E2A9C3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66" y="2126478"/>
            <a:ext cx="4051234" cy="22996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1B54C8-E8F3-08CB-ABEB-5BE0B7EE4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3048" y="4344246"/>
            <a:ext cx="3345036" cy="19829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57768A-6B20-054A-3032-625B6C6C9AF6}"/>
              </a:ext>
            </a:extLst>
          </p:cNvPr>
          <p:cNvSpPr txBox="1"/>
          <p:nvPr/>
        </p:nvSpPr>
        <p:spPr>
          <a:xfrm>
            <a:off x="170874" y="137056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Helvetica Neue" panose="02000503000000020004" pitchFamily="2" charset="0"/>
              </a:rPr>
              <a:t>First Law of Thermodynamics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F45D31-02EB-3E23-6450-96264EC14A19}"/>
              </a:ext>
            </a:extLst>
          </p:cNvPr>
          <p:cNvSpPr txBox="1"/>
          <p:nvPr/>
        </p:nvSpPr>
        <p:spPr>
          <a:xfrm>
            <a:off x="4572000" y="170196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i="1" dirty="0">
                <a:effectLst/>
                <a:latin typeface="Times"/>
              </a:rPr>
              <a:t>U </a:t>
            </a:r>
            <a:r>
              <a:rPr lang="en-SG" sz="2400" dirty="0">
                <a:effectLst/>
                <a:latin typeface="Times"/>
              </a:rPr>
              <a:t>for internal energy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459297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19.4 Internal Energy and the First Law of Thermodynamics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1F121F-D938-6468-DD68-97A54AB3E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647"/>
          <a:stretch/>
        </p:blipFill>
        <p:spPr>
          <a:xfrm>
            <a:off x="4158036" y="1778465"/>
            <a:ext cx="4633004" cy="33010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CA4593-972A-FBD5-3BAA-A31D8FDF9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259" b="63692"/>
          <a:stretch/>
        </p:blipFill>
        <p:spPr>
          <a:xfrm>
            <a:off x="20246" y="2708920"/>
            <a:ext cx="4225135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74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19.4 Internal Energy and the First Law of Thermodynamics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CA4E5C-B690-302D-DF31-1FB014F08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236" y="1537321"/>
            <a:ext cx="7054552" cy="48190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CE6B99-DFDC-6FBB-B251-F622E19E3A0B}"/>
              </a:ext>
            </a:extLst>
          </p:cNvPr>
          <p:cNvSpPr txBox="1"/>
          <p:nvPr/>
        </p:nvSpPr>
        <p:spPr>
          <a:xfrm>
            <a:off x="579148" y="1268760"/>
            <a:ext cx="5111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Cyclic Processes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US" altLang="zh-CN" sz="2400" dirty="0"/>
              <a:t>Daily</a:t>
            </a:r>
            <a:r>
              <a:rPr lang="zh-CN" altLang="en-US" sz="2400" dirty="0"/>
              <a:t> </a:t>
            </a:r>
            <a:r>
              <a:rPr lang="en-US" altLang="zh-CN" sz="2400" dirty="0"/>
              <a:t>life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9889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19.4 Internal Energy and the First Law of Thermodynamics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40EBD-449B-4C87-0BE9-4BDEAC8D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268760"/>
            <a:ext cx="9036496" cy="481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65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19.4 Internal Energy and the First Law of Thermodynamics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E6B99-DFDC-6FBB-B251-F622E19E3A0B}"/>
              </a:ext>
            </a:extLst>
          </p:cNvPr>
          <p:cNvSpPr txBox="1"/>
          <p:nvPr/>
        </p:nvSpPr>
        <p:spPr>
          <a:xfrm>
            <a:off x="375478" y="1543109"/>
            <a:ext cx="86609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Isolated</a:t>
            </a:r>
            <a:r>
              <a:rPr lang="zh-CN" altLang="en-US" sz="3200" dirty="0"/>
              <a:t> </a:t>
            </a:r>
            <a:r>
              <a:rPr lang="en-US" altLang="zh-CN" sz="3200" dirty="0"/>
              <a:t>system:</a:t>
            </a:r>
            <a:r>
              <a:rPr lang="zh-CN" altLang="en-US" sz="3200" dirty="0"/>
              <a:t> </a:t>
            </a:r>
            <a:r>
              <a:rPr lang="en-US" altLang="zh-CN" sz="3200" dirty="0"/>
              <a:t>no</a:t>
            </a:r>
            <a:r>
              <a:rPr lang="zh-CN" altLang="en-US" sz="3200" dirty="0"/>
              <a:t> </a:t>
            </a:r>
            <a:r>
              <a:rPr lang="en-US" altLang="zh-CN" sz="3200" dirty="0"/>
              <a:t>work</a:t>
            </a:r>
            <a:r>
              <a:rPr lang="zh-CN" altLang="en-US" sz="3200" dirty="0"/>
              <a:t> </a:t>
            </a:r>
            <a:r>
              <a:rPr lang="en-US" altLang="zh-CN" sz="3200" dirty="0"/>
              <a:t>done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no</a:t>
            </a:r>
            <a:r>
              <a:rPr lang="zh-CN" altLang="en-US" sz="3200" dirty="0"/>
              <a:t> </a:t>
            </a:r>
            <a:r>
              <a:rPr lang="en-US" altLang="zh-CN" sz="3200" dirty="0"/>
              <a:t>heat</a:t>
            </a:r>
            <a:r>
              <a:rPr lang="zh-CN" altLang="en-US" sz="3200" dirty="0"/>
              <a:t> </a:t>
            </a:r>
            <a:r>
              <a:rPr lang="en-US" altLang="zh-CN" sz="3200" dirty="0"/>
              <a:t>flow</a:t>
            </a:r>
            <a:r>
              <a:rPr lang="zh-CN" altLang="en-US" sz="3200" dirty="0"/>
              <a:t> </a:t>
            </a:r>
            <a:r>
              <a:rPr lang="en-US" altLang="zh-CN" sz="3200" dirty="0"/>
              <a:t>to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surrounding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F3488A-F6BD-A109-E428-A236A0E44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3" y="3020436"/>
            <a:ext cx="9003061" cy="271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49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778432-663B-8C2A-A5A2-D11B78D14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72578"/>
            <a:ext cx="7941413" cy="2273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7B2010-9414-2D1D-D5C4-1D678E306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621298"/>
            <a:ext cx="7941412" cy="255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8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778432-663B-8C2A-A5A2-D11B78D14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72578"/>
            <a:ext cx="7941413" cy="2273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377BF5-D0CD-6B98-48EB-F0F5802EC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85" y="3789040"/>
            <a:ext cx="8556230" cy="148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02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97D61-7827-5B68-8D5B-0EB28C1F0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34"/>
          <a:stretch/>
        </p:blipFill>
        <p:spPr>
          <a:xfrm>
            <a:off x="0" y="1199785"/>
            <a:ext cx="7007282" cy="2549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21BA2E-FC99-2C6A-0E6A-5B6D3AE43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529" y="3534595"/>
            <a:ext cx="4251885" cy="32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50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E6B34-F2AD-0D53-F79F-4DDFEC286F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171"/>
          <a:stretch/>
        </p:blipFill>
        <p:spPr>
          <a:xfrm>
            <a:off x="1763688" y="1332250"/>
            <a:ext cx="5947356" cy="479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37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5039E-EF5B-3268-8B34-993CCDA3A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444" y="1363553"/>
            <a:ext cx="5904656" cy="10133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1783DB-AE1A-EB78-3CD5-F3C532432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900" y="2492896"/>
            <a:ext cx="5934398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404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19.5 Kinds of Thermodynamic Processes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855C3-31F5-BA99-9B5D-ADF7731DA5F6}"/>
              </a:ext>
            </a:extLst>
          </p:cNvPr>
          <p:cNvSpPr txBox="1"/>
          <p:nvPr/>
        </p:nvSpPr>
        <p:spPr>
          <a:xfrm>
            <a:off x="1331640" y="1916832"/>
            <a:ext cx="666438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Example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-US" altLang="zh-CN" sz="3200" dirty="0"/>
              <a:t>thermodynamics</a:t>
            </a:r>
            <a:r>
              <a:rPr lang="zh-CN" altLang="en-US" sz="3200" dirty="0"/>
              <a:t> </a:t>
            </a:r>
            <a:r>
              <a:rPr lang="en-US" altLang="zh-CN" sz="3200" dirty="0"/>
              <a:t>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Adiabatic</a:t>
            </a:r>
            <a:r>
              <a:rPr lang="zh-CN" altLang="en-US" sz="3200" dirty="0"/>
              <a:t> </a:t>
            </a:r>
            <a:r>
              <a:rPr lang="en-US" altLang="zh-CN" sz="3200" dirty="0"/>
              <a:t>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Isochoric</a:t>
            </a:r>
            <a:r>
              <a:rPr lang="zh-CN" altLang="en-US" sz="3200" dirty="0"/>
              <a:t> </a:t>
            </a:r>
            <a:r>
              <a:rPr lang="en-US" altLang="zh-CN" sz="3200" dirty="0"/>
              <a:t>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Isobaric</a:t>
            </a:r>
            <a:r>
              <a:rPr lang="zh-CN" altLang="en-US" sz="3200" dirty="0"/>
              <a:t> </a:t>
            </a:r>
            <a:r>
              <a:rPr lang="en-US" altLang="zh-CN" sz="3200" dirty="0"/>
              <a:t>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/>
              <a:t>Isothermal</a:t>
            </a:r>
            <a:r>
              <a:rPr lang="zh-CN" altLang="en-US" sz="3200" dirty="0"/>
              <a:t> </a:t>
            </a:r>
            <a:r>
              <a:rPr lang="en-US" altLang="zh-CN" sz="3200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2760115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19.5 Kinds of Thermodynamic Processes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7AB722-88E4-E98B-DB60-79066B941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89" y="1162270"/>
            <a:ext cx="8465077" cy="2598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0ABD01-B4DA-0552-AB50-9D50F7938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148" y="3726899"/>
            <a:ext cx="3673238" cy="25988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6AAF78-197D-4812-5A99-8A2A45BE83CD}"/>
              </a:ext>
            </a:extLst>
          </p:cNvPr>
          <p:cNvSpPr txBox="1"/>
          <p:nvPr/>
        </p:nvSpPr>
        <p:spPr>
          <a:xfrm>
            <a:off x="6389077" y="5744308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effectLst/>
                <a:latin typeface="Times"/>
              </a:rPr>
              <a:t>Open</a:t>
            </a:r>
            <a:r>
              <a:rPr lang="zh-CN" altLang="en-US" sz="1800" dirty="0">
                <a:effectLst/>
                <a:latin typeface="Times"/>
              </a:rPr>
              <a:t> </a:t>
            </a:r>
            <a:r>
              <a:rPr lang="en-US" altLang="zh-CN" sz="1800" dirty="0">
                <a:effectLst/>
                <a:latin typeface="Times"/>
              </a:rPr>
              <a:t>a</a:t>
            </a:r>
            <a:r>
              <a:rPr lang="zh-CN" altLang="en-US" sz="1800" dirty="0">
                <a:effectLst/>
                <a:latin typeface="Times"/>
              </a:rPr>
              <a:t> </a:t>
            </a:r>
            <a:r>
              <a:rPr lang="en-SG" sz="1800" dirty="0">
                <a:effectLst/>
                <a:latin typeface="Times"/>
              </a:rPr>
              <a:t>champagne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5439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19.5 Kinds of Thermodynamic Processes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C597E7-08CA-80E5-1CD9-4763890FE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86" y="1192073"/>
            <a:ext cx="8929297" cy="20606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839853-2E8C-3D12-984E-AF451452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3306082"/>
            <a:ext cx="3886200" cy="2832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910876-D85E-4218-D98D-58340D6B33EE}"/>
              </a:ext>
            </a:extLst>
          </p:cNvPr>
          <p:cNvSpPr txBox="1"/>
          <p:nvPr/>
        </p:nvSpPr>
        <p:spPr>
          <a:xfrm>
            <a:off x="6372200" y="5550681"/>
            <a:ext cx="1674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Pressure</a:t>
            </a:r>
            <a:r>
              <a:rPr lang="zh-CN" altLang="en-US" dirty="0"/>
              <a:t> </a:t>
            </a:r>
            <a:r>
              <a:rPr lang="en-US" altLang="zh-CN" dirty="0"/>
              <a:t>cooker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778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19.5 Kinds of Thermodynamic Processes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43F6C-34B8-E8FF-5291-56A4448EA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909" y="3468344"/>
            <a:ext cx="3567959" cy="25341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283F7B-810D-946B-BD4D-ECF233BE7BA2}"/>
              </a:ext>
            </a:extLst>
          </p:cNvPr>
          <p:cNvSpPr txBox="1"/>
          <p:nvPr/>
        </p:nvSpPr>
        <p:spPr>
          <a:xfrm>
            <a:off x="6372200" y="5550681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Cooking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77F1C4-737D-FDB6-EA60-79A4EEB1F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60536"/>
            <a:ext cx="9030739" cy="205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51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19.5 Kinds of Thermodynamic Processes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3925E-822B-7170-5ECA-913458350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1200838"/>
            <a:ext cx="8795675" cy="1796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6CE617-FE02-8890-DF53-EDFEEE108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2717852"/>
            <a:ext cx="3528392" cy="345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19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19.6 Internal Energy of an </a:t>
            </a:r>
            <a:r>
              <a:rPr lang="en-SG" dirty="0" err="1">
                <a:effectLst/>
                <a:latin typeface="Helvetica Neue" panose="02000503000000020004" pitchFamily="2" charset="0"/>
              </a:rPr>
              <a:t>ldeal</a:t>
            </a:r>
            <a:r>
              <a:rPr lang="en-SG" dirty="0">
                <a:effectLst/>
                <a:latin typeface="Helvetica Neue" panose="02000503000000020004" pitchFamily="2" charset="0"/>
              </a:rPr>
              <a:t> Gas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A78B16-2B52-674D-7261-BC57EDD2D9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650"/>
          <a:stretch/>
        </p:blipFill>
        <p:spPr>
          <a:xfrm>
            <a:off x="-7782" y="1556792"/>
            <a:ext cx="4660996" cy="3373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E5CE51-601B-41B9-8144-EEC6F700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24" y="5060730"/>
            <a:ext cx="8838352" cy="7053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E0C81C-7593-4134-22C8-7F7C4BCF5B0C}"/>
              </a:ext>
            </a:extLst>
          </p:cNvPr>
          <p:cNvSpPr txBox="1"/>
          <p:nvPr/>
        </p:nvSpPr>
        <p:spPr>
          <a:xfrm>
            <a:off x="4433006" y="2411100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sz="2400" dirty="0">
                <a:effectLst/>
                <a:latin typeface="Times"/>
              </a:rPr>
              <a:t>Many experiments have shown that when a low-density gas undergoes a free expansion, its temperature </a:t>
            </a:r>
            <a:r>
              <a:rPr lang="en-SG" sz="2400" i="1" dirty="0">
                <a:effectLst/>
                <a:latin typeface="Times"/>
              </a:rPr>
              <a:t>does not </a:t>
            </a:r>
            <a:r>
              <a:rPr lang="en-SG" sz="2400" dirty="0">
                <a:effectLst/>
                <a:latin typeface="Times"/>
              </a:rPr>
              <a:t>change.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203462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19.7 Heat Capacities of an Ideal Gas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CACB8-1E96-77DF-3240-53CB0A155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99817"/>
            <a:ext cx="4392488" cy="3308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6A970E-BC7C-A913-22C8-1B5F155DB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512" y="1458035"/>
            <a:ext cx="4392488" cy="3401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FECE99-9A68-E94E-D266-882F7E59A10B}"/>
              </a:ext>
            </a:extLst>
          </p:cNvPr>
          <p:cNvSpPr txBox="1"/>
          <p:nvPr/>
        </p:nvSpPr>
        <p:spPr>
          <a:xfrm>
            <a:off x="938330" y="5432820"/>
            <a:ext cx="7304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>
                <a:effectLst/>
                <a:latin typeface="Times"/>
              </a:rPr>
              <a:t>Measuring the molar heat capacity of an ideal gas </a:t>
            </a:r>
            <a:r>
              <a:rPr lang="en-SG" sz="2400" dirty="0">
                <a:effectLst/>
                <a:latin typeface="Formata"/>
              </a:rPr>
              <a:t>(a) </a:t>
            </a:r>
            <a:r>
              <a:rPr lang="en-SG" sz="2400" dirty="0">
                <a:effectLst/>
                <a:latin typeface="Times"/>
              </a:rPr>
              <a:t>at constant volume and </a:t>
            </a:r>
            <a:r>
              <a:rPr lang="en-SG" sz="2400" dirty="0">
                <a:effectLst/>
                <a:latin typeface="Formata"/>
              </a:rPr>
              <a:t>(b) </a:t>
            </a:r>
            <a:r>
              <a:rPr lang="en-SG" sz="2400" dirty="0">
                <a:effectLst/>
                <a:latin typeface="Times"/>
              </a:rPr>
              <a:t>at constant pressure. 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895741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19.7 Heat Capacities of an Ideal Gas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374241-C5E8-A65C-0B4C-B03A07D15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202767"/>
            <a:ext cx="9135799" cy="38884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997C1C-8F64-5E63-D6E6-756C6E469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5367201"/>
            <a:ext cx="8169635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55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151F9-E92C-A4F5-001B-3E2F71A1E3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14"/>
          <a:stretch/>
        </p:blipFill>
        <p:spPr>
          <a:xfrm>
            <a:off x="612648" y="1236292"/>
            <a:ext cx="5229396" cy="1611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14BD34-3637-616B-C05B-91DCAA8D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23" y="2922800"/>
            <a:ext cx="5623997" cy="1611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80D1EA-1724-D6F2-51B5-246E8072D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10" y="4526106"/>
            <a:ext cx="5514650" cy="161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1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19.8 Adiabatic Processes for an Ideal Gas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3FA1D-0118-7264-F464-51B605E43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0" y="1185776"/>
            <a:ext cx="3580882" cy="37888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44354D-4248-BF13-3E4E-4B045A76E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44" y="4975826"/>
            <a:ext cx="8852955" cy="1338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28046D-6C6C-2494-A6A3-0C90E71060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3265" b="3935"/>
          <a:stretch/>
        </p:blipFill>
        <p:spPr>
          <a:xfrm>
            <a:off x="5263662" y="2413494"/>
            <a:ext cx="2689962" cy="584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D49995-9A17-FA8D-6FF1-6823B27B1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846" y="3314132"/>
            <a:ext cx="2837879" cy="5847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F8A3DE-8AD2-ADAE-FB2D-04E7872D2B28}"/>
              </a:ext>
            </a:extLst>
          </p:cNvPr>
          <p:cNvSpPr txBox="1"/>
          <p:nvPr/>
        </p:nvSpPr>
        <p:spPr>
          <a:xfrm>
            <a:off x="5446753" y="1578996"/>
            <a:ext cx="1637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Ideal</a:t>
            </a:r>
            <a:r>
              <a:rPr lang="zh-CN" altLang="en-US" sz="3200" dirty="0"/>
              <a:t> </a:t>
            </a:r>
            <a:r>
              <a:rPr lang="en-US" altLang="zh-CN" sz="3200" dirty="0"/>
              <a:t>gas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73541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19.8 Adiabatic Processes for an Ideal Gas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FA00DC-E423-4AB5-FB47-AF13D926E3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/>
        </p:blipFill>
        <p:spPr>
          <a:xfrm>
            <a:off x="532742" y="2150732"/>
            <a:ext cx="2082800" cy="365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A843DE-B348-EB32-66D1-5EC8DBC07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86" y="2759185"/>
            <a:ext cx="17145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118FD1-E5A1-24DD-B812-D4255C96E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66" y="1412061"/>
            <a:ext cx="4978400" cy="44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095E44-FD1B-866F-3B7A-82A955023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11838"/>
            <a:ext cx="2933700" cy="685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67B537-1028-7016-2B49-92668A2A3F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218"/>
          <a:stretch/>
        </p:blipFill>
        <p:spPr>
          <a:xfrm>
            <a:off x="395536" y="4276498"/>
            <a:ext cx="3517900" cy="8309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86621B-C22E-CE42-35C5-015E92C5E9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918"/>
          <a:stretch/>
        </p:blipFill>
        <p:spPr>
          <a:xfrm>
            <a:off x="4983868" y="4408632"/>
            <a:ext cx="2286000" cy="47345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2F55277-E6CC-4B0E-7002-6D90272A5051}"/>
              </a:ext>
            </a:extLst>
          </p:cNvPr>
          <p:cNvSpPr txBox="1"/>
          <p:nvPr/>
        </p:nvSpPr>
        <p:spPr>
          <a:xfrm>
            <a:off x="5095170" y="3801625"/>
            <a:ext cx="1771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Diatomic</a:t>
            </a:r>
            <a:r>
              <a:rPr lang="zh-CN" altLang="en-US" sz="2400" dirty="0"/>
              <a:t> </a:t>
            </a:r>
            <a:r>
              <a:rPr lang="en-US" altLang="zh-CN" sz="2400" dirty="0"/>
              <a:t>gas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FCA543-598D-87CC-5653-3913D1DD16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8064" y="5295370"/>
            <a:ext cx="1689100" cy="647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B24AB6-737C-E86D-7E2B-215C332D9C3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7297"/>
          <a:stretch/>
        </p:blipFill>
        <p:spPr>
          <a:xfrm>
            <a:off x="457200" y="5235689"/>
            <a:ext cx="3759200" cy="9418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C1A3FDC-6611-F861-BF15-97E9BEDBCF29}"/>
              </a:ext>
            </a:extLst>
          </p:cNvPr>
          <p:cNvSpPr txBox="1"/>
          <p:nvPr/>
        </p:nvSpPr>
        <p:spPr>
          <a:xfrm>
            <a:off x="5094188" y="4891360"/>
            <a:ext cx="2950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/>
              <a:t>R</a:t>
            </a:r>
            <a:r>
              <a:rPr lang="en-US" altLang="zh-CN" sz="2400" dirty="0" err="1"/>
              <a:t>atio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Heat</a:t>
            </a:r>
            <a:r>
              <a:rPr lang="zh-CN" altLang="en-US" sz="2400" dirty="0"/>
              <a:t> </a:t>
            </a:r>
            <a:r>
              <a:rPr lang="en-US" altLang="zh-CN" sz="2400" dirty="0"/>
              <a:t>Capacity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05192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19.8 Adiabatic Processes for an Ideal Gas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32</a:t>
            </a:fld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AB24AB6-737C-E86D-7E2B-215C332D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97"/>
          <a:stretch/>
        </p:blipFill>
        <p:spPr>
          <a:xfrm>
            <a:off x="2771800" y="1484900"/>
            <a:ext cx="3759200" cy="94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90E8BF-33C8-9339-836E-649F73661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507" y="2561183"/>
            <a:ext cx="4889500" cy="64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92A216-E2AC-22F3-C49C-9173143EF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130" y="4596739"/>
            <a:ext cx="3073400" cy="66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8DC509-631E-42A5-2F3F-A06A9434E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200" y="3496364"/>
            <a:ext cx="3860800" cy="55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B00275-A465-A6C0-539D-0BA2BE9CF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888" y="5257139"/>
            <a:ext cx="2895600" cy="825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78EF80-3D3A-A580-D0BF-0692004086B2}"/>
              </a:ext>
            </a:extLst>
          </p:cNvPr>
          <p:cNvSpPr txBox="1"/>
          <p:nvPr/>
        </p:nvSpPr>
        <p:spPr>
          <a:xfrm>
            <a:off x="847719" y="5142267"/>
            <a:ext cx="2368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Adiabatic</a:t>
            </a:r>
            <a:r>
              <a:rPr lang="zh-CN" altLang="en-US" sz="2400" dirty="0"/>
              <a:t> </a:t>
            </a:r>
            <a:r>
              <a:rPr lang="en-US" altLang="zh-CN" sz="2400" dirty="0"/>
              <a:t>Process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5739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19.8 Adiabatic Processes for an Ideal Gas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90C8E-5A4B-F17D-711B-B43270305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48" y="1237634"/>
            <a:ext cx="8798504" cy="36984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F32496-73A0-B262-9D38-3142721DD645}"/>
              </a:ext>
            </a:extLst>
          </p:cNvPr>
          <p:cNvSpPr txBox="1"/>
          <p:nvPr/>
        </p:nvSpPr>
        <p:spPr>
          <a:xfrm>
            <a:off x="1070400" y="5373216"/>
            <a:ext cx="70031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Expansion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US" altLang="zh-CN" sz="2400" dirty="0"/>
              <a:t>temperature</a:t>
            </a:r>
            <a:r>
              <a:rPr lang="zh-CN" altLang="en-US" sz="2400" dirty="0"/>
              <a:t> </a:t>
            </a:r>
            <a:r>
              <a:rPr lang="en-US" altLang="zh-CN" sz="2400" dirty="0"/>
              <a:t>drop,</a:t>
            </a:r>
            <a:r>
              <a:rPr lang="zh-CN" altLang="en-US" sz="2400" dirty="0"/>
              <a:t> </a:t>
            </a:r>
            <a:r>
              <a:rPr lang="en-US" altLang="zh-CN" sz="2400" dirty="0"/>
              <a:t>work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positive</a:t>
            </a:r>
          </a:p>
          <a:p>
            <a:r>
              <a:rPr lang="en-US" altLang="zh-CN" sz="2400" dirty="0"/>
              <a:t>Compression:</a:t>
            </a:r>
            <a:r>
              <a:rPr lang="zh-CN" altLang="en-US" sz="2400" dirty="0"/>
              <a:t> </a:t>
            </a:r>
            <a:r>
              <a:rPr lang="en-US" altLang="zh-CN" sz="2400" dirty="0"/>
              <a:t>temperature</a:t>
            </a:r>
            <a:r>
              <a:rPr lang="zh-CN" altLang="en-US" sz="2400" dirty="0"/>
              <a:t> </a:t>
            </a:r>
            <a:r>
              <a:rPr lang="en-US" altLang="zh-CN" sz="2400" dirty="0"/>
              <a:t>increases,</a:t>
            </a:r>
            <a:r>
              <a:rPr lang="zh-CN" altLang="en-US" sz="2400" dirty="0"/>
              <a:t> </a:t>
            </a:r>
            <a:r>
              <a:rPr lang="en-US" altLang="zh-CN" sz="2400" dirty="0"/>
              <a:t>work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negative</a:t>
            </a:r>
            <a:r>
              <a:rPr lang="zh-CN" altLang="en-US" sz="2400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1283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5928CA-E608-02F2-300C-4011155268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18"/>
          <a:stretch/>
        </p:blipFill>
        <p:spPr>
          <a:xfrm>
            <a:off x="222447" y="2222389"/>
            <a:ext cx="5645697" cy="2137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8BA2FA-D625-762B-B95F-9A28D47F7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75" y="1401962"/>
            <a:ext cx="7264052" cy="658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71AAA2-F8A8-DAAD-797B-8DD575518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2059985"/>
            <a:ext cx="3447130" cy="288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9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 dirty="0"/>
              <a:t>Thermodynamics III (Ch. 19)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35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71AAA2-F8A8-DAAD-797B-8DD575518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581" y="1975948"/>
            <a:ext cx="3446419" cy="28805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EE1ECD-0D7F-C55D-E973-73D9BEFCE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6" y="1412776"/>
            <a:ext cx="5574763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314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14966</TotalTime>
  <Words>655</Words>
  <Application>Microsoft Macintosh PowerPoint</Application>
  <PresentationFormat>On-screen Show (4:3)</PresentationFormat>
  <Paragraphs>137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Formata</vt:lpstr>
      <vt:lpstr>Times</vt:lpstr>
      <vt:lpstr>Arial</vt:lpstr>
      <vt:lpstr>Bookman Old Style</vt:lpstr>
      <vt:lpstr>Calibri</vt:lpstr>
      <vt:lpstr>Helvetica Neue</vt:lpstr>
      <vt:lpstr>Wingdings</vt:lpstr>
      <vt:lpstr>Wingdings 3</vt:lpstr>
      <vt:lpstr>Origin</vt:lpstr>
      <vt:lpstr>PHYS1001B College Physics IB</vt:lpstr>
      <vt:lpstr>Introduction</vt:lpstr>
      <vt:lpstr>Outline</vt:lpstr>
      <vt:lpstr>19.1 Thermodynamic Systems</vt:lpstr>
      <vt:lpstr>19.2 Work Done During Volume Changes</vt:lpstr>
      <vt:lpstr>19.2 Work Done During Volume Changes</vt:lpstr>
      <vt:lpstr>19.2 Work Done During Volume Changes</vt:lpstr>
      <vt:lpstr>Sample Problem</vt:lpstr>
      <vt:lpstr>19.3 Paths Between Thermodynamic States</vt:lpstr>
      <vt:lpstr>19.3 Paths Between Thermodynamic States</vt:lpstr>
      <vt:lpstr>19.4 Internal Energy and the First Law of Thermodynamics</vt:lpstr>
      <vt:lpstr>19.4 Internal Energy and the First Law of Thermodynamics</vt:lpstr>
      <vt:lpstr>19.4 Internal Energy and the First Law of Thermodynamics</vt:lpstr>
      <vt:lpstr>19.4 Internal Energy and the First Law of Thermodynamics</vt:lpstr>
      <vt:lpstr>19.4 Internal Energy and the First Law of Thermodynamics</vt:lpstr>
      <vt:lpstr>Sample Problem</vt:lpstr>
      <vt:lpstr>Sample Problem</vt:lpstr>
      <vt:lpstr>Sample Problem</vt:lpstr>
      <vt:lpstr>Sample Problem</vt:lpstr>
      <vt:lpstr>Sample Problem</vt:lpstr>
      <vt:lpstr>19.5 Kinds of Thermodynamic Processes </vt:lpstr>
      <vt:lpstr>19.5 Kinds of Thermodynamic Processes </vt:lpstr>
      <vt:lpstr>19.5 Kinds of Thermodynamic Processes </vt:lpstr>
      <vt:lpstr>19.5 Kinds of Thermodynamic Processes </vt:lpstr>
      <vt:lpstr>19.5 Kinds of Thermodynamic Processes </vt:lpstr>
      <vt:lpstr>19.6 Internal Energy of an ldeal Gas</vt:lpstr>
      <vt:lpstr>19.7 Heat Capacities of an Ideal Gas </vt:lpstr>
      <vt:lpstr>19.7 Heat Capacities of an Ideal Gas </vt:lpstr>
      <vt:lpstr>Sample Problem</vt:lpstr>
      <vt:lpstr>19.8 Adiabatic Processes for an Ideal Gas</vt:lpstr>
      <vt:lpstr>19.8 Adiabatic Processes for an Ideal Gas</vt:lpstr>
      <vt:lpstr>19.8 Adiabatic Processes for an Ideal Gas</vt:lpstr>
      <vt:lpstr>19.8 Adiabatic Processes for an Ideal Gas</vt:lpstr>
      <vt:lpstr>Sample Problem</vt:lpstr>
      <vt:lpstr>Sample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tanka tang</cp:lastModifiedBy>
  <cp:revision>278</cp:revision>
  <cp:lastPrinted>2024-09-26T13:51:50Z</cp:lastPrinted>
  <dcterms:created xsi:type="dcterms:W3CDTF">2013-05-27T09:54:43Z</dcterms:created>
  <dcterms:modified xsi:type="dcterms:W3CDTF">2024-10-06T03:05:04Z</dcterms:modified>
</cp:coreProperties>
</file>