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336" r:id="rId3"/>
    <p:sldId id="337" r:id="rId4"/>
    <p:sldId id="257" r:id="rId5"/>
    <p:sldId id="306" r:id="rId6"/>
    <p:sldId id="315" r:id="rId7"/>
    <p:sldId id="314" r:id="rId8"/>
    <p:sldId id="338" r:id="rId9"/>
    <p:sldId id="339" r:id="rId10"/>
    <p:sldId id="316" r:id="rId11"/>
    <p:sldId id="317" r:id="rId12"/>
    <p:sldId id="318" r:id="rId13"/>
    <p:sldId id="319" r:id="rId14"/>
    <p:sldId id="340" r:id="rId1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45"/>
  </p:normalViewPr>
  <p:slideViewPr>
    <p:cSldViewPr>
      <p:cViewPr varScale="1">
        <p:scale>
          <a:sx n="109" d="100"/>
          <a:sy n="109" d="100"/>
        </p:scale>
        <p:origin x="16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AA16D03-D235-4816-A60A-290C0630A47B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C7D4A74-6C7F-4752-B49D-9BACC919F9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9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3888" y="6356350"/>
            <a:ext cx="5125960" cy="365760"/>
          </a:xfrm>
        </p:spPr>
        <p:txBody>
          <a:bodyPr/>
          <a:lstStyle>
            <a:lvl1pPr algn="r">
              <a:defRPr/>
            </a:lvl1pPr>
          </a:lstStyle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093787-08EC-4113-8521-0E445B8625BD}" type="slidenum">
              <a:rPr lang="en-GB" smtClean="0"/>
              <a:t>‹#›</a:t>
            </a:fld>
            <a:endParaRPr lang="en-GB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PHYS1001B</a:t>
            </a:r>
            <a:r>
              <a:rPr lang="en-GB" dirty="0"/>
              <a:t> </a:t>
            </a:r>
            <a:r>
              <a:rPr lang="en-US" altLang="zh-CN" dirty="0"/>
              <a:t>College</a:t>
            </a:r>
            <a:r>
              <a:rPr lang="zh-CN" altLang="en-US" dirty="0"/>
              <a:t> </a:t>
            </a:r>
            <a:r>
              <a:rPr lang="en-GB" dirty="0"/>
              <a:t>Physics I</a:t>
            </a:r>
            <a:r>
              <a:rPr lang="en-US" altLang="zh-CN"/>
              <a:t>B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025208" cy="533400"/>
          </a:xfrm>
        </p:spPr>
        <p:txBody>
          <a:bodyPr>
            <a:normAutofit/>
          </a:bodyPr>
          <a:lstStyle/>
          <a:p>
            <a:r>
              <a:rPr lang="fr-FR" dirty="0"/>
              <a:t>Modern</a:t>
            </a:r>
            <a:r>
              <a:rPr lang="zh-CN" altLang="en-US" dirty="0"/>
              <a:t> </a:t>
            </a:r>
            <a:r>
              <a:rPr lang="en-US" altLang="zh-CN" dirty="0"/>
              <a:t>Physics</a:t>
            </a:r>
            <a:r>
              <a:rPr lang="zh-CN" altLang="en-US" dirty="0"/>
              <a:t> </a:t>
            </a:r>
            <a:r>
              <a:rPr lang="en-US" altLang="zh-CN" dirty="0"/>
              <a:t>II</a:t>
            </a:r>
            <a:r>
              <a:rPr lang="fr-FR" dirty="0"/>
              <a:t>I</a:t>
            </a:r>
            <a:r>
              <a:rPr lang="zh-CN" altLang="en-US" dirty="0"/>
              <a:t> </a:t>
            </a:r>
            <a:r>
              <a:rPr lang="en-SG" altLang="zh-CN" dirty="0"/>
              <a:t>QUANTUM MECHANICS </a:t>
            </a:r>
            <a:r>
              <a:rPr lang="fr-FR" dirty="0"/>
              <a:t>(Ch. </a:t>
            </a:r>
            <a:r>
              <a:rPr lang="en-US" altLang="zh-CN" dirty="0"/>
              <a:t>40</a:t>
            </a:r>
            <a:r>
              <a:rPr lang="fr-FR" dirty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01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540E-BD6D-99FD-C54B-97FD375FA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AF01-578A-2B57-5F5C-88EB4F95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FE0ED-5303-E9E8-EA1D-61D83CBC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D41D2-9D53-9495-CBA4-84A14A75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ACC17-31A0-DE5D-A9D7-97E63824B24F}"/>
              </a:ext>
            </a:extLst>
          </p:cNvPr>
          <p:cNvSpPr txBox="1"/>
          <p:nvPr/>
        </p:nvSpPr>
        <p:spPr>
          <a:xfrm>
            <a:off x="1187624" y="1772816"/>
            <a:ext cx="290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Quantum mechanics?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B8110-B4B3-ED33-107E-E90B403D2045}"/>
              </a:ext>
            </a:extLst>
          </p:cNvPr>
          <p:cNvSpPr txBox="1"/>
          <p:nvPr/>
        </p:nvSpPr>
        <p:spPr>
          <a:xfrm>
            <a:off x="2046228" y="2559192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Particle-wave duality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F6C6A-B95E-8DB0-C4A2-441EC23654FD}"/>
              </a:ext>
            </a:extLst>
          </p:cNvPr>
          <p:cNvSpPr txBox="1"/>
          <p:nvPr/>
        </p:nvSpPr>
        <p:spPr>
          <a:xfrm>
            <a:off x="2046228" y="3288009"/>
            <a:ext cx="5456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Uncertainty principle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Planck</a:t>
            </a:r>
            <a:r>
              <a:rPr lang="zh-CN" altLang="en-US" sz="2400" dirty="0"/>
              <a:t> </a:t>
            </a:r>
            <a:r>
              <a:rPr lang="en-US" altLang="zh-CN" sz="2400" dirty="0"/>
              <a:t>constant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A7545-8064-71CF-1AAE-F359437DCBCB}"/>
              </a:ext>
            </a:extLst>
          </p:cNvPr>
          <p:cNvSpPr txBox="1"/>
          <p:nvPr/>
        </p:nvSpPr>
        <p:spPr>
          <a:xfrm>
            <a:off x="2046228" y="3996106"/>
            <a:ext cx="5034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Quantized </a:t>
            </a:r>
            <a:r>
              <a:rPr lang="en-US" altLang="zh-CN" sz="2400" dirty="0"/>
              <a:t>energy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Planck</a:t>
            </a:r>
            <a:r>
              <a:rPr lang="zh-CN" altLang="en-US" sz="2400" dirty="0"/>
              <a:t> </a:t>
            </a:r>
            <a:r>
              <a:rPr lang="en-US" altLang="zh-CN" sz="2400" dirty="0"/>
              <a:t>constant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61CDD-8F0F-6C5D-A03F-BBFBA591A785}"/>
              </a:ext>
            </a:extLst>
          </p:cNvPr>
          <p:cNvSpPr txBox="1"/>
          <p:nvPr/>
        </p:nvSpPr>
        <p:spPr>
          <a:xfrm>
            <a:off x="4541342" y="1733119"/>
            <a:ext cx="2337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Microscopic</a:t>
            </a:r>
            <a:r>
              <a:rPr lang="zh-CN" altLang="en-US" sz="2400" dirty="0"/>
              <a:t> </a:t>
            </a:r>
            <a:r>
              <a:rPr lang="en-US" altLang="zh-CN" sz="2400" dirty="0"/>
              <a:t>level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777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2B9C-1838-D1AE-DE40-5F66D2E5B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4A3A-8071-FB50-1F10-723F72F7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3C9FE-07E9-201A-F604-4848FD22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ED440-8695-4EFD-E62A-C8DAEC8C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3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D7D10B-432E-49A9-5D64-284B69903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8" y="2348880"/>
            <a:ext cx="4318610" cy="25765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E8D202-554F-EAB1-8839-A3A3BC01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215322"/>
            <a:ext cx="3528392" cy="50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4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07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C7EDA-6003-7F36-94E8-AF0368C9E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00"/>
          <a:stretch/>
        </p:blipFill>
        <p:spPr>
          <a:xfrm>
            <a:off x="359165" y="2379900"/>
            <a:ext cx="8665885" cy="1049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ADE7FB-D058-F031-5BF8-D9804D050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85" y="3593202"/>
            <a:ext cx="8317715" cy="830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D7DE7-385F-4C8D-1EDD-AD0BAE188BBD}"/>
              </a:ext>
            </a:extLst>
          </p:cNvPr>
          <p:cNvSpPr txBox="1"/>
          <p:nvPr/>
        </p:nvSpPr>
        <p:spPr>
          <a:xfrm>
            <a:off x="369085" y="1572425"/>
            <a:ext cx="2691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Wave</a:t>
            </a:r>
            <a:r>
              <a:rPr lang="zh-CN" altLang="en-US" sz="3200" dirty="0"/>
              <a:t> </a:t>
            </a:r>
            <a:r>
              <a:rPr lang="en-US" altLang="zh-CN" sz="3200" dirty="0"/>
              <a:t>equation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755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6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A53BB-7DD7-B206-375F-1B9A4DF05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21" y="1201455"/>
            <a:ext cx="8026774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E65220-5C47-46E4-5FAA-FFD1A2235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96" y="2215474"/>
            <a:ext cx="8829042" cy="1193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5085-64A2-FE39-F2F0-8DBD0D376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440" y="3428786"/>
            <a:ext cx="4444968" cy="5844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8FA6E4-3BD8-CFBC-1F8A-B14F41253D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/>
        </p:blipFill>
        <p:spPr>
          <a:xfrm>
            <a:off x="0" y="4162538"/>
            <a:ext cx="4444967" cy="1907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2D0A1-751A-3A43-299F-E524452F9F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664"/>
          <a:stretch/>
        </p:blipFill>
        <p:spPr>
          <a:xfrm>
            <a:off x="4644008" y="4097566"/>
            <a:ext cx="4248472" cy="187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0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9AAE9-D745-BEB4-CFAB-C31A3EF2E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137266"/>
            <a:ext cx="7910442" cy="8789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CC6F81-07F7-B864-5DA6-3059C77A1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55" y="3176314"/>
            <a:ext cx="7972625" cy="19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2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8195-F496-FFD0-389A-D3734E26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295F-DCA5-A8F9-B77D-17301AFA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253DA-7931-EDDC-177B-20ABFA8B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EE45A-23A6-BD80-F1EE-8799BA92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21C6E4-4329-BF68-A56D-D3813E272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616408" cy="2520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DD09A4-4AF1-41ED-2DDB-8E61C840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695072"/>
            <a:ext cx="5605382" cy="18288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724C93-3D02-A0EF-B60B-DD5D58EC9F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1812"/>
          <a:stretch/>
        </p:blipFill>
        <p:spPr>
          <a:xfrm>
            <a:off x="672326" y="5715000"/>
            <a:ext cx="5904656" cy="53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4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779B-6567-11A4-B38E-C786757E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CC6FF-A0BF-4E28-0C4B-6E01CC23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EE54A-0369-ECE1-6F87-1A25A13B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E358F-A438-CDE5-D4D3-D6DF9B9B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1BA8DC-D0FF-8FB7-E3BE-E4503DE7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268759"/>
            <a:ext cx="5832648" cy="49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0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10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BD4F16-1C33-3BDC-6288-EEB1A195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65" y="1844824"/>
            <a:ext cx="7559070" cy="3545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094D25-8F16-8874-175D-B40B599F078C}"/>
              </a:ext>
            </a:extLst>
          </p:cNvPr>
          <p:cNvSpPr txBox="1"/>
          <p:nvPr/>
        </p:nvSpPr>
        <p:spPr>
          <a:xfrm>
            <a:off x="4774370" y="1691516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21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B1701-E855-FEC5-129D-631BC91A6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7" y="2052428"/>
            <a:ext cx="4064000" cy="267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659FA-1A2C-2715-53A2-979BF4FE0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910" y="2035949"/>
            <a:ext cx="4241800" cy="25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DA815-401E-D674-B5E1-061BED301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187" y="4269557"/>
            <a:ext cx="2996470" cy="19368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151B49-0316-F6E5-AA8F-6C1FF5B2F10A}"/>
              </a:ext>
            </a:extLst>
          </p:cNvPr>
          <p:cNvSpPr txBox="1"/>
          <p:nvPr/>
        </p:nvSpPr>
        <p:spPr>
          <a:xfrm>
            <a:off x="307848" y="1401113"/>
            <a:ext cx="7792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Times"/>
              </a:rPr>
              <a:t>Wave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US" altLang="zh-CN" sz="2400" dirty="0">
                <a:effectLst/>
                <a:latin typeface="Times"/>
              </a:rPr>
              <a:t>packet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US" altLang="zh-CN" sz="2400" dirty="0">
                <a:effectLst/>
                <a:latin typeface="Times"/>
              </a:rPr>
              <a:t>/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SG" sz="2400" dirty="0">
                <a:effectLst/>
                <a:latin typeface="Times"/>
              </a:rPr>
              <a:t>wave pulse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US" altLang="zh-CN" sz="2400" dirty="0">
                <a:effectLst/>
                <a:latin typeface="Times"/>
              </a:rPr>
              <a:t>with</a:t>
            </a:r>
            <a:r>
              <a:rPr lang="zh-CN" altLang="en-US" sz="2400" dirty="0">
                <a:effectLst/>
                <a:latin typeface="Times"/>
              </a:rPr>
              <a:t> </a:t>
            </a:r>
            <a:r>
              <a:rPr lang="en-US" altLang="zh-CN" sz="2400" dirty="0">
                <a:latin typeface="Times"/>
              </a:rPr>
              <a:t>wavelength</a:t>
            </a:r>
            <a:r>
              <a:rPr lang="zh-CN" altLang="en-US" sz="2400" dirty="0">
                <a:latin typeface="Times"/>
              </a:rPr>
              <a:t> </a:t>
            </a:r>
            <a:endParaRPr lang="en-SG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CDDE86-387C-89BE-172E-B50111939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128" y="1431970"/>
            <a:ext cx="2130092" cy="40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3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D0D23-E960-1233-0143-3771A60CC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43805"/>
            <a:ext cx="7315200" cy="96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E912A8-C048-994A-E481-41B6F0880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935" y="3637846"/>
            <a:ext cx="61849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5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>
                <a:effectLst/>
                <a:latin typeface="Helvetica Neue" panose="02000503000000020004" pitchFamily="2" charset="0"/>
              </a:rPr>
              <a:t>40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-</a:t>
            </a:r>
            <a:r>
              <a:rPr lang="en-SG" dirty="0">
                <a:effectLst/>
                <a:latin typeface="Helvetica Neue" panose="02000503000000020004" pitchFamily="2" charset="0"/>
              </a:rPr>
              <a:t>1 Wave Functions and the One-Dimensional Schrodinger Equation 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912A8-C048-994A-E481-41B6F088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81" y="1394693"/>
            <a:ext cx="6184900" cy="6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C9FFFD-F0B7-A48A-0210-7F53854ED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236526"/>
            <a:ext cx="6705600" cy="77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D956A4-E10E-98F4-1231-0581AE545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681" y="2095417"/>
            <a:ext cx="6464300" cy="1041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8F66ED-2432-23C2-159A-50DE8B9E6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681" y="3538971"/>
            <a:ext cx="69723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9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5FDE-36D0-7C98-1657-D8BE9A0A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phenomena resulted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ADB98-D81A-1F0F-F006-0225C556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G" altLang="zh-TW"/>
              <a:t>Modern Physics III (Ch. 40)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B86B6-2705-378B-6DE8-13596E1C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93787-08EC-4113-8521-0E445B8625BD}" type="slidenum">
              <a:rPr lang="en-GB" smtClean="0"/>
              <a:t>14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A89CD4-7F6F-E678-A61B-E25F40D1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533" y="3068960"/>
            <a:ext cx="5777064" cy="2524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4E5FDB-B308-EF3F-48FF-E60108512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24" y="1905544"/>
            <a:ext cx="3223264" cy="42729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06412A-58FB-EC17-7238-0BF6322B426F}"/>
              </a:ext>
            </a:extLst>
          </p:cNvPr>
          <p:cNvSpPr txBox="1"/>
          <p:nvPr/>
        </p:nvSpPr>
        <p:spPr>
          <a:xfrm>
            <a:off x="585899" y="1354948"/>
            <a:ext cx="6310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Barrier and tunneling (unlike classical mechanics)</a:t>
            </a:r>
          </a:p>
        </p:txBody>
      </p:sp>
    </p:spTree>
    <p:extLst>
      <p:ext uri="{BB962C8B-B14F-4D97-AF65-F5344CB8AC3E}">
        <p14:creationId xmlns:p14="http://schemas.microsoft.com/office/powerpoint/2010/main" val="3085617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自訂 1">
      <a:majorFont>
        <a:latin typeface="Bookman Old Style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10327</TotalTime>
  <Words>242</Words>
  <Application>Microsoft Macintosh PowerPoint</Application>
  <PresentationFormat>On-screen Show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Times</vt:lpstr>
      <vt:lpstr>Bookman Old Style</vt:lpstr>
      <vt:lpstr>Calibri</vt:lpstr>
      <vt:lpstr>Helvetica Neue</vt:lpstr>
      <vt:lpstr>Wingdings</vt:lpstr>
      <vt:lpstr>Wingdings 3</vt:lpstr>
      <vt:lpstr>Origin</vt:lpstr>
      <vt:lpstr>PHYS1001B College Physics IB</vt:lpstr>
      <vt:lpstr>Introduction</vt:lpstr>
      <vt:lpstr>Introduction</vt:lpstr>
      <vt:lpstr>Outline</vt:lpstr>
      <vt:lpstr>40-1 Wave Functions and the One-Dimensional Schrodinger Equation </vt:lpstr>
      <vt:lpstr>40-1 Wave Functions and the One-Dimensional Schrodinger Equation </vt:lpstr>
      <vt:lpstr>Sample Problem</vt:lpstr>
      <vt:lpstr>Sample Problem</vt:lpstr>
      <vt:lpstr>Sample Problem</vt:lpstr>
      <vt:lpstr>Sample Problem</vt:lpstr>
      <vt:lpstr>40-1 Wave Functions and the One-Dimensional Schrodinger Equation </vt:lpstr>
      <vt:lpstr>40-1 Wave Functions and the One-Dimensional Schrodinger Equation </vt:lpstr>
      <vt:lpstr>40-1 Wave Functions and the One-Dimensional Schrodinger Equation </vt:lpstr>
      <vt:lpstr>Interesting phenomena resulted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CCN1049 Physics I</dc:title>
  <dc:creator>Hing-tung Mok [HKCC]</dc:creator>
  <cp:lastModifiedBy>tanka tang</cp:lastModifiedBy>
  <cp:revision>287</cp:revision>
  <cp:lastPrinted>2019-08-29T04:50:17Z</cp:lastPrinted>
  <dcterms:created xsi:type="dcterms:W3CDTF">2013-05-27T09:54:43Z</dcterms:created>
  <dcterms:modified xsi:type="dcterms:W3CDTF">2025-12-15T03:37:24Z</dcterms:modified>
</cp:coreProperties>
</file>