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3"/>
  </p:notesMasterIdLst>
  <p:sldIdLst>
    <p:sldId id="256" r:id="rId2"/>
    <p:sldId id="264" r:id="rId3"/>
    <p:sldId id="316" r:id="rId4"/>
    <p:sldId id="257" r:id="rId5"/>
    <p:sldId id="285" r:id="rId6"/>
    <p:sldId id="315" r:id="rId7"/>
    <p:sldId id="317" r:id="rId8"/>
    <p:sldId id="318" r:id="rId9"/>
    <p:sldId id="319" r:id="rId10"/>
    <p:sldId id="320" r:id="rId11"/>
    <p:sldId id="321" r:id="rId12"/>
    <p:sldId id="322" r:id="rId13"/>
    <p:sldId id="287" r:id="rId14"/>
    <p:sldId id="296" r:id="rId15"/>
    <p:sldId id="297" r:id="rId16"/>
    <p:sldId id="288" r:id="rId17"/>
    <p:sldId id="298" r:id="rId18"/>
    <p:sldId id="299" r:id="rId19"/>
    <p:sldId id="300" r:id="rId20"/>
    <p:sldId id="314" r:id="rId21"/>
    <p:sldId id="323" r:id="rId22"/>
    <p:sldId id="324" r:id="rId23"/>
    <p:sldId id="291" r:id="rId24"/>
    <p:sldId id="325" r:id="rId25"/>
    <p:sldId id="326" r:id="rId26"/>
    <p:sldId id="327" r:id="rId27"/>
    <p:sldId id="328" r:id="rId28"/>
    <p:sldId id="329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06" r:id="rId38"/>
    <p:sldId id="339" r:id="rId39"/>
    <p:sldId id="292" r:id="rId40"/>
    <p:sldId id="302" r:id="rId41"/>
    <p:sldId id="301" r:id="rId42"/>
    <p:sldId id="294" r:id="rId43"/>
    <p:sldId id="304" r:id="rId44"/>
    <p:sldId id="305" r:id="rId45"/>
    <p:sldId id="308" r:id="rId46"/>
    <p:sldId id="295" r:id="rId47"/>
    <p:sldId id="309" r:id="rId48"/>
    <p:sldId id="340" r:id="rId49"/>
    <p:sldId id="342" r:id="rId50"/>
    <p:sldId id="310" r:id="rId51"/>
    <p:sldId id="341" r:id="rId5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70"/>
    <p:restoredTop sz="94725"/>
  </p:normalViewPr>
  <p:slideViewPr>
    <p:cSldViewPr>
      <p:cViewPr varScale="1">
        <p:scale>
          <a:sx n="109" d="100"/>
          <a:sy n="109" d="100"/>
        </p:scale>
        <p:origin x="20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199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 dirty="0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Waves I</a:t>
            </a:r>
            <a:r>
              <a:rPr lang="zh-CN" altLang="en-US" dirty="0"/>
              <a:t> </a:t>
            </a:r>
            <a:r>
              <a:rPr lang="fr-FR"/>
              <a:t>— </a:t>
            </a:r>
            <a:r>
              <a:rPr lang="da-DK"/>
              <a:t>Mechanical</a:t>
            </a:r>
            <a:r>
              <a:rPr lang="da-DK" dirty="0"/>
              <a:t> </a:t>
            </a:r>
            <a:r>
              <a:rPr lang="da-DK" dirty="0" err="1"/>
              <a:t>Waves</a:t>
            </a:r>
            <a:r>
              <a:rPr lang="zh-CN" altLang="en-US" dirty="0"/>
              <a:t> </a:t>
            </a:r>
            <a:r>
              <a:rPr lang="da-DK" dirty="0"/>
              <a:t>(Ch. </a:t>
            </a:r>
            <a:r>
              <a:rPr lang="en-US" altLang="zh-CN" dirty="0"/>
              <a:t>15</a:t>
            </a:r>
            <a:r>
              <a:rPr lang="da-DK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chapter focuses on </a:t>
            </a:r>
            <a:r>
              <a:rPr lang="en-GB" i="1" u="sng" dirty="0"/>
              <a:t>waves travelling along a stretched string</a:t>
            </a:r>
            <a:r>
              <a:rPr lang="en-GB" dirty="0"/>
              <a:t>, such as on a guitar</a:t>
            </a:r>
          </a:p>
          <a:p>
            <a:endParaRPr lang="en-GB" dirty="0"/>
          </a:p>
          <a:p>
            <a:r>
              <a:rPr lang="en-GB" dirty="0"/>
              <a:t>The next chapter focuses on </a:t>
            </a:r>
            <a:r>
              <a:rPr lang="en-GB" i="1" u="sng" dirty="0"/>
              <a:t>sound waves</a:t>
            </a:r>
            <a:r>
              <a:rPr lang="en-GB" dirty="0"/>
              <a:t>, such as those produced by a guitar string being played</a:t>
            </a:r>
          </a:p>
          <a:p>
            <a:endParaRPr lang="en-GB" dirty="0"/>
          </a:p>
          <a:p>
            <a:r>
              <a:rPr lang="en-GB" dirty="0"/>
              <a:t>Before we do all this, though, our first job is to classify the countless waves of the everyday world into basic types</a:t>
            </a:r>
          </a:p>
        </p:txBody>
      </p:sp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E6D14-B4F9-1A1A-79BA-B2EEA90F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E377-DB3C-73EA-7C9C-318CAF9B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4A2F15-AF73-312F-A7AA-64FB8BC0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00872"/>
            <a:ext cx="3452683" cy="29962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349B57-8C87-1F8D-CC43-7A71355CC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04120"/>
            <a:ext cx="3452683" cy="25766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9CC269-918E-0369-37B2-064C5DA6E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3429000"/>
            <a:ext cx="4554977" cy="25955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7D65CB-C2C9-8386-BAB3-B922F17D3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30" y="3118659"/>
            <a:ext cx="3214819" cy="317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5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115" y="0"/>
            <a:ext cx="8229600" cy="990600"/>
          </a:xfrm>
        </p:spPr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-1 </a:t>
            </a:r>
            <a:r>
              <a:rPr lang="en-US" altLang="zh-CN" dirty="0"/>
              <a:t>Types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GB" dirty="0"/>
              <a:t>Transverse Waves</a:t>
            </a:r>
          </a:p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-2 </a:t>
            </a:r>
            <a:r>
              <a:rPr lang="en-US" altLang="zh-CN" dirty="0"/>
              <a:t>Periodic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endParaRPr lang="en-GB" dirty="0"/>
          </a:p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3</a:t>
            </a:r>
            <a:r>
              <a:rPr lang="en-GB" dirty="0"/>
              <a:t> </a:t>
            </a:r>
            <a:r>
              <a:rPr lang="en-US" altLang="zh-CN" dirty="0"/>
              <a:t>Mathematical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endParaRPr lang="en-GB" dirty="0"/>
          </a:p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4</a:t>
            </a:r>
            <a:r>
              <a:rPr lang="en-GB" dirty="0"/>
              <a:t>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Transverse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</a:p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6</a:t>
            </a:r>
            <a:r>
              <a:rPr lang="en-GB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Interference,</a:t>
            </a:r>
            <a:r>
              <a:rPr lang="zh-CN" altLang="en-US" dirty="0"/>
              <a:t> </a:t>
            </a:r>
            <a:r>
              <a:rPr lang="en-US" altLang="zh-CN" dirty="0"/>
              <a:t>Boundary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Superposition</a:t>
            </a:r>
            <a:endParaRPr lang="en-GB" dirty="0"/>
          </a:p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7</a:t>
            </a:r>
            <a:r>
              <a:rPr lang="en-GB" dirty="0"/>
              <a:t> </a:t>
            </a:r>
            <a:r>
              <a:rPr lang="en-US" altLang="zh-CN" dirty="0"/>
              <a:t>Standing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endParaRPr lang="en-GB" dirty="0"/>
          </a:p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8</a:t>
            </a:r>
            <a:r>
              <a:rPr lang="en-GB" dirty="0"/>
              <a:t> </a:t>
            </a:r>
            <a:r>
              <a:rPr lang="en-US" altLang="zh-CN" dirty="0"/>
              <a:t>Normal</a:t>
            </a:r>
            <a:r>
              <a:rPr lang="zh-CN" altLang="en-US" dirty="0"/>
              <a:t> </a:t>
            </a:r>
            <a:r>
              <a:rPr lang="en-US" altLang="zh-CN" dirty="0"/>
              <a:t>Modes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</a:p>
          <a:p>
            <a:endParaRPr lang="en-US" altLang="zh-C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-1 Transverse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Mechanical waves (</a:t>
            </a:r>
            <a:r>
              <a:rPr lang="zh-TW" altLang="en-US" dirty="0"/>
              <a:t>機械波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are governed by Newton’s laws, and exist only within a material </a:t>
            </a:r>
            <a:r>
              <a:rPr lang="en-GB" i="1" u="sng" dirty="0"/>
              <a:t>medium</a:t>
            </a:r>
          </a:p>
          <a:p>
            <a:pPr lvl="1"/>
            <a:r>
              <a:rPr lang="en-GB" dirty="0"/>
              <a:t>Examples include </a:t>
            </a:r>
            <a:r>
              <a:rPr lang="en-GB" i="1" u="sng" dirty="0"/>
              <a:t>water waves</a:t>
            </a:r>
            <a:r>
              <a:rPr lang="en-GB" dirty="0"/>
              <a:t>, </a:t>
            </a:r>
            <a:r>
              <a:rPr lang="en-GB" i="1" u="sng" dirty="0"/>
              <a:t>sound waves</a:t>
            </a:r>
            <a:r>
              <a:rPr lang="en-GB" dirty="0"/>
              <a:t>, and seismic waves</a:t>
            </a:r>
          </a:p>
          <a:p>
            <a:pPr lvl="1"/>
            <a:endParaRPr lang="en-GB" dirty="0"/>
          </a:p>
          <a:p>
            <a:r>
              <a:rPr lang="en-GB" dirty="0"/>
              <a:t>Electromagnetic waves (</a:t>
            </a:r>
            <a:r>
              <a:rPr lang="zh-TW" altLang="en-US" dirty="0"/>
              <a:t>電磁波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require </a:t>
            </a:r>
            <a:r>
              <a:rPr lang="en-GB" i="1" u="sng" dirty="0"/>
              <a:t>no material medium</a:t>
            </a:r>
            <a:r>
              <a:rPr lang="en-GB" dirty="0"/>
              <a:t> to exist</a:t>
            </a:r>
          </a:p>
          <a:p>
            <a:pPr lvl="1"/>
            <a:r>
              <a:rPr lang="en-GB" dirty="0"/>
              <a:t>Examples include visible and ultraviolet </a:t>
            </a:r>
            <a:r>
              <a:rPr lang="en-GB" i="1" u="sng" dirty="0"/>
              <a:t>light</a:t>
            </a:r>
            <a:r>
              <a:rPr lang="en-GB" dirty="0"/>
              <a:t>, radio and television waves, microwaves, x rays, and radar waves</a:t>
            </a:r>
          </a:p>
          <a:p>
            <a:pPr lvl="1"/>
            <a:endParaRPr lang="en-GB" dirty="0"/>
          </a:p>
          <a:p>
            <a:r>
              <a:rPr lang="en-GB" dirty="0"/>
              <a:t>Matter waves (</a:t>
            </a:r>
            <a:r>
              <a:rPr lang="zh-TW" altLang="en-US" dirty="0"/>
              <a:t>物質波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are associated with electrons, protons, and other fundamental particles, and even atoms and molecules</a:t>
            </a:r>
          </a:p>
        </p:txBody>
      </p:sp>
    </p:spTree>
    <p:extLst>
      <p:ext uri="{BB962C8B-B14F-4D97-AF65-F5344CB8AC3E}">
        <p14:creationId xmlns:p14="http://schemas.microsoft.com/office/powerpoint/2010/main" val="1507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-1 Transverse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34136"/>
          </a:xfrm>
        </p:spPr>
        <p:txBody>
          <a:bodyPr>
            <a:normAutofit/>
          </a:bodyPr>
          <a:lstStyle/>
          <a:p>
            <a:r>
              <a:rPr lang="en-GB" dirty="0"/>
              <a:t>Transverse wave (</a:t>
            </a:r>
            <a:r>
              <a:rPr lang="zh-TW" altLang="en-US" dirty="0"/>
              <a:t>橫波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the displacement of every such oscillating element along the wave is </a:t>
            </a:r>
            <a:r>
              <a:rPr lang="en-GB" i="1" u="sng" dirty="0"/>
              <a:t>perpendicular</a:t>
            </a:r>
            <a:r>
              <a:rPr lang="en-GB" dirty="0"/>
              <a:t> to the direction </a:t>
            </a:r>
            <a:br>
              <a:rPr lang="en-GB" dirty="0"/>
            </a:br>
            <a:r>
              <a:rPr lang="en-GB" dirty="0"/>
              <a:t>of travel of the wave</a:t>
            </a:r>
          </a:p>
          <a:p>
            <a:pPr lvl="2"/>
            <a:r>
              <a:rPr lang="en-US" dirty="0"/>
              <a:t>e.g. string waves, water waves</a:t>
            </a:r>
            <a:endParaRPr lang="en-GB" dirty="0"/>
          </a:p>
          <a:p>
            <a:endParaRPr lang="en-US" dirty="0"/>
          </a:p>
          <a:p>
            <a:r>
              <a:rPr lang="en-GB" dirty="0"/>
              <a:t>Longitudinal wave (</a:t>
            </a:r>
            <a:r>
              <a:rPr lang="zh-TW" altLang="en-US" dirty="0"/>
              <a:t>縱波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the motion of the oscillating particles is </a:t>
            </a:r>
            <a:r>
              <a:rPr lang="en-GB" i="1" u="sng" dirty="0"/>
              <a:t>parallel</a:t>
            </a:r>
            <a:r>
              <a:rPr lang="en-GB" dirty="0"/>
              <a:t> to the direction of the wave’s travel</a:t>
            </a:r>
          </a:p>
          <a:p>
            <a:pPr lvl="2"/>
            <a:r>
              <a:rPr lang="en-US" dirty="0"/>
              <a:t>e.g. sound waves</a:t>
            </a:r>
          </a:p>
          <a:p>
            <a:endParaRPr lang="en-US" dirty="0"/>
          </a:p>
          <a:p>
            <a:endParaRPr lang="en-US" dirty="0"/>
          </a:p>
          <a:p>
            <a:pPr lvl="2"/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450" y="2197850"/>
            <a:ext cx="2361081" cy="17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947" y="4660150"/>
            <a:ext cx="2427310" cy="16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644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-1 Transverse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E5C41B-33B4-A38F-459A-3DBEB434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6" y="1186738"/>
            <a:ext cx="9043274" cy="4413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A9DAA6-6E58-4312-DB2D-F51186E8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99" y="5551248"/>
            <a:ext cx="8922769" cy="71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9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-1 Transverse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18D43-5296-E7F3-CFD9-AACB5122B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2" y="1623079"/>
            <a:ext cx="3914511" cy="4173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C28F2A-656E-4C9A-5C97-BD06DA5BD4ED}"/>
              </a:ext>
            </a:extLst>
          </p:cNvPr>
          <p:cNvSpPr txBox="1"/>
          <p:nvPr/>
        </p:nvSpPr>
        <p:spPr>
          <a:xfrm>
            <a:off x="4937375" y="3140968"/>
            <a:ext cx="38161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i="1" dirty="0">
                <a:effectLst/>
                <a:latin typeface="Times" pitchFamily="2" charset="0"/>
              </a:rPr>
              <a:t>Waves transport energy, but not matter, from one region to another </a:t>
            </a:r>
            <a:endParaRPr lang="en-SG" sz="2800" dirty="0"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47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FBB3-41BD-8B9D-0821-F6F2DDC1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2</a:t>
            </a:r>
            <a:r>
              <a:rPr lang="en-GB" altLang="zh-HK" dirty="0"/>
              <a:t> </a:t>
            </a:r>
            <a:r>
              <a:rPr lang="en-US" altLang="zh-CN" dirty="0"/>
              <a:t>Periodic</a:t>
            </a:r>
            <a:r>
              <a:rPr lang="en-GB" altLang="zh-HK" dirty="0"/>
              <a:t> Waves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AD24B-CF1C-1801-36A9-4517AB2A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A3787-6D99-B6E1-872C-EE9248EF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6FD47-E8F5-6754-7FA6-28D431A4D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000"/>
          <a:stretch/>
        </p:blipFill>
        <p:spPr>
          <a:xfrm>
            <a:off x="685800" y="3150369"/>
            <a:ext cx="7772400" cy="28264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A0ED08-F22F-17CA-CF56-4DB3E1AD852F}"/>
              </a:ext>
            </a:extLst>
          </p:cNvPr>
          <p:cNvSpPr txBox="1"/>
          <p:nvPr/>
        </p:nvSpPr>
        <p:spPr>
          <a:xfrm>
            <a:off x="855158" y="1438295"/>
            <a:ext cx="74336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>
                <a:effectLst/>
                <a:latin typeface="Times" pitchFamily="2" charset="0"/>
              </a:rPr>
              <a:t>A more interesting situation develops when we give the free end of the string a repetitive, or </a:t>
            </a:r>
            <a:r>
              <a:rPr lang="en-SG" sz="2000" i="1" dirty="0">
                <a:effectLst/>
                <a:latin typeface="Times" pitchFamily="2" charset="0"/>
              </a:rPr>
              <a:t>periodic, </a:t>
            </a:r>
            <a:r>
              <a:rPr lang="en-SG" sz="2000" dirty="0">
                <a:effectLst/>
                <a:latin typeface="Times" pitchFamily="2" charset="0"/>
              </a:rPr>
              <a:t>motion. Then each particle in the string also undergoes periodic motion as the wave propagates, and we have a </a:t>
            </a:r>
            <a:r>
              <a:rPr lang="en-SG" sz="2000" b="1" dirty="0">
                <a:effectLst/>
                <a:latin typeface="Times" pitchFamily="2" charset="0"/>
              </a:rPr>
              <a:t>periodic wave. 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880960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AD24B-CF1C-1801-36A9-4517AB2A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A3787-6D99-B6E1-872C-EE9248EF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18DA3-2803-ED87-F36D-65DF669B2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23"/>
          <a:stretch/>
        </p:blipFill>
        <p:spPr>
          <a:xfrm>
            <a:off x="395536" y="1340768"/>
            <a:ext cx="3868035" cy="43924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FE8A06-1CB6-359A-3980-339B53D549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652"/>
          <a:stretch/>
        </p:blipFill>
        <p:spPr>
          <a:xfrm>
            <a:off x="5004048" y="1366664"/>
            <a:ext cx="3384376" cy="481420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66050AA-0311-2964-563C-FC44F6CF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altLang="zh-CN" dirty="0"/>
              <a:t>Periodic</a:t>
            </a:r>
            <a:r>
              <a:rPr lang="en-GB" altLang="zh-HK" dirty="0"/>
              <a:t> </a:t>
            </a:r>
            <a:r>
              <a:rPr lang="en-US" altLang="zh-CN" dirty="0"/>
              <a:t>Transverse</a:t>
            </a:r>
            <a:r>
              <a:rPr lang="zh-CN" altLang="en-US" dirty="0"/>
              <a:t> </a:t>
            </a:r>
            <a:r>
              <a:rPr lang="en-GB" altLang="zh-HK" dirty="0"/>
              <a:t>Waves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544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8C91B-B1AF-9825-E0D1-296651A6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9F3B6-742F-F3B5-104A-B97F7318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2F75D-857A-036B-5B47-92E1D489F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143000"/>
            <a:ext cx="2850420" cy="521260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F3A7624-C5B6-756A-48AB-D7A0CCEC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altLang="zh-CN" dirty="0"/>
              <a:t>Periodic</a:t>
            </a:r>
            <a:r>
              <a:rPr lang="en-GB" altLang="zh-HK" dirty="0"/>
              <a:t> </a:t>
            </a:r>
            <a:r>
              <a:rPr lang="en-US" altLang="zh-CN" dirty="0"/>
              <a:t>Longitudinal</a:t>
            </a:r>
            <a:r>
              <a:rPr lang="zh-CN" altLang="en-US" dirty="0"/>
              <a:t> </a:t>
            </a:r>
            <a:r>
              <a:rPr lang="en-GB" altLang="zh-HK" dirty="0"/>
              <a:t>Waves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06658-CDF5-CA21-0024-02511A808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2" y="2636912"/>
            <a:ext cx="5544616" cy="223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28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FBB3-41BD-8B9D-0821-F6F2DDC1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2</a:t>
            </a:r>
            <a:r>
              <a:rPr lang="en-GB" altLang="zh-HK" dirty="0"/>
              <a:t> </a:t>
            </a:r>
            <a:r>
              <a:rPr lang="en-US" altLang="zh-CN" dirty="0"/>
              <a:t>Periodic</a:t>
            </a:r>
            <a:r>
              <a:rPr lang="en-GB" altLang="zh-HK" dirty="0"/>
              <a:t> Waves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AD24B-CF1C-1801-36A9-4517AB2A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A3787-6D99-B6E1-872C-EE9248EF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7ABD8-8DB4-BAA9-438A-7D07EE431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7" y="3674561"/>
            <a:ext cx="9100543" cy="1777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552EE-DC12-32BF-1A1B-276758912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916832"/>
            <a:ext cx="4392488" cy="5876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0582C-A448-FE0E-0EAF-55D180398D9E}"/>
                  </a:ext>
                </a:extLst>
              </p:cNvPr>
              <p:cNvSpPr txBox="1"/>
              <p:nvPr/>
            </p:nvSpPr>
            <p:spPr>
              <a:xfrm>
                <a:off x="2123728" y="2653225"/>
                <a:ext cx="457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SG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avelength</a:t>
                </a:r>
                <a:r>
                  <a:rPr lang="en-US" altLang="zh-CN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zh-CN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speed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frequency</a:t>
                </a:r>
                <a:r>
                  <a:rPr lang="zh-CN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SG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0582C-A448-FE0E-0EAF-55D180398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2653225"/>
                <a:ext cx="4572000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6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3</a:t>
            </a:r>
            <a:r>
              <a:rPr lang="en-GB" altLang="zh-HK" dirty="0"/>
              <a:t> </a:t>
            </a:r>
            <a:r>
              <a:rPr lang="en-US" altLang="zh-CN" dirty="0"/>
              <a:t>Mathematical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endParaRPr lang="en-GB" altLang="zh-HK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A string wave travelling in the positive direction of an </a:t>
                </a:r>
                <a:r>
                  <a:rPr lang="en-GB" i="1" dirty="0"/>
                  <a:t>x</a:t>
                </a:r>
                <a:r>
                  <a:rPr lang="en-GB" dirty="0"/>
                  <a:t> axis is shown below</a:t>
                </a:r>
              </a:p>
              <a:p>
                <a:r>
                  <a:rPr lang="en-US" dirty="0"/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𝑘𝑥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963" y="3422104"/>
            <a:ext cx="42005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83" y="2060848"/>
            <a:ext cx="4175001" cy="3930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881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      </m:t>
                    </m:r>
                    <m:r>
                      <a:rPr lang="en-US" b="0" i="1" smtClean="0">
                        <a:latin typeface="Cambria Math"/>
                      </a:rPr>
                      <m:t>    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𝑘𝑥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Amplitude (</a:t>
                </a:r>
                <a:r>
                  <a:rPr lang="zh-HK" altLang="en-US" dirty="0"/>
                  <a:t>振幅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GB" dirty="0"/>
                  <a:t>is the magnitude of the maximum displacement of the elements from their equilibrium positions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GB" dirty="0"/>
                  <a:t>Phase (</a:t>
                </a:r>
                <a:r>
                  <a:rPr lang="zh-HK" altLang="en-US" dirty="0"/>
                  <a:t>相位</a:t>
                </a:r>
                <a:r>
                  <a:rPr lang="en-US" altLang="zh-HK" dirty="0"/>
                  <a:t>/</a:t>
                </a:r>
                <a:r>
                  <a:rPr lang="zh-HK" altLang="en-US" dirty="0"/>
                  <a:t>相角</a:t>
                </a:r>
                <a:r>
                  <a:rPr lang="en-GB" dirty="0"/>
                  <a:t>) of the wave,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𝑘𝑥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𝜔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is the argument of the sine function. As the wave sweeps through a string element at a particular position </a:t>
                </a:r>
                <a:r>
                  <a:rPr lang="en-GB" i="1" dirty="0"/>
                  <a:t>x</a:t>
                </a:r>
                <a:r>
                  <a:rPr lang="en-GB" dirty="0"/>
                  <a:t>, the phase changes linearly with time </a:t>
                </a:r>
                <a:r>
                  <a:rPr lang="en-GB" i="1" dirty="0"/>
                  <a:t>t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GB" dirty="0"/>
                  <a:t>Wavelength (</a:t>
                </a:r>
                <a:r>
                  <a:rPr lang="zh-HK" altLang="en-US" dirty="0"/>
                  <a:t>波長</a:t>
                </a:r>
                <a:r>
                  <a:rPr lang="en-GB" dirty="0"/>
                  <a:t>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𝜆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is the distance between repetitions of the shape of the wave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r="-963" b="-1605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89"/>
          <a:stretch/>
        </p:blipFill>
        <p:spPr bwMode="auto">
          <a:xfrm>
            <a:off x="324991" y="404664"/>
            <a:ext cx="4391025" cy="181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3566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3</a:t>
            </a:r>
            <a:r>
              <a:rPr lang="en-GB" altLang="zh-HK" dirty="0"/>
              <a:t> </a:t>
            </a:r>
            <a:r>
              <a:rPr lang="en-US" altLang="zh-CN" dirty="0"/>
              <a:t>Mathematical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endParaRPr lang="en-GB" altLang="zh-HK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GB" dirty="0"/>
                  <a:t>(Angular) wave number (</a:t>
                </a:r>
                <a:r>
                  <a:rPr lang="zh-HK" altLang="en-US" dirty="0"/>
                  <a:t>波數</a:t>
                </a:r>
                <a:r>
                  <a:rPr lang="en-GB" dirty="0"/>
                  <a:t>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is the number of wavelengths per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2</m:t>
                    </m:r>
                    <m:r>
                      <a:rPr lang="en-US" b="0" i="1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GB" dirty="0"/>
                  <a:t> units of distance, 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𝑘</m:t>
                    </m:r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/>
                          </a:rPr>
                          <m:t>2</m:t>
                        </m:r>
                        <m:r>
                          <a:rPr lang="en-US" sz="2200" b="0" i="1" smtClean="0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sz="2200" b="0" i="1" smtClean="0">
                            <a:latin typeface="Cambria Math"/>
                          </a:rPr>
                          <m:t>𝜆</m:t>
                        </m:r>
                      </m:den>
                    </m:f>
                  </m:oMath>
                </a14:m>
                <a:endParaRPr lang="en-GB" sz="2200" dirty="0"/>
              </a:p>
              <a:p>
                <a:pPr lvl="2"/>
                <a:r>
                  <a:rPr lang="en-GB" dirty="0"/>
                  <a:t>SI unit: rad/m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GB" dirty="0"/>
                  <a:t>Period (</a:t>
                </a:r>
                <a:r>
                  <a:rPr lang="zh-HK" altLang="en-US" dirty="0"/>
                  <a:t>週期</a:t>
                </a:r>
                <a:r>
                  <a:rPr lang="en-GB" dirty="0"/>
                  <a:t>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dirty="0"/>
                  <a:t>, angular frequency (</a:t>
                </a:r>
                <a:r>
                  <a:rPr lang="zh-HK" altLang="en-US" dirty="0"/>
                  <a:t>角頻率</a:t>
                </a:r>
                <a:r>
                  <a:rPr lang="en-GB" dirty="0"/>
                  <a:t>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dirty="0"/>
                  <a:t>, and frequency (</a:t>
                </a:r>
                <a:r>
                  <a:rPr lang="zh-HK" altLang="en-US" dirty="0"/>
                  <a:t>頻率</a:t>
                </a:r>
                <a:r>
                  <a:rPr lang="en-GB" dirty="0"/>
                  <a:t>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GB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𝜔</m:t>
                    </m:r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/>
                          </a:rPr>
                          <m:t>2</m:t>
                        </m:r>
                        <m:r>
                          <a:rPr lang="en-US" sz="2200" b="0" i="1" smtClean="0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sz="2200" b="0" i="1" smtClean="0">
                            <a:latin typeface="Cambria Math"/>
                          </a:rPr>
                          <m:t>𝑇</m:t>
                        </m:r>
                      </m:den>
                    </m:f>
                    <m:r>
                      <a:rPr lang="en-US" sz="2200" b="0" i="1" smtClean="0">
                        <a:latin typeface="Cambria Math"/>
                      </a:rPr>
                      <m:t>=2</m:t>
                    </m:r>
                    <m:r>
                      <a:rPr lang="en-US" sz="2200" b="0" i="1" smtClean="0">
                        <a:latin typeface="Cambria Math"/>
                      </a:rPr>
                      <m:t>𝜋</m:t>
                    </m:r>
                    <m:r>
                      <a:rPr lang="en-US" sz="2200" b="0" i="1" smtClean="0">
                        <a:latin typeface="Cambria Math"/>
                      </a:rPr>
                      <m:t>𝑓</m:t>
                    </m:r>
                  </m:oMath>
                </a14:m>
                <a:endParaRPr lang="en-GB" sz="2200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Phase constant (</a:t>
                </a:r>
                <a:r>
                  <a:rPr lang="zh-HK" altLang="en-US" dirty="0"/>
                  <a:t>相位常數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𝜙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𝑘𝑥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+</m:t>
                            </m:r>
                            <m:r>
                              <a:rPr lang="en-US" i="1">
                                <a:latin typeface="Cambria Math"/>
                              </a:rPr>
                              <m:t>𝜙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E.g. (a)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𝜙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dirty="0"/>
                  <a:t>; (b)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𝜙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988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119" y="3356992"/>
            <a:ext cx="3065377" cy="34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3243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3</a:t>
            </a:r>
            <a:r>
              <a:rPr lang="en-GB" altLang="zh-HK" dirty="0"/>
              <a:t> </a:t>
            </a:r>
            <a:r>
              <a:rPr lang="en-US" altLang="zh-CN" dirty="0"/>
              <a:t>Mathematical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endParaRPr lang="en-GB" altLang="zh-HK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As a wave moves, each point of the moving wave form, such as point </a:t>
                </a:r>
                <a:r>
                  <a:rPr lang="en-GB" i="1" dirty="0"/>
                  <a:t>A</a:t>
                </a:r>
                <a:r>
                  <a:rPr lang="en-GB" dirty="0"/>
                  <a:t> on a peak, retains its displacement </a:t>
                </a:r>
                <a:r>
                  <a:rPr lang="en-GB" i="1" dirty="0"/>
                  <a:t>y</a:t>
                </a:r>
              </a:p>
              <a:p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𝑘𝑥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𝑐𝑜𝑛𝑠𝑡𝑎𝑛𝑡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𝑘𝑥</m:t>
                    </m:r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𝑐𝑜𝑛𝑠𝑡𝑎𝑛𝑡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𝑑𝑥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𝑑𝑥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𝑣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𝑣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H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HK" i="1">
                                <a:latin typeface="Cambria Math"/>
                              </a:rPr>
                              <m:t>2</m:t>
                            </m:r>
                            <m:r>
                              <a:rPr lang="en-US" altLang="zh-HK" i="1"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HK" i="1">
                                <a:latin typeface="Cambria Math"/>
                              </a:rPr>
                              <m:t>𝜆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𝜆</m:t>
                    </m:r>
                    <m:r>
                      <a:rPr lang="en-US" b="0" i="1" smtClean="0">
                        <a:latin typeface="Cambria Math"/>
                      </a:rPr>
                      <m:t>𝑓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72" t="-1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348786"/>
            <a:ext cx="4573141" cy="2547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096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000" dirty="0"/>
                  <a:t>A wave traveling along a string is described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/>
                        </a:rPr>
                        <m:t>𝑦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GB" sz="2000" i="1" dirty="0" smtClean="0">
                              <a:latin typeface="Cambria Math"/>
                            </a:rPr>
                            <m:t>, </m:t>
                          </m:r>
                          <m:r>
                            <a:rPr lang="en-GB" sz="2000" i="1" dirty="0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r>
                        <a:rPr lang="en-GB" sz="2000" i="1" dirty="0" smtClean="0">
                          <a:latin typeface="Cambria Math"/>
                        </a:rPr>
                        <m:t>0.00327</m:t>
                      </m:r>
                      <m:func>
                        <m:func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 i="0" dirty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 smtClean="0">
                                  <a:latin typeface="Cambria Math"/>
                                </a:rPr>
                                <m:t>72.1</m:t>
                              </m:r>
                              <m:r>
                                <a:rPr lang="en-GB" sz="2000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sz="2000" i="1" dirty="0" smtClean="0">
                                  <a:latin typeface="Cambria Math"/>
                                </a:rPr>
                                <m:t> − 2.72</m:t>
                              </m:r>
                              <m:r>
                                <a:rPr lang="en-GB" sz="200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2000" i="1" dirty="0" smtClean="0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GB" sz="2000" dirty="0"/>
                  <a:t>in which the numerical constants are in SI units (0.00327 m, 72.1 rad/m, and 2.72 rad/s).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(a) What is the amplitude of this wave?</a:t>
                </a:r>
              </a:p>
              <a:p>
                <a:endParaRPr lang="en-US" sz="2000" dirty="0"/>
              </a:p>
              <a:p>
                <a:endParaRPr lang="en-GB" sz="2000" dirty="0"/>
              </a:p>
              <a:p>
                <a:r>
                  <a:rPr lang="en-GB" sz="2000" dirty="0"/>
                  <a:t>(b) What are the wavelength, period, and frequency of this wave?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222" t="-617" r="-12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501008"/>
            <a:ext cx="34956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93" y="4653136"/>
            <a:ext cx="31908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714" y="4581128"/>
            <a:ext cx="40957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589240"/>
            <a:ext cx="37242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62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(c) What is the velocity of this wave?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GB" sz="2000" dirty="0"/>
          </a:p>
          <a:p>
            <a:r>
              <a:rPr lang="en-GB" sz="2000" dirty="0"/>
              <a:t>(d) What is the displacement y of the string at </a:t>
            </a:r>
            <a:r>
              <a:rPr lang="en-GB" sz="2000" i="1" dirty="0"/>
              <a:t>x</a:t>
            </a:r>
            <a:r>
              <a:rPr lang="en-GB" sz="2000" dirty="0"/>
              <a:t> = 22.5 cm and </a:t>
            </a:r>
            <a:r>
              <a:rPr lang="en-GB" sz="2000" i="1" dirty="0"/>
              <a:t>t</a:t>
            </a:r>
            <a:r>
              <a:rPr lang="en-GB" sz="2000" dirty="0"/>
              <a:t> = 18.9 s?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77752"/>
            <a:ext cx="4724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814" y="4134197"/>
            <a:ext cx="550545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27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000" dirty="0"/>
                  <a:t>(e) What is </a:t>
                </a:r>
                <a:r>
                  <a:rPr lang="en-GB" sz="2000" i="1" dirty="0"/>
                  <a:t>u</a:t>
                </a:r>
                <a:r>
                  <a:rPr lang="en-GB" sz="2000" dirty="0"/>
                  <a:t>, the </a:t>
                </a:r>
                <a:r>
                  <a:rPr lang="en-GB" sz="2000" i="1" u="sng" dirty="0"/>
                  <a:t>transverse velocity</a:t>
                </a:r>
                <a:r>
                  <a:rPr lang="en-GB" sz="2000" dirty="0"/>
                  <a:t> of the element of the string at </a:t>
                </a:r>
                <a:r>
                  <a:rPr lang="en-GB" sz="2000" i="1" dirty="0"/>
                  <a:t>x</a:t>
                </a:r>
                <a:r>
                  <a:rPr lang="en-GB" sz="2000" dirty="0"/>
                  <a:t> = 22.5 cm and </a:t>
                </a:r>
                <a:r>
                  <a:rPr lang="en-GB" sz="2000" i="1" dirty="0"/>
                  <a:t>t</a:t>
                </a:r>
                <a:r>
                  <a:rPr lang="en-GB" sz="2000" dirty="0"/>
                  <a:t> = 18.9 s?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US" sz="2000" dirty="0"/>
              </a:p>
              <a:p>
                <a:r>
                  <a:rPr lang="en-US" sz="2000" dirty="0"/>
                  <a:t>Remarks</a:t>
                </a:r>
                <a:endParaRPr lang="en-GB" sz="2000" dirty="0"/>
              </a:p>
              <a:p>
                <a:pPr lvl="1"/>
                <a:r>
                  <a:rPr lang="en-GB" sz="1700" dirty="0"/>
                  <a:t>For an element at a certain location </a:t>
                </a:r>
                <a:r>
                  <a:rPr lang="en-GB" sz="1700" i="1" dirty="0"/>
                  <a:t>x</a:t>
                </a:r>
                <a:r>
                  <a:rPr lang="en-GB" sz="1700" dirty="0"/>
                  <a:t>, we find the rate of change of </a:t>
                </a:r>
                <a:r>
                  <a:rPr lang="en-GB" sz="1700" i="1" dirty="0"/>
                  <a:t>y</a:t>
                </a:r>
                <a:r>
                  <a:rPr lang="en-GB" sz="1700" dirty="0"/>
                  <a:t> by taking the derivative with respect to </a:t>
                </a:r>
                <a:r>
                  <a:rPr lang="en-GB" sz="1700" i="1" dirty="0"/>
                  <a:t>t</a:t>
                </a:r>
                <a:r>
                  <a:rPr lang="en-GB" sz="1700" dirty="0"/>
                  <a:t> while </a:t>
                </a:r>
                <a:r>
                  <a:rPr lang="en-GB" sz="1700" i="1" u="sng" dirty="0"/>
                  <a:t>treating x as a constant</a:t>
                </a:r>
              </a:p>
              <a:p>
                <a:pPr lvl="1"/>
                <a:r>
                  <a:rPr lang="en-GB" sz="1700" dirty="0"/>
                  <a:t>A derivative taken while one (or more) of the variables is treated as a constant is called a </a:t>
                </a:r>
                <a:r>
                  <a:rPr lang="en-GB" sz="1700" i="1" u="sng" dirty="0"/>
                  <a:t>partial derivative</a:t>
                </a:r>
                <a:r>
                  <a:rPr lang="en-GB" sz="1700" dirty="0"/>
                  <a:t> and is represented by the symbol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0" i="1" smtClean="0">
                            <a:latin typeface="Cambria Math"/>
                          </a:rPr>
                          <m:t>𝜕</m:t>
                        </m:r>
                      </m:num>
                      <m:den>
                        <m:r>
                          <a:rPr lang="en-US" sz="1700" i="1">
                            <a:latin typeface="Cambria Math"/>
                          </a:rPr>
                          <m:t>𝜕</m:t>
                        </m:r>
                        <m:r>
                          <a:rPr lang="en-US" sz="1700" b="0" i="1" smtClean="0">
                            <a:latin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GB" sz="1700" dirty="0"/>
                  <a:t> rather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0" i="1" smtClean="0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sz="1700" b="0" i="1" smtClean="0"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endParaRPr lang="en-GB" sz="170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222" t="-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614" y="2060848"/>
            <a:ext cx="39814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060948"/>
            <a:ext cx="59436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188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20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Figure shows three waves that are separately sent along a string that is stretched under a certain tension along an </a:t>
            </a:r>
            <a:r>
              <a:rPr lang="en-GB" i="1" dirty="0"/>
              <a:t>x</a:t>
            </a:r>
            <a:r>
              <a:rPr lang="en-GB" dirty="0"/>
              <a:t> axis.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GB" dirty="0"/>
              <a:t>Rank the waves according to their (a) wavelengths, (b) speeds, and (c) angular frequencies, greatest first.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63" y="2076450"/>
            <a:ext cx="328612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0279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3</a:t>
            </a:r>
            <a:r>
              <a:rPr lang="en-GB" altLang="zh-HK" dirty="0"/>
              <a:t> </a:t>
            </a:r>
            <a:r>
              <a:rPr lang="en-US" altLang="zh-CN" dirty="0"/>
              <a:t>Mathematical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21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00020-C361-29AA-B60C-8DC57E8BE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02101"/>
            <a:ext cx="3283846" cy="599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0B102D-03DD-E845-4719-916C0528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907591"/>
            <a:ext cx="4155926" cy="9235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0AE22E-C6EB-8C96-0620-352F0767C3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353" t="41901" r="13409"/>
          <a:stretch/>
        </p:blipFill>
        <p:spPr>
          <a:xfrm>
            <a:off x="675184" y="2578841"/>
            <a:ext cx="6120680" cy="9235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2992B4-3B90-AA9B-5600-9E180A212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84" y="3763282"/>
            <a:ext cx="7772400" cy="22787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3AC27A-C7DC-E3AB-81DB-329334973B74}"/>
              </a:ext>
            </a:extLst>
          </p:cNvPr>
          <p:cNvSpPr txBox="1"/>
          <p:nvPr/>
        </p:nvSpPr>
        <p:spPr>
          <a:xfrm>
            <a:off x="5231423" y="1340629"/>
            <a:ext cx="154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E934F7-245F-026C-D199-33B782F3256A}"/>
              </a:ext>
            </a:extLst>
          </p:cNvPr>
          <p:cNvSpPr txBox="1"/>
          <p:nvPr/>
        </p:nvSpPr>
        <p:spPr>
          <a:xfrm>
            <a:off x="5281582" y="2133274"/>
            <a:ext cx="926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Velocity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B039F-BC91-65C3-C0AB-C7AEC5E521E9}"/>
              </a:ext>
            </a:extLst>
          </p:cNvPr>
          <p:cNvSpPr txBox="1"/>
          <p:nvPr/>
        </p:nvSpPr>
        <p:spPr>
          <a:xfrm>
            <a:off x="7114406" y="2910052"/>
            <a:ext cx="135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Acceleration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061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3</a:t>
            </a:r>
            <a:r>
              <a:rPr lang="en-GB" altLang="zh-HK" dirty="0"/>
              <a:t> </a:t>
            </a:r>
            <a:r>
              <a:rPr lang="en-US" altLang="zh-CN" dirty="0"/>
              <a:t>Mathematical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F85DB-DD22-6769-8464-BAB66676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78" y="1299011"/>
            <a:ext cx="7391400" cy="111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0EF06F-8F61-3DAB-593A-E0847F418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13" y="2225794"/>
            <a:ext cx="5981700" cy="127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FE007-40A5-EB72-5129-DACC70636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309" y="3547710"/>
            <a:ext cx="3352800" cy="1244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4AB38E-507E-0D10-B5F2-1417D8D65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712" y="5058584"/>
            <a:ext cx="5562600" cy="990600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7A7ACCCF-1951-1A25-CFD5-FC9B6E4A476B}"/>
              </a:ext>
            </a:extLst>
          </p:cNvPr>
          <p:cNvSpPr/>
          <p:nvPr/>
        </p:nvSpPr>
        <p:spPr>
          <a:xfrm>
            <a:off x="679793" y="1484784"/>
            <a:ext cx="356265" cy="19442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09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3</a:t>
            </a:r>
            <a:r>
              <a:rPr lang="en-GB" altLang="zh-HK" dirty="0"/>
              <a:t> </a:t>
            </a:r>
            <a:r>
              <a:rPr lang="en-US" altLang="zh-CN" dirty="0"/>
              <a:t>Mathematical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/>
                            </a:rPr>
                            <m:t>𝑦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GB" sz="2000" dirty="0"/>
                  <a:t>The wave equation is an important </a:t>
                </a:r>
                <a:r>
                  <a:rPr lang="en-GB" sz="2000" i="1" u="sng" dirty="0"/>
                  <a:t>second-order linear partial differential equation (PDE)</a:t>
                </a:r>
                <a:r>
                  <a:rPr lang="en-GB" sz="2000" dirty="0"/>
                  <a:t> for the description of waves – as they occur in physics – such as sound waves, light waves and water waves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2C8BBC3-641C-EC52-C388-4792B9914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552" y="4327383"/>
            <a:ext cx="2160240" cy="1874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792044-5383-B3FD-EAFB-E59E5AE35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9" y="4599390"/>
            <a:ext cx="2087144" cy="15575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DAE645-C438-80C1-B113-1C03E64BF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408" y="4774787"/>
            <a:ext cx="2382797" cy="13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26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4</a:t>
            </a:r>
            <a:r>
              <a:rPr lang="en-GB" altLang="zh-HK" dirty="0"/>
              <a:t>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Transverse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BAFD1B-CCDD-7B3D-7807-C95E227D6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4" y="1249631"/>
            <a:ext cx="3469994" cy="4976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78EEC6-7EDD-29DB-418D-6E88EBF15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1282387"/>
            <a:ext cx="3960440" cy="1008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41E9FF-9995-1942-813E-485527725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450" y="2256197"/>
            <a:ext cx="4618856" cy="9197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2B6E7-5CED-2025-23B1-5600573D8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230" y="3146178"/>
            <a:ext cx="3989295" cy="9664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8F69C4-B7EC-C4CF-EFC1-9ECF3BF05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7857" y="4374473"/>
            <a:ext cx="4231668" cy="165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72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4</a:t>
            </a:r>
            <a:r>
              <a:rPr lang="en-GB" altLang="zh-HK" dirty="0"/>
              <a:t>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Transverse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BAFD1B-CCDD-7B3D-7807-C95E227D6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4" y="1249631"/>
            <a:ext cx="3469994" cy="4976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31D65A-4FFF-A474-21AA-2CFCC5EAC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1186153"/>
            <a:ext cx="4231668" cy="16536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38B926-C91F-A52F-4984-129BB2352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462" y="2797175"/>
            <a:ext cx="1892300" cy="95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238B1B-C794-18C7-AC64-8C9887AF2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7760" y="5189203"/>
            <a:ext cx="1511300" cy="93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CA15A9-0301-246A-0AF3-ED76593768F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3042"/>
          <a:stretch/>
        </p:blipFill>
        <p:spPr>
          <a:xfrm>
            <a:off x="4154884" y="3955480"/>
            <a:ext cx="316835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04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</a:t>
            </a:r>
            <a:r>
              <a:rPr lang="en-US" altLang="zh-CN" dirty="0"/>
              <a:t>5</a:t>
            </a:r>
            <a:r>
              <a:rPr lang="en-GB" altLang="zh-HK" dirty="0"/>
              <a:t>-</a:t>
            </a:r>
            <a:r>
              <a:rPr lang="en-US" altLang="zh-CN" dirty="0"/>
              <a:t>4</a:t>
            </a:r>
            <a:r>
              <a:rPr lang="en-GB" altLang="zh-HK" dirty="0"/>
              <a:t>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Transverse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C8708-441E-A9E6-F0C8-F581ED9E0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223698"/>
            <a:ext cx="7023938" cy="9676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1F9D2F-E50D-A752-D183-23EDBDF5D517}"/>
              </a:ext>
            </a:extLst>
          </p:cNvPr>
          <p:cNvSpPr txBox="1"/>
          <p:nvPr/>
        </p:nvSpPr>
        <p:spPr>
          <a:xfrm>
            <a:off x="626222" y="1659398"/>
            <a:ext cx="1839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General</a:t>
            </a:r>
            <a:r>
              <a:rPr lang="zh-CN" altLang="en-US" sz="2400" dirty="0"/>
              <a:t> </a:t>
            </a:r>
            <a:r>
              <a:rPr lang="en-US" altLang="zh-CN" sz="2400" dirty="0"/>
              <a:t>form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A8523F-F52C-6E8E-528C-ADCD5C5F9287}"/>
              </a:ext>
            </a:extLst>
          </p:cNvPr>
          <p:cNvSpPr txBox="1"/>
          <p:nvPr/>
        </p:nvSpPr>
        <p:spPr>
          <a:xfrm>
            <a:off x="457200" y="3937869"/>
            <a:ext cx="81089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 pitchFamily="2" charset="0"/>
              </a:rPr>
              <a:t>The tension </a:t>
            </a:r>
            <a:r>
              <a:rPr lang="en-SG" sz="1800" i="1" dirty="0">
                <a:effectLst/>
                <a:latin typeface="Times" pitchFamily="2" charset="0"/>
              </a:rPr>
              <a:t>F </a:t>
            </a:r>
            <a:r>
              <a:rPr lang="en-SG" sz="1800" dirty="0">
                <a:effectLst/>
                <a:latin typeface="Times" pitchFamily="2" charset="0"/>
              </a:rPr>
              <a:t>in the string plays the role of the restoring force; it tends to bring the string back to its undisturbed, equilibrium configuration. </a:t>
            </a:r>
          </a:p>
          <a:p>
            <a:endParaRPr lang="en-SG" sz="1800" dirty="0">
              <a:effectLst/>
              <a:latin typeface="Times" pitchFamily="2" charset="0"/>
            </a:endParaRPr>
          </a:p>
          <a:p>
            <a:r>
              <a:rPr lang="en-US" altLang="zh-CN" sz="1800" dirty="0">
                <a:effectLst/>
                <a:latin typeface="Times" pitchFamily="2" charset="0"/>
              </a:rPr>
              <a:t>T</a:t>
            </a:r>
            <a:r>
              <a:rPr lang="en-SG" sz="1800" dirty="0">
                <a:effectLst/>
                <a:latin typeface="Times" pitchFamily="2" charset="0"/>
              </a:rPr>
              <a:t>he linear mass density </a:t>
            </a:r>
            <a:r>
              <a:rPr lang="en-SG" sz="1800" dirty="0">
                <a:effectLst/>
                <a:latin typeface="Grk2k"/>
              </a:rPr>
              <a:t>m</a:t>
            </a:r>
            <a:r>
              <a:rPr lang="zh-CN" altLang="en-US" dirty="0">
                <a:latin typeface="Times" pitchFamily="2" charset="0"/>
              </a:rPr>
              <a:t> </a:t>
            </a:r>
            <a:r>
              <a:rPr lang="en-SG" sz="1800" dirty="0">
                <a:effectLst/>
                <a:latin typeface="Times" pitchFamily="2" charset="0"/>
              </a:rPr>
              <a:t>provides the inertia that prevents the string from returning instantaneously to equilibrium.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27330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284B-DADE-E1B9-344B-AA437630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44CB9-130B-70AC-0270-0506B94E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5D32-D513-23A6-D4E7-2320F788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D23F9E-62E6-171A-3929-9FAD92D9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060848"/>
            <a:ext cx="5245716" cy="2376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6C258C-93C9-1E5D-D38B-8E79C6664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70" y="1556792"/>
            <a:ext cx="3677230" cy="409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82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284B-DADE-E1B9-344B-AA437630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44CB9-130B-70AC-0270-0506B94E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5D32-D513-23A6-D4E7-2320F788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988F9-43B4-ABF4-BFEC-3664EB88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10" y="1466118"/>
            <a:ext cx="5239302" cy="4191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B3FD40-54CF-DD0F-B4BD-EFEE9FEEA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70" y="1541505"/>
            <a:ext cx="3677230" cy="409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27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29</a:t>
            </a:fld>
            <a:endParaRPr lang="en-GB"/>
          </a:p>
        </p:txBody>
      </p:sp>
      <p:pic>
        <p:nvPicPr>
          <p:cNvPr id="11" name="Picture 10" descr="A person in a blue shirt&#10;&#10;Description automatically generated with medium confidence">
            <a:extLst>
              <a:ext uri="{FF2B5EF4-FFF2-40B4-BE49-F238E27FC236}">
                <a16:creationId xmlns:a16="http://schemas.microsoft.com/office/drawing/2014/main" id="{8D3E03B6-6A78-B7B3-7924-0F110F5CA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05196"/>
            <a:ext cx="4594110" cy="20882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7F8FC8-1D81-5A4B-31E4-76D14D68A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3801545"/>
            <a:ext cx="3310136" cy="23084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588506-B61B-734D-EF5C-E420C81066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76"/>
          <a:stretch/>
        </p:blipFill>
        <p:spPr>
          <a:xfrm>
            <a:off x="6156176" y="2060848"/>
            <a:ext cx="2664296" cy="31702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80B379-7FE2-204D-D0A1-3745BA0B764E}"/>
              </a:ext>
            </a:extLst>
          </p:cNvPr>
          <p:cNvSpPr txBox="1"/>
          <p:nvPr/>
        </p:nvSpPr>
        <p:spPr>
          <a:xfrm>
            <a:off x="5917859" y="5925376"/>
            <a:ext cx="2780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wikipeida</a:t>
            </a:r>
            <a:r>
              <a:rPr lang="en-US" dirty="0"/>
              <a:t>, textbook</a:t>
            </a:r>
          </a:p>
        </p:txBody>
      </p:sp>
    </p:spTree>
    <p:extLst>
      <p:ext uri="{BB962C8B-B14F-4D97-AF65-F5344CB8AC3E}">
        <p14:creationId xmlns:p14="http://schemas.microsoft.com/office/powerpoint/2010/main" val="981027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E3FB36-B825-72AA-6057-241F851A7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93" y="1412776"/>
            <a:ext cx="4902200" cy="323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0E5B06-BEDA-EF07-A7F0-2B6344AAF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2348880"/>
            <a:ext cx="3719264" cy="1301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DA13A-15BB-E6BE-0A00-DBE1ED3F75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273"/>
          <a:stretch/>
        </p:blipFill>
        <p:spPr>
          <a:xfrm>
            <a:off x="1485900" y="4786978"/>
            <a:ext cx="6172200" cy="931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8C582B-4052-ADB9-CD53-92AFE60AEEFE}"/>
              </a:ext>
            </a:extLst>
          </p:cNvPr>
          <p:cNvSpPr txBox="1"/>
          <p:nvPr/>
        </p:nvSpPr>
        <p:spPr>
          <a:xfrm>
            <a:off x="213825" y="5718507"/>
            <a:ext cx="8716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>
                <a:effectLst/>
                <a:latin typeface="Times" pitchFamily="2" charset="0"/>
              </a:rPr>
              <a:t>This power is the </a:t>
            </a:r>
            <a:r>
              <a:rPr lang="en-SG" sz="2000" i="1" dirty="0">
                <a:effectLst/>
                <a:latin typeface="Times" pitchFamily="2" charset="0"/>
              </a:rPr>
              <a:t>instantaneous </a:t>
            </a:r>
            <a:r>
              <a:rPr lang="en-SG" sz="2000" dirty="0">
                <a:effectLst/>
                <a:latin typeface="Times" pitchFamily="2" charset="0"/>
              </a:rPr>
              <a:t>rate at which energy is transferred along the string </a:t>
            </a:r>
            <a:endParaRPr lang="en-SG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EFA764-7961-A127-E68B-6EE756AAE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235" y="3837153"/>
            <a:ext cx="31242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57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31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8AD779-72BA-C518-ECFF-2FD366780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643708"/>
            <a:ext cx="4203700" cy="273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752C03-4568-EF81-BDA8-E583D995F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618" y="5559163"/>
            <a:ext cx="4483100" cy="520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4D3662-0408-889D-B229-993243322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282" y="4775260"/>
            <a:ext cx="1028700" cy="469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61209F-083F-7185-8A56-9EEED7A13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48" y="4800660"/>
            <a:ext cx="1257300" cy="444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F83335-883A-E3CF-D1C0-75D1B9CDB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32" y="2431251"/>
            <a:ext cx="3991464" cy="26368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C02705-D205-8612-B4C9-221942795F81}"/>
              </a:ext>
            </a:extLst>
          </p:cNvPr>
          <p:cNvSpPr txBox="1"/>
          <p:nvPr/>
        </p:nvSpPr>
        <p:spPr>
          <a:xfrm>
            <a:off x="4552125" y="4844960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Use</a:t>
            </a:r>
          </a:p>
        </p:txBody>
      </p:sp>
    </p:spTree>
    <p:extLst>
      <p:ext uri="{BB962C8B-B14F-4D97-AF65-F5344CB8AC3E}">
        <p14:creationId xmlns:p14="http://schemas.microsoft.com/office/powerpoint/2010/main" val="3061634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8F7ED-E08D-294D-2BA7-58002FC0B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98" y="2395715"/>
            <a:ext cx="4838700" cy="3314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1EC502-2102-7C34-6F64-A93D790A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12" y="3069193"/>
            <a:ext cx="2717800" cy="64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48ABAD-4141-B1AF-B408-C2387511D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4438540"/>
            <a:ext cx="2565400" cy="5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B66B0B-61A9-DFDF-C480-33D9DDF72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1552048"/>
            <a:ext cx="44831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38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73CC3-E975-7BB2-DC7B-96623573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17" y="1412776"/>
            <a:ext cx="7340600" cy="3314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917E91-FB78-DDE1-E7E2-4489F274C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7" y="4816574"/>
            <a:ext cx="7772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36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4940BD-04A6-41E3-E72F-29BFD1683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40768"/>
            <a:ext cx="5903568" cy="1631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B2D286-732C-116B-7710-FA48D95BC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170068"/>
            <a:ext cx="6516820" cy="292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41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FC5C9-C537-A518-D5A0-51E250C01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56" y="1635761"/>
            <a:ext cx="3541784" cy="4071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91F546-A66E-30CB-D41E-E716D03E715E}"/>
              </a:ext>
            </a:extLst>
          </p:cNvPr>
          <p:cNvSpPr txBox="1"/>
          <p:nvPr/>
        </p:nvSpPr>
        <p:spPr>
          <a:xfrm>
            <a:off x="4211960" y="155679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>
                <a:effectLst/>
                <a:latin typeface="Times" pitchFamily="2" charset="0"/>
              </a:rPr>
              <a:t>intensity </a:t>
            </a:r>
            <a:r>
              <a:rPr lang="en-SG" sz="1800" dirty="0">
                <a:effectLst/>
                <a:latin typeface="Times" pitchFamily="2" charset="0"/>
              </a:rPr>
              <a:t>(denoted by </a:t>
            </a:r>
            <a:r>
              <a:rPr lang="en-SG" sz="1800" i="1" dirty="0">
                <a:effectLst/>
                <a:latin typeface="Times" pitchFamily="2" charset="0"/>
              </a:rPr>
              <a:t>I</a:t>
            </a:r>
            <a:r>
              <a:rPr lang="en-SG" sz="1800" dirty="0">
                <a:effectLst/>
                <a:latin typeface="Times" pitchFamily="2" charset="0"/>
              </a:rPr>
              <a:t>): </a:t>
            </a:r>
            <a:r>
              <a:rPr lang="en-SG" sz="1800" i="1" dirty="0">
                <a:effectLst/>
                <a:latin typeface="Times" pitchFamily="2" charset="0"/>
              </a:rPr>
              <a:t>the time average rate at which energy is transported by the wave, per unit area 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B88400-6A28-D1C5-0AD3-04EBB9231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968" y="2893914"/>
            <a:ext cx="1866900" cy="95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A61F48-FD78-1B52-A4E8-3E0F5D3CD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984" y="4019491"/>
            <a:ext cx="2641600" cy="68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EEFCF3-BD08-A946-2099-0AAA47272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904" y="4948191"/>
            <a:ext cx="5192390" cy="75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18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5</a:t>
            </a:r>
            <a:r>
              <a:rPr lang="en-GB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Wave</a:t>
            </a:r>
            <a:r>
              <a:rPr lang="zh-CN" altLang="en-US" dirty="0"/>
              <a:t> </a:t>
            </a:r>
            <a:r>
              <a:rPr lang="en-US" altLang="zh-CN" dirty="0"/>
              <a:t>Motion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5A5A1-A470-9746-63D6-BE445E490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26" y="1268760"/>
            <a:ext cx="7404100" cy="231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6372A5-8CE5-E851-751A-046F8C85CD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522"/>
          <a:stretch/>
        </p:blipFill>
        <p:spPr>
          <a:xfrm>
            <a:off x="222319" y="4293096"/>
            <a:ext cx="8004453" cy="115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7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35"/>
            <a:ext cx="8229600" cy="990600"/>
          </a:xfrm>
        </p:spPr>
        <p:txBody>
          <a:bodyPr/>
          <a:lstStyle/>
          <a:p>
            <a:r>
              <a:rPr lang="en-GB" altLang="zh-HK" dirty="0"/>
              <a:t>15-6 </a:t>
            </a:r>
            <a:r>
              <a:rPr lang="en-US" altLang="zh-CN" dirty="0"/>
              <a:t>Boundary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r>
              <a:rPr lang="zh-CN" altLang="en-US" dirty="0"/>
              <a:t> 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592D8F-01FA-213F-3489-5C32263E0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247"/>
          <a:stretch/>
        </p:blipFill>
        <p:spPr>
          <a:xfrm>
            <a:off x="1763688" y="1175035"/>
            <a:ext cx="2952328" cy="5141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F02CD2-D2E3-099B-BEC1-625882981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655" y="1591470"/>
            <a:ext cx="2345870" cy="4293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35E0F4-7A08-B53E-B4FD-3BBED4C88378}"/>
              </a:ext>
            </a:extLst>
          </p:cNvPr>
          <p:cNvSpPr txBox="1"/>
          <p:nvPr/>
        </p:nvSpPr>
        <p:spPr>
          <a:xfrm>
            <a:off x="395536" y="1214939"/>
            <a:ext cx="1383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Fixed</a:t>
            </a:r>
            <a:r>
              <a:rPr lang="zh-CN" altLang="en-US" sz="2400" dirty="0"/>
              <a:t> </a:t>
            </a:r>
            <a:r>
              <a:rPr lang="en-US" altLang="zh-CN" sz="2400" dirty="0"/>
              <a:t>end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1731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35"/>
            <a:ext cx="8229600" cy="990600"/>
          </a:xfrm>
        </p:spPr>
        <p:txBody>
          <a:bodyPr/>
          <a:lstStyle/>
          <a:p>
            <a:r>
              <a:rPr lang="en-GB" altLang="zh-HK" dirty="0"/>
              <a:t>15-6 </a:t>
            </a:r>
            <a:r>
              <a:rPr lang="en-US" altLang="zh-CN" dirty="0"/>
              <a:t>Boundary</a:t>
            </a:r>
            <a:r>
              <a:rPr lang="zh-CN" altLang="en-US" dirty="0"/>
              <a:t> </a:t>
            </a:r>
            <a:r>
              <a:rPr lang="en-US" altLang="zh-CN" dirty="0"/>
              <a:t>Conditions</a:t>
            </a:r>
            <a:r>
              <a:rPr lang="zh-CN" altLang="en-US" dirty="0"/>
              <a:t> 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E2F68-DBD4-A1DF-A36A-D4A222559E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039"/>
          <a:stretch/>
        </p:blipFill>
        <p:spPr>
          <a:xfrm>
            <a:off x="2006593" y="1168982"/>
            <a:ext cx="2572194" cy="5141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5DB722-72EF-F55F-AFE9-D093E4224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528152"/>
            <a:ext cx="2474973" cy="44900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1D966-AA96-BB9E-CE53-AA0C78C5886A}"/>
              </a:ext>
            </a:extLst>
          </p:cNvPr>
          <p:cNvSpPr txBox="1"/>
          <p:nvPr/>
        </p:nvSpPr>
        <p:spPr>
          <a:xfrm>
            <a:off x="395536" y="1214939"/>
            <a:ext cx="1283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Free</a:t>
            </a:r>
            <a:r>
              <a:rPr lang="zh-CN" altLang="en-US" sz="2400" dirty="0"/>
              <a:t> </a:t>
            </a:r>
            <a:r>
              <a:rPr lang="en-US" altLang="zh-CN" sz="2400" dirty="0"/>
              <a:t>end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7207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15-6 Interference (</a:t>
            </a:r>
            <a:r>
              <a:rPr lang="zh-HK" altLang="en-US" dirty="0"/>
              <a:t>干涉</a:t>
            </a:r>
            <a:r>
              <a:rPr lang="en-GB" altLang="zh-HK" dirty="0"/>
              <a:t>) of Waves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79512" y="1216318"/>
                <a:ext cx="8229600" cy="4937760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 be the displacements that the string would experience if each wave travelled alone</a:t>
                </a:r>
              </a:p>
              <a:p>
                <a:endParaRPr lang="en-GB" dirty="0"/>
              </a:p>
              <a:p>
                <a:r>
                  <a:rPr lang="en-GB" dirty="0"/>
                  <a:t>The Principle of Superposition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79512" y="1216318"/>
                <a:ext cx="8229600" cy="4937760"/>
              </a:xfrm>
              <a:blipFill>
                <a:blip r:embed="rId2"/>
                <a:stretch>
                  <a:fillRect l="-616" t="-1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D5ACD1CB-39D3-7CA6-96EA-E763005BF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56" y="2107878"/>
            <a:ext cx="281839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592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40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61" y="403327"/>
            <a:ext cx="8265495" cy="6266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503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HK" dirty="0"/>
              <a:t>15-6 Interference (</a:t>
            </a:r>
            <a:r>
              <a:rPr lang="zh-HK" altLang="en-US" dirty="0"/>
              <a:t>干涉</a:t>
            </a:r>
            <a:r>
              <a:rPr lang="en-GB" altLang="zh-HK" dirty="0"/>
              <a:t>) of Waves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41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Types of interference</a:t>
            </a:r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8640000" cy="423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738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15-7 </a:t>
            </a:r>
            <a:r>
              <a:rPr lang="en-US" altLang="zh-CN" dirty="0"/>
              <a:t>Standing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r>
              <a:rPr lang="en-GB" altLang="zh-HK" dirty="0"/>
              <a:t> (</a:t>
            </a:r>
            <a:r>
              <a:rPr lang="zh-HK" altLang="en-US" dirty="0"/>
              <a:t>駐波</a:t>
            </a:r>
            <a:r>
              <a:rPr lang="en-GB" altLang="zh-HK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42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If two sinusoidal waves of the </a:t>
            </a:r>
            <a:r>
              <a:rPr lang="en-GB" i="1" u="sng" dirty="0"/>
              <a:t>same amplitude and wavelength</a:t>
            </a:r>
            <a:r>
              <a:rPr lang="en-GB" dirty="0"/>
              <a:t> travel in </a:t>
            </a:r>
            <a:r>
              <a:rPr lang="en-GB" i="1" u="sng" dirty="0"/>
              <a:t>opposite directions</a:t>
            </a:r>
            <a:r>
              <a:rPr lang="en-GB" dirty="0"/>
              <a:t> along a stretched string, their interference with each other produces a standing wave</a:t>
            </a:r>
          </a:p>
          <a:p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24944"/>
            <a:ext cx="7735281" cy="3779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4988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HK" dirty="0"/>
              <a:t>15-7 </a:t>
            </a:r>
            <a:r>
              <a:rPr lang="en-US" altLang="zh-CN" dirty="0"/>
              <a:t>Standing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r>
              <a:rPr lang="en-GB" altLang="zh-HK" dirty="0"/>
              <a:t> (</a:t>
            </a:r>
            <a:r>
              <a:rPr lang="zh-HK" altLang="en-US" dirty="0"/>
              <a:t>駐波</a:t>
            </a:r>
            <a:r>
              <a:rPr lang="en-GB" altLang="zh-HK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To analyse a standing wave, we represent the two combining waves with the equations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𝑘𝑥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𝑘𝑥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GB" dirty="0"/>
                  <a:t>The superposition principle (</a:t>
                </a:r>
                <a:r>
                  <a:rPr lang="zh-HK" altLang="en-US" dirty="0"/>
                  <a:t>疊加原理</a:t>
                </a:r>
                <a:r>
                  <a:rPr lang="en-GB" dirty="0"/>
                  <a:t>) applies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𝑘𝑥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𝑘𝑥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                                                    </m:t>
                    </m:r>
                    <m:r>
                      <m:rPr>
                        <m:nor/>
                      </m:rPr>
                      <a:rPr lang="en-US" b="0" i="0" dirty="0" smtClean="0"/>
                      <m:t>          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∵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func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=2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𝛽</m:t>
                                    </m:r>
                                  </m:e>
                                </m:d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𝛼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41" y="4386509"/>
            <a:ext cx="4057607" cy="228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6971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HK" dirty="0"/>
              <a:t>15-7 </a:t>
            </a:r>
            <a:r>
              <a:rPr lang="en-US" altLang="zh-CN" dirty="0"/>
              <a:t>Standing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r>
              <a:rPr lang="en-GB" altLang="zh-HK" dirty="0"/>
              <a:t> (</a:t>
            </a:r>
            <a:r>
              <a:rPr lang="zh-HK" altLang="en-US" dirty="0"/>
              <a:t>駐波</a:t>
            </a:r>
            <a:r>
              <a:rPr lang="en-GB" altLang="zh-HK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Nodes (</a:t>
                </a:r>
                <a:r>
                  <a:rPr lang="zh-HK" altLang="en-US" dirty="0"/>
                  <a:t>節點</a:t>
                </a:r>
                <a:r>
                  <a:rPr lang="en-US" altLang="zh-HK" dirty="0"/>
                  <a:t>/</a:t>
                </a:r>
                <a:r>
                  <a:rPr lang="zh-HK" altLang="en-US" dirty="0"/>
                  <a:t>波節</a:t>
                </a:r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where the string never moves (zero amplitude)</a:t>
                </a:r>
              </a:p>
              <a:p>
                <a:pPr lvl="1"/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[2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𝑘𝑥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]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func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/>
                          </a:rPr>
                          <m:t>𝑘𝑥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𝑘𝑥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𝜋</m:t>
                    </m:r>
                    <m:r>
                      <a:rPr lang="en-US" b="0" i="1" smtClean="0">
                        <a:latin typeface="Cambria Math"/>
                      </a:rPr>
                      <m:t>,   </m:t>
                    </m:r>
                    <m:r>
                      <a:rPr lang="en-US" b="0" i="1" smtClean="0">
                        <a:latin typeface="Cambria Math"/>
                      </a:rPr>
                      <m:t>𝑓𝑜𝑟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=0,1,2,…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,   </m:t>
                    </m:r>
                    <m:r>
                      <a:rPr lang="en-US" i="1">
                        <a:latin typeface="Cambria Math"/>
                      </a:rPr>
                      <m:t>𝑓𝑜𝑟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=0,1,2,…  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∵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𝜆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/>
                  <a:t>   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728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HK" dirty="0"/>
              <a:t>15-7 </a:t>
            </a:r>
            <a:r>
              <a:rPr lang="en-US" altLang="zh-CN" dirty="0"/>
              <a:t>Standing</a:t>
            </a:r>
            <a:r>
              <a:rPr lang="zh-CN" altLang="en-US" dirty="0"/>
              <a:t> </a:t>
            </a:r>
            <a:r>
              <a:rPr lang="en-US" altLang="zh-CN" dirty="0"/>
              <a:t>Waves</a:t>
            </a:r>
            <a:r>
              <a:rPr lang="en-GB" altLang="zh-HK" dirty="0"/>
              <a:t> (</a:t>
            </a:r>
            <a:r>
              <a:rPr lang="zh-HK" altLang="en-US" dirty="0"/>
              <a:t>駐波</a:t>
            </a:r>
            <a:r>
              <a:rPr lang="en-GB" altLang="zh-HK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Antinodes (</a:t>
                </a:r>
                <a:r>
                  <a:rPr lang="zh-HK" altLang="en-US" dirty="0"/>
                  <a:t>腹點</a:t>
                </a:r>
                <a:r>
                  <a:rPr lang="en-US" altLang="zh-HK" dirty="0"/>
                  <a:t>/</a:t>
                </a:r>
                <a:r>
                  <a:rPr lang="zh-HK" altLang="en-US" dirty="0"/>
                  <a:t>波腹</a:t>
                </a:r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where the amplitude of the net wave is a maximum</a:t>
                </a:r>
              </a:p>
              <a:p>
                <a:pPr lvl="1"/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=[2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/>
                          </a:rPr>
                          <m:t>𝑘𝑥</m:t>
                        </m:r>
                      </m:e>
                    </m:func>
                    <m:r>
                      <a:rPr lang="en-US" i="1">
                        <a:latin typeface="Cambria Math"/>
                      </a:rPr>
                      <m:t>]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func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/>
                          </a:rPr>
                          <m:t>𝑘𝑥</m:t>
                        </m:r>
                      </m:e>
                    </m:func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1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𝑘𝑥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/>
                      </a:rPr>
                      <m:t>𝜋</m:t>
                    </m:r>
                    <m:r>
                      <a:rPr lang="en-US" i="1">
                        <a:latin typeface="Cambria Math"/>
                      </a:rPr>
                      <m:t>,   </m:t>
                    </m:r>
                    <m:r>
                      <a:rPr lang="en-US" i="1">
                        <a:latin typeface="Cambria Math"/>
                      </a:rPr>
                      <m:t>𝑓𝑜𝑟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=0,1,2,…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𝜆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,   </m:t>
                    </m:r>
                    <m:r>
                      <a:rPr lang="en-US" i="1">
                        <a:latin typeface="Cambria Math"/>
                      </a:rPr>
                      <m:t>𝑓𝑜𝑟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=0,1,2,… 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∵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𝜆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/>
                  <a:t>    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060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8</a:t>
            </a:r>
            <a:r>
              <a:rPr lang="en-GB" dirty="0"/>
              <a:t> </a:t>
            </a:r>
            <a:r>
              <a:rPr lang="en-US" altLang="zh-CN" dirty="0"/>
              <a:t>Normal</a:t>
            </a:r>
            <a:r>
              <a:rPr lang="zh-CN" altLang="en-US" dirty="0"/>
              <a:t> </a:t>
            </a:r>
            <a:r>
              <a:rPr lang="en-US" altLang="zh-CN" dirty="0"/>
              <a:t>Modes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46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34136"/>
          </a:xfrm>
        </p:spPr>
        <p:txBody>
          <a:bodyPr>
            <a:normAutofit/>
          </a:bodyPr>
          <a:lstStyle/>
          <a:p>
            <a:r>
              <a:rPr lang="en-GB" dirty="0"/>
              <a:t>Suppose we send a continuous sinusoidal wave of a certain frequency along the string, say, toward the right. When the wave reaches the right end, </a:t>
            </a:r>
            <a:r>
              <a:rPr lang="en-GB" i="1" u="sng" dirty="0"/>
              <a:t>it reflects and travels back</a:t>
            </a:r>
            <a:r>
              <a:rPr lang="en-GB" dirty="0"/>
              <a:t> to the left. The interference may produce a standing wave pattern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  <a:p>
            <a:r>
              <a:rPr lang="en-GB" dirty="0"/>
              <a:t>Such a standing wave is said to be produced at </a:t>
            </a:r>
            <a:r>
              <a:rPr lang="en-GB" i="1" u="sng" dirty="0"/>
              <a:t>resonance</a:t>
            </a:r>
            <a:r>
              <a:rPr lang="en-GB" dirty="0"/>
              <a:t>, and the string is said to resonate at these certain frequencies, called </a:t>
            </a:r>
            <a:r>
              <a:rPr lang="en-GB" i="1" u="sng" dirty="0"/>
              <a:t>resonant frequencies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140968"/>
            <a:ext cx="368617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81471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8</a:t>
            </a:r>
            <a:r>
              <a:rPr lang="en-GB" dirty="0"/>
              <a:t> </a:t>
            </a:r>
            <a:r>
              <a:rPr lang="en-US" altLang="zh-CN" dirty="0"/>
              <a:t>Normal</a:t>
            </a:r>
            <a:r>
              <a:rPr lang="zh-CN" altLang="en-US" dirty="0"/>
              <a:t> </a:t>
            </a:r>
            <a:r>
              <a:rPr lang="en-US" altLang="zh-CN" dirty="0"/>
              <a:t>Modes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Resonance can occur at wavelengths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𝜆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,   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𝑓𝑜𝑟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=1, 2, 3, …</m:t>
                    </m:r>
                  </m:oMath>
                </a14:m>
                <a:endParaRPr lang="en-GB" sz="2200" dirty="0">
                  <a:solidFill>
                    <a:schemeClr val="tx1"/>
                  </a:solidFill>
                </a:endParaRPr>
              </a:p>
              <a:p>
                <a:endParaRPr lang="en-GB" dirty="0"/>
              </a:p>
              <a:p>
                <a:r>
                  <a:rPr lang="en-GB" dirty="0"/>
                  <a:t>Resonant frequencies</a:t>
                </a:r>
              </a:p>
              <a:p>
                <a:pPr marL="548640" lvl="2"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𝑓</m:t>
                    </m:r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/>
                          </a:rPr>
                          <m:t>𝑣</m:t>
                        </m:r>
                      </m:num>
                      <m:den>
                        <m:r>
                          <a:rPr lang="en-US" sz="2200" b="0" i="1" smtClean="0">
                            <a:latin typeface="Cambria Math"/>
                          </a:rPr>
                          <m:t>𝜆</m:t>
                        </m:r>
                      </m:den>
                    </m:f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r>
                      <a:rPr lang="en-US" sz="2200" b="0" i="1" smtClean="0">
                        <a:latin typeface="Cambria Math"/>
                      </a:rPr>
                      <m:t>𝑛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/>
                          </a:rPr>
                          <m:t>𝑣</m:t>
                        </m:r>
                      </m:num>
                      <m:den>
                        <m:r>
                          <a:rPr lang="en-US" sz="2200" b="0" i="1" smtClean="0">
                            <a:latin typeface="Cambria Math"/>
                          </a:rPr>
                          <m:t>2</m:t>
                        </m:r>
                        <m:r>
                          <a:rPr lang="en-US" sz="2200" b="0" i="1" smtClean="0">
                            <a:latin typeface="Cambria Math"/>
                          </a:rPr>
                          <m:t>𝐿</m:t>
                        </m:r>
                      </m:den>
                    </m:f>
                    <m:r>
                      <a:rPr lang="en-US" sz="2200" i="1">
                        <a:latin typeface="Cambria Math"/>
                      </a:rPr>
                      <m:t>,   </m:t>
                    </m:r>
                    <m:r>
                      <a:rPr lang="en-US" sz="2200" i="1">
                        <a:latin typeface="Cambria Math"/>
                      </a:rPr>
                      <m:t>𝑓𝑜𝑟</m:t>
                    </m:r>
                    <m:r>
                      <a:rPr lang="en-US" sz="2200" i="1">
                        <a:latin typeface="Cambria Math"/>
                      </a:rPr>
                      <m:t> </m:t>
                    </m:r>
                    <m:r>
                      <a:rPr lang="en-US" sz="2200" i="1">
                        <a:latin typeface="Cambria Math"/>
                      </a:rPr>
                      <m:t>𝑛</m:t>
                    </m:r>
                    <m:r>
                      <a:rPr lang="en-US" sz="2200" i="1">
                        <a:latin typeface="Cambria Math"/>
                      </a:rPr>
                      <m:t>=1, 2, 3, …</m:t>
                    </m:r>
                  </m:oMath>
                </a14:m>
                <a:endParaRPr lang="en-GB" sz="2200" dirty="0"/>
              </a:p>
              <a:p>
                <a:pPr marL="548640" lvl="2">
                  <a:spcBef>
                    <a:spcPts val="600"/>
                  </a:spcBef>
                  <a:buClr>
                    <a:schemeClr val="accent1"/>
                  </a:buClr>
                </a:pPr>
                <a:endParaRPr lang="en-US" dirty="0"/>
              </a:p>
              <a:p>
                <a:pPr marL="548640" lvl="2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GB" i="1" dirty="0"/>
                  <a:t>n</a:t>
                </a:r>
                <a:r>
                  <a:rPr lang="en-GB" dirty="0"/>
                  <a:t> is called the </a:t>
                </a:r>
                <a:r>
                  <a:rPr lang="en-GB" i="1" u="sng" dirty="0"/>
                  <a:t>harmonic </a:t>
                </a:r>
                <a:br>
                  <a:rPr lang="en-GB" i="1" u="sng" dirty="0"/>
                </a:br>
                <a:r>
                  <a:rPr lang="en-GB" i="1" u="sng" dirty="0"/>
                  <a:t>number</a:t>
                </a:r>
                <a:r>
                  <a:rPr lang="en-GB" dirty="0"/>
                  <a:t> of the </a:t>
                </a:r>
                <a:r>
                  <a:rPr lang="en-GB" i="1" dirty="0"/>
                  <a:t>n</a:t>
                </a:r>
                <a:r>
                  <a:rPr lang="en-GB" dirty="0"/>
                  <a:t>th harmonic</a:t>
                </a:r>
              </a:p>
              <a:p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CF17661-A8DA-C9A3-DA9B-6CE4F7BB1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20" y="1313155"/>
            <a:ext cx="3416533" cy="484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83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8</a:t>
            </a:r>
            <a:r>
              <a:rPr lang="en-GB" dirty="0"/>
              <a:t> </a:t>
            </a:r>
            <a:r>
              <a:rPr lang="en-US" altLang="zh-CN" dirty="0"/>
              <a:t>Normal</a:t>
            </a:r>
            <a:r>
              <a:rPr lang="zh-CN" altLang="en-US" dirty="0"/>
              <a:t> </a:t>
            </a:r>
            <a:r>
              <a:rPr lang="en-US" altLang="zh-CN" dirty="0"/>
              <a:t>Modes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07046F-0F32-E76D-BEB8-AE14F7AE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6792"/>
            <a:ext cx="7772400" cy="47003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172FAA-D892-5C0D-92F0-F8B7D243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068" y="1313614"/>
            <a:ext cx="5435600" cy="901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D684F-741C-01E8-56E7-D1379A77D7C9}"/>
              </a:ext>
            </a:extLst>
          </p:cNvPr>
          <p:cNvSpPr txBox="1"/>
          <p:nvPr/>
        </p:nvSpPr>
        <p:spPr>
          <a:xfrm>
            <a:off x="5724128" y="2314476"/>
            <a:ext cx="1206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F:</a:t>
            </a:r>
            <a:r>
              <a:rPr lang="zh-CN" altLang="en-US" sz="2000" dirty="0"/>
              <a:t> </a:t>
            </a:r>
            <a:r>
              <a:rPr lang="en-US" altLang="zh-CN" sz="2000" dirty="0"/>
              <a:t>tension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8335A-17DF-7D33-6D45-20CCECBF7674}"/>
              </a:ext>
            </a:extLst>
          </p:cNvPr>
          <p:cNvSpPr txBox="1"/>
          <p:nvPr/>
        </p:nvSpPr>
        <p:spPr>
          <a:xfrm>
            <a:off x="457200" y="1276379"/>
            <a:ext cx="3106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fundamental frequency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9426310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US" altLang="zh-CN" dirty="0"/>
              <a:t>5</a:t>
            </a:r>
            <a:r>
              <a:rPr lang="en-GB" dirty="0"/>
              <a:t>-</a:t>
            </a:r>
            <a:r>
              <a:rPr lang="en-US" altLang="zh-CN" dirty="0"/>
              <a:t>8</a:t>
            </a:r>
            <a:r>
              <a:rPr lang="en-GB" dirty="0"/>
              <a:t> </a:t>
            </a:r>
            <a:r>
              <a:rPr lang="en-US" altLang="zh-CN" dirty="0"/>
              <a:t>Normal</a:t>
            </a:r>
            <a:r>
              <a:rPr lang="zh-CN" altLang="en-US" dirty="0"/>
              <a:t> </a:t>
            </a:r>
            <a:r>
              <a:rPr lang="en-US" altLang="zh-CN" dirty="0"/>
              <a:t>Modes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1B55E-B9DE-1261-9CA6-E44E8581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65"/>
          <a:stretch/>
        </p:blipFill>
        <p:spPr>
          <a:xfrm>
            <a:off x="467290" y="1268760"/>
            <a:ext cx="4313512" cy="4727550"/>
          </a:xfrm>
          <a:prstGeom prst="rect">
            <a:avLst/>
          </a:prstGeom>
        </p:spPr>
      </p:pic>
      <p:pic>
        <p:nvPicPr>
          <p:cNvPr id="11" name="Picture 10" descr="A guitar in a case on a wooden floor&#10;&#10;Description automatically generated">
            <a:extLst>
              <a:ext uri="{FF2B5EF4-FFF2-40B4-BE49-F238E27FC236}">
                <a16:creationId xmlns:a16="http://schemas.microsoft.com/office/drawing/2014/main" id="{A72D0BC5-07B6-A693-117D-4D97AF287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892" y="2455982"/>
            <a:ext cx="3895908" cy="29219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BBEA18-DD84-D8A8-B459-58B17B3A7CB8}"/>
              </a:ext>
            </a:extLst>
          </p:cNvPr>
          <p:cNvSpPr txBox="1"/>
          <p:nvPr/>
        </p:nvSpPr>
        <p:spPr>
          <a:xfrm>
            <a:off x="7115704" y="5492776"/>
            <a:ext cx="183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Source:</a:t>
            </a:r>
            <a:r>
              <a:rPr lang="zh-CN" altLang="en-US" dirty="0"/>
              <a:t> </a:t>
            </a:r>
            <a:r>
              <a:rPr lang="en-US" altLang="zh-CN" dirty="0" err="1"/>
              <a:t>wikipedia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61C58-53B4-8849-C6CD-AF5BF4B1327E}"/>
              </a:ext>
            </a:extLst>
          </p:cNvPr>
          <p:cNvSpPr txBox="1"/>
          <p:nvPr/>
        </p:nvSpPr>
        <p:spPr>
          <a:xfrm>
            <a:off x="4452846" y="1257863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When a guitar string is plucked (pulled into a triangular shape) and released, a standing wave results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172932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50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3E3EC6-5F38-2E93-1E5D-9626E014D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1192363"/>
            <a:ext cx="6840760" cy="31314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A6E50E-8C68-D57A-8421-CBE04D7DC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10" y="4509120"/>
            <a:ext cx="6831980" cy="142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4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Waves — I (Ch. 15)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BE520-398C-F474-1774-98893ECE6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1484784"/>
            <a:ext cx="74422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400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7190</TotalTime>
  <Words>2097</Words>
  <Application>Microsoft Macintosh PowerPoint</Application>
  <PresentationFormat>On-screen Show (4:3)</PresentationFormat>
  <Paragraphs>310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Grk2k</vt:lpstr>
      <vt:lpstr>Times</vt:lpstr>
      <vt:lpstr>Bookman Old Style</vt:lpstr>
      <vt:lpstr>Calibri</vt:lpstr>
      <vt:lpstr>Cambria Math</vt:lpstr>
      <vt:lpstr>Times New Roman</vt:lpstr>
      <vt:lpstr>Wingdings</vt:lpstr>
      <vt:lpstr>Wingdings 3</vt:lpstr>
      <vt:lpstr>Origin</vt:lpstr>
      <vt:lpstr>PHYS1001B College Physics IB</vt:lpstr>
      <vt:lpstr>Introduction</vt:lpstr>
      <vt:lpstr>PowerPoint Presentation</vt:lpstr>
      <vt:lpstr>Outline</vt:lpstr>
      <vt:lpstr>15-1 Transverse Waves</vt:lpstr>
      <vt:lpstr>15-1 Transverse Waves</vt:lpstr>
      <vt:lpstr>15-1 Transverse Waves</vt:lpstr>
      <vt:lpstr>15-1 Transverse Waves</vt:lpstr>
      <vt:lpstr>15-2 Periodic Waves</vt:lpstr>
      <vt:lpstr>Periodic Transverse Waves</vt:lpstr>
      <vt:lpstr>Periodic Longitudinal Waves</vt:lpstr>
      <vt:lpstr>15-2 Periodic Waves</vt:lpstr>
      <vt:lpstr>15-3 Mathematical Description of a Wave</vt:lpstr>
      <vt:lpstr>PowerPoint Presentation</vt:lpstr>
      <vt:lpstr>15-3 Mathematical Description of a Wave</vt:lpstr>
      <vt:lpstr>15-3 Mathematical Description of a Wave</vt:lpstr>
      <vt:lpstr>Sample Problem</vt:lpstr>
      <vt:lpstr>Sample Problem</vt:lpstr>
      <vt:lpstr>Sample Problem</vt:lpstr>
      <vt:lpstr>Questions</vt:lpstr>
      <vt:lpstr>15-3 Mathematical Description of a Wave</vt:lpstr>
      <vt:lpstr>15-3 Mathematical Description of a Wave</vt:lpstr>
      <vt:lpstr>15-3 Mathematical Description of a Wave</vt:lpstr>
      <vt:lpstr>15-4 Speed of a Transverse Waves</vt:lpstr>
      <vt:lpstr>15-4 Speed of a Transverse Waves</vt:lpstr>
      <vt:lpstr>15-4 Speed of a Transverse Waves</vt:lpstr>
      <vt:lpstr>Sample Problem</vt:lpstr>
      <vt:lpstr>Sample Problem</vt:lpstr>
      <vt:lpstr>15-5 Energy in Wave Motion</vt:lpstr>
      <vt:lpstr>15-5 Energy in Wave Motion</vt:lpstr>
      <vt:lpstr>15-5 Energy in Wave Motion</vt:lpstr>
      <vt:lpstr>15-5 Energy in Wave Motion</vt:lpstr>
      <vt:lpstr>15-5 Energy in Wave Motion</vt:lpstr>
      <vt:lpstr>15-5 Energy in Wave Motion</vt:lpstr>
      <vt:lpstr>15-5 Energy in Wave Motion</vt:lpstr>
      <vt:lpstr>15-5 Energy in Wave Motion</vt:lpstr>
      <vt:lpstr>15-6 Boundary Conditions </vt:lpstr>
      <vt:lpstr>15-6 Boundary Conditions </vt:lpstr>
      <vt:lpstr>15-6 Interference (干涉) of Waves</vt:lpstr>
      <vt:lpstr>PowerPoint Presentation</vt:lpstr>
      <vt:lpstr>15-6 Interference (干涉) of Waves</vt:lpstr>
      <vt:lpstr>15-7 Standing Waves (駐波) on a String</vt:lpstr>
      <vt:lpstr>15-7 Standing Waves (駐波) on a String</vt:lpstr>
      <vt:lpstr>15-7 Standing Waves (駐波) on a String</vt:lpstr>
      <vt:lpstr>15-7 Standing Waves (駐波) on a String</vt:lpstr>
      <vt:lpstr>15-8 Normal Modes of a String</vt:lpstr>
      <vt:lpstr>15-8 Normal Modes of a String</vt:lpstr>
      <vt:lpstr>15-8 Normal Modes of a String</vt:lpstr>
      <vt:lpstr>15-8 Normal Modes of a String</vt:lpstr>
      <vt:lpstr>Sample Problem</vt:lpstr>
      <vt:lpstr>Sample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tanka tang</cp:lastModifiedBy>
  <cp:revision>196</cp:revision>
  <cp:lastPrinted>2019-08-29T06:05:10Z</cp:lastPrinted>
  <dcterms:created xsi:type="dcterms:W3CDTF">2013-05-27T09:54:43Z</dcterms:created>
  <dcterms:modified xsi:type="dcterms:W3CDTF">2024-08-29T10:35:20Z</dcterms:modified>
</cp:coreProperties>
</file>