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48"/>
  </p:notesMasterIdLst>
  <p:sldIdLst>
    <p:sldId id="256" r:id="rId2"/>
    <p:sldId id="264" r:id="rId3"/>
    <p:sldId id="324" r:id="rId4"/>
    <p:sldId id="257" r:id="rId5"/>
    <p:sldId id="306" r:id="rId6"/>
    <p:sldId id="325" r:id="rId7"/>
    <p:sldId id="326" r:id="rId8"/>
    <p:sldId id="327" r:id="rId9"/>
    <p:sldId id="328" r:id="rId10"/>
    <p:sldId id="329" r:id="rId11"/>
    <p:sldId id="330" r:id="rId12"/>
    <p:sldId id="331" r:id="rId13"/>
    <p:sldId id="332" r:id="rId14"/>
    <p:sldId id="333" r:id="rId15"/>
    <p:sldId id="334" r:id="rId16"/>
    <p:sldId id="335" r:id="rId17"/>
    <p:sldId id="336" r:id="rId18"/>
    <p:sldId id="337" r:id="rId19"/>
    <p:sldId id="338" r:id="rId20"/>
    <p:sldId id="339" r:id="rId21"/>
    <p:sldId id="340" r:id="rId22"/>
    <p:sldId id="341" r:id="rId23"/>
    <p:sldId id="342" r:id="rId24"/>
    <p:sldId id="343" r:id="rId25"/>
    <p:sldId id="344" r:id="rId26"/>
    <p:sldId id="345" r:id="rId27"/>
    <p:sldId id="314" r:id="rId28"/>
    <p:sldId id="346" r:id="rId29"/>
    <p:sldId id="347" r:id="rId30"/>
    <p:sldId id="348" r:id="rId31"/>
    <p:sldId id="349" r:id="rId32"/>
    <p:sldId id="350" r:id="rId33"/>
    <p:sldId id="351" r:id="rId34"/>
    <p:sldId id="352" r:id="rId35"/>
    <p:sldId id="353" r:id="rId36"/>
    <p:sldId id="355" r:id="rId37"/>
    <p:sldId id="354" r:id="rId38"/>
    <p:sldId id="357" r:id="rId39"/>
    <p:sldId id="365" r:id="rId40"/>
    <p:sldId id="364" r:id="rId41"/>
    <p:sldId id="356" r:id="rId42"/>
    <p:sldId id="359" r:id="rId43"/>
    <p:sldId id="358" r:id="rId44"/>
    <p:sldId id="360" r:id="rId45"/>
    <p:sldId id="361" r:id="rId46"/>
    <p:sldId id="362" r:id="rId47"/>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guide id="3" orient="horz" pos="3224">
          <p15:clr>
            <a:srgbClr val="A4A3A4"/>
          </p15:clr>
        </p15:guide>
        <p15:guide id="4"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374"/>
    <p:restoredTop sz="94614"/>
  </p:normalViewPr>
  <p:slideViewPr>
    <p:cSldViewPr>
      <p:cViewPr varScale="1">
        <p:scale>
          <a:sx n="75" d="100"/>
          <a:sy n="75" d="100"/>
        </p:scale>
        <p:origin x="60" y="78"/>
      </p:cViewPr>
      <p:guideLst>
        <p:guide orient="horz" pos="2160"/>
        <p:guide pos="2880"/>
      </p:guideLst>
    </p:cSldViewPr>
  </p:slideViewPr>
  <p:notesTextViewPr>
    <p:cViewPr>
      <p:scale>
        <a:sx n="1" d="1"/>
        <a:sy n="1" d="1"/>
      </p:scale>
      <p:origin x="0" y="0"/>
    </p:cViewPr>
  </p:notesTextViewPr>
  <p:notesViewPr>
    <p:cSldViewPr>
      <p:cViewPr varScale="1">
        <p:scale>
          <a:sx n="83" d="100"/>
          <a:sy n="83" d="100"/>
        </p:scale>
        <p:origin x="-1992" y="-72"/>
      </p:cViewPr>
      <p:guideLst>
        <p:guide orient="horz" pos="2880"/>
        <p:guide pos="2160"/>
        <p:guide orient="horz" pos="3224"/>
        <p:guide pos="2236"/>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lstStyle>
          <a:p>
            <a:endParaRPr lang="en-GB"/>
          </a:p>
        </p:txBody>
      </p:sp>
      <p:sp>
        <p:nvSpPr>
          <p:cNvPr id="3" name="Date Placeholder 2"/>
          <p:cNvSpPr>
            <a:spLocks noGrp="1"/>
          </p:cNvSpPr>
          <p:nvPr>
            <p:ph type="dt" idx="1"/>
          </p:nvPr>
        </p:nvSpPr>
        <p:spPr>
          <a:xfrm>
            <a:off x="4021294" y="0"/>
            <a:ext cx="3076363" cy="511731"/>
          </a:xfrm>
          <a:prstGeom prst="rect">
            <a:avLst/>
          </a:prstGeom>
        </p:spPr>
        <p:txBody>
          <a:bodyPr vert="horz" lIns="99048" tIns="49524" rIns="99048" bIns="49524" rtlCol="0"/>
          <a:lstStyle>
            <a:lvl1pPr algn="r">
              <a:defRPr sz="1300"/>
            </a:lvl1pPr>
          </a:lstStyle>
          <a:p>
            <a:fld id="{2AA16D03-D235-4816-A60A-290C0630A47B}" type="datetimeFigureOut">
              <a:rPr lang="en-GB" smtClean="0"/>
              <a:t>15/09/2025</a:t>
            </a:fld>
            <a:endParaRPr lang="en-GB"/>
          </a:p>
        </p:txBody>
      </p:sp>
      <p:sp>
        <p:nvSpPr>
          <p:cNvPr id="4" name="Slide Image Placeholder 3"/>
          <p:cNvSpPr>
            <a:spLocks noGrp="1" noRot="1" noChangeAspect="1"/>
          </p:cNvSpPr>
          <p:nvPr>
            <p:ph type="sldImg" idx="2"/>
          </p:nvPr>
        </p:nvSpPr>
        <p:spPr>
          <a:xfrm>
            <a:off x="992188" y="768350"/>
            <a:ext cx="5114925" cy="3836988"/>
          </a:xfrm>
          <a:prstGeom prst="rect">
            <a:avLst/>
          </a:prstGeom>
          <a:noFill/>
          <a:ln w="12700">
            <a:solidFill>
              <a:prstClr val="black"/>
            </a:solidFill>
          </a:ln>
        </p:spPr>
        <p:txBody>
          <a:bodyPr vert="horz" lIns="99048" tIns="49524" rIns="99048" bIns="49524" rtlCol="0" anchor="ctr"/>
          <a:lstStyle/>
          <a:p>
            <a:endParaRPr lang="en-GB"/>
          </a:p>
        </p:txBody>
      </p:sp>
      <p:sp>
        <p:nvSpPr>
          <p:cNvPr id="5" name="Notes Placeholder 4"/>
          <p:cNvSpPr>
            <a:spLocks noGrp="1"/>
          </p:cNvSpPr>
          <p:nvPr>
            <p:ph type="body" sz="quarter" idx="3"/>
          </p:nvPr>
        </p:nvSpPr>
        <p:spPr>
          <a:xfrm>
            <a:off x="709930" y="4861441"/>
            <a:ext cx="5679440" cy="4605576"/>
          </a:xfrm>
          <a:prstGeom prst="rect">
            <a:avLst/>
          </a:prstGeom>
        </p:spPr>
        <p:txBody>
          <a:bodyPr vert="horz" lIns="99048" tIns="49524" rIns="99048" bIns="4952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721106"/>
            <a:ext cx="3076363" cy="511731"/>
          </a:xfrm>
          <a:prstGeom prst="rect">
            <a:avLst/>
          </a:prstGeom>
        </p:spPr>
        <p:txBody>
          <a:bodyPr vert="horz" lIns="99048" tIns="49524" rIns="99048" bIns="49524" rtlCol="0" anchor="b"/>
          <a:lstStyle>
            <a:lvl1pPr algn="l">
              <a:defRPr sz="1300"/>
            </a:lvl1pPr>
          </a:lstStyle>
          <a:p>
            <a:endParaRPr lang="en-GB"/>
          </a:p>
        </p:txBody>
      </p:sp>
      <p:sp>
        <p:nvSpPr>
          <p:cNvPr id="7" name="Slide Number Placeholder 6"/>
          <p:cNvSpPr>
            <a:spLocks noGrp="1"/>
          </p:cNvSpPr>
          <p:nvPr>
            <p:ph type="sldNum" sz="quarter" idx="5"/>
          </p:nvPr>
        </p:nvSpPr>
        <p:spPr>
          <a:xfrm>
            <a:off x="4021294" y="9721106"/>
            <a:ext cx="3076363" cy="511731"/>
          </a:xfrm>
          <a:prstGeom prst="rect">
            <a:avLst/>
          </a:prstGeom>
        </p:spPr>
        <p:txBody>
          <a:bodyPr vert="horz" lIns="99048" tIns="49524" rIns="99048" bIns="49524" rtlCol="0" anchor="b"/>
          <a:lstStyle>
            <a:lvl1pPr algn="r">
              <a:defRPr sz="1300"/>
            </a:lvl1pPr>
          </a:lstStyle>
          <a:p>
            <a:fld id="{1C7D4A74-6C7F-4752-B49D-9BACC919F9E5}" type="slidenum">
              <a:rPr lang="en-GB" smtClean="0"/>
              <a:t>‹#›</a:t>
            </a:fld>
            <a:endParaRPr lang="en-GB"/>
          </a:p>
        </p:txBody>
      </p:sp>
    </p:spTree>
    <p:extLst>
      <p:ext uri="{BB962C8B-B14F-4D97-AF65-F5344CB8AC3E}">
        <p14:creationId xmlns:p14="http://schemas.microsoft.com/office/powerpoint/2010/main" val="36249288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C7D4A74-6C7F-4752-B49D-9BACC919F9E5}" type="slidenum">
              <a:rPr lang="en-GB" smtClean="0"/>
              <a:t>19</a:t>
            </a:fld>
            <a:endParaRPr lang="en-GB"/>
          </a:p>
        </p:txBody>
      </p:sp>
    </p:spTree>
    <p:extLst>
      <p:ext uri="{BB962C8B-B14F-4D97-AF65-F5344CB8AC3E}">
        <p14:creationId xmlns:p14="http://schemas.microsoft.com/office/powerpoint/2010/main" val="13522880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r>
              <a:rPr lang="en-SG" altLang="zh-TW"/>
              <a:t>Thermodynamics I (Ch. 17)</a:t>
            </a:r>
            <a:endParaRPr lang="en-GB" dirty="0"/>
          </a:p>
        </p:txBody>
      </p:sp>
      <p:sp>
        <p:nvSpPr>
          <p:cNvPr id="17" name="Footer Placeholder 16"/>
          <p:cNvSpPr>
            <a:spLocks noGrp="1"/>
          </p:cNvSpPr>
          <p:nvPr>
            <p:ph type="ftr" sz="quarter" idx="11"/>
          </p:nvPr>
        </p:nvSpPr>
        <p:spPr>
          <a:xfrm>
            <a:off x="2898648" y="6355080"/>
            <a:ext cx="3474720" cy="365760"/>
          </a:xfrm>
        </p:spPr>
        <p:txBody>
          <a:bodyPr/>
          <a:lstStyle/>
          <a:p>
            <a:endParaRPr lang="en-GB"/>
          </a:p>
        </p:txBody>
      </p:sp>
      <p:sp>
        <p:nvSpPr>
          <p:cNvPr id="29" name="Slide Number Placeholder 28"/>
          <p:cNvSpPr>
            <a:spLocks noGrp="1"/>
          </p:cNvSpPr>
          <p:nvPr>
            <p:ph type="sldNum" sz="quarter" idx="12"/>
          </p:nvPr>
        </p:nvSpPr>
        <p:spPr>
          <a:xfrm>
            <a:off x="1216152" y="6355080"/>
            <a:ext cx="1219200" cy="365760"/>
          </a:xfrm>
        </p:spPr>
        <p:txBody>
          <a:bodyPr/>
          <a:lstStyle/>
          <a:p>
            <a:fld id="{60093787-08EC-4113-8521-0E445B8625BD}" type="slidenum">
              <a:rPr lang="en-GB" smtClean="0"/>
              <a:t>‹#›</a:t>
            </a:fld>
            <a:endParaRPr lang="en-GB"/>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a:xfrm>
            <a:off x="3563888" y="6356350"/>
            <a:ext cx="5125960" cy="365760"/>
          </a:xfrm>
        </p:spPr>
        <p:txBody>
          <a:bodyPr/>
          <a:lstStyle>
            <a:lvl1pPr algn="r">
              <a:defRPr/>
            </a:lvl1pPr>
          </a:lstStyle>
          <a:p>
            <a:r>
              <a:rPr lang="en-SG" altLang="zh-TW"/>
              <a:t>Thermodynamics I (Ch. 17)</a:t>
            </a:r>
            <a:endParaRPr lang="en-GB" dirty="0"/>
          </a:p>
        </p:txBody>
      </p:sp>
      <p:sp>
        <p:nvSpPr>
          <p:cNvPr id="5" name="Footer Placeholder 4"/>
          <p:cNvSpPr>
            <a:spLocks noGrp="1"/>
          </p:cNvSpPr>
          <p:nvPr>
            <p:ph type="ftr" sz="quarter" idx="11"/>
          </p:nvPr>
        </p:nvSpPr>
        <p:spPr/>
        <p:txBody>
          <a:bodyPr/>
          <a:lstStyle>
            <a:lvl1pPr algn="l">
              <a:defRPr/>
            </a:lvl1pPr>
          </a:lstStyle>
          <a:p>
            <a:endParaRPr lang="en-GB" dirty="0"/>
          </a:p>
        </p:txBody>
      </p:sp>
      <p:sp>
        <p:nvSpPr>
          <p:cNvPr id="6" name="Slide Number Placeholder 5"/>
          <p:cNvSpPr>
            <a:spLocks noGrp="1"/>
          </p:cNvSpPr>
          <p:nvPr>
            <p:ph type="sldNum" sz="quarter" idx="12"/>
          </p:nvPr>
        </p:nvSpPr>
        <p:spPr/>
        <p:txBody>
          <a:bodyPr/>
          <a:lstStyle/>
          <a:p>
            <a:fld id="{60093787-08EC-4113-8521-0E445B8625BD}" type="slidenum">
              <a:rPr lang="en-GB" smtClean="0"/>
              <a:t>‹#›</a:t>
            </a:fld>
            <a:endParaRPr lang="en-GB"/>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r>
              <a:rPr lang="en-SG" altLang="zh-TW"/>
              <a:t>Thermodynamics I (Ch. 17)</a:t>
            </a:r>
            <a:endParaRPr lang="en-GB" dirty="0"/>
          </a:p>
        </p:txBody>
      </p:sp>
      <p:sp>
        <p:nvSpPr>
          <p:cNvPr id="5" name="Footer Placeholder 4"/>
          <p:cNvSpPr>
            <a:spLocks noGrp="1"/>
          </p:cNvSpPr>
          <p:nvPr>
            <p:ph type="ftr" sz="quarter" idx="11"/>
          </p:nvPr>
        </p:nvSpPr>
        <p:spPr>
          <a:xfrm>
            <a:off x="2898648" y="6355080"/>
            <a:ext cx="3474720" cy="365760"/>
          </a:xfrm>
        </p:spPr>
        <p:txBody>
          <a:bodyPr/>
          <a:lstStyle/>
          <a:p>
            <a:endParaRPr lang="en-GB"/>
          </a:p>
        </p:txBody>
      </p:sp>
      <p:sp>
        <p:nvSpPr>
          <p:cNvPr id="6" name="Slide Number Placeholder 5"/>
          <p:cNvSpPr>
            <a:spLocks noGrp="1"/>
          </p:cNvSpPr>
          <p:nvPr>
            <p:ph type="sldNum" sz="quarter" idx="12"/>
          </p:nvPr>
        </p:nvSpPr>
        <p:spPr>
          <a:xfrm>
            <a:off x="1069848" y="6355080"/>
            <a:ext cx="1520952" cy="365760"/>
          </a:xfrm>
        </p:spPr>
        <p:txBody>
          <a:bodyPr/>
          <a:lstStyle/>
          <a:p>
            <a:fld id="{60093787-08EC-4113-8521-0E445B8625BD}" type="slidenum">
              <a:rPr lang="en-GB" smtClean="0"/>
              <a:t>‹#›</a:t>
            </a:fld>
            <a:endParaRPr lang="en-GB"/>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r>
              <a:rPr lang="en-SG" altLang="zh-TW"/>
              <a:t>Thermodynamics I (Ch. 17)</a:t>
            </a:r>
            <a:endParaRPr lang="en-GB" dirty="0"/>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0093787-08EC-4113-8521-0E445B8625BD}" type="slidenum">
              <a:rPr lang="en-GB" smtClean="0"/>
              <a:t>‹#›</a:t>
            </a:fld>
            <a:endParaRPr lang="en-GB"/>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r>
              <a:rPr lang="en-SG" altLang="zh-TW"/>
              <a:t>Thermodynamics I (Ch. 17)</a:t>
            </a:r>
            <a:endParaRPr lang="en-GB" dirty="0"/>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60093787-08EC-4113-8521-0E445B8625BD}" type="slidenum">
              <a:rPr lang="en-GB" smtClean="0"/>
              <a:t>‹#›</a:t>
            </a:fld>
            <a:endParaRPr lang="en-GB"/>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r>
              <a:rPr lang="en-SG" altLang="zh-TW"/>
              <a:t>Thermodynamics I (Ch. 17)</a:t>
            </a:r>
            <a:endParaRPr lang="en-GB" dirty="0"/>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60093787-08EC-4113-8521-0E445B8625BD}" type="slidenum">
              <a:rPr lang="en-GB" smtClean="0"/>
              <a:t>‹#›</a:t>
            </a:fld>
            <a:endParaRPr lang="en-GB"/>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SG" altLang="zh-TW"/>
              <a:t>Thermodynamics I (Ch. 17)</a:t>
            </a:r>
            <a:endParaRPr lang="en-GB" dirty="0"/>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60093787-08EC-4113-8521-0E445B8625BD}" type="slidenum">
              <a:rPr lang="en-GB" smtClean="0"/>
              <a:t>‹#›</a:t>
            </a:fld>
            <a:endParaRPr lang="en-GB"/>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r>
              <a:rPr lang="en-SG" altLang="zh-TW"/>
              <a:t>Thermodynamics I (Ch. 17)</a:t>
            </a:r>
            <a:endParaRPr lang="en-GB" dirty="0"/>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0093787-08EC-4113-8521-0E445B8625BD}" type="slidenum">
              <a:rPr lang="en-GB" smtClean="0"/>
              <a:t>‹#›</a:t>
            </a:fld>
            <a:endParaRPr lang="en-GB"/>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r>
              <a:rPr lang="en-SG" altLang="zh-TW"/>
              <a:t>Thermodynamics I (Ch. 17)</a:t>
            </a:r>
            <a:endParaRPr lang="en-GB" dirty="0"/>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0093787-08EC-4113-8521-0E445B8625BD}" type="slidenum">
              <a:rPr lang="en-GB" smtClean="0"/>
              <a:t>‹#›</a:t>
            </a:fld>
            <a:endParaRPr lang="en-GB"/>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r>
              <a:rPr lang="en-SG" altLang="zh-TW"/>
              <a:t>Thermodynamics I (Ch. 17)</a:t>
            </a:r>
            <a:endParaRPr lang="en-GB" dirty="0"/>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0093787-08EC-4113-8521-0E445B8625BD}" type="slidenum">
              <a:rPr lang="en-GB" smtClean="0"/>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r>
              <a:rPr lang="en-SG" altLang="zh-TW"/>
              <a:t>Thermodynamics I (Ch. 17)</a:t>
            </a:r>
            <a:endParaRPr lang="en-GB" dirty="0"/>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0093787-08EC-4113-8521-0E445B8625BD}" type="slidenum">
              <a:rPr lang="en-GB" smtClean="0"/>
              <a:t>‹#›</a:t>
            </a:fld>
            <a:endParaRPr lang="en-GB"/>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r>
              <a:rPr lang="en-SG" altLang="zh-TW"/>
              <a:t>Thermodynamics I (Ch. 17)</a:t>
            </a:r>
            <a:endParaRPr lang="en-GB" dirty="0"/>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en-GB"/>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60093787-08EC-4113-8521-0E445B8625BD}" type="slidenum">
              <a:rPr lang="en-GB" smtClean="0"/>
              <a:t>‹#›</a:t>
            </a:fld>
            <a:endParaRPr lang="en-GB"/>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2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2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3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4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44.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image" Target="../media/image69.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71.png"/><Relationship Id="rId1" Type="http://schemas.openxmlformats.org/officeDocument/2006/relationships/slideLayout" Target="../slideLayouts/slideLayout2.xml"/><Relationship Id="rId5" Type="http://schemas.openxmlformats.org/officeDocument/2006/relationships/image" Target="../media/image73.png"/><Relationship Id="rId4" Type="http://schemas.openxmlformats.org/officeDocument/2006/relationships/image" Target="../media/image7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zh-CN" dirty="0"/>
              <a:t>PHYS1001B</a:t>
            </a:r>
            <a:r>
              <a:rPr lang="en-GB" dirty="0"/>
              <a:t> </a:t>
            </a:r>
            <a:r>
              <a:rPr lang="en-US" altLang="zh-CN" dirty="0"/>
              <a:t>College</a:t>
            </a:r>
            <a:r>
              <a:rPr lang="zh-CN" altLang="en-US" dirty="0"/>
              <a:t> </a:t>
            </a:r>
            <a:r>
              <a:rPr lang="en-GB" dirty="0"/>
              <a:t>Physics I</a:t>
            </a:r>
            <a:r>
              <a:rPr lang="en-US" altLang="zh-CN"/>
              <a:t>B</a:t>
            </a:r>
            <a:endParaRPr lang="en-GB" dirty="0"/>
          </a:p>
        </p:txBody>
      </p:sp>
      <p:sp>
        <p:nvSpPr>
          <p:cNvPr id="3" name="Subtitle 2"/>
          <p:cNvSpPr>
            <a:spLocks noGrp="1"/>
          </p:cNvSpPr>
          <p:nvPr>
            <p:ph type="subTitle" idx="1"/>
          </p:nvPr>
        </p:nvSpPr>
        <p:spPr/>
        <p:txBody>
          <a:bodyPr>
            <a:normAutofit/>
          </a:bodyPr>
          <a:lstStyle/>
          <a:p>
            <a:r>
              <a:rPr lang="en-US" altLang="zh-CN" dirty="0"/>
              <a:t>Thermodynamics</a:t>
            </a:r>
            <a:r>
              <a:rPr lang="zh-CN" altLang="en-US" dirty="0"/>
              <a:t> </a:t>
            </a:r>
            <a:r>
              <a:rPr lang="en-US" altLang="zh-CN" dirty="0"/>
              <a:t>I</a:t>
            </a:r>
            <a:r>
              <a:rPr lang="zh-CN" altLang="en-US" dirty="0"/>
              <a:t> </a:t>
            </a:r>
            <a:r>
              <a:rPr lang="fr-FR" dirty="0"/>
              <a:t>— </a:t>
            </a:r>
            <a:r>
              <a:rPr lang="en-US" altLang="zh-CN" dirty="0"/>
              <a:t>Temperature</a:t>
            </a:r>
            <a:r>
              <a:rPr lang="fr-FR" dirty="0"/>
              <a:t> and Heat</a:t>
            </a:r>
            <a:r>
              <a:rPr lang="zh-CN" altLang="en-US" dirty="0"/>
              <a:t> </a:t>
            </a:r>
            <a:r>
              <a:rPr lang="fr-FR" dirty="0"/>
              <a:t>(Ch. 1</a:t>
            </a:r>
            <a:r>
              <a:rPr lang="en-US" altLang="zh-CN" dirty="0"/>
              <a:t>7</a:t>
            </a:r>
            <a:r>
              <a:rPr lang="fr-FR" dirty="0"/>
              <a:t>)</a:t>
            </a:r>
            <a:endParaRPr lang="en-GB" dirty="0"/>
          </a:p>
        </p:txBody>
      </p:sp>
    </p:spTree>
    <p:extLst>
      <p:ext uri="{BB962C8B-B14F-4D97-AF65-F5344CB8AC3E}">
        <p14:creationId xmlns:p14="http://schemas.microsoft.com/office/powerpoint/2010/main" val="2644017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endParaRPr lang="en-GB" dirty="0"/>
          </a:p>
        </p:txBody>
      </p:sp>
      <p:sp>
        <p:nvSpPr>
          <p:cNvPr id="3" name="Date Placeholder 2"/>
          <p:cNvSpPr>
            <a:spLocks noGrp="1"/>
          </p:cNvSpPr>
          <p:nvPr>
            <p:ph type="dt" sz="half" idx="10"/>
          </p:nvPr>
        </p:nvSpPr>
        <p:spPr/>
        <p:txBody>
          <a:bodyPr/>
          <a:lstStyle/>
          <a:p>
            <a:r>
              <a:rPr lang="en-SG" altLang="zh-CN"/>
              <a:t>Thermodynamics I (Ch. 17)</a:t>
            </a:r>
            <a:endParaRPr lang="en-GB" dirty="0"/>
          </a:p>
        </p:txBody>
      </p:sp>
      <p:sp>
        <p:nvSpPr>
          <p:cNvPr id="4" name="Slide Number Placeholder 3"/>
          <p:cNvSpPr>
            <a:spLocks noGrp="1"/>
          </p:cNvSpPr>
          <p:nvPr>
            <p:ph type="sldNum" sz="quarter" idx="12"/>
          </p:nvPr>
        </p:nvSpPr>
        <p:spPr/>
        <p:txBody>
          <a:bodyPr/>
          <a:lstStyle/>
          <a:p>
            <a:fld id="{60093787-08EC-4113-8521-0E445B8625BD}" type="slidenum">
              <a:rPr lang="en-GB" smtClean="0"/>
              <a:t>2</a:t>
            </a:fld>
            <a:endParaRPr lang="en-GB"/>
          </a:p>
        </p:txBody>
      </p:sp>
      <p:pic>
        <p:nvPicPr>
          <p:cNvPr id="9" name="Picture 8">
            <a:extLst>
              <a:ext uri="{FF2B5EF4-FFF2-40B4-BE49-F238E27FC236}">
                <a16:creationId xmlns:a16="http://schemas.microsoft.com/office/drawing/2014/main" id="{642A80EC-AECE-3FCD-20CF-6EEF6337FC57}"/>
              </a:ext>
            </a:extLst>
          </p:cNvPr>
          <p:cNvPicPr>
            <a:picLocks noChangeAspect="1"/>
          </p:cNvPicPr>
          <p:nvPr/>
        </p:nvPicPr>
        <p:blipFill rotWithShape="1">
          <a:blip r:embed="rId2"/>
          <a:srcRect t="1839"/>
          <a:stretch/>
        </p:blipFill>
        <p:spPr>
          <a:xfrm>
            <a:off x="971600" y="1205880"/>
            <a:ext cx="6910536" cy="5087590"/>
          </a:xfrm>
          <a:prstGeom prst="rect">
            <a:avLst/>
          </a:prstGeom>
        </p:spPr>
      </p:pic>
    </p:spTree>
    <p:extLst>
      <p:ext uri="{BB962C8B-B14F-4D97-AF65-F5344CB8AC3E}">
        <p14:creationId xmlns:p14="http://schemas.microsoft.com/office/powerpoint/2010/main" val="3263058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2987D-49EB-5233-DE01-2393850D78BD}"/>
              </a:ext>
            </a:extLst>
          </p:cNvPr>
          <p:cNvSpPr>
            <a:spLocks noGrp="1"/>
          </p:cNvSpPr>
          <p:nvPr>
            <p:ph type="title"/>
          </p:nvPr>
        </p:nvSpPr>
        <p:spPr/>
        <p:txBody>
          <a:bodyPr/>
          <a:lstStyle/>
          <a:p>
            <a:r>
              <a:rPr lang="en-US" dirty="0"/>
              <a:t>Introduction</a:t>
            </a:r>
          </a:p>
        </p:txBody>
      </p:sp>
      <p:sp>
        <p:nvSpPr>
          <p:cNvPr id="3" name="Date Placeholder 2">
            <a:extLst>
              <a:ext uri="{FF2B5EF4-FFF2-40B4-BE49-F238E27FC236}">
                <a16:creationId xmlns:a16="http://schemas.microsoft.com/office/drawing/2014/main" id="{299B5CE2-4919-4946-38BD-15F8FF42A6D9}"/>
              </a:ext>
            </a:extLst>
          </p:cNvPr>
          <p:cNvSpPr>
            <a:spLocks noGrp="1"/>
          </p:cNvSpPr>
          <p:nvPr>
            <p:ph type="dt" sz="half" idx="10"/>
          </p:nvPr>
        </p:nvSpPr>
        <p:spPr/>
        <p:txBody>
          <a:bodyPr/>
          <a:lstStyle/>
          <a:p>
            <a:r>
              <a:rPr lang="en-SG" altLang="zh-TW"/>
              <a:t>Thermodynamics I (Ch. 17)</a:t>
            </a:r>
            <a:endParaRPr lang="en-GB" dirty="0"/>
          </a:p>
        </p:txBody>
      </p:sp>
      <p:sp>
        <p:nvSpPr>
          <p:cNvPr id="4" name="Slide Number Placeholder 3">
            <a:extLst>
              <a:ext uri="{FF2B5EF4-FFF2-40B4-BE49-F238E27FC236}">
                <a16:creationId xmlns:a16="http://schemas.microsoft.com/office/drawing/2014/main" id="{B3BCF58E-C26B-CA8D-D997-A1D7D0C01895}"/>
              </a:ext>
            </a:extLst>
          </p:cNvPr>
          <p:cNvSpPr>
            <a:spLocks noGrp="1"/>
          </p:cNvSpPr>
          <p:nvPr>
            <p:ph type="sldNum" sz="quarter" idx="12"/>
          </p:nvPr>
        </p:nvSpPr>
        <p:spPr/>
        <p:txBody>
          <a:bodyPr/>
          <a:lstStyle/>
          <a:p>
            <a:fld id="{60093787-08EC-4113-8521-0E445B8625BD}" type="slidenum">
              <a:rPr lang="en-GB" smtClean="0"/>
              <a:t>3</a:t>
            </a:fld>
            <a:endParaRPr lang="en-GB"/>
          </a:p>
        </p:txBody>
      </p:sp>
      <p:pic>
        <p:nvPicPr>
          <p:cNvPr id="6" name="Picture 5">
            <a:extLst>
              <a:ext uri="{FF2B5EF4-FFF2-40B4-BE49-F238E27FC236}">
                <a16:creationId xmlns:a16="http://schemas.microsoft.com/office/drawing/2014/main" id="{AF4ED073-0F0B-6AE5-374B-C2F382F490C4}"/>
              </a:ext>
            </a:extLst>
          </p:cNvPr>
          <p:cNvPicPr>
            <a:picLocks noChangeAspect="1"/>
          </p:cNvPicPr>
          <p:nvPr/>
        </p:nvPicPr>
        <p:blipFill>
          <a:blip r:embed="rId2"/>
          <a:stretch>
            <a:fillRect/>
          </a:stretch>
        </p:blipFill>
        <p:spPr>
          <a:xfrm>
            <a:off x="247453" y="2482774"/>
            <a:ext cx="8649093" cy="1892451"/>
          </a:xfrm>
          <a:prstGeom prst="rect">
            <a:avLst/>
          </a:prstGeom>
        </p:spPr>
      </p:pic>
    </p:spTree>
    <p:extLst>
      <p:ext uri="{BB962C8B-B14F-4D97-AF65-F5344CB8AC3E}">
        <p14:creationId xmlns:p14="http://schemas.microsoft.com/office/powerpoint/2010/main" val="42601517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endParaRPr lang="en-GB" dirty="0"/>
          </a:p>
        </p:txBody>
      </p:sp>
      <p:sp>
        <p:nvSpPr>
          <p:cNvPr id="3" name="Content Placeholder 2"/>
          <p:cNvSpPr>
            <a:spLocks noGrp="1"/>
          </p:cNvSpPr>
          <p:nvPr>
            <p:ph sz="quarter" idx="1"/>
          </p:nvPr>
        </p:nvSpPr>
        <p:spPr/>
        <p:txBody>
          <a:bodyPr>
            <a:normAutofit/>
          </a:bodyPr>
          <a:lstStyle/>
          <a:p>
            <a:r>
              <a:rPr lang="en-US" altLang="zh-CN" sz="2400" dirty="0">
                <a:effectLst/>
                <a:latin typeface="Helvetica Neue" panose="02000503000000020004" pitchFamily="2" charset="0"/>
              </a:rPr>
              <a:t>17-1</a:t>
            </a:r>
            <a:r>
              <a:rPr lang="zh-CN" altLang="en-US" sz="2400" dirty="0">
                <a:effectLst/>
                <a:latin typeface="Helvetica Neue" panose="02000503000000020004" pitchFamily="2" charset="0"/>
              </a:rPr>
              <a:t> </a:t>
            </a:r>
            <a:r>
              <a:rPr lang="en-SG" sz="2400" dirty="0">
                <a:effectLst/>
                <a:latin typeface="Helvetica Neue" panose="02000503000000020004" pitchFamily="2" charset="0"/>
              </a:rPr>
              <a:t>Temperature and Thermal Equilibrium</a:t>
            </a:r>
          </a:p>
          <a:p>
            <a:r>
              <a:rPr lang="en-US" altLang="zh-CN" sz="2400" dirty="0">
                <a:effectLst/>
                <a:latin typeface="Helvetica Neue" panose="02000503000000020004" pitchFamily="2" charset="0"/>
              </a:rPr>
              <a:t>17-2</a:t>
            </a:r>
            <a:r>
              <a:rPr lang="zh-CN" altLang="en-US" sz="2400" dirty="0">
                <a:effectLst/>
                <a:latin typeface="Helvetica Neue" panose="02000503000000020004" pitchFamily="2" charset="0"/>
              </a:rPr>
              <a:t> </a:t>
            </a:r>
            <a:r>
              <a:rPr lang="en-SG" sz="2400" dirty="0">
                <a:effectLst/>
                <a:latin typeface="Helvetica Neue" panose="02000503000000020004" pitchFamily="2" charset="0"/>
              </a:rPr>
              <a:t>Thermometers and Temperature Scales</a:t>
            </a:r>
          </a:p>
          <a:p>
            <a:r>
              <a:rPr lang="en-US" altLang="zh-CN" sz="2400" dirty="0">
                <a:effectLst/>
                <a:latin typeface="Helvetica Neue" panose="02000503000000020004" pitchFamily="2" charset="0"/>
              </a:rPr>
              <a:t>17-3</a:t>
            </a:r>
            <a:r>
              <a:rPr lang="zh-CN" altLang="en-US" sz="2400" dirty="0">
                <a:effectLst/>
                <a:latin typeface="Helvetica Neue" panose="02000503000000020004" pitchFamily="2" charset="0"/>
              </a:rPr>
              <a:t> </a:t>
            </a:r>
            <a:r>
              <a:rPr lang="en-SG" sz="2400" dirty="0">
                <a:effectLst/>
                <a:latin typeface="Helvetica Neue" panose="02000503000000020004" pitchFamily="2" charset="0"/>
              </a:rPr>
              <a:t>Gas Thermometers and the Kelvin Scale</a:t>
            </a:r>
          </a:p>
          <a:p>
            <a:r>
              <a:rPr lang="en-US" altLang="zh-CN" sz="2400" dirty="0">
                <a:effectLst/>
                <a:latin typeface="Helvetica Neue" panose="02000503000000020004" pitchFamily="2" charset="0"/>
              </a:rPr>
              <a:t>17-4</a:t>
            </a:r>
            <a:r>
              <a:rPr lang="zh-CN" altLang="en-US" sz="2400" dirty="0">
                <a:effectLst/>
                <a:latin typeface="Helvetica Neue" panose="02000503000000020004" pitchFamily="2" charset="0"/>
              </a:rPr>
              <a:t> </a:t>
            </a:r>
            <a:r>
              <a:rPr lang="en-SG" sz="2400" dirty="0">
                <a:effectLst/>
                <a:latin typeface="Helvetica Neue" panose="02000503000000020004" pitchFamily="2" charset="0"/>
              </a:rPr>
              <a:t>Thermal Expansion</a:t>
            </a:r>
          </a:p>
          <a:p>
            <a:r>
              <a:rPr lang="en-US" altLang="zh-CN" sz="2400" dirty="0">
                <a:effectLst/>
                <a:latin typeface="Helvetica Neue" panose="02000503000000020004" pitchFamily="2" charset="0"/>
              </a:rPr>
              <a:t>17-5</a:t>
            </a:r>
            <a:r>
              <a:rPr lang="zh-CN" altLang="en-US" sz="2400" dirty="0">
                <a:effectLst/>
                <a:latin typeface="Helvetica Neue" panose="02000503000000020004" pitchFamily="2" charset="0"/>
              </a:rPr>
              <a:t> </a:t>
            </a:r>
            <a:r>
              <a:rPr lang="en-SG" sz="2400" dirty="0">
                <a:effectLst/>
                <a:latin typeface="Helvetica Neue" panose="02000503000000020004" pitchFamily="2" charset="0"/>
              </a:rPr>
              <a:t>Quantity of Heat</a:t>
            </a:r>
          </a:p>
          <a:p>
            <a:r>
              <a:rPr lang="en-US" altLang="zh-CN" sz="2400" dirty="0">
                <a:effectLst/>
                <a:latin typeface="Helvetica Neue" panose="02000503000000020004" pitchFamily="2" charset="0"/>
              </a:rPr>
              <a:t>17-6</a:t>
            </a:r>
            <a:r>
              <a:rPr lang="zh-CN" altLang="en-US" sz="2400" dirty="0">
                <a:effectLst/>
                <a:latin typeface="Helvetica Neue" panose="02000503000000020004" pitchFamily="2" charset="0"/>
              </a:rPr>
              <a:t> </a:t>
            </a:r>
            <a:r>
              <a:rPr lang="en-SG" sz="2400" dirty="0">
                <a:effectLst/>
                <a:latin typeface="Helvetica Neue" panose="02000503000000020004" pitchFamily="2" charset="0"/>
              </a:rPr>
              <a:t>Calorimetry and Phase Changes</a:t>
            </a:r>
          </a:p>
          <a:p>
            <a:r>
              <a:rPr lang="en-US" altLang="zh-CN" sz="2400" dirty="0">
                <a:effectLst/>
                <a:latin typeface="Helvetica Neue" panose="02000503000000020004" pitchFamily="2" charset="0"/>
              </a:rPr>
              <a:t>17-7</a:t>
            </a:r>
            <a:r>
              <a:rPr lang="zh-CN" altLang="en-US" sz="2400" dirty="0">
                <a:effectLst/>
                <a:latin typeface="Helvetica Neue" panose="02000503000000020004" pitchFamily="2" charset="0"/>
              </a:rPr>
              <a:t> </a:t>
            </a:r>
            <a:r>
              <a:rPr lang="en-SG" sz="2400" dirty="0">
                <a:effectLst/>
                <a:latin typeface="Helvetica Neue" panose="02000503000000020004" pitchFamily="2" charset="0"/>
              </a:rPr>
              <a:t>Mechanisms of Heat Transfer</a:t>
            </a:r>
          </a:p>
          <a:p>
            <a:pPr marL="0" indent="0">
              <a:buNone/>
            </a:pPr>
            <a:endParaRPr lang="en-GB" sz="2400" dirty="0"/>
          </a:p>
        </p:txBody>
      </p:sp>
      <p:sp>
        <p:nvSpPr>
          <p:cNvPr id="5" name="Date Placeholder 4"/>
          <p:cNvSpPr>
            <a:spLocks noGrp="1"/>
          </p:cNvSpPr>
          <p:nvPr>
            <p:ph type="dt" sz="half" idx="10"/>
          </p:nvPr>
        </p:nvSpPr>
        <p:spPr/>
        <p:txBody>
          <a:bodyPr/>
          <a:lstStyle/>
          <a:p>
            <a:r>
              <a:rPr lang="en-SG" altLang="zh-TW"/>
              <a:t>Thermodynamics I (Ch. 17)</a:t>
            </a:r>
            <a:endParaRPr lang="en-GB" dirty="0"/>
          </a:p>
        </p:txBody>
      </p:sp>
      <p:sp>
        <p:nvSpPr>
          <p:cNvPr id="6" name="Slide Number Placeholder 5"/>
          <p:cNvSpPr>
            <a:spLocks noGrp="1"/>
          </p:cNvSpPr>
          <p:nvPr>
            <p:ph type="sldNum" sz="quarter" idx="12"/>
          </p:nvPr>
        </p:nvSpPr>
        <p:spPr/>
        <p:txBody>
          <a:bodyPr/>
          <a:lstStyle/>
          <a:p>
            <a:fld id="{60093787-08EC-4113-8521-0E445B8625BD}" type="slidenum">
              <a:rPr lang="en-GB" smtClean="0"/>
              <a:t>4</a:t>
            </a:fld>
            <a:endParaRPr lang="en-GB"/>
          </a:p>
        </p:txBody>
      </p:sp>
    </p:spTree>
    <p:extLst>
      <p:ext uri="{BB962C8B-B14F-4D97-AF65-F5344CB8AC3E}">
        <p14:creationId xmlns:p14="http://schemas.microsoft.com/office/powerpoint/2010/main" val="15920743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effectLst/>
                <a:latin typeface="Helvetica Neue" panose="02000503000000020004" pitchFamily="2" charset="0"/>
              </a:rPr>
              <a:t>17-1</a:t>
            </a:r>
            <a:r>
              <a:rPr lang="zh-CN" altLang="en-US" dirty="0">
                <a:effectLst/>
                <a:latin typeface="Helvetica Neue" panose="02000503000000020004" pitchFamily="2" charset="0"/>
              </a:rPr>
              <a:t> </a:t>
            </a:r>
            <a:r>
              <a:rPr lang="en-SG" dirty="0">
                <a:effectLst/>
                <a:latin typeface="Helvetica Neue" panose="02000503000000020004" pitchFamily="2" charset="0"/>
              </a:rPr>
              <a:t>Temperature and Thermal Equilibrium</a:t>
            </a:r>
          </a:p>
        </p:txBody>
      </p:sp>
      <p:sp>
        <p:nvSpPr>
          <p:cNvPr id="3" name="Date Placeholder 2"/>
          <p:cNvSpPr>
            <a:spLocks noGrp="1"/>
          </p:cNvSpPr>
          <p:nvPr>
            <p:ph type="dt" sz="half" idx="10"/>
          </p:nvPr>
        </p:nvSpPr>
        <p:spPr/>
        <p:txBody>
          <a:bodyPr/>
          <a:lstStyle/>
          <a:p>
            <a:r>
              <a:rPr lang="en-SG" altLang="zh-TW"/>
              <a:t>Thermodynamics I (Ch. 17)</a:t>
            </a:r>
            <a:endParaRPr lang="en-GB" dirty="0"/>
          </a:p>
        </p:txBody>
      </p:sp>
      <p:sp>
        <p:nvSpPr>
          <p:cNvPr id="4" name="Slide Number Placeholder 3"/>
          <p:cNvSpPr>
            <a:spLocks noGrp="1"/>
          </p:cNvSpPr>
          <p:nvPr>
            <p:ph type="sldNum" sz="quarter" idx="12"/>
          </p:nvPr>
        </p:nvSpPr>
        <p:spPr/>
        <p:txBody>
          <a:bodyPr/>
          <a:lstStyle/>
          <a:p>
            <a:fld id="{60093787-08EC-4113-8521-0E445B8625BD}" type="slidenum">
              <a:rPr lang="en-GB" smtClean="0"/>
              <a:t>5</a:t>
            </a:fld>
            <a:endParaRPr lang="en-GB"/>
          </a:p>
        </p:txBody>
      </p:sp>
      <p:sp>
        <p:nvSpPr>
          <p:cNvPr id="7" name="TextBox 6">
            <a:extLst>
              <a:ext uri="{FF2B5EF4-FFF2-40B4-BE49-F238E27FC236}">
                <a16:creationId xmlns:a16="http://schemas.microsoft.com/office/drawing/2014/main" id="{355FCB92-F040-8468-9CB0-07B3AE57FB1D}"/>
              </a:ext>
            </a:extLst>
          </p:cNvPr>
          <p:cNvSpPr txBox="1"/>
          <p:nvPr/>
        </p:nvSpPr>
        <p:spPr>
          <a:xfrm>
            <a:off x="457200" y="2012316"/>
            <a:ext cx="8229600" cy="3416320"/>
          </a:xfrm>
          <a:prstGeom prst="rect">
            <a:avLst/>
          </a:prstGeom>
          <a:noFill/>
        </p:spPr>
        <p:txBody>
          <a:bodyPr wrap="square">
            <a:spAutoFit/>
          </a:bodyPr>
          <a:lstStyle/>
          <a:p>
            <a:pPr algn="just"/>
            <a:r>
              <a:rPr lang="en-SG" sz="2400" dirty="0">
                <a:effectLst/>
                <a:latin typeface="Times"/>
              </a:rPr>
              <a:t>The concept of </a:t>
            </a:r>
            <a:r>
              <a:rPr lang="en-SG" sz="2400" b="1" dirty="0">
                <a:effectLst/>
                <a:latin typeface="Times"/>
              </a:rPr>
              <a:t>temperature </a:t>
            </a:r>
            <a:r>
              <a:rPr lang="en-SG" sz="2400" dirty="0">
                <a:effectLst/>
                <a:latin typeface="Times"/>
              </a:rPr>
              <a:t>is rooted in qualitative ideas of “hot” and “cold” based on our sense of touch. A body that feels hot usually has a higher temperature than a similar body that feels cold. </a:t>
            </a:r>
          </a:p>
          <a:p>
            <a:pPr algn="just"/>
            <a:endParaRPr lang="en-SG" sz="2400" dirty="0"/>
          </a:p>
          <a:p>
            <a:pPr algn="just"/>
            <a:r>
              <a:rPr lang="en-SG" sz="2400" dirty="0">
                <a:effectLst/>
                <a:latin typeface="Times"/>
              </a:rPr>
              <a:t>To use temperature as a measure of hotness or coldness, we need to construct a temperature scale. To do this, we can use any measurable property of a system that varies with its “hotness” or “coldness.” </a:t>
            </a:r>
            <a:endParaRPr lang="en-SG" sz="2400" dirty="0"/>
          </a:p>
        </p:txBody>
      </p:sp>
    </p:spTree>
    <p:extLst>
      <p:ext uri="{BB962C8B-B14F-4D97-AF65-F5344CB8AC3E}">
        <p14:creationId xmlns:p14="http://schemas.microsoft.com/office/powerpoint/2010/main" val="38975515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effectLst/>
                <a:latin typeface="Helvetica Neue" panose="02000503000000020004" pitchFamily="2" charset="0"/>
              </a:rPr>
              <a:t>17-1</a:t>
            </a:r>
            <a:r>
              <a:rPr lang="zh-CN" altLang="en-US" dirty="0">
                <a:effectLst/>
                <a:latin typeface="Helvetica Neue" panose="02000503000000020004" pitchFamily="2" charset="0"/>
              </a:rPr>
              <a:t> </a:t>
            </a:r>
            <a:r>
              <a:rPr lang="en-SG" dirty="0">
                <a:effectLst/>
                <a:latin typeface="Helvetica Neue" panose="02000503000000020004" pitchFamily="2" charset="0"/>
              </a:rPr>
              <a:t>Temperature and Thermal Equilibrium</a:t>
            </a:r>
          </a:p>
        </p:txBody>
      </p:sp>
      <p:sp>
        <p:nvSpPr>
          <p:cNvPr id="3" name="Date Placeholder 2"/>
          <p:cNvSpPr>
            <a:spLocks noGrp="1"/>
          </p:cNvSpPr>
          <p:nvPr>
            <p:ph type="dt" sz="half" idx="10"/>
          </p:nvPr>
        </p:nvSpPr>
        <p:spPr/>
        <p:txBody>
          <a:bodyPr/>
          <a:lstStyle/>
          <a:p>
            <a:r>
              <a:rPr lang="en-SG" altLang="zh-TW"/>
              <a:t>Thermodynamics I (Ch. 17)</a:t>
            </a:r>
            <a:endParaRPr lang="en-GB" dirty="0"/>
          </a:p>
        </p:txBody>
      </p:sp>
      <p:sp>
        <p:nvSpPr>
          <p:cNvPr id="4" name="Slide Number Placeholder 3"/>
          <p:cNvSpPr>
            <a:spLocks noGrp="1"/>
          </p:cNvSpPr>
          <p:nvPr>
            <p:ph type="sldNum" sz="quarter" idx="12"/>
          </p:nvPr>
        </p:nvSpPr>
        <p:spPr/>
        <p:txBody>
          <a:bodyPr/>
          <a:lstStyle/>
          <a:p>
            <a:fld id="{60093787-08EC-4113-8521-0E445B8625BD}" type="slidenum">
              <a:rPr lang="en-GB" smtClean="0"/>
              <a:t>6</a:t>
            </a:fld>
            <a:endParaRPr lang="en-GB"/>
          </a:p>
        </p:txBody>
      </p:sp>
      <p:pic>
        <p:nvPicPr>
          <p:cNvPr id="6" name="Picture 5">
            <a:extLst>
              <a:ext uri="{FF2B5EF4-FFF2-40B4-BE49-F238E27FC236}">
                <a16:creationId xmlns:a16="http://schemas.microsoft.com/office/drawing/2014/main" id="{049AD138-5C98-CE30-F00C-187503F0B418}"/>
              </a:ext>
            </a:extLst>
          </p:cNvPr>
          <p:cNvPicPr>
            <a:picLocks noChangeAspect="1"/>
          </p:cNvPicPr>
          <p:nvPr/>
        </p:nvPicPr>
        <p:blipFill>
          <a:blip r:embed="rId2"/>
          <a:stretch>
            <a:fillRect/>
          </a:stretch>
        </p:blipFill>
        <p:spPr>
          <a:xfrm>
            <a:off x="1026276" y="1254369"/>
            <a:ext cx="2559148" cy="3746500"/>
          </a:xfrm>
          <a:prstGeom prst="rect">
            <a:avLst/>
          </a:prstGeom>
        </p:spPr>
      </p:pic>
      <p:pic>
        <p:nvPicPr>
          <p:cNvPr id="7" name="Picture 6">
            <a:extLst>
              <a:ext uri="{FF2B5EF4-FFF2-40B4-BE49-F238E27FC236}">
                <a16:creationId xmlns:a16="http://schemas.microsoft.com/office/drawing/2014/main" id="{61B05934-D773-2D57-5582-D3F5F47A6EA1}"/>
              </a:ext>
            </a:extLst>
          </p:cNvPr>
          <p:cNvPicPr>
            <a:picLocks noChangeAspect="1"/>
          </p:cNvPicPr>
          <p:nvPr/>
        </p:nvPicPr>
        <p:blipFill>
          <a:blip r:embed="rId3"/>
          <a:stretch>
            <a:fillRect/>
          </a:stretch>
        </p:blipFill>
        <p:spPr>
          <a:xfrm>
            <a:off x="5076056" y="1243680"/>
            <a:ext cx="2880320" cy="3897681"/>
          </a:xfrm>
          <a:prstGeom prst="rect">
            <a:avLst/>
          </a:prstGeom>
        </p:spPr>
      </p:pic>
      <p:pic>
        <p:nvPicPr>
          <p:cNvPr id="8" name="Picture 7">
            <a:extLst>
              <a:ext uri="{FF2B5EF4-FFF2-40B4-BE49-F238E27FC236}">
                <a16:creationId xmlns:a16="http://schemas.microsoft.com/office/drawing/2014/main" id="{732D7E75-6153-3ACA-7B0F-057C464F11B9}"/>
              </a:ext>
            </a:extLst>
          </p:cNvPr>
          <p:cNvPicPr>
            <a:picLocks noChangeAspect="1"/>
          </p:cNvPicPr>
          <p:nvPr/>
        </p:nvPicPr>
        <p:blipFill>
          <a:blip r:embed="rId4"/>
          <a:stretch>
            <a:fillRect/>
          </a:stretch>
        </p:blipFill>
        <p:spPr>
          <a:xfrm>
            <a:off x="645442" y="5603631"/>
            <a:ext cx="8096311" cy="561673"/>
          </a:xfrm>
          <a:prstGeom prst="rect">
            <a:avLst/>
          </a:prstGeom>
        </p:spPr>
      </p:pic>
    </p:spTree>
    <p:extLst>
      <p:ext uri="{BB962C8B-B14F-4D97-AF65-F5344CB8AC3E}">
        <p14:creationId xmlns:p14="http://schemas.microsoft.com/office/powerpoint/2010/main" val="25012852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effectLst/>
                <a:latin typeface="Helvetica Neue" panose="02000503000000020004" pitchFamily="2" charset="0"/>
              </a:rPr>
              <a:t>17-1</a:t>
            </a:r>
            <a:r>
              <a:rPr lang="zh-CN" altLang="en-US" dirty="0">
                <a:effectLst/>
                <a:latin typeface="Helvetica Neue" panose="02000503000000020004" pitchFamily="2" charset="0"/>
              </a:rPr>
              <a:t> </a:t>
            </a:r>
            <a:r>
              <a:rPr lang="en-SG" dirty="0">
                <a:effectLst/>
                <a:latin typeface="Helvetica Neue" panose="02000503000000020004" pitchFamily="2" charset="0"/>
              </a:rPr>
              <a:t>Temperature and Thermal Equilibrium</a:t>
            </a:r>
          </a:p>
        </p:txBody>
      </p:sp>
      <p:sp>
        <p:nvSpPr>
          <p:cNvPr id="3" name="Date Placeholder 2"/>
          <p:cNvSpPr>
            <a:spLocks noGrp="1"/>
          </p:cNvSpPr>
          <p:nvPr>
            <p:ph type="dt" sz="half" idx="10"/>
          </p:nvPr>
        </p:nvSpPr>
        <p:spPr/>
        <p:txBody>
          <a:bodyPr/>
          <a:lstStyle/>
          <a:p>
            <a:r>
              <a:rPr lang="en-SG" altLang="zh-TW"/>
              <a:t>Thermodynamics I (Ch. 17)</a:t>
            </a:r>
            <a:endParaRPr lang="en-GB" dirty="0"/>
          </a:p>
        </p:txBody>
      </p:sp>
      <p:sp>
        <p:nvSpPr>
          <p:cNvPr id="4" name="Slide Number Placeholder 3"/>
          <p:cNvSpPr>
            <a:spLocks noGrp="1"/>
          </p:cNvSpPr>
          <p:nvPr>
            <p:ph type="sldNum" sz="quarter" idx="12"/>
          </p:nvPr>
        </p:nvSpPr>
        <p:spPr/>
        <p:txBody>
          <a:bodyPr/>
          <a:lstStyle/>
          <a:p>
            <a:fld id="{60093787-08EC-4113-8521-0E445B8625BD}" type="slidenum">
              <a:rPr lang="en-GB" smtClean="0"/>
              <a:t>7</a:t>
            </a:fld>
            <a:endParaRPr lang="en-GB"/>
          </a:p>
        </p:txBody>
      </p:sp>
      <p:sp>
        <p:nvSpPr>
          <p:cNvPr id="9" name="TextBox 8">
            <a:extLst>
              <a:ext uri="{FF2B5EF4-FFF2-40B4-BE49-F238E27FC236}">
                <a16:creationId xmlns:a16="http://schemas.microsoft.com/office/drawing/2014/main" id="{F6C72694-FBA3-05A0-8404-E83ABC4F5B11}"/>
              </a:ext>
            </a:extLst>
          </p:cNvPr>
          <p:cNvSpPr txBox="1"/>
          <p:nvPr/>
        </p:nvSpPr>
        <p:spPr>
          <a:xfrm>
            <a:off x="612648" y="1412776"/>
            <a:ext cx="4572000" cy="461665"/>
          </a:xfrm>
          <a:prstGeom prst="rect">
            <a:avLst/>
          </a:prstGeom>
          <a:noFill/>
        </p:spPr>
        <p:txBody>
          <a:bodyPr wrap="square">
            <a:spAutoFit/>
          </a:bodyPr>
          <a:lstStyle/>
          <a:p>
            <a:r>
              <a:rPr lang="en-SG" sz="2400" dirty="0">
                <a:effectLst/>
                <a:latin typeface="Times"/>
              </a:rPr>
              <a:t>The zeroth law of thermodynamics. </a:t>
            </a:r>
            <a:endParaRPr lang="en-SG" sz="2400" dirty="0"/>
          </a:p>
        </p:txBody>
      </p:sp>
      <p:pic>
        <p:nvPicPr>
          <p:cNvPr id="10" name="Picture 9">
            <a:extLst>
              <a:ext uri="{FF2B5EF4-FFF2-40B4-BE49-F238E27FC236}">
                <a16:creationId xmlns:a16="http://schemas.microsoft.com/office/drawing/2014/main" id="{D033E392-59D2-4839-10E3-066A1F1CD8CC}"/>
              </a:ext>
            </a:extLst>
          </p:cNvPr>
          <p:cNvPicPr>
            <a:picLocks noChangeAspect="1"/>
          </p:cNvPicPr>
          <p:nvPr/>
        </p:nvPicPr>
        <p:blipFill>
          <a:blip r:embed="rId2"/>
          <a:stretch>
            <a:fillRect/>
          </a:stretch>
        </p:blipFill>
        <p:spPr>
          <a:xfrm>
            <a:off x="528588" y="2034956"/>
            <a:ext cx="3539356" cy="3702255"/>
          </a:xfrm>
          <a:prstGeom prst="rect">
            <a:avLst/>
          </a:prstGeom>
        </p:spPr>
      </p:pic>
      <p:pic>
        <p:nvPicPr>
          <p:cNvPr id="11" name="Picture 10">
            <a:extLst>
              <a:ext uri="{FF2B5EF4-FFF2-40B4-BE49-F238E27FC236}">
                <a16:creationId xmlns:a16="http://schemas.microsoft.com/office/drawing/2014/main" id="{0A2CD4E7-3DFE-D86E-CC4D-392E0F6C3901}"/>
              </a:ext>
            </a:extLst>
          </p:cNvPr>
          <p:cNvPicPr>
            <a:picLocks noChangeAspect="1"/>
          </p:cNvPicPr>
          <p:nvPr/>
        </p:nvPicPr>
        <p:blipFill>
          <a:blip r:embed="rId3"/>
          <a:stretch>
            <a:fillRect/>
          </a:stretch>
        </p:blipFill>
        <p:spPr>
          <a:xfrm>
            <a:off x="5058222" y="1874441"/>
            <a:ext cx="3567026" cy="3975118"/>
          </a:xfrm>
          <a:prstGeom prst="rect">
            <a:avLst/>
          </a:prstGeom>
        </p:spPr>
      </p:pic>
    </p:spTree>
    <p:extLst>
      <p:ext uri="{BB962C8B-B14F-4D97-AF65-F5344CB8AC3E}">
        <p14:creationId xmlns:p14="http://schemas.microsoft.com/office/powerpoint/2010/main" val="40206914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effectLst/>
                <a:latin typeface="Helvetica Neue" panose="02000503000000020004" pitchFamily="2" charset="0"/>
              </a:rPr>
              <a:t>17-1</a:t>
            </a:r>
            <a:r>
              <a:rPr lang="zh-CN" altLang="en-US" dirty="0">
                <a:effectLst/>
                <a:latin typeface="Helvetica Neue" panose="02000503000000020004" pitchFamily="2" charset="0"/>
              </a:rPr>
              <a:t> </a:t>
            </a:r>
            <a:r>
              <a:rPr lang="en-SG" dirty="0">
                <a:effectLst/>
                <a:latin typeface="Helvetica Neue" panose="02000503000000020004" pitchFamily="2" charset="0"/>
              </a:rPr>
              <a:t>Temperature and Thermal Equilibrium</a:t>
            </a:r>
          </a:p>
        </p:txBody>
      </p:sp>
      <p:sp>
        <p:nvSpPr>
          <p:cNvPr id="3" name="Date Placeholder 2"/>
          <p:cNvSpPr>
            <a:spLocks noGrp="1"/>
          </p:cNvSpPr>
          <p:nvPr>
            <p:ph type="dt" sz="half" idx="10"/>
          </p:nvPr>
        </p:nvSpPr>
        <p:spPr/>
        <p:txBody>
          <a:bodyPr/>
          <a:lstStyle/>
          <a:p>
            <a:r>
              <a:rPr lang="en-SG" altLang="zh-TW"/>
              <a:t>Thermodynamics I (Ch. 17)</a:t>
            </a:r>
            <a:endParaRPr lang="en-GB" dirty="0"/>
          </a:p>
        </p:txBody>
      </p:sp>
      <p:sp>
        <p:nvSpPr>
          <p:cNvPr id="4" name="Slide Number Placeholder 3"/>
          <p:cNvSpPr>
            <a:spLocks noGrp="1"/>
          </p:cNvSpPr>
          <p:nvPr>
            <p:ph type="sldNum" sz="quarter" idx="12"/>
          </p:nvPr>
        </p:nvSpPr>
        <p:spPr/>
        <p:txBody>
          <a:bodyPr/>
          <a:lstStyle/>
          <a:p>
            <a:fld id="{60093787-08EC-4113-8521-0E445B8625BD}" type="slidenum">
              <a:rPr lang="en-GB" smtClean="0"/>
              <a:t>8</a:t>
            </a:fld>
            <a:endParaRPr lang="en-GB"/>
          </a:p>
        </p:txBody>
      </p:sp>
      <p:sp>
        <p:nvSpPr>
          <p:cNvPr id="9" name="TextBox 8">
            <a:extLst>
              <a:ext uri="{FF2B5EF4-FFF2-40B4-BE49-F238E27FC236}">
                <a16:creationId xmlns:a16="http://schemas.microsoft.com/office/drawing/2014/main" id="{F6C72694-FBA3-05A0-8404-E83ABC4F5B11}"/>
              </a:ext>
            </a:extLst>
          </p:cNvPr>
          <p:cNvSpPr txBox="1"/>
          <p:nvPr/>
        </p:nvSpPr>
        <p:spPr>
          <a:xfrm>
            <a:off x="601034" y="2060133"/>
            <a:ext cx="4907070" cy="461665"/>
          </a:xfrm>
          <a:prstGeom prst="rect">
            <a:avLst/>
          </a:prstGeom>
          <a:noFill/>
        </p:spPr>
        <p:txBody>
          <a:bodyPr wrap="square">
            <a:spAutoFit/>
          </a:bodyPr>
          <a:lstStyle/>
          <a:p>
            <a:r>
              <a:rPr lang="en-SG" sz="2400" dirty="0">
                <a:effectLst/>
                <a:latin typeface="Times"/>
              </a:rPr>
              <a:t>The zeroth law of thermodynamics. </a:t>
            </a:r>
            <a:endParaRPr lang="en-SG" sz="2400" dirty="0"/>
          </a:p>
        </p:txBody>
      </p:sp>
      <p:pic>
        <p:nvPicPr>
          <p:cNvPr id="5" name="Picture 4">
            <a:extLst>
              <a:ext uri="{FF2B5EF4-FFF2-40B4-BE49-F238E27FC236}">
                <a16:creationId xmlns:a16="http://schemas.microsoft.com/office/drawing/2014/main" id="{84D33025-A83C-0780-3EA0-668980029F05}"/>
              </a:ext>
            </a:extLst>
          </p:cNvPr>
          <p:cNvPicPr>
            <a:picLocks noChangeAspect="1"/>
          </p:cNvPicPr>
          <p:nvPr/>
        </p:nvPicPr>
        <p:blipFill>
          <a:blip r:embed="rId2"/>
          <a:stretch>
            <a:fillRect/>
          </a:stretch>
        </p:blipFill>
        <p:spPr>
          <a:xfrm>
            <a:off x="792124" y="3358456"/>
            <a:ext cx="7559752" cy="976747"/>
          </a:xfrm>
          <a:prstGeom prst="rect">
            <a:avLst/>
          </a:prstGeom>
        </p:spPr>
      </p:pic>
      <p:pic>
        <p:nvPicPr>
          <p:cNvPr id="6" name="Picture 5">
            <a:extLst>
              <a:ext uri="{FF2B5EF4-FFF2-40B4-BE49-F238E27FC236}">
                <a16:creationId xmlns:a16="http://schemas.microsoft.com/office/drawing/2014/main" id="{E5025183-AE76-EA35-2943-75D6D62BF708}"/>
              </a:ext>
            </a:extLst>
          </p:cNvPr>
          <p:cNvPicPr>
            <a:picLocks noChangeAspect="1"/>
          </p:cNvPicPr>
          <p:nvPr/>
        </p:nvPicPr>
        <p:blipFill>
          <a:blip r:embed="rId3"/>
          <a:stretch>
            <a:fillRect/>
          </a:stretch>
        </p:blipFill>
        <p:spPr>
          <a:xfrm>
            <a:off x="632465" y="4266634"/>
            <a:ext cx="8101521" cy="2060421"/>
          </a:xfrm>
          <a:prstGeom prst="rect">
            <a:avLst/>
          </a:prstGeom>
        </p:spPr>
      </p:pic>
      <p:pic>
        <p:nvPicPr>
          <p:cNvPr id="7" name="Picture 6">
            <a:extLst>
              <a:ext uri="{FF2B5EF4-FFF2-40B4-BE49-F238E27FC236}">
                <a16:creationId xmlns:a16="http://schemas.microsoft.com/office/drawing/2014/main" id="{B2C42CB9-59A5-70EC-A546-A1C7763EB79C}"/>
              </a:ext>
            </a:extLst>
          </p:cNvPr>
          <p:cNvPicPr>
            <a:picLocks noChangeAspect="1"/>
          </p:cNvPicPr>
          <p:nvPr/>
        </p:nvPicPr>
        <p:blipFill rotWithShape="1">
          <a:blip r:embed="rId4"/>
          <a:srcRect t="16252"/>
          <a:stretch/>
        </p:blipFill>
        <p:spPr>
          <a:xfrm>
            <a:off x="5972860" y="1202127"/>
            <a:ext cx="2352013" cy="2060421"/>
          </a:xfrm>
          <a:prstGeom prst="rect">
            <a:avLst/>
          </a:prstGeom>
        </p:spPr>
      </p:pic>
    </p:spTree>
    <p:extLst>
      <p:ext uri="{BB962C8B-B14F-4D97-AF65-F5344CB8AC3E}">
        <p14:creationId xmlns:p14="http://schemas.microsoft.com/office/powerpoint/2010/main" val="7252193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zh-CN" dirty="0">
                <a:effectLst/>
                <a:latin typeface="Helvetica Neue" panose="02000503000000020004" pitchFamily="2" charset="0"/>
              </a:rPr>
              <a:t>17-2</a:t>
            </a:r>
            <a:r>
              <a:rPr lang="zh-CN" altLang="en-US" dirty="0">
                <a:effectLst/>
                <a:latin typeface="Helvetica Neue" panose="02000503000000020004" pitchFamily="2" charset="0"/>
              </a:rPr>
              <a:t> </a:t>
            </a:r>
            <a:r>
              <a:rPr lang="en-SG" sz="3200" dirty="0">
                <a:effectLst/>
                <a:latin typeface="Helvetica Neue" panose="02000503000000020004" pitchFamily="2" charset="0"/>
              </a:rPr>
              <a:t>Thermometers and Temperature Scales</a:t>
            </a:r>
            <a:endParaRPr lang="en-SG" dirty="0">
              <a:effectLst/>
              <a:latin typeface="Helvetica Neue" panose="02000503000000020004" pitchFamily="2" charset="0"/>
            </a:endParaRPr>
          </a:p>
        </p:txBody>
      </p:sp>
      <p:sp>
        <p:nvSpPr>
          <p:cNvPr id="3" name="Date Placeholder 2"/>
          <p:cNvSpPr>
            <a:spLocks noGrp="1"/>
          </p:cNvSpPr>
          <p:nvPr>
            <p:ph type="dt" sz="half" idx="10"/>
          </p:nvPr>
        </p:nvSpPr>
        <p:spPr/>
        <p:txBody>
          <a:bodyPr/>
          <a:lstStyle/>
          <a:p>
            <a:r>
              <a:rPr lang="en-SG" altLang="zh-TW"/>
              <a:t>Thermodynamics I (Ch. 17)</a:t>
            </a:r>
            <a:endParaRPr lang="en-GB" dirty="0"/>
          </a:p>
        </p:txBody>
      </p:sp>
      <p:sp>
        <p:nvSpPr>
          <p:cNvPr id="4" name="Slide Number Placeholder 3"/>
          <p:cNvSpPr>
            <a:spLocks noGrp="1"/>
          </p:cNvSpPr>
          <p:nvPr>
            <p:ph type="sldNum" sz="quarter" idx="12"/>
          </p:nvPr>
        </p:nvSpPr>
        <p:spPr/>
        <p:txBody>
          <a:bodyPr/>
          <a:lstStyle/>
          <a:p>
            <a:fld id="{60093787-08EC-4113-8521-0E445B8625BD}" type="slidenum">
              <a:rPr lang="en-GB" smtClean="0"/>
              <a:t>9</a:t>
            </a:fld>
            <a:endParaRPr lang="en-GB"/>
          </a:p>
        </p:txBody>
      </p:sp>
      <p:pic>
        <p:nvPicPr>
          <p:cNvPr id="8" name="Picture 7">
            <a:extLst>
              <a:ext uri="{FF2B5EF4-FFF2-40B4-BE49-F238E27FC236}">
                <a16:creationId xmlns:a16="http://schemas.microsoft.com/office/drawing/2014/main" id="{D1E80F08-50A3-787D-AF38-2E2D27F62AF2}"/>
              </a:ext>
            </a:extLst>
          </p:cNvPr>
          <p:cNvPicPr>
            <a:picLocks noChangeAspect="1"/>
          </p:cNvPicPr>
          <p:nvPr/>
        </p:nvPicPr>
        <p:blipFill>
          <a:blip r:embed="rId2"/>
          <a:stretch>
            <a:fillRect/>
          </a:stretch>
        </p:blipFill>
        <p:spPr>
          <a:xfrm>
            <a:off x="899592" y="1692275"/>
            <a:ext cx="2895600" cy="4114800"/>
          </a:xfrm>
          <a:prstGeom prst="rect">
            <a:avLst/>
          </a:prstGeom>
        </p:spPr>
      </p:pic>
      <p:sp>
        <p:nvSpPr>
          <p:cNvPr id="12" name="TextBox 11">
            <a:extLst>
              <a:ext uri="{FF2B5EF4-FFF2-40B4-BE49-F238E27FC236}">
                <a16:creationId xmlns:a16="http://schemas.microsoft.com/office/drawing/2014/main" id="{9E7E1419-C741-1BC1-FFAD-3EF44D93816D}"/>
              </a:ext>
            </a:extLst>
          </p:cNvPr>
          <p:cNvSpPr txBox="1"/>
          <p:nvPr/>
        </p:nvSpPr>
        <p:spPr>
          <a:xfrm>
            <a:off x="4114800" y="1997839"/>
            <a:ext cx="4572000" cy="2862322"/>
          </a:xfrm>
          <a:prstGeom prst="rect">
            <a:avLst/>
          </a:prstGeom>
          <a:noFill/>
        </p:spPr>
        <p:txBody>
          <a:bodyPr wrap="square">
            <a:spAutoFit/>
          </a:bodyPr>
          <a:lstStyle/>
          <a:p>
            <a:pPr algn="just"/>
            <a:r>
              <a:rPr lang="en-SG" sz="1800" dirty="0">
                <a:effectLst/>
                <a:latin typeface="Times"/>
              </a:rPr>
              <a:t>Suppose we label the thermometer’s liquid level at the freezing temperature of pure water “zero” and the level at the boiling temperature “100,” and divide the distance between these two points into 100 equal intervals called </a:t>
            </a:r>
            <a:r>
              <a:rPr lang="en-SG" sz="1800" i="1" dirty="0">
                <a:effectLst/>
                <a:latin typeface="Times"/>
              </a:rPr>
              <a:t>degrees. </a:t>
            </a:r>
            <a:r>
              <a:rPr lang="en-SG" sz="1800" dirty="0">
                <a:effectLst/>
                <a:latin typeface="Times"/>
              </a:rPr>
              <a:t>The result is the </a:t>
            </a:r>
            <a:r>
              <a:rPr lang="en-SG" sz="1800" b="1" dirty="0">
                <a:effectLst/>
                <a:latin typeface="Times"/>
              </a:rPr>
              <a:t>Celsius temperature scale </a:t>
            </a:r>
            <a:r>
              <a:rPr lang="en-SG" sz="1800" dirty="0">
                <a:effectLst/>
                <a:latin typeface="Times"/>
              </a:rPr>
              <a:t>(formerly called the </a:t>
            </a:r>
            <a:r>
              <a:rPr lang="en-SG" sz="1800" i="1" dirty="0">
                <a:effectLst/>
                <a:latin typeface="Times"/>
              </a:rPr>
              <a:t>centigrade </a:t>
            </a:r>
            <a:r>
              <a:rPr lang="en-SG" sz="1800" dirty="0">
                <a:effectLst/>
                <a:latin typeface="Times"/>
              </a:rPr>
              <a:t>scale in English- speaking countries). The Celsius temperature for a state colder than freezing water is a negative number. </a:t>
            </a:r>
            <a:endParaRPr lang="en-SG" dirty="0"/>
          </a:p>
        </p:txBody>
      </p:sp>
    </p:spTree>
    <p:extLst>
      <p:ext uri="{BB962C8B-B14F-4D97-AF65-F5344CB8AC3E}">
        <p14:creationId xmlns:p14="http://schemas.microsoft.com/office/powerpoint/2010/main" val="17374787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zh-CN" dirty="0">
                <a:effectLst/>
                <a:latin typeface="Helvetica Neue" panose="02000503000000020004" pitchFamily="2" charset="0"/>
              </a:rPr>
              <a:t>17-2</a:t>
            </a:r>
            <a:r>
              <a:rPr lang="zh-CN" altLang="en-US" dirty="0">
                <a:effectLst/>
                <a:latin typeface="Helvetica Neue" panose="02000503000000020004" pitchFamily="2" charset="0"/>
              </a:rPr>
              <a:t> </a:t>
            </a:r>
            <a:r>
              <a:rPr lang="en-SG" sz="3200" dirty="0">
                <a:effectLst/>
                <a:latin typeface="Helvetica Neue" panose="02000503000000020004" pitchFamily="2" charset="0"/>
              </a:rPr>
              <a:t>Thermometers and Temperature Scales</a:t>
            </a:r>
            <a:endParaRPr lang="en-SG" dirty="0">
              <a:effectLst/>
              <a:latin typeface="Helvetica Neue" panose="02000503000000020004" pitchFamily="2" charset="0"/>
            </a:endParaRPr>
          </a:p>
        </p:txBody>
      </p:sp>
      <p:sp>
        <p:nvSpPr>
          <p:cNvPr id="3" name="Date Placeholder 2"/>
          <p:cNvSpPr>
            <a:spLocks noGrp="1"/>
          </p:cNvSpPr>
          <p:nvPr>
            <p:ph type="dt" sz="half" idx="10"/>
          </p:nvPr>
        </p:nvSpPr>
        <p:spPr/>
        <p:txBody>
          <a:bodyPr/>
          <a:lstStyle/>
          <a:p>
            <a:r>
              <a:rPr lang="en-SG" altLang="zh-TW"/>
              <a:t>Thermodynamics I (Ch. 17)</a:t>
            </a:r>
            <a:endParaRPr lang="en-GB" dirty="0"/>
          </a:p>
        </p:txBody>
      </p:sp>
      <p:sp>
        <p:nvSpPr>
          <p:cNvPr id="4" name="Slide Number Placeholder 3"/>
          <p:cNvSpPr>
            <a:spLocks noGrp="1"/>
          </p:cNvSpPr>
          <p:nvPr>
            <p:ph type="sldNum" sz="quarter" idx="12"/>
          </p:nvPr>
        </p:nvSpPr>
        <p:spPr/>
        <p:txBody>
          <a:bodyPr/>
          <a:lstStyle/>
          <a:p>
            <a:fld id="{60093787-08EC-4113-8521-0E445B8625BD}" type="slidenum">
              <a:rPr lang="en-GB" smtClean="0"/>
              <a:t>10</a:t>
            </a:fld>
            <a:endParaRPr lang="en-GB"/>
          </a:p>
        </p:txBody>
      </p:sp>
      <p:pic>
        <p:nvPicPr>
          <p:cNvPr id="8" name="Picture 7">
            <a:extLst>
              <a:ext uri="{FF2B5EF4-FFF2-40B4-BE49-F238E27FC236}">
                <a16:creationId xmlns:a16="http://schemas.microsoft.com/office/drawing/2014/main" id="{D1E80F08-50A3-787D-AF38-2E2D27F62AF2}"/>
              </a:ext>
            </a:extLst>
          </p:cNvPr>
          <p:cNvPicPr>
            <a:picLocks noChangeAspect="1"/>
          </p:cNvPicPr>
          <p:nvPr/>
        </p:nvPicPr>
        <p:blipFill>
          <a:blip r:embed="rId2"/>
          <a:stretch>
            <a:fillRect/>
          </a:stretch>
        </p:blipFill>
        <p:spPr>
          <a:xfrm>
            <a:off x="899592" y="1692275"/>
            <a:ext cx="2895600" cy="4114800"/>
          </a:xfrm>
          <a:prstGeom prst="rect">
            <a:avLst/>
          </a:prstGeom>
        </p:spPr>
      </p:pic>
      <p:sp>
        <p:nvSpPr>
          <p:cNvPr id="12" name="TextBox 11">
            <a:extLst>
              <a:ext uri="{FF2B5EF4-FFF2-40B4-BE49-F238E27FC236}">
                <a16:creationId xmlns:a16="http://schemas.microsoft.com/office/drawing/2014/main" id="{9E7E1419-C741-1BC1-FFAD-3EF44D93816D}"/>
              </a:ext>
            </a:extLst>
          </p:cNvPr>
          <p:cNvSpPr txBox="1"/>
          <p:nvPr/>
        </p:nvSpPr>
        <p:spPr>
          <a:xfrm>
            <a:off x="4114800" y="1997839"/>
            <a:ext cx="4572000" cy="2585323"/>
          </a:xfrm>
          <a:prstGeom prst="rect">
            <a:avLst/>
          </a:prstGeom>
          <a:noFill/>
        </p:spPr>
        <p:txBody>
          <a:bodyPr wrap="square">
            <a:spAutoFit/>
          </a:bodyPr>
          <a:lstStyle/>
          <a:p>
            <a:pPr algn="just"/>
            <a:r>
              <a:rPr lang="en-SG" sz="1800" dirty="0">
                <a:effectLst/>
                <a:latin typeface="Times"/>
              </a:rPr>
              <a:t>In the </a:t>
            </a:r>
            <a:r>
              <a:rPr lang="en-SG" sz="1800" b="1" dirty="0">
                <a:effectLst/>
                <a:latin typeface="Times"/>
              </a:rPr>
              <a:t>Fahrenheit temperature scale, </a:t>
            </a:r>
            <a:r>
              <a:rPr lang="en-SG" sz="1800" dirty="0">
                <a:effectLst/>
                <a:latin typeface="Times"/>
              </a:rPr>
              <a:t>still used in everyday life in the United States, the freezing temperature of water is 32°F (thirty-two degrees Fahrenheit)</a:t>
            </a:r>
            <a:r>
              <a:rPr lang="zh-CN" altLang="en-US" dirty="0">
                <a:latin typeface="Times"/>
              </a:rPr>
              <a:t> </a:t>
            </a:r>
            <a:r>
              <a:rPr lang="en-SG" sz="1800" dirty="0">
                <a:effectLst/>
                <a:latin typeface="Times"/>
              </a:rPr>
              <a:t>and the boiling temperature is 212°F, both at standard atmospheric pressure. </a:t>
            </a:r>
            <a:endParaRPr lang="en-SG" dirty="0"/>
          </a:p>
          <a:p>
            <a:pPr algn="just"/>
            <a:endParaRPr lang="en-SG" sz="1800" dirty="0">
              <a:effectLst/>
              <a:latin typeface="Times"/>
            </a:endParaRPr>
          </a:p>
          <a:p>
            <a:pPr algn="just"/>
            <a:r>
              <a:rPr lang="en-SG" sz="1800" dirty="0">
                <a:effectLst/>
                <a:latin typeface="Times"/>
              </a:rPr>
              <a:t>There are 180 degrees between freezing and boiling, compared to 100 on the Celsius scale</a:t>
            </a:r>
            <a:r>
              <a:rPr lang="en-US" altLang="zh-CN" dirty="0">
                <a:latin typeface="Times"/>
              </a:rPr>
              <a:t>.</a:t>
            </a:r>
            <a:endParaRPr lang="en-SG" dirty="0"/>
          </a:p>
        </p:txBody>
      </p:sp>
    </p:spTree>
    <p:extLst>
      <p:ext uri="{BB962C8B-B14F-4D97-AF65-F5344CB8AC3E}">
        <p14:creationId xmlns:p14="http://schemas.microsoft.com/office/powerpoint/2010/main" val="31799596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zh-CN" dirty="0">
                <a:effectLst/>
                <a:latin typeface="Helvetica Neue" panose="02000503000000020004" pitchFamily="2" charset="0"/>
              </a:rPr>
              <a:t>17-2</a:t>
            </a:r>
            <a:r>
              <a:rPr lang="zh-CN" altLang="en-US" dirty="0">
                <a:effectLst/>
                <a:latin typeface="Helvetica Neue" panose="02000503000000020004" pitchFamily="2" charset="0"/>
              </a:rPr>
              <a:t> </a:t>
            </a:r>
            <a:r>
              <a:rPr lang="en-SG" sz="3200" dirty="0">
                <a:effectLst/>
                <a:latin typeface="Helvetica Neue" panose="02000503000000020004" pitchFamily="2" charset="0"/>
              </a:rPr>
              <a:t>Thermometers and Temperature Scales</a:t>
            </a:r>
            <a:endParaRPr lang="en-SG" dirty="0">
              <a:effectLst/>
              <a:latin typeface="Helvetica Neue" panose="02000503000000020004" pitchFamily="2" charset="0"/>
            </a:endParaRPr>
          </a:p>
        </p:txBody>
      </p:sp>
      <p:sp>
        <p:nvSpPr>
          <p:cNvPr id="3" name="Date Placeholder 2"/>
          <p:cNvSpPr>
            <a:spLocks noGrp="1"/>
          </p:cNvSpPr>
          <p:nvPr>
            <p:ph type="dt" sz="half" idx="10"/>
          </p:nvPr>
        </p:nvSpPr>
        <p:spPr/>
        <p:txBody>
          <a:bodyPr/>
          <a:lstStyle/>
          <a:p>
            <a:r>
              <a:rPr lang="en-SG" altLang="zh-TW"/>
              <a:t>Thermodynamics I (Ch. 17)</a:t>
            </a:r>
            <a:endParaRPr lang="en-GB" dirty="0"/>
          </a:p>
        </p:txBody>
      </p:sp>
      <p:sp>
        <p:nvSpPr>
          <p:cNvPr id="4" name="Slide Number Placeholder 3"/>
          <p:cNvSpPr>
            <a:spLocks noGrp="1"/>
          </p:cNvSpPr>
          <p:nvPr>
            <p:ph type="sldNum" sz="quarter" idx="12"/>
          </p:nvPr>
        </p:nvSpPr>
        <p:spPr/>
        <p:txBody>
          <a:bodyPr/>
          <a:lstStyle/>
          <a:p>
            <a:fld id="{60093787-08EC-4113-8521-0E445B8625BD}" type="slidenum">
              <a:rPr lang="en-GB" smtClean="0"/>
              <a:t>11</a:t>
            </a:fld>
            <a:endParaRPr lang="en-GB"/>
          </a:p>
        </p:txBody>
      </p:sp>
      <p:pic>
        <p:nvPicPr>
          <p:cNvPr id="5" name="Picture 4">
            <a:extLst>
              <a:ext uri="{FF2B5EF4-FFF2-40B4-BE49-F238E27FC236}">
                <a16:creationId xmlns:a16="http://schemas.microsoft.com/office/drawing/2014/main" id="{B208E7A0-1C5B-7583-D6FC-0B5C6D3766DB}"/>
              </a:ext>
            </a:extLst>
          </p:cNvPr>
          <p:cNvPicPr>
            <a:picLocks noChangeAspect="1"/>
          </p:cNvPicPr>
          <p:nvPr/>
        </p:nvPicPr>
        <p:blipFill>
          <a:blip r:embed="rId2"/>
          <a:stretch>
            <a:fillRect/>
          </a:stretch>
        </p:blipFill>
        <p:spPr>
          <a:xfrm>
            <a:off x="4067944" y="2586502"/>
            <a:ext cx="2747276" cy="842498"/>
          </a:xfrm>
          <a:prstGeom prst="rect">
            <a:avLst/>
          </a:prstGeom>
        </p:spPr>
      </p:pic>
      <p:pic>
        <p:nvPicPr>
          <p:cNvPr id="6" name="Picture 5">
            <a:extLst>
              <a:ext uri="{FF2B5EF4-FFF2-40B4-BE49-F238E27FC236}">
                <a16:creationId xmlns:a16="http://schemas.microsoft.com/office/drawing/2014/main" id="{8F382E16-4B41-5EC6-BAFC-558990394577}"/>
              </a:ext>
            </a:extLst>
          </p:cNvPr>
          <p:cNvPicPr>
            <a:picLocks noChangeAspect="1"/>
          </p:cNvPicPr>
          <p:nvPr/>
        </p:nvPicPr>
        <p:blipFill>
          <a:blip r:embed="rId3"/>
          <a:stretch>
            <a:fillRect/>
          </a:stretch>
        </p:blipFill>
        <p:spPr>
          <a:xfrm>
            <a:off x="4067944" y="3742457"/>
            <a:ext cx="3216977" cy="732007"/>
          </a:xfrm>
          <a:prstGeom prst="rect">
            <a:avLst/>
          </a:prstGeom>
        </p:spPr>
      </p:pic>
      <p:sp>
        <p:nvSpPr>
          <p:cNvPr id="7" name="TextBox 6">
            <a:extLst>
              <a:ext uri="{FF2B5EF4-FFF2-40B4-BE49-F238E27FC236}">
                <a16:creationId xmlns:a16="http://schemas.microsoft.com/office/drawing/2014/main" id="{408FE667-5EAD-C504-5395-A06B585BCD00}"/>
              </a:ext>
            </a:extLst>
          </p:cNvPr>
          <p:cNvSpPr txBox="1"/>
          <p:nvPr/>
        </p:nvSpPr>
        <p:spPr>
          <a:xfrm>
            <a:off x="640853" y="1727605"/>
            <a:ext cx="5205271" cy="461665"/>
          </a:xfrm>
          <a:prstGeom prst="rect">
            <a:avLst/>
          </a:prstGeom>
          <a:noFill/>
        </p:spPr>
        <p:txBody>
          <a:bodyPr wrap="none" rtlCol="0">
            <a:spAutoFit/>
          </a:bodyPr>
          <a:lstStyle/>
          <a:p>
            <a:r>
              <a:rPr lang="en-US" altLang="zh-CN" sz="2400" dirty="0"/>
              <a:t>Conversion</a:t>
            </a:r>
            <a:r>
              <a:rPr lang="zh-CN" altLang="en-US" sz="2400" dirty="0"/>
              <a:t> </a:t>
            </a:r>
            <a:r>
              <a:rPr lang="en-US" altLang="zh-CN" sz="2400" dirty="0"/>
              <a:t>between</a:t>
            </a:r>
            <a:r>
              <a:rPr lang="zh-CN" altLang="en-US" sz="2400" dirty="0"/>
              <a:t> </a:t>
            </a:r>
            <a:r>
              <a:rPr lang="en-US" altLang="zh-CN" sz="2400" dirty="0"/>
              <a:t>temperature</a:t>
            </a:r>
            <a:r>
              <a:rPr lang="zh-CN" altLang="en-US" sz="2400" dirty="0"/>
              <a:t> </a:t>
            </a:r>
            <a:r>
              <a:rPr lang="en-US" altLang="zh-CN" sz="2400" dirty="0"/>
              <a:t>scales</a:t>
            </a:r>
            <a:endParaRPr lang="en-US" sz="2400" dirty="0"/>
          </a:p>
        </p:txBody>
      </p:sp>
      <p:sp>
        <p:nvSpPr>
          <p:cNvPr id="10" name="TextBox 9">
            <a:extLst>
              <a:ext uri="{FF2B5EF4-FFF2-40B4-BE49-F238E27FC236}">
                <a16:creationId xmlns:a16="http://schemas.microsoft.com/office/drawing/2014/main" id="{135859A3-B530-9C8C-A5D5-F043FEC82D7F}"/>
              </a:ext>
            </a:extLst>
          </p:cNvPr>
          <p:cNvSpPr txBox="1"/>
          <p:nvPr/>
        </p:nvSpPr>
        <p:spPr>
          <a:xfrm>
            <a:off x="307848" y="2948044"/>
            <a:ext cx="4572000" cy="369332"/>
          </a:xfrm>
          <a:prstGeom prst="rect">
            <a:avLst/>
          </a:prstGeom>
          <a:noFill/>
        </p:spPr>
        <p:txBody>
          <a:bodyPr wrap="square">
            <a:spAutoFit/>
          </a:bodyPr>
          <a:lstStyle/>
          <a:p>
            <a:r>
              <a:rPr lang="en-SG" sz="1800" b="1" dirty="0">
                <a:effectLst/>
                <a:latin typeface="Times"/>
              </a:rPr>
              <a:t>Fahrenheit temperature scale</a:t>
            </a:r>
            <a:endParaRPr lang="en-US" dirty="0"/>
          </a:p>
        </p:txBody>
      </p:sp>
      <p:sp>
        <p:nvSpPr>
          <p:cNvPr id="13" name="TextBox 12">
            <a:extLst>
              <a:ext uri="{FF2B5EF4-FFF2-40B4-BE49-F238E27FC236}">
                <a16:creationId xmlns:a16="http://schemas.microsoft.com/office/drawing/2014/main" id="{FFED8260-0558-ED77-50FA-0292315D4757}"/>
              </a:ext>
            </a:extLst>
          </p:cNvPr>
          <p:cNvSpPr txBox="1"/>
          <p:nvPr/>
        </p:nvSpPr>
        <p:spPr>
          <a:xfrm>
            <a:off x="477343" y="3923794"/>
            <a:ext cx="4572000" cy="369332"/>
          </a:xfrm>
          <a:prstGeom prst="rect">
            <a:avLst/>
          </a:prstGeom>
          <a:noFill/>
        </p:spPr>
        <p:txBody>
          <a:bodyPr wrap="square">
            <a:spAutoFit/>
          </a:bodyPr>
          <a:lstStyle/>
          <a:p>
            <a:r>
              <a:rPr lang="en-SG" sz="1800" b="1" dirty="0">
                <a:effectLst/>
                <a:latin typeface="Times"/>
              </a:rPr>
              <a:t>Celsius temperature scale</a:t>
            </a:r>
            <a:endParaRPr lang="en-US" dirty="0"/>
          </a:p>
        </p:txBody>
      </p:sp>
    </p:spTree>
    <p:extLst>
      <p:ext uri="{BB962C8B-B14F-4D97-AF65-F5344CB8AC3E}">
        <p14:creationId xmlns:p14="http://schemas.microsoft.com/office/powerpoint/2010/main" val="2023339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zh-CN" dirty="0">
                <a:effectLst/>
                <a:latin typeface="Helvetica Neue" panose="02000503000000020004" pitchFamily="2" charset="0"/>
              </a:rPr>
              <a:t>17-2</a:t>
            </a:r>
            <a:r>
              <a:rPr lang="zh-CN" altLang="en-US" dirty="0">
                <a:effectLst/>
                <a:latin typeface="Helvetica Neue" panose="02000503000000020004" pitchFamily="2" charset="0"/>
              </a:rPr>
              <a:t> </a:t>
            </a:r>
            <a:r>
              <a:rPr lang="en-SG" sz="3200" dirty="0">
                <a:effectLst/>
                <a:latin typeface="Helvetica Neue" panose="02000503000000020004" pitchFamily="2" charset="0"/>
              </a:rPr>
              <a:t>Thermometers and Temperature Scales</a:t>
            </a:r>
            <a:endParaRPr lang="en-SG" dirty="0">
              <a:effectLst/>
              <a:latin typeface="Helvetica Neue" panose="02000503000000020004" pitchFamily="2" charset="0"/>
            </a:endParaRPr>
          </a:p>
        </p:txBody>
      </p:sp>
      <p:sp>
        <p:nvSpPr>
          <p:cNvPr id="3" name="Date Placeholder 2"/>
          <p:cNvSpPr>
            <a:spLocks noGrp="1"/>
          </p:cNvSpPr>
          <p:nvPr>
            <p:ph type="dt" sz="half" idx="10"/>
          </p:nvPr>
        </p:nvSpPr>
        <p:spPr/>
        <p:txBody>
          <a:bodyPr/>
          <a:lstStyle/>
          <a:p>
            <a:r>
              <a:rPr lang="en-SG" altLang="zh-TW"/>
              <a:t>Thermodynamics I (Ch. 17)</a:t>
            </a:r>
            <a:endParaRPr lang="en-GB" dirty="0"/>
          </a:p>
        </p:txBody>
      </p:sp>
      <p:sp>
        <p:nvSpPr>
          <p:cNvPr id="4" name="Slide Number Placeholder 3"/>
          <p:cNvSpPr>
            <a:spLocks noGrp="1"/>
          </p:cNvSpPr>
          <p:nvPr>
            <p:ph type="sldNum" sz="quarter" idx="12"/>
          </p:nvPr>
        </p:nvSpPr>
        <p:spPr/>
        <p:txBody>
          <a:bodyPr/>
          <a:lstStyle/>
          <a:p>
            <a:fld id="{60093787-08EC-4113-8521-0E445B8625BD}" type="slidenum">
              <a:rPr lang="en-GB" smtClean="0"/>
              <a:t>12</a:t>
            </a:fld>
            <a:endParaRPr lang="en-GB"/>
          </a:p>
        </p:txBody>
      </p:sp>
      <p:sp>
        <p:nvSpPr>
          <p:cNvPr id="9" name="TextBox 8">
            <a:extLst>
              <a:ext uri="{FF2B5EF4-FFF2-40B4-BE49-F238E27FC236}">
                <a16:creationId xmlns:a16="http://schemas.microsoft.com/office/drawing/2014/main" id="{28CD3828-88F9-7F53-5E38-7580BD574250}"/>
              </a:ext>
            </a:extLst>
          </p:cNvPr>
          <p:cNvSpPr txBox="1"/>
          <p:nvPr/>
        </p:nvSpPr>
        <p:spPr>
          <a:xfrm>
            <a:off x="612648" y="1512746"/>
            <a:ext cx="7919792" cy="1569660"/>
          </a:xfrm>
          <a:prstGeom prst="rect">
            <a:avLst/>
          </a:prstGeom>
          <a:noFill/>
        </p:spPr>
        <p:txBody>
          <a:bodyPr wrap="square">
            <a:spAutoFit/>
          </a:bodyPr>
          <a:lstStyle/>
          <a:p>
            <a:pPr algn="just"/>
            <a:r>
              <a:rPr lang="en-SG" sz="2400" dirty="0">
                <a:effectLst/>
                <a:latin typeface="Calibri" panose="020F0502020204030204" pitchFamily="34" charset="0"/>
                <a:cs typeface="Calibri" panose="020F0502020204030204" pitchFamily="34" charset="0"/>
              </a:rPr>
              <a:t>Most mammals maintain body temperatures in the range from 36°C to 40°C (309 K to 313 K). A high metabolic rate warms the animal from within, and insulation (such as fur, feathers, and body fat) slows heat loss. </a:t>
            </a:r>
            <a:endParaRPr lang="en-SG" sz="2400" dirty="0">
              <a:latin typeface="Calibri" panose="020F0502020204030204" pitchFamily="34" charset="0"/>
              <a:cs typeface="Calibri" panose="020F0502020204030204" pitchFamily="34" charset="0"/>
            </a:endParaRPr>
          </a:p>
        </p:txBody>
      </p:sp>
      <p:pic>
        <p:nvPicPr>
          <p:cNvPr id="11" name="Picture 10">
            <a:extLst>
              <a:ext uri="{FF2B5EF4-FFF2-40B4-BE49-F238E27FC236}">
                <a16:creationId xmlns:a16="http://schemas.microsoft.com/office/drawing/2014/main" id="{7A0AD981-D1B2-173A-D94D-F13ED239D88F}"/>
              </a:ext>
            </a:extLst>
          </p:cNvPr>
          <p:cNvPicPr>
            <a:picLocks noChangeAspect="1"/>
          </p:cNvPicPr>
          <p:nvPr/>
        </p:nvPicPr>
        <p:blipFill>
          <a:blip r:embed="rId2"/>
          <a:stretch>
            <a:fillRect/>
          </a:stretch>
        </p:blipFill>
        <p:spPr>
          <a:xfrm>
            <a:off x="726948" y="3409710"/>
            <a:ext cx="3733800" cy="2489200"/>
          </a:xfrm>
          <a:prstGeom prst="rect">
            <a:avLst/>
          </a:prstGeom>
        </p:spPr>
      </p:pic>
      <p:pic>
        <p:nvPicPr>
          <p:cNvPr id="12" name="Picture 11">
            <a:extLst>
              <a:ext uri="{FF2B5EF4-FFF2-40B4-BE49-F238E27FC236}">
                <a16:creationId xmlns:a16="http://schemas.microsoft.com/office/drawing/2014/main" id="{1CBB619C-FE2B-2254-683F-2A769D8C895E}"/>
              </a:ext>
            </a:extLst>
          </p:cNvPr>
          <p:cNvPicPr>
            <a:picLocks noChangeAspect="1"/>
          </p:cNvPicPr>
          <p:nvPr/>
        </p:nvPicPr>
        <p:blipFill>
          <a:blip r:embed="rId3"/>
          <a:stretch>
            <a:fillRect/>
          </a:stretch>
        </p:blipFill>
        <p:spPr>
          <a:xfrm>
            <a:off x="4760540" y="3393013"/>
            <a:ext cx="3771900" cy="2501900"/>
          </a:xfrm>
          <a:prstGeom prst="rect">
            <a:avLst/>
          </a:prstGeom>
        </p:spPr>
      </p:pic>
    </p:spTree>
    <p:extLst>
      <p:ext uri="{BB962C8B-B14F-4D97-AF65-F5344CB8AC3E}">
        <p14:creationId xmlns:p14="http://schemas.microsoft.com/office/powerpoint/2010/main" val="37061588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zh-CN" sz="3200" dirty="0">
                <a:effectLst/>
                <a:latin typeface="Helvetica Neue" panose="02000503000000020004" pitchFamily="2" charset="0"/>
              </a:rPr>
              <a:t>17-3</a:t>
            </a:r>
            <a:r>
              <a:rPr lang="zh-CN" altLang="en-US" sz="3200" dirty="0">
                <a:effectLst/>
                <a:latin typeface="Helvetica Neue" panose="02000503000000020004" pitchFamily="2" charset="0"/>
              </a:rPr>
              <a:t> </a:t>
            </a:r>
            <a:r>
              <a:rPr lang="en-SG" sz="3200" dirty="0">
                <a:effectLst/>
                <a:latin typeface="Helvetica Neue" panose="02000503000000020004" pitchFamily="2" charset="0"/>
              </a:rPr>
              <a:t>Gas Thermometers and the Kelvin Scale</a:t>
            </a:r>
          </a:p>
        </p:txBody>
      </p:sp>
      <p:sp>
        <p:nvSpPr>
          <p:cNvPr id="3" name="Date Placeholder 2"/>
          <p:cNvSpPr>
            <a:spLocks noGrp="1"/>
          </p:cNvSpPr>
          <p:nvPr>
            <p:ph type="dt" sz="half" idx="10"/>
          </p:nvPr>
        </p:nvSpPr>
        <p:spPr/>
        <p:txBody>
          <a:bodyPr/>
          <a:lstStyle/>
          <a:p>
            <a:r>
              <a:rPr lang="en-SG" altLang="zh-TW"/>
              <a:t>Thermodynamics I (Ch. 17)</a:t>
            </a:r>
            <a:endParaRPr lang="en-GB" dirty="0"/>
          </a:p>
        </p:txBody>
      </p:sp>
      <p:sp>
        <p:nvSpPr>
          <p:cNvPr id="4" name="Slide Number Placeholder 3"/>
          <p:cNvSpPr>
            <a:spLocks noGrp="1"/>
          </p:cNvSpPr>
          <p:nvPr>
            <p:ph type="sldNum" sz="quarter" idx="12"/>
          </p:nvPr>
        </p:nvSpPr>
        <p:spPr/>
        <p:txBody>
          <a:bodyPr/>
          <a:lstStyle/>
          <a:p>
            <a:fld id="{60093787-08EC-4113-8521-0E445B8625BD}" type="slidenum">
              <a:rPr lang="en-GB" smtClean="0"/>
              <a:t>13</a:t>
            </a:fld>
            <a:endParaRPr lang="en-GB"/>
          </a:p>
        </p:txBody>
      </p:sp>
      <p:pic>
        <p:nvPicPr>
          <p:cNvPr id="5" name="Picture 4">
            <a:extLst>
              <a:ext uri="{FF2B5EF4-FFF2-40B4-BE49-F238E27FC236}">
                <a16:creationId xmlns:a16="http://schemas.microsoft.com/office/drawing/2014/main" id="{9B4DDF8D-3D53-EF84-E900-DF25106AF07B}"/>
              </a:ext>
            </a:extLst>
          </p:cNvPr>
          <p:cNvPicPr>
            <a:picLocks noChangeAspect="1"/>
          </p:cNvPicPr>
          <p:nvPr/>
        </p:nvPicPr>
        <p:blipFill>
          <a:blip r:embed="rId2"/>
          <a:stretch>
            <a:fillRect/>
          </a:stretch>
        </p:blipFill>
        <p:spPr>
          <a:xfrm>
            <a:off x="1044152" y="1268760"/>
            <a:ext cx="7055696" cy="4765689"/>
          </a:xfrm>
          <a:prstGeom prst="rect">
            <a:avLst/>
          </a:prstGeom>
        </p:spPr>
      </p:pic>
    </p:spTree>
    <p:extLst>
      <p:ext uri="{BB962C8B-B14F-4D97-AF65-F5344CB8AC3E}">
        <p14:creationId xmlns:p14="http://schemas.microsoft.com/office/powerpoint/2010/main" val="27280691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zh-CN" sz="3200" dirty="0">
                <a:effectLst/>
                <a:latin typeface="Helvetica Neue" panose="02000503000000020004" pitchFamily="2" charset="0"/>
              </a:rPr>
              <a:t>17-3</a:t>
            </a:r>
            <a:r>
              <a:rPr lang="zh-CN" altLang="en-US" sz="3200" dirty="0">
                <a:effectLst/>
                <a:latin typeface="Helvetica Neue" panose="02000503000000020004" pitchFamily="2" charset="0"/>
              </a:rPr>
              <a:t> </a:t>
            </a:r>
            <a:r>
              <a:rPr lang="en-SG" sz="3200" dirty="0">
                <a:effectLst/>
                <a:latin typeface="Helvetica Neue" panose="02000503000000020004" pitchFamily="2" charset="0"/>
              </a:rPr>
              <a:t>Gas Thermometers and the Kelvin Scale</a:t>
            </a:r>
          </a:p>
        </p:txBody>
      </p:sp>
      <p:sp>
        <p:nvSpPr>
          <p:cNvPr id="3" name="Date Placeholder 2"/>
          <p:cNvSpPr>
            <a:spLocks noGrp="1"/>
          </p:cNvSpPr>
          <p:nvPr>
            <p:ph type="dt" sz="half" idx="10"/>
          </p:nvPr>
        </p:nvSpPr>
        <p:spPr/>
        <p:txBody>
          <a:bodyPr/>
          <a:lstStyle/>
          <a:p>
            <a:r>
              <a:rPr lang="en-SG" altLang="zh-TW"/>
              <a:t>Thermodynamics I (Ch. 17)</a:t>
            </a:r>
            <a:endParaRPr lang="en-GB" dirty="0"/>
          </a:p>
        </p:txBody>
      </p:sp>
      <p:sp>
        <p:nvSpPr>
          <p:cNvPr id="4" name="Slide Number Placeholder 3"/>
          <p:cNvSpPr>
            <a:spLocks noGrp="1"/>
          </p:cNvSpPr>
          <p:nvPr>
            <p:ph type="sldNum" sz="quarter" idx="12"/>
          </p:nvPr>
        </p:nvSpPr>
        <p:spPr/>
        <p:txBody>
          <a:bodyPr/>
          <a:lstStyle/>
          <a:p>
            <a:fld id="{60093787-08EC-4113-8521-0E445B8625BD}" type="slidenum">
              <a:rPr lang="en-GB" smtClean="0"/>
              <a:t>14</a:t>
            </a:fld>
            <a:endParaRPr lang="en-GB"/>
          </a:p>
        </p:txBody>
      </p:sp>
      <p:sp>
        <p:nvSpPr>
          <p:cNvPr id="7" name="TextBox 6">
            <a:extLst>
              <a:ext uri="{FF2B5EF4-FFF2-40B4-BE49-F238E27FC236}">
                <a16:creationId xmlns:a16="http://schemas.microsoft.com/office/drawing/2014/main" id="{255FAF0F-ACD1-E83D-C185-27B77586C689}"/>
              </a:ext>
            </a:extLst>
          </p:cNvPr>
          <p:cNvSpPr txBox="1"/>
          <p:nvPr/>
        </p:nvSpPr>
        <p:spPr>
          <a:xfrm>
            <a:off x="436911" y="1441351"/>
            <a:ext cx="8249889" cy="2308324"/>
          </a:xfrm>
          <a:prstGeom prst="rect">
            <a:avLst/>
          </a:prstGeom>
          <a:noFill/>
        </p:spPr>
        <p:txBody>
          <a:bodyPr wrap="square">
            <a:spAutoFit/>
          </a:bodyPr>
          <a:lstStyle/>
          <a:p>
            <a:pPr algn="just"/>
            <a:r>
              <a:rPr lang="en-SG" sz="2400" dirty="0">
                <a:effectLst/>
                <a:latin typeface="Times"/>
              </a:rPr>
              <a:t>We use this extrapolated zero-pressure temperature as the basis for a temperature scale with its zero at this temperature. This is the </a:t>
            </a:r>
            <a:r>
              <a:rPr lang="en-SG" sz="2400" b="1" dirty="0">
                <a:effectLst/>
                <a:latin typeface="Times"/>
              </a:rPr>
              <a:t>Kelvin temperature scale, </a:t>
            </a:r>
            <a:r>
              <a:rPr lang="en-SG" sz="2400" dirty="0">
                <a:effectLst/>
                <a:latin typeface="Times"/>
              </a:rPr>
              <a:t>named for the British physicist Lord Kelvin (1824–1907). The units are the same size as those on the Celsius scale, but the zero is shifted so that 0 K </a:t>
            </a:r>
            <a:r>
              <a:rPr lang="en-SG" sz="2400" dirty="0">
                <a:effectLst/>
                <a:latin typeface="Optr2k"/>
              </a:rPr>
              <a:t>= - </a:t>
            </a:r>
            <a:r>
              <a:rPr lang="en-SG" sz="2400" dirty="0">
                <a:effectLst/>
                <a:latin typeface="Times"/>
              </a:rPr>
              <a:t>273.15°C and 273.15 K </a:t>
            </a:r>
            <a:r>
              <a:rPr lang="en-SG" sz="2400" dirty="0">
                <a:effectLst/>
                <a:latin typeface="Optr2k"/>
              </a:rPr>
              <a:t>= </a:t>
            </a:r>
            <a:r>
              <a:rPr lang="en-SG" sz="2400" dirty="0">
                <a:effectLst/>
                <a:latin typeface="Times"/>
              </a:rPr>
              <a:t>0°C</a:t>
            </a:r>
            <a:endParaRPr lang="en-SG" sz="2400" dirty="0">
              <a:effectLst/>
            </a:endParaRPr>
          </a:p>
        </p:txBody>
      </p:sp>
      <p:pic>
        <p:nvPicPr>
          <p:cNvPr id="8" name="Picture 7">
            <a:extLst>
              <a:ext uri="{FF2B5EF4-FFF2-40B4-BE49-F238E27FC236}">
                <a16:creationId xmlns:a16="http://schemas.microsoft.com/office/drawing/2014/main" id="{03E37891-486E-4AA8-A3EF-3FC9A0654C79}"/>
              </a:ext>
            </a:extLst>
          </p:cNvPr>
          <p:cNvPicPr>
            <a:picLocks noChangeAspect="1"/>
          </p:cNvPicPr>
          <p:nvPr/>
        </p:nvPicPr>
        <p:blipFill>
          <a:blip r:embed="rId2"/>
          <a:stretch>
            <a:fillRect/>
          </a:stretch>
        </p:blipFill>
        <p:spPr>
          <a:xfrm>
            <a:off x="2699792" y="3933056"/>
            <a:ext cx="2952328" cy="541551"/>
          </a:xfrm>
          <a:prstGeom prst="rect">
            <a:avLst/>
          </a:prstGeom>
        </p:spPr>
      </p:pic>
    </p:spTree>
    <p:extLst>
      <p:ext uri="{BB962C8B-B14F-4D97-AF65-F5344CB8AC3E}">
        <p14:creationId xmlns:p14="http://schemas.microsoft.com/office/powerpoint/2010/main" val="3885189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zh-CN" sz="3200" dirty="0">
                <a:effectLst/>
                <a:latin typeface="Helvetica Neue" panose="02000503000000020004" pitchFamily="2" charset="0"/>
              </a:rPr>
              <a:t>17-3</a:t>
            </a:r>
            <a:r>
              <a:rPr lang="zh-CN" altLang="en-US" sz="3200" dirty="0">
                <a:effectLst/>
                <a:latin typeface="Helvetica Neue" panose="02000503000000020004" pitchFamily="2" charset="0"/>
              </a:rPr>
              <a:t> </a:t>
            </a:r>
            <a:r>
              <a:rPr lang="en-SG" sz="3200" dirty="0">
                <a:effectLst/>
                <a:latin typeface="Helvetica Neue" panose="02000503000000020004" pitchFamily="2" charset="0"/>
              </a:rPr>
              <a:t>Gas Thermometers and the Kelvin Scale</a:t>
            </a:r>
          </a:p>
        </p:txBody>
      </p:sp>
      <p:sp>
        <p:nvSpPr>
          <p:cNvPr id="3" name="Date Placeholder 2"/>
          <p:cNvSpPr>
            <a:spLocks noGrp="1"/>
          </p:cNvSpPr>
          <p:nvPr>
            <p:ph type="dt" sz="half" idx="10"/>
          </p:nvPr>
        </p:nvSpPr>
        <p:spPr/>
        <p:txBody>
          <a:bodyPr/>
          <a:lstStyle/>
          <a:p>
            <a:r>
              <a:rPr lang="en-SG" altLang="zh-TW"/>
              <a:t>Thermodynamics I (Ch. 17)</a:t>
            </a:r>
            <a:endParaRPr lang="en-GB" dirty="0"/>
          </a:p>
        </p:txBody>
      </p:sp>
      <p:sp>
        <p:nvSpPr>
          <p:cNvPr id="4" name="Slide Number Placeholder 3"/>
          <p:cNvSpPr>
            <a:spLocks noGrp="1"/>
          </p:cNvSpPr>
          <p:nvPr>
            <p:ph type="sldNum" sz="quarter" idx="12"/>
          </p:nvPr>
        </p:nvSpPr>
        <p:spPr/>
        <p:txBody>
          <a:bodyPr/>
          <a:lstStyle/>
          <a:p>
            <a:fld id="{60093787-08EC-4113-8521-0E445B8625BD}" type="slidenum">
              <a:rPr lang="en-GB" smtClean="0"/>
              <a:t>15</a:t>
            </a:fld>
            <a:endParaRPr lang="en-GB"/>
          </a:p>
        </p:txBody>
      </p:sp>
      <p:pic>
        <p:nvPicPr>
          <p:cNvPr id="5" name="Picture 4">
            <a:extLst>
              <a:ext uri="{FF2B5EF4-FFF2-40B4-BE49-F238E27FC236}">
                <a16:creationId xmlns:a16="http://schemas.microsoft.com/office/drawing/2014/main" id="{7C3AFA5F-61A9-76C9-D5B7-C664BCCE72AB}"/>
              </a:ext>
            </a:extLst>
          </p:cNvPr>
          <p:cNvPicPr>
            <a:picLocks noChangeAspect="1"/>
          </p:cNvPicPr>
          <p:nvPr/>
        </p:nvPicPr>
        <p:blipFill>
          <a:blip r:embed="rId2"/>
          <a:stretch>
            <a:fillRect/>
          </a:stretch>
        </p:blipFill>
        <p:spPr>
          <a:xfrm>
            <a:off x="2009020" y="1340768"/>
            <a:ext cx="4401880" cy="2736304"/>
          </a:xfrm>
          <a:prstGeom prst="rect">
            <a:avLst/>
          </a:prstGeom>
        </p:spPr>
      </p:pic>
      <p:pic>
        <p:nvPicPr>
          <p:cNvPr id="6" name="Picture 5">
            <a:extLst>
              <a:ext uri="{FF2B5EF4-FFF2-40B4-BE49-F238E27FC236}">
                <a16:creationId xmlns:a16="http://schemas.microsoft.com/office/drawing/2014/main" id="{46E15110-5002-5C03-6FBB-3905AE5307EC}"/>
              </a:ext>
            </a:extLst>
          </p:cNvPr>
          <p:cNvPicPr>
            <a:picLocks noChangeAspect="1"/>
          </p:cNvPicPr>
          <p:nvPr/>
        </p:nvPicPr>
        <p:blipFill>
          <a:blip r:embed="rId3"/>
          <a:stretch>
            <a:fillRect/>
          </a:stretch>
        </p:blipFill>
        <p:spPr>
          <a:xfrm>
            <a:off x="685800" y="4509120"/>
            <a:ext cx="7772400" cy="1428099"/>
          </a:xfrm>
          <a:prstGeom prst="rect">
            <a:avLst/>
          </a:prstGeom>
        </p:spPr>
      </p:pic>
    </p:spTree>
    <p:extLst>
      <p:ext uri="{BB962C8B-B14F-4D97-AF65-F5344CB8AC3E}">
        <p14:creationId xmlns:p14="http://schemas.microsoft.com/office/powerpoint/2010/main" val="475484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zh-CN" sz="3200" dirty="0">
                <a:effectLst/>
                <a:latin typeface="Helvetica Neue" panose="02000503000000020004" pitchFamily="2" charset="0"/>
              </a:rPr>
              <a:t>17-3</a:t>
            </a:r>
            <a:r>
              <a:rPr lang="zh-CN" altLang="en-US" sz="3200" dirty="0">
                <a:effectLst/>
                <a:latin typeface="Helvetica Neue" panose="02000503000000020004" pitchFamily="2" charset="0"/>
              </a:rPr>
              <a:t> </a:t>
            </a:r>
            <a:r>
              <a:rPr lang="en-SG" sz="3200" dirty="0">
                <a:effectLst/>
                <a:latin typeface="Helvetica Neue" panose="02000503000000020004" pitchFamily="2" charset="0"/>
              </a:rPr>
              <a:t>Gas Thermometers and the Kelvin Scale</a:t>
            </a:r>
          </a:p>
        </p:txBody>
      </p:sp>
      <p:sp>
        <p:nvSpPr>
          <p:cNvPr id="3" name="Date Placeholder 2"/>
          <p:cNvSpPr>
            <a:spLocks noGrp="1"/>
          </p:cNvSpPr>
          <p:nvPr>
            <p:ph type="dt" sz="half" idx="10"/>
          </p:nvPr>
        </p:nvSpPr>
        <p:spPr/>
        <p:txBody>
          <a:bodyPr/>
          <a:lstStyle/>
          <a:p>
            <a:r>
              <a:rPr lang="en-SG" altLang="zh-TW"/>
              <a:t>Thermodynamics I (Ch. 17)</a:t>
            </a:r>
            <a:endParaRPr lang="en-GB" dirty="0"/>
          </a:p>
        </p:txBody>
      </p:sp>
      <p:sp>
        <p:nvSpPr>
          <p:cNvPr id="4" name="Slide Number Placeholder 3"/>
          <p:cNvSpPr>
            <a:spLocks noGrp="1"/>
          </p:cNvSpPr>
          <p:nvPr>
            <p:ph type="sldNum" sz="quarter" idx="12"/>
          </p:nvPr>
        </p:nvSpPr>
        <p:spPr/>
        <p:txBody>
          <a:bodyPr/>
          <a:lstStyle/>
          <a:p>
            <a:fld id="{60093787-08EC-4113-8521-0E445B8625BD}" type="slidenum">
              <a:rPr lang="en-GB" smtClean="0"/>
              <a:t>16</a:t>
            </a:fld>
            <a:endParaRPr lang="en-GB"/>
          </a:p>
        </p:txBody>
      </p:sp>
      <p:sp>
        <p:nvSpPr>
          <p:cNvPr id="8" name="TextBox 7">
            <a:extLst>
              <a:ext uri="{FF2B5EF4-FFF2-40B4-BE49-F238E27FC236}">
                <a16:creationId xmlns:a16="http://schemas.microsoft.com/office/drawing/2014/main" id="{9E829668-6459-F7C1-E4C5-8A36C7106460}"/>
              </a:ext>
            </a:extLst>
          </p:cNvPr>
          <p:cNvSpPr txBox="1"/>
          <p:nvPr/>
        </p:nvSpPr>
        <p:spPr>
          <a:xfrm>
            <a:off x="455458" y="1412776"/>
            <a:ext cx="8229600" cy="1200329"/>
          </a:xfrm>
          <a:prstGeom prst="rect">
            <a:avLst/>
          </a:prstGeom>
          <a:noFill/>
        </p:spPr>
        <p:txBody>
          <a:bodyPr wrap="square">
            <a:spAutoFit/>
          </a:bodyPr>
          <a:lstStyle/>
          <a:p>
            <a:pPr algn="just"/>
            <a:r>
              <a:rPr lang="en-SG" dirty="0">
                <a:effectLst/>
                <a:latin typeface="Times"/>
              </a:rPr>
              <a:t>The Celsius scale has two fixed points: the normal freezing and boiling temperatures of water. But we can define the Kelvin scale using a gas thermometer with only a single reference temperature. We define the ratio of any two temperatures </a:t>
            </a:r>
            <a:r>
              <a:rPr lang="en-SG" i="1" dirty="0">
                <a:effectLst/>
                <a:latin typeface="Times"/>
              </a:rPr>
              <a:t>T</a:t>
            </a:r>
            <a:r>
              <a:rPr lang="en-SG" baseline="-25000" dirty="0">
                <a:effectLst/>
                <a:latin typeface="Times"/>
              </a:rPr>
              <a:t>1</a:t>
            </a:r>
            <a:r>
              <a:rPr lang="en-SG" dirty="0">
                <a:effectLst/>
                <a:latin typeface="Times"/>
              </a:rPr>
              <a:t> and </a:t>
            </a:r>
            <a:r>
              <a:rPr lang="en-SG" i="1" dirty="0">
                <a:effectLst/>
                <a:latin typeface="Times"/>
              </a:rPr>
              <a:t>T</a:t>
            </a:r>
            <a:r>
              <a:rPr lang="en-SG" baseline="-25000" dirty="0">
                <a:effectLst/>
                <a:latin typeface="Times"/>
              </a:rPr>
              <a:t>2</a:t>
            </a:r>
            <a:r>
              <a:rPr lang="en-SG" dirty="0">
                <a:effectLst/>
                <a:latin typeface="Times"/>
              </a:rPr>
              <a:t> on the Kelvin scale as the ratio of the corresponding gas-thermometer pressures </a:t>
            </a:r>
            <a:r>
              <a:rPr lang="en-SG" i="1" dirty="0">
                <a:effectLst/>
                <a:latin typeface="Times"/>
              </a:rPr>
              <a:t>p</a:t>
            </a:r>
            <a:r>
              <a:rPr lang="en-SG" baseline="-25000" dirty="0">
                <a:effectLst/>
                <a:latin typeface="Times"/>
              </a:rPr>
              <a:t>1</a:t>
            </a:r>
            <a:r>
              <a:rPr lang="en-SG" dirty="0">
                <a:effectLst/>
                <a:latin typeface="Times"/>
              </a:rPr>
              <a:t> and </a:t>
            </a:r>
            <a:r>
              <a:rPr lang="en-SG" i="1" dirty="0">
                <a:effectLst/>
                <a:latin typeface="Times"/>
              </a:rPr>
              <a:t>p</a:t>
            </a:r>
            <a:r>
              <a:rPr lang="en-SG" baseline="-25000" dirty="0">
                <a:effectLst/>
                <a:latin typeface="Times"/>
              </a:rPr>
              <a:t>2</a:t>
            </a:r>
            <a:r>
              <a:rPr lang="en-SG" dirty="0">
                <a:effectLst/>
                <a:latin typeface="Times"/>
              </a:rPr>
              <a:t>: </a:t>
            </a:r>
            <a:endParaRPr lang="en-SG" dirty="0"/>
          </a:p>
        </p:txBody>
      </p:sp>
      <p:pic>
        <p:nvPicPr>
          <p:cNvPr id="10" name="Picture 9">
            <a:extLst>
              <a:ext uri="{FF2B5EF4-FFF2-40B4-BE49-F238E27FC236}">
                <a16:creationId xmlns:a16="http://schemas.microsoft.com/office/drawing/2014/main" id="{AA820811-00BB-8E0A-F638-884281B803DD}"/>
              </a:ext>
            </a:extLst>
          </p:cNvPr>
          <p:cNvPicPr>
            <a:picLocks noChangeAspect="1"/>
          </p:cNvPicPr>
          <p:nvPr/>
        </p:nvPicPr>
        <p:blipFill>
          <a:blip r:embed="rId2"/>
          <a:stretch>
            <a:fillRect/>
          </a:stretch>
        </p:blipFill>
        <p:spPr>
          <a:xfrm>
            <a:off x="1384300" y="2882881"/>
            <a:ext cx="6375400" cy="609600"/>
          </a:xfrm>
          <a:prstGeom prst="rect">
            <a:avLst/>
          </a:prstGeom>
        </p:spPr>
      </p:pic>
      <p:pic>
        <p:nvPicPr>
          <p:cNvPr id="11" name="Picture 10">
            <a:extLst>
              <a:ext uri="{FF2B5EF4-FFF2-40B4-BE49-F238E27FC236}">
                <a16:creationId xmlns:a16="http://schemas.microsoft.com/office/drawing/2014/main" id="{3CDA4696-D966-C73C-5B6C-1FEBA9B03FCD}"/>
              </a:ext>
            </a:extLst>
          </p:cNvPr>
          <p:cNvPicPr>
            <a:picLocks noChangeAspect="1"/>
          </p:cNvPicPr>
          <p:nvPr/>
        </p:nvPicPr>
        <p:blipFill rotWithShape="1">
          <a:blip r:embed="rId3"/>
          <a:srcRect l="31630" t="10577"/>
          <a:stretch/>
        </p:blipFill>
        <p:spPr>
          <a:xfrm>
            <a:off x="3059832" y="3645314"/>
            <a:ext cx="3024336" cy="2671773"/>
          </a:xfrm>
          <a:prstGeom prst="rect">
            <a:avLst/>
          </a:prstGeom>
        </p:spPr>
      </p:pic>
    </p:spTree>
    <p:extLst>
      <p:ext uri="{BB962C8B-B14F-4D97-AF65-F5344CB8AC3E}">
        <p14:creationId xmlns:p14="http://schemas.microsoft.com/office/powerpoint/2010/main" val="23488375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zh-CN" sz="3200" dirty="0">
                <a:effectLst/>
                <a:latin typeface="Helvetica Neue" panose="02000503000000020004" pitchFamily="2" charset="0"/>
              </a:rPr>
              <a:t>17-3</a:t>
            </a:r>
            <a:r>
              <a:rPr lang="zh-CN" altLang="en-US" sz="3200" dirty="0">
                <a:effectLst/>
                <a:latin typeface="Helvetica Neue" panose="02000503000000020004" pitchFamily="2" charset="0"/>
              </a:rPr>
              <a:t> </a:t>
            </a:r>
            <a:r>
              <a:rPr lang="en-SG" sz="3200" dirty="0">
                <a:effectLst/>
                <a:latin typeface="Helvetica Neue" panose="02000503000000020004" pitchFamily="2" charset="0"/>
              </a:rPr>
              <a:t>Gas Thermometers and the Kelvin Scale</a:t>
            </a:r>
          </a:p>
        </p:txBody>
      </p:sp>
      <p:sp>
        <p:nvSpPr>
          <p:cNvPr id="3" name="Date Placeholder 2"/>
          <p:cNvSpPr>
            <a:spLocks noGrp="1"/>
          </p:cNvSpPr>
          <p:nvPr>
            <p:ph type="dt" sz="half" idx="10"/>
          </p:nvPr>
        </p:nvSpPr>
        <p:spPr/>
        <p:txBody>
          <a:bodyPr/>
          <a:lstStyle/>
          <a:p>
            <a:r>
              <a:rPr lang="en-SG" altLang="zh-TW"/>
              <a:t>Thermodynamics I (Ch. 17)</a:t>
            </a:r>
            <a:endParaRPr lang="en-GB" dirty="0"/>
          </a:p>
        </p:txBody>
      </p:sp>
      <p:sp>
        <p:nvSpPr>
          <p:cNvPr id="4" name="Slide Number Placeholder 3"/>
          <p:cNvSpPr>
            <a:spLocks noGrp="1"/>
          </p:cNvSpPr>
          <p:nvPr>
            <p:ph type="sldNum" sz="quarter" idx="12"/>
          </p:nvPr>
        </p:nvSpPr>
        <p:spPr/>
        <p:txBody>
          <a:bodyPr/>
          <a:lstStyle/>
          <a:p>
            <a:fld id="{60093787-08EC-4113-8521-0E445B8625BD}" type="slidenum">
              <a:rPr lang="en-GB" smtClean="0"/>
              <a:t>17</a:t>
            </a:fld>
            <a:endParaRPr lang="en-GB"/>
          </a:p>
        </p:txBody>
      </p:sp>
      <p:sp>
        <p:nvSpPr>
          <p:cNvPr id="6" name="TextBox 5">
            <a:extLst>
              <a:ext uri="{FF2B5EF4-FFF2-40B4-BE49-F238E27FC236}">
                <a16:creationId xmlns:a16="http://schemas.microsoft.com/office/drawing/2014/main" id="{7ED38622-7E08-04CC-8182-52AB89194720}"/>
              </a:ext>
            </a:extLst>
          </p:cNvPr>
          <p:cNvSpPr txBox="1"/>
          <p:nvPr/>
        </p:nvSpPr>
        <p:spPr>
          <a:xfrm>
            <a:off x="609745" y="1533683"/>
            <a:ext cx="8077055" cy="1477328"/>
          </a:xfrm>
          <a:prstGeom prst="rect">
            <a:avLst/>
          </a:prstGeom>
          <a:noFill/>
        </p:spPr>
        <p:txBody>
          <a:bodyPr wrap="square">
            <a:spAutoFit/>
          </a:bodyPr>
          <a:lstStyle/>
          <a:p>
            <a:pPr algn="just"/>
            <a:r>
              <a:rPr lang="en-SG" dirty="0">
                <a:effectLst/>
                <a:latin typeface="Times"/>
              </a:rPr>
              <a:t>The Kelvin scale is called an </a:t>
            </a:r>
            <a:r>
              <a:rPr lang="en-SG" b="1" dirty="0">
                <a:effectLst/>
                <a:latin typeface="Times"/>
              </a:rPr>
              <a:t>absolute temperature scale, </a:t>
            </a:r>
            <a:r>
              <a:rPr lang="en-SG" dirty="0">
                <a:effectLst/>
                <a:latin typeface="Times"/>
              </a:rPr>
              <a:t>and its zero point </a:t>
            </a:r>
            <a:r>
              <a:rPr lang="en-US" altLang="zh-CN" dirty="0">
                <a:effectLst/>
                <a:latin typeface="PBB2k"/>
              </a:rPr>
              <a:t>(</a:t>
            </a:r>
            <a:r>
              <a:rPr lang="en-SG" i="1" dirty="0">
                <a:effectLst/>
                <a:latin typeface="Times"/>
              </a:rPr>
              <a:t>T </a:t>
            </a:r>
            <a:r>
              <a:rPr lang="en-SG" dirty="0">
                <a:effectLst/>
                <a:latin typeface="Optr2k"/>
              </a:rPr>
              <a:t>= </a:t>
            </a:r>
            <a:r>
              <a:rPr lang="en-SG" dirty="0">
                <a:effectLst/>
                <a:latin typeface="Times"/>
              </a:rPr>
              <a:t>0 K </a:t>
            </a:r>
            <a:r>
              <a:rPr lang="en-SG" dirty="0">
                <a:effectLst/>
                <a:latin typeface="Optr2k"/>
              </a:rPr>
              <a:t>= -</a:t>
            </a:r>
            <a:r>
              <a:rPr lang="en-SG" dirty="0">
                <a:effectLst/>
                <a:latin typeface="Times"/>
              </a:rPr>
              <a:t>273.15°C) is called </a:t>
            </a:r>
            <a:r>
              <a:rPr lang="en-SG" b="1" dirty="0">
                <a:effectLst/>
                <a:latin typeface="Times"/>
              </a:rPr>
              <a:t>absolute zero. </a:t>
            </a:r>
            <a:r>
              <a:rPr lang="en-SG" dirty="0">
                <a:effectLst/>
                <a:latin typeface="Times"/>
              </a:rPr>
              <a:t>At absolute zero a system of molecules (such as a quantity of a gas, a liquid, or a solid) has its </a:t>
            </a:r>
            <a:r>
              <a:rPr lang="en-SG" i="1" dirty="0">
                <a:effectLst/>
                <a:latin typeface="Times"/>
              </a:rPr>
              <a:t>minimum </a:t>
            </a:r>
            <a:r>
              <a:rPr lang="en-SG" dirty="0">
                <a:effectLst/>
                <a:latin typeface="Times"/>
              </a:rPr>
              <a:t>possible total energy (kinetic plus potential); because of quantum effects, however, it is </a:t>
            </a:r>
            <a:r>
              <a:rPr lang="en-SG" i="1" dirty="0">
                <a:effectLst/>
                <a:latin typeface="Times"/>
              </a:rPr>
              <a:t>not </a:t>
            </a:r>
            <a:r>
              <a:rPr lang="en-SG" dirty="0">
                <a:effectLst/>
                <a:latin typeface="Times"/>
              </a:rPr>
              <a:t>correct to say that all molecular motion ceases at absolute zero. </a:t>
            </a:r>
            <a:endParaRPr lang="en-SG" dirty="0"/>
          </a:p>
        </p:txBody>
      </p:sp>
      <p:pic>
        <p:nvPicPr>
          <p:cNvPr id="7" name="Picture 6">
            <a:extLst>
              <a:ext uri="{FF2B5EF4-FFF2-40B4-BE49-F238E27FC236}">
                <a16:creationId xmlns:a16="http://schemas.microsoft.com/office/drawing/2014/main" id="{27CAC3ED-9AD1-6523-242F-F3782F91AF87}"/>
              </a:ext>
            </a:extLst>
          </p:cNvPr>
          <p:cNvPicPr>
            <a:picLocks noChangeAspect="1"/>
          </p:cNvPicPr>
          <p:nvPr/>
        </p:nvPicPr>
        <p:blipFill rotWithShape="1">
          <a:blip r:embed="rId2"/>
          <a:srcRect t="30701"/>
          <a:stretch/>
        </p:blipFill>
        <p:spPr>
          <a:xfrm>
            <a:off x="4657720" y="3044343"/>
            <a:ext cx="4196449" cy="2887991"/>
          </a:xfrm>
          <a:prstGeom prst="rect">
            <a:avLst/>
          </a:prstGeom>
        </p:spPr>
      </p:pic>
      <p:pic>
        <p:nvPicPr>
          <p:cNvPr id="9" name="Picture 8">
            <a:extLst>
              <a:ext uri="{FF2B5EF4-FFF2-40B4-BE49-F238E27FC236}">
                <a16:creationId xmlns:a16="http://schemas.microsoft.com/office/drawing/2014/main" id="{D1C87B24-AA38-7F49-8AB1-0E4EDAC1E829}"/>
              </a:ext>
            </a:extLst>
          </p:cNvPr>
          <p:cNvPicPr>
            <a:picLocks noChangeAspect="1"/>
          </p:cNvPicPr>
          <p:nvPr/>
        </p:nvPicPr>
        <p:blipFill rotWithShape="1">
          <a:blip r:embed="rId2"/>
          <a:srcRect b="67497"/>
          <a:stretch/>
        </p:blipFill>
        <p:spPr>
          <a:xfrm>
            <a:off x="793648" y="4077072"/>
            <a:ext cx="3864072" cy="1247245"/>
          </a:xfrm>
          <a:prstGeom prst="rect">
            <a:avLst/>
          </a:prstGeom>
        </p:spPr>
      </p:pic>
    </p:spTree>
    <p:extLst>
      <p:ext uri="{BB962C8B-B14F-4D97-AF65-F5344CB8AC3E}">
        <p14:creationId xmlns:p14="http://schemas.microsoft.com/office/powerpoint/2010/main" val="33691781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sz="3200" dirty="0">
                <a:effectLst/>
                <a:latin typeface="Helvetica Neue" panose="02000503000000020004" pitchFamily="2" charset="0"/>
              </a:rPr>
              <a:t>17-4</a:t>
            </a:r>
            <a:r>
              <a:rPr lang="zh-CN" altLang="en-US" sz="3200" dirty="0">
                <a:effectLst/>
                <a:latin typeface="Helvetica Neue" panose="02000503000000020004" pitchFamily="2" charset="0"/>
              </a:rPr>
              <a:t> </a:t>
            </a:r>
            <a:r>
              <a:rPr lang="en-SG" sz="3200" dirty="0">
                <a:effectLst/>
                <a:latin typeface="Helvetica Neue" panose="02000503000000020004" pitchFamily="2" charset="0"/>
              </a:rPr>
              <a:t>Thermal Expansion</a:t>
            </a:r>
          </a:p>
        </p:txBody>
      </p:sp>
      <p:sp>
        <p:nvSpPr>
          <p:cNvPr id="3" name="Date Placeholder 2"/>
          <p:cNvSpPr>
            <a:spLocks noGrp="1"/>
          </p:cNvSpPr>
          <p:nvPr>
            <p:ph type="dt" sz="half" idx="10"/>
          </p:nvPr>
        </p:nvSpPr>
        <p:spPr/>
        <p:txBody>
          <a:bodyPr/>
          <a:lstStyle/>
          <a:p>
            <a:r>
              <a:rPr lang="en-SG" altLang="zh-TW"/>
              <a:t>Thermodynamics I (Ch. 17)</a:t>
            </a:r>
            <a:endParaRPr lang="en-GB" dirty="0"/>
          </a:p>
        </p:txBody>
      </p:sp>
      <p:sp>
        <p:nvSpPr>
          <p:cNvPr id="4" name="Slide Number Placeholder 3"/>
          <p:cNvSpPr>
            <a:spLocks noGrp="1"/>
          </p:cNvSpPr>
          <p:nvPr>
            <p:ph type="sldNum" sz="quarter" idx="12"/>
          </p:nvPr>
        </p:nvSpPr>
        <p:spPr/>
        <p:txBody>
          <a:bodyPr/>
          <a:lstStyle/>
          <a:p>
            <a:fld id="{60093787-08EC-4113-8521-0E445B8625BD}" type="slidenum">
              <a:rPr lang="en-GB" smtClean="0"/>
              <a:t>18</a:t>
            </a:fld>
            <a:endParaRPr lang="en-GB"/>
          </a:p>
        </p:txBody>
      </p:sp>
      <p:pic>
        <p:nvPicPr>
          <p:cNvPr id="5" name="Picture 4">
            <a:extLst>
              <a:ext uri="{FF2B5EF4-FFF2-40B4-BE49-F238E27FC236}">
                <a16:creationId xmlns:a16="http://schemas.microsoft.com/office/drawing/2014/main" id="{105D7A62-D82F-5D98-8A0A-3BA45E11CAD2}"/>
              </a:ext>
            </a:extLst>
          </p:cNvPr>
          <p:cNvPicPr>
            <a:picLocks noChangeAspect="1"/>
          </p:cNvPicPr>
          <p:nvPr/>
        </p:nvPicPr>
        <p:blipFill>
          <a:blip r:embed="rId2"/>
          <a:stretch>
            <a:fillRect/>
          </a:stretch>
        </p:blipFill>
        <p:spPr>
          <a:xfrm>
            <a:off x="2195736" y="1268760"/>
            <a:ext cx="4277166" cy="4717260"/>
          </a:xfrm>
          <a:prstGeom prst="rect">
            <a:avLst/>
          </a:prstGeom>
        </p:spPr>
      </p:pic>
    </p:spTree>
    <p:extLst>
      <p:ext uri="{BB962C8B-B14F-4D97-AF65-F5344CB8AC3E}">
        <p14:creationId xmlns:p14="http://schemas.microsoft.com/office/powerpoint/2010/main" val="28907030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sz="3200" dirty="0">
                <a:effectLst/>
                <a:latin typeface="Helvetica Neue" panose="02000503000000020004" pitchFamily="2" charset="0"/>
              </a:rPr>
              <a:t>17-4</a:t>
            </a:r>
            <a:r>
              <a:rPr lang="zh-CN" altLang="en-US" sz="3200" dirty="0">
                <a:effectLst/>
                <a:latin typeface="Helvetica Neue" panose="02000503000000020004" pitchFamily="2" charset="0"/>
              </a:rPr>
              <a:t> </a:t>
            </a:r>
            <a:r>
              <a:rPr lang="en-SG" sz="3200" dirty="0">
                <a:effectLst/>
                <a:latin typeface="Helvetica Neue" panose="02000503000000020004" pitchFamily="2" charset="0"/>
              </a:rPr>
              <a:t>Thermal Expansion</a:t>
            </a:r>
          </a:p>
        </p:txBody>
      </p:sp>
      <p:sp>
        <p:nvSpPr>
          <p:cNvPr id="3" name="Date Placeholder 2"/>
          <p:cNvSpPr>
            <a:spLocks noGrp="1"/>
          </p:cNvSpPr>
          <p:nvPr>
            <p:ph type="dt" sz="half" idx="10"/>
          </p:nvPr>
        </p:nvSpPr>
        <p:spPr/>
        <p:txBody>
          <a:bodyPr/>
          <a:lstStyle/>
          <a:p>
            <a:r>
              <a:rPr lang="en-SG" altLang="zh-TW"/>
              <a:t>Thermodynamics I (Ch. 17)</a:t>
            </a:r>
            <a:endParaRPr lang="en-GB" dirty="0"/>
          </a:p>
        </p:txBody>
      </p:sp>
      <p:sp>
        <p:nvSpPr>
          <p:cNvPr id="4" name="Slide Number Placeholder 3"/>
          <p:cNvSpPr>
            <a:spLocks noGrp="1"/>
          </p:cNvSpPr>
          <p:nvPr>
            <p:ph type="sldNum" sz="quarter" idx="12"/>
          </p:nvPr>
        </p:nvSpPr>
        <p:spPr/>
        <p:txBody>
          <a:bodyPr/>
          <a:lstStyle/>
          <a:p>
            <a:fld id="{60093787-08EC-4113-8521-0E445B8625BD}" type="slidenum">
              <a:rPr lang="en-GB" smtClean="0"/>
              <a:t>19</a:t>
            </a:fld>
            <a:endParaRPr lang="en-GB"/>
          </a:p>
        </p:txBody>
      </p:sp>
      <p:pic>
        <p:nvPicPr>
          <p:cNvPr id="6" name="Picture 5">
            <a:extLst>
              <a:ext uri="{FF2B5EF4-FFF2-40B4-BE49-F238E27FC236}">
                <a16:creationId xmlns:a16="http://schemas.microsoft.com/office/drawing/2014/main" id="{5E2E27F5-C056-84D6-1338-099E1FEBF637}"/>
              </a:ext>
            </a:extLst>
          </p:cNvPr>
          <p:cNvPicPr>
            <a:picLocks noChangeAspect="1"/>
          </p:cNvPicPr>
          <p:nvPr/>
        </p:nvPicPr>
        <p:blipFill rotWithShape="1">
          <a:blip r:embed="rId3"/>
          <a:srcRect r="35279"/>
          <a:stretch/>
        </p:blipFill>
        <p:spPr>
          <a:xfrm>
            <a:off x="612648" y="1846385"/>
            <a:ext cx="7638656" cy="4394005"/>
          </a:xfrm>
          <a:prstGeom prst="rect">
            <a:avLst/>
          </a:prstGeom>
        </p:spPr>
      </p:pic>
      <p:sp>
        <p:nvSpPr>
          <p:cNvPr id="8" name="TextBox 7">
            <a:extLst>
              <a:ext uri="{FF2B5EF4-FFF2-40B4-BE49-F238E27FC236}">
                <a16:creationId xmlns:a16="http://schemas.microsoft.com/office/drawing/2014/main" id="{6573B2F4-E277-03F9-C933-92A533FDBEEF}"/>
              </a:ext>
            </a:extLst>
          </p:cNvPr>
          <p:cNvSpPr txBox="1"/>
          <p:nvPr/>
        </p:nvSpPr>
        <p:spPr>
          <a:xfrm>
            <a:off x="457200" y="1268760"/>
            <a:ext cx="7355160" cy="461665"/>
          </a:xfrm>
          <a:prstGeom prst="rect">
            <a:avLst/>
          </a:prstGeom>
          <a:noFill/>
        </p:spPr>
        <p:txBody>
          <a:bodyPr wrap="square">
            <a:spAutoFit/>
          </a:bodyPr>
          <a:lstStyle/>
          <a:p>
            <a:r>
              <a:rPr lang="en-SG" sz="2400" dirty="0">
                <a:effectLst/>
                <a:latin typeface="Times"/>
              </a:rPr>
              <a:t>Most materials expand when their temperatures increase </a:t>
            </a:r>
            <a:endParaRPr lang="en-SG" sz="2400" dirty="0"/>
          </a:p>
        </p:txBody>
      </p:sp>
    </p:spTree>
    <p:extLst>
      <p:ext uri="{BB962C8B-B14F-4D97-AF65-F5344CB8AC3E}">
        <p14:creationId xmlns:p14="http://schemas.microsoft.com/office/powerpoint/2010/main" val="17661448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sz="3200" dirty="0">
                <a:effectLst/>
                <a:latin typeface="Helvetica Neue" panose="02000503000000020004" pitchFamily="2" charset="0"/>
              </a:rPr>
              <a:t>17-4</a:t>
            </a:r>
            <a:r>
              <a:rPr lang="zh-CN" altLang="en-US" sz="3200" dirty="0">
                <a:effectLst/>
                <a:latin typeface="Helvetica Neue" panose="02000503000000020004" pitchFamily="2" charset="0"/>
              </a:rPr>
              <a:t> </a:t>
            </a:r>
            <a:r>
              <a:rPr lang="en-SG" sz="3200" dirty="0">
                <a:effectLst/>
                <a:latin typeface="Helvetica Neue" panose="02000503000000020004" pitchFamily="2" charset="0"/>
              </a:rPr>
              <a:t>Thermal Expansion</a:t>
            </a:r>
          </a:p>
        </p:txBody>
      </p:sp>
      <p:sp>
        <p:nvSpPr>
          <p:cNvPr id="3" name="Date Placeholder 2"/>
          <p:cNvSpPr>
            <a:spLocks noGrp="1"/>
          </p:cNvSpPr>
          <p:nvPr>
            <p:ph type="dt" sz="half" idx="10"/>
          </p:nvPr>
        </p:nvSpPr>
        <p:spPr/>
        <p:txBody>
          <a:bodyPr/>
          <a:lstStyle/>
          <a:p>
            <a:r>
              <a:rPr lang="en-SG" altLang="zh-TW"/>
              <a:t>Thermodynamics I (Ch. 17)</a:t>
            </a:r>
            <a:endParaRPr lang="en-GB" dirty="0"/>
          </a:p>
        </p:txBody>
      </p:sp>
      <p:sp>
        <p:nvSpPr>
          <p:cNvPr id="4" name="Slide Number Placeholder 3"/>
          <p:cNvSpPr>
            <a:spLocks noGrp="1"/>
          </p:cNvSpPr>
          <p:nvPr>
            <p:ph type="sldNum" sz="quarter" idx="12"/>
          </p:nvPr>
        </p:nvSpPr>
        <p:spPr/>
        <p:txBody>
          <a:bodyPr/>
          <a:lstStyle/>
          <a:p>
            <a:fld id="{60093787-08EC-4113-8521-0E445B8625BD}" type="slidenum">
              <a:rPr lang="en-GB" smtClean="0"/>
              <a:t>20</a:t>
            </a:fld>
            <a:endParaRPr lang="en-GB"/>
          </a:p>
        </p:txBody>
      </p:sp>
      <p:pic>
        <p:nvPicPr>
          <p:cNvPr id="8" name="Picture 7">
            <a:extLst>
              <a:ext uri="{FF2B5EF4-FFF2-40B4-BE49-F238E27FC236}">
                <a16:creationId xmlns:a16="http://schemas.microsoft.com/office/drawing/2014/main" id="{D13915EE-BB2D-AEA2-6DED-BB53E661975A}"/>
              </a:ext>
            </a:extLst>
          </p:cNvPr>
          <p:cNvPicPr>
            <a:picLocks noChangeAspect="1"/>
          </p:cNvPicPr>
          <p:nvPr/>
        </p:nvPicPr>
        <p:blipFill>
          <a:blip r:embed="rId2"/>
          <a:stretch>
            <a:fillRect/>
          </a:stretch>
        </p:blipFill>
        <p:spPr>
          <a:xfrm>
            <a:off x="1979712" y="4169585"/>
            <a:ext cx="4896544" cy="344625"/>
          </a:xfrm>
          <a:prstGeom prst="rect">
            <a:avLst/>
          </a:prstGeom>
        </p:spPr>
      </p:pic>
      <p:pic>
        <p:nvPicPr>
          <p:cNvPr id="10" name="Picture 9">
            <a:extLst>
              <a:ext uri="{FF2B5EF4-FFF2-40B4-BE49-F238E27FC236}">
                <a16:creationId xmlns:a16="http://schemas.microsoft.com/office/drawing/2014/main" id="{39DF0D2D-565D-31A6-5604-D2905710E54B}"/>
              </a:ext>
            </a:extLst>
          </p:cNvPr>
          <p:cNvPicPr>
            <a:picLocks noChangeAspect="1"/>
          </p:cNvPicPr>
          <p:nvPr/>
        </p:nvPicPr>
        <p:blipFill>
          <a:blip r:embed="rId3"/>
          <a:stretch>
            <a:fillRect/>
          </a:stretch>
        </p:blipFill>
        <p:spPr>
          <a:xfrm>
            <a:off x="480681" y="1732329"/>
            <a:ext cx="4195403" cy="2070100"/>
          </a:xfrm>
          <a:prstGeom prst="rect">
            <a:avLst/>
          </a:prstGeom>
        </p:spPr>
      </p:pic>
      <p:pic>
        <p:nvPicPr>
          <p:cNvPr id="11" name="Picture 10">
            <a:extLst>
              <a:ext uri="{FF2B5EF4-FFF2-40B4-BE49-F238E27FC236}">
                <a16:creationId xmlns:a16="http://schemas.microsoft.com/office/drawing/2014/main" id="{2C9CB45C-5056-0BFC-6EC9-D14A0AD3E94F}"/>
              </a:ext>
            </a:extLst>
          </p:cNvPr>
          <p:cNvPicPr>
            <a:picLocks noChangeAspect="1"/>
          </p:cNvPicPr>
          <p:nvPr/>
        </p:nvPicPr>
        <p:blipFill>
          <a:blip r:embed="rId4"/>
          <a:stretch>
            <a:fillRect/>
          </a:stretch>
        </p:blipFill>
        <p:spPr>
          <a:xfrm>
            <a:off x="4933156" y="1567229"/>
            <a:ext cx="3886200" cy="2235200"/>
          </a:xfrm>
          <a:prstGeom prst="rect">
            <a:avLst/>
          </a:prstGeom>
        </p:spPr>
      </p:pic>
      <p:pic>
        <p:nvPicPr>
          <p:cNvPr id="12" name="Picture 11">
            <a:extLst>
              <a:ext uri="{FF2B5EF4-FFF2-40B4-BE49-F238E27FC236}">
                <a16:creationId xmlns:a16="http://schemas.microsoft.com/office/drawing/2014/main" id="{20026012-3055-3BF0-A0F6-614D2DBBAED8}"/>
              </a:ext>
            </a:extLst>
          </p:cNvPr>
          <p:cNvPicPr>
            <a:picLocks noChangeAspect="1"/>
          </p:cNvPicPr>
          <p:nvPr/>
        </p:nvPicPr>
        <p:blipFill>
          <a:blip r:embed="rId5"/>
          <a:stretch>
            <a:fillRect/>
          </a:stretch>
        </p:blipFill>
        <p:spPr>
          <a:xfrm>
            <a:off x="557370" y="4897100"/>
            <a:ext cx="8129430" cy="1165264"/>
          </a:xfrm>
          <a:prstGeom prst="rect">
            <a:avLst/>
          </a:prstGeom>
        </p:spPr>
      </p:pic>
    </p:spTree>
    <p:extLst>
      <p:ext uri="{BB962C8B-B14F-4D97-AF65-F5344CB8AC3E}">
        <p14:creationId xmlns:p14="http://schemas.microsoft.com/office/powerpoint/2010/main" val="9900851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sz="3200" dirty="0">
                <a:effectLst/>
                <a:latin typeface="Helvetica Neue" panose="02000503000000020004" pitchFamily="2" charset="0"/>
              </a:rPr>
              <a:t>17-4</a:t>
            </a:r>
            <a:r>
              <a:rPr lang="zh-CN" altLang="en-US" sz="3200" dirty="0">
                <a:effectLst/>
                <a:latin typeface="Helvetica Neue" panose="02000503000000020004" pitchFamily="2" charset="0"/>
              </a:rPr>
              <a:t> </a:t>
            </a:r>
            <a:r>
              <a:rPr lang="en-SG" sz="3200" dirty="0">
                <a:effectLst/>
                <a:latin typeface="Helvetica Neue" panose="02000503000000020004" pitchFamily="2" charset="0"/>
              </a:rPr>
              <a:t>Thermal Expansion</a:t>
            </a:r>
          </a:p>
        </p:txBody>
      </p:sp>
      <p:sp>
        <p:nvSpPr>
          <p:cNvPr id="3" name="Date Placeholder 2"/>
          <p:cNvSpPr>
            <a:spLocks noGrp="1"/>
          </p:cNvSpPr>
          <p:nvPr>
            <p:ph type="dt" sz="half" idx="10"/>
          </p:nvPr>
        </p:nvSpPr>
        <p:spPr/>
        <p:txBody>
          <a:bodyPr/>
          <a:lstStyle/>
          <a:p>
            <a:r>
              <a:rPr lang="en-SG" altLang="zh-TW"/>
              <a:t>Thermodynamics I (Ch. 17)</a:t>
            </a:r>
            <a:endParaRPr lang="en-GB" dirty="0"/>
          </a:p>
        </p:txBody>
      </p:sp>
      <p:sp>
        <p:nvSpPr>
          <p:cNvPr id="4" name="Slide Number Placeholder 3"/>
          <p:cNvSpPr>
            <a:spLocks noGrp="1"/>
          </p:cNvSpPr>
          <p:nvPr>
            <p:ph type="sldNum" sz="quarter" idx="12"/>
          </p:nvPr>
        </p:nvSpPr>
        <p:spPr/>
        <p:txBody>
          <a:bodyPr/>
          <a:lstStyle/>
          <a:p>
            <a:fld id="{60093787-08EC-4113-8521-0E445B8625BD}" type="slidenum">
              <a:rPr lang="en-GB" smtClean="0"/>
              <a:t>21</a:t>
            </a:fld>
            <a:endParaRPr lang="en-GB"/>
          </a:p>
        </p:txBody>
      </p:sp>
      <p:pic>
        <p:nvPicPr>
          <p:cNvPr id="5" name="Picture 4">
            <a:extLst>
              <a:ext uri="{FF2B5EF4-FFF2-40B4-BE49-F238E27FC236}">
                <a16:creationId xmlns:a16="http://schemas.microsoft.com/office/drawing/2014/main" id="{1FF0B63D-3D96-638C-7AA8-A2E9397D6245}"/>
              </a:ext>
            </a:extLst>
          </p:cNvPr>
          <p:cNvPicPr>
            <a:picLocks noChangeAspect="1"/>
          </p:cNvPicPr>
          <p:nvPr/>
        </p:nvPicPr>
        <p:blipFill rotWithShape="1">
          <a:blip r:embed="rId2"/>
          <a:srcRect t="20830" r="553"/>
          <a:stretch/>
        </p:blipFill>
        <p:spPr>
          <a:xfrm>
            <a:off x="2608874" y="1280242"/>
            <a:ext cx="3288226" cy="3592666"/>
          </a:xfrm>
          <a:prstGeom prst="rect">
            <a:avLst/>
          </a:prstGeom>
        </p:spPr>
      </p:pic>
      <p:pic>
        <p:nvPicPr>
          <p:cNvPr id="9" name="Picture 8">
            <a:extLst>
              <a:ext uri="{FF2B5EF4-FFF2-40B4-BE49-F238E27FC236}">
                <a16:creationId xmlns:a16="http://schemas.microsoft.com/office/drawing/2014/main" id="{E0C7C4D0-4487-BE7F-CA33-7558E771D73D}"/>
              </a:ext>
            </a:extLst>
          </p:cNvPr>
          <p:cNvPicPr>
            <a:picLocks noChangeAspect="1"/>
          </p:cNvPicPr>
          <p:nvPr/>
        </p:nvPicPr>
        <p:blipFill>
          <a:blip r:embed="rId3"/>
          <a:stretch>
            <a:fillRect/>
          </a:stretch>
        </p:blipFill>
        <p:spPr>
          <a:xfrm>
            <a:off x="774700" y="4872908"/>
            <a:ext cx="7594600" cy="1346200"/>
          </a:xfrm>
          <a:prstGeom prst="rect">
            <a:avLst/>
          </a:prstGeom>
        </p:spPr>
      </p:pic>
    </p:spTree>
    <p:extLst>
      <p:ext uri="{BB962C8B-B14F-4D97-AF65-F5344CB8AC3E}">
        <p14:creationId xmlns:p14="http://schemas.microsoft.com/office/powerpoint/2010/main" val="41141546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sz="3200" dirty="0">
                <a:effectLst/>
                <a:latin typeface="Helvetica Neue" panose="02000503000000020004" pitchFamily="2" charset="0"/>
              </a:rPr>
              <a:t>17-4</a:t>
            </a:r>
            <a:r>
              <a:rPr lang="zh-CN" altLang="en-US" sz="3200" dirty="0">
                <a:effectLst/>
                <a:latin typeface="Helvetica Neue" panose="02000503000000020004" pitchFamily="2" charset="0"/>
              </a:rPr>
              <a:t> </a:t>
            </a:r>
            <a:r>
              <a:rPr lang="en-SG" sz="3200" dirty="0">
                <a:effectLst/>
                <a:latin typeface="Helvetica Neue" panose="02000503000000020004" pitchFamily="2" charset="0"/>
              </a:rPr>
              <a:t>Thermal Expansion</a:t>
            </a:r>
          </a:p>
        </p:txBody>
      </p:sp>
      <p:sp>
        <p:nvSpPr>
          <p:cNvPr id="3" name="Date Placeholder 2"/>
          <p:cNvSpPr>
            <a:spLocks noGrp="1"/>
          </p:cNvSpPr>
          <p:nvPr>
            <p:ph type="dt" sz="half" idx="10"/>
          </p:nvPr>
        </p:nvSpPr>
        <p:spPr/>
        <p:txBody>
          <a:bodyPr/>
          <a:lstStyle/>
          <a:p>
            <a:r>
              <a:rPr lang="en-SG" altLang="zh-TW"/>
              <a:t>Thermodynamics I (Ch. 17)</a:t>
            </a:r>
            <a:endParaRPr lang="en-GB" dirty="0"/>
          </a:p>
        </p:txBody>
      </p:sp>
      <p:sp>
        <p:nvSpPr>
          <p:cNvPr id="4" name="Slide Number Placeholder 3"/>
          <p:cNvSpPr>
            <a:spLocks noGrp="1"/>
          </p:cNvSpPr>
          <p:nvPr>
            <p:ph type="sldNum" sz="quarter" idx="12"/>
          </p:nvPr>
        </p:nvSpPr>
        <p:spPr/>
        <p:txBody>
          <a:bodyPr/>
          <a:lstStyle/>
          <a:p>
            <a:fld id="{60093787-08EC-4113-8521-0E445B8625BD}" type="slidenum">
              <a:rPr lang="en-GB" smtClean="0"/>
              <a:t>22</a:t>
            </a:fld>
            <a:endParaRPr lang="en-GB"/>
          </a:p>
        </p:txBody>
      </p:sp>
      <p:pic>
        <p:nvPicPr>
          <p:cNvPr id="7" name="Picture 6">
            <a:extLst>
              <a:ext uri="{FF2B5EF4-FFF2-40B4-BE49-F238E27FC236}">
                <a16:creationId xmlns:a16="http://schemas.microsoft.com/office/drawing/2014/main" id="{2A86D2E3-1597-7C6A-B019-EA377AF89A1D}"/>
              </a:ext>
            </a:extLst>
          </p:cNvPr>
          <p:cNvPicPr>
            <a:picLocks noChangeAspect="1"/>
          </p:cNvPicPr>
          <p:nvPr/>
        </p:nvPicPr>
        <p:blipFill>
          <a:blip r:embed="rId2"/>
          <a:stretch>
            <a:fillRect/>
          </a:stretch>
        </p:blipFill>
        <p:spPr>
          <a:xfrm>
            <a:off x="139603" y="1268760"/>
            <a:ext cx="8990714" cy="2736304"/>
          </a:xfrm>
          <a:prstGeom prst="rect">
            <a:avLst/>
          </a:prstGeom>
        </p:spPr>
      </p:pic>
      <p:sp>
        <p:nvSpPr>
          <p:cNvPr id="9" name="TextBox 8">
            <a:extLst>
              <a:ext uri="{FF2B5EF4-FFF2-40B4-BE49-F238E27FC236}">
                <a16:creationId xmlns:a16="http://schemas.microsoft.com/office/drawing/2014/main" id="{81A9911B-FD1D-44A5-8947-E6B5B0EEED86}"/>
              </a:ext>
            </a:extLst>
          </p:cNvPr>
          <p:cNvSpPr txBox="1"/>
          <p:nvPr/>
        </p:nvSpPr>
        <p:spPr>
          <a:xfrm>
            <a:off x="1187624" y="4811375"/>
            <a:ext cx="3270511" cy="461665"/>
          </a:xfrm>
          <a:prstGeom prst="rect">
            <a:avLst/>
          </a:prstGeom>
          <a:noFill/>
        </p:spPr>
        <p:txBody>
          <a:bodyPr wrap="none" rtlCol="0">
            <a:spAutoFit/>
          </a:bodyPr>
          <a:lstStyle/>
          <a:p>
            <a:r>
              <a:rPr lang="en-US" altLang="zh-CN" sz="2400" dirty="0"/>
              <a:t>Why</a:t>
            </a:r>
            <a:r>
              <a:rPr lang="zh-CN" altLang="en-US" sz="2400" dirty="0"/>
              <a:t> </a:t>
            </a:r>
            <a:r>
              <a:rPr lang="en-US" altLang="zh-CN" sz="2400" dirty="0"/>
              <a:t>beta</a:t>
            </a:r>
            <a:r>
              <a:rPr lang="zh-CN" altLang="en-US" sz="2400" dirty="0"/>
              <a:t> </a:t>
            </a:r>
            <a:r>
              <a:rPr lang="en-US" altLang="zh-CN" sz="2400" dirty="0"/>
              <a:t>3</a:t>
            </a:r>
            <a:r>
              <a:rPr lang="zh-CN" altLang="en-US" sz="2400" dirty="0"/>
              <a:t> </a:t>
            </a:r>
            <a:r>
              <a:rPr lang="en-US" altLang="zh-CN" sz="2400" dirty="0"/>
              <a:t>times</a:t>
            </a:r>
            <a:r>
              <a:rPr lang="zh-CN" altLang="en-US" sz="2400" dirty="0"/>
              <a:t> </a:t>
            </a:r>
            <a:r>
              <a:rPr lang="en-US" altLang="zh-CN" sz="2400" dirty="0"/>
              <a:t>alpha?</a:t>
            </a:r>
            <a:endParaRPr lang="en-US" sz="2400" dirty="0"/>
          </a:p>
        </p:txBody>
      </p:sp>
    </p:spTree>
    <p:extLst>
      <p:ext uri="{BB962C8B-B14F-4D97-AF65-F5344CB8AC3E}">
        <p14:creationId xmlns:p14="http://schemas.microsoft.com/office/powerpoint/2010/main" val="6719684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sz="3200" dirty="0">
                <a:effectLst/>
                <a:latin typeface="Helvetica Neue" panose="02000503000000020004" pitchFamily="2" charset="0"/>
              </a:rPr>
              <a:t>17-4</a:t>
            </a:r>
            <a:r>
              <a:rPr lang="zh-CN" altLang="en-US" sz="3200" dirty="0">
                <a:effectLst/>
                <a:latin typeface="Helvetica Neue" panose="02000503000000020004" pitchFamily="2" charset="0"/>
              </a:rPr>
              <a:t> </a:t>
            </a:r>
            <a:r>
              <a:rPr lang="en-SG" sz="3200" dirty="0">
                <a:effectLst/>
                <a:latin typeface="Helvetica Neue" panose="02000503000000020004" pitchFamily="2" charset="0"/>
              </a:rPr>
              <a:t>Thermal Expansion</a:t>
            </a:r>
          </a:p>
        </p:txBody>
      </p:sp>
      <p:sp>
        <p:nvSpPr>
          <p:cNvPr id="3" name="Date Placeholder 2"/>
          <p:cNvSpPr>
            <a:spLocks noGrp="1"/>
          </p:cNvSpPr>
          <p:nvPr>
            <p:ph type="dt" sz="half" idx="10"/>
          </p:nvPr>
        </p:nvSpPr>
        <p:spPr/>
        <p:txBody>
          <a:bodyPr/>
          <a:lstStyle/>
          <a:p>
            <a:r>
              <a:rPr lang="en-SG" altLang="zh-TW"/>
              <a:t>Thermodynamics I (Ch. 17)</a:t>
            </a:r>
            <a:endParaRPr lang="en-GB" dirty="0"/>
          </a:p>
        </p:txBody>
      </p:sp>
      <p:sp>
        <p:nvSpPr>
          <p:cNvPr id="4" name="Slide Number Placeholder 3"/>
          <p:cNvSpPr>
            <a:spLocks noGrp="1"/>
          </p:cNvSpPr>
          <p:nvPr>
            <p:ph type="sldNum" sz="quarter" idx="12"/>
          </p:nvPr>
        </p:nvSpPr>
        <p:spPr/>
        <p:txBody>
          <a:bodyPr/>
          <a:lstStyle/>
          <a:p>
            <a:fld id="{60093787-08EC-4113-8521-0E445B8625BD}" type="slidenum">
              <a:rPr lang="en-GB" smtClean="0"/>
              <a:t>23</a:t>
            </a:fld>
            <a:endParaRPr lang="en-GB"/>
          </a:p>
        </p:txBody>
      </p:sp>
      <p:pic>
        <p:nvPicPr>
          <p:cNvPr id="5" name="Picture 4">
            <a:extLst>
              <a:ext uri="{FF2B5EF4-FFF2-40B4-BE49-F238E27FC236}">
                <a16:creationId xmlns:a16="http://schemas.microsoft.com/office/drawing/2014/main" id="{C739E8F2-2A84-ED30-F4CD-ABAA1353FA6C}"/>
              </a:ext>
            </a:extLst>
          </p:cNvPr>
          <p:cNvPicPr>
            <a:picLocks noChangeAspect="1"/>
          </p:cNvPicPr>
          <p:nvPr/>
        </p:nvPicPr>
        <p:blipFill>
          <a:blip r:embed="rId2"/>
          <a:stretch>
            <a:fillRect/>
          </a:stretch>
        </p:blipFill>
        <p:spPr>
          <a:xfrm>
            <a:off x="3059832" y="2229770"/>
            <a:ext cx="2698232" cy="894958"/>
          </a:xfrm>
          <a:prstGeom prst="rect">
            <a:avLst/>
          </a:prstGeom>
        </p:spPr>
      </p:pic>
      <p:pic>
        <p:nvPicPr>
          <p:cNvPr id="6" name="Picture 5">
            <a:extLst>
              <a:ext uri="{FF2B5EF4-FFF2-40B4-BE49-F238E27FC236}">
                <a16:creationId xmlns:a16="http://schemas.microsoft.com/office/drawing/2014/main" id="{13B78CE0-90B0-DF3B-5269-8A0E06D8FD1D}"/>
              </a:ext>
            </a:extLst>
          </p:cNvPr>
          <p:cNvPicPr>
            <a:picLocks noChangeAspect="1"/>
          </p:cNvPicPr>
          <p:nvPr/>
        </p:nvPicPr>
        <p:blipFill>
          <a:blip r:embed="rId3"/>
          <a:stretch>
            <a:fillRect/>
          </a:stretch>
        </p:blipFill>
        <p:spPr>
          <a:xfrm>
            <a:off x="755576" y="3205167"/>
            <a:ext cx="7454900" cy="2476500"/>
          </a:xfrm>
          <a:prstGeom prst="rect">
            <a:avLst/>
          </a:prstGeom>
        </p:spPr>
      </p:pic>
      <p:sp>
        <p:nvSpPr>
          <p:cNvPr id="8" name="TextBox 7">
            <a:extLst>
              <a:ext uri="{FF2B5EF4-FFF2-40B4-BE49-F238E27FC236}">
                <a16:creationId xmlns:a16="http://schemas.microsoft.com/office/drawing/2014/main" id="{7D7DC90D-AFD0-11CA-0A18-BF20DCA5A8B2}"/>
              </a:ext>
            </a:extLst>
          </p:cNvPr>
          <p:cNvSpPr txBox="1"/>
          <p:nvPr/>
        </p:nvSpPr>
        <p:spPr>
          <a:xfrm>
            <a:off x="457200" y="1346708"/>
            <a:ext cx="3270511" cy="461665"/>
          </a:xfrm>
          <a:prstGeom prst="rect">
            <a:avLst/>
          </a:prstGeom>
          <a:noFill/>
        </p:spPr>
        <p:txBody>
          <a:bodyPr wrap="none" rtlCol="0">
            <a:spAutoFit/>
          </a:bodyPr>
          <a:lstStyle/>
          <a:p>
            <a:r>
              <a:rPr lang="en-US" altLang="zh-CN" sz="2400" dirty="0"/>
              <a:t>Why</a:t>
            </a:r>
            <a:r>
              <a:rPr lang="zh-CN" altLang="en-US" sz="2400" dirty="0"/>
              <a:t> </a:t>
            </a:r>
            <a:r>
              <a:rPr lang="en-US" altLang="zh-CN" sz="2400" dirty="0"/>
              <a:t>beta</a:t>
            </a:r>
            <a:r>
              <a:rPr lang="zh-CN" altLang="en-US" sz="2400" dirty="0"/>
              <a:t> </a:t>
            </a:r>
            <a:r>
              <a:rPr lang="en-US" altLang="zh-CN" sz="2400" dirty="0"/>
              <a:t>3</a:t>
            </a:r>
            <a:r>
              <a:rPr lang="zh-CN" altLang="en-US" sz="2400" dirty="0"/>
              <a:t> </a:t>
            </a:r>
            <a:r>
              <a:rPr lang="en-US" altLang="zh-CN" sz="2400" dirty="0"/>
              <a:t>times</a:t>
            </a:r>
            <a:r>
              <a:rPr lang="zh-CN" altLang="en-US" sz="2400" dirty="0"/>
              <a:t> </a:t>
            </a:r>
            <a:r>
              <a:rPr lang="en-US" altLang="zh-CN" sz="2400" dirty="0"/>
              <a:t>alpha?</a:t>
            </a:r>
            <a:endParaRPr lang="en-US" sz="2400" dirty="0"/>
          </a:p>
        </p:txBody>
      </p:sp>
      <p:sp>
        <p:nvSpPr>
          <p:cNvPr id="11" name="TextBox 10">
            <a:extLst>
              <a:ext uri="{FF2B5EF4-FFF2-40B4-BE49-F238E27FC236}">
                <a16:creationId xmlns:a16="http://schemas.microsoft.com/office/drawing/2014/main" id="{5E7B2561-AEED-472C-A863-DF262FD8C421}"/>
              </a:ext>
            </a:extLst>
          </p:cNvPr>
          <p:cNvSpPr txBox="1"/>
          <p:nvPr/>
        </p:nvSpPr>
        <p:spPr>
          <a:xfrm>
            <a:off x="646184" y="1860438"/>
            <a:ext cx="7310192" cy="369332"/>
          </a:xfrm>
          <a:prstGeom prst="rect">
            <a:avLst/>
          </a:prstGeom>
          <a:noFill/>
        </p:spPr>
        <p:txBody>
          <a:bodyPr wrap="square">
            <a:spAutoFit/>
          </a:bodyPr>
          <a:lstStyle/>
          <a:p>
            <a:r>
              <a:rPr lang="en-SG" sz="1800" dirty="0">
                <a:effectLst/>
                <a:latin typeface="Times"/>
              </a:rPr>
              <a:t>consider a cube of material with side length </a:t>
            </a:r>
            <a:r>
              <a:rPr lang="en-SG" sz="1800" i="1" dirty="0">
                <a:effectLst/>
                <a:latin typeface="Times"/>
              </a:rPr>
              <a:t>L </a:t>
            </a:r>
            <a:r>
              <a:rPr lang="en-SG" sz="1800" dirty="0">
                <a:effectLst/>
                <a:latin typeface="Times"/>
              </a:rPr>
              <a:t>and volume </a:t>
            </a:r>
            <a:r>
              <a:rPr lang="en-SG" sz="1800" i="1" dirty="0">
                <a:effectLst/>
                <a:latin typeface="Times"/>
              </a:rPr>
              <a:t>V </a:t>
            </a:r>
            <a:r>
              <a:rPr lang="en-SG" sz="1800" dirty="0">
                <a:effectLst/>
                <a:latin typeface="Optr2k"/>
              </a:rPr>
              <a:t>= </a:t>
            </a:r>
            <a:r>
              <a:rPr lang="en-US" altLang="zh-CN" i="1" dirty="0">
                <a:latin typeface="Times"/>
              </a:rPr>
              <a:t>L</a:t>
            </a:r>
            <a:r>
              <a:rPr lang="en-US" altLang="zh-CN" i="1" baseline="30000" dirty="0">
                <a:latin typeface="Times"/>
              </a:rPr>
              <a:t>3</a:t>
            </a:r>
            <a:r>
              <a:rPr lang="en-SG" sz="1400" dirty="0">
                <a:effectLst/>
                <a:latin typeface="Times"/>
              </a:rPr>
              <a:t> </a:t>
            </a:r>
            <a:endParaRPr lang="en-SG" dirty="0"/>
          </a:p>
        </p:txBody>
      </p:sp>
    </p:spTree>
    <p:extLst>
      <p:ext uri="{BB962C8B-B14F-4D97-AF65-F5344CB8AC3E}">
        <p14:creationId xmlns:p14="http://schemas.microsoft.com/office/powerpoint/2010/main" val="5884645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sz="3200" dirty="0">
                <a:effectLst/>
                <a:latin typeface="Helvetica Neue" panose="02000503000000020004" pitchFamily="2" charset="0"/>
              </a:rPr>
              <a:t>17-5</a:t>
            </a:r>
            <a:r>
              <a:rPr lang="zh-CN" altLang="en-US" sz="3200" dirty="0">
                <a:effectLst/>
                <a:latin typeface="Helvetica Neue" panose="02000503000000020004" pitchFamily="2" charset="0"/>
              </a:rPr>
              <a:t> </a:t>
            </a:r>
            <a:r>
              <a:rPr lang="en-SG" sz="3200" dirty="0">
                <a:effectLst/>
                <a:latin typeface="Helvetica Neue" panose="02000503000000020004" pitchFamily="2" charset="0"/>
              </a:rPr>
              <a:t>Quantity of Heat</a:t>
            </a:r>
          </a:p>
        </p:txBody>
      </p:sp>
      <p:sp>
        <p:nvSpPr>
          <p:cNvPr id="3" name="Date Placeholder 2"/>
          <p:cNvSpPr>
            <a:spLocks noGrp="1"/>
          </p:cNvSpPr>
          <p:nvPr>
            <p:ph type="dt" sz="half" idx="10"/>
          </p:nvPr>
        </p:nvSpPr>
        <p:spPr/>
        <p:txBody>
          <a:bodyPr/>
          <a:lstStyle/>
          <a:p>
            <a:r>
              <a:rPr lang="en-SG" altLang="zh-TW"/>
              <a:t>Thermodynamics I (Ch. 17)</a:t>
            </a:r>
            <a:endParaRPr lang="en-GB" dirty="0"/>
          </a:p>
        </p:txBody>
      </p:sp>
      <p:sp>
        <p:nvSpPr>
          <p:cNvPr id="4" name="Slide Number Placeholder 3"/>
          <p:cNvSpPr>
            <a:spLocks noGrp="1"/>
          </p:cNvSpPr>
          <p:nvPr>
            <p:ph type="sldNum" sz="quarter" idx="12"/>
          </p:nvPr>
        </p:nvSpPr>
        <p:spPr/>
        <p:txBody>
          <a:bodyPr/>
          <a:lstStyle/>
          <a:p>
            <a:fld id="{60093787-08EC-4113-8521-0E445B8625BD}" type="slidenum">
              <a:rPr lang="en-GB" smtClean="0"/>
              <a:t>24</a:t>
            </a:fld>
            <a:endParaRPr lang="en-GB"/>
          </a:p>
        </p:txBody>
      </p:sp>
      <p:sp>
        <p:nvSpPr>
          <p:cNvPr id="9" name="TextBox 8">
            <a:extLst>
              <a:ext uri="{FF2B5EF4-FFF2-40B4-BE49-F238E27FC236}">
                <a16:creationId xmlns:a16="http://schemas.microsoft.com/office/drawing/2014/main" id="{F9F22007-6D87-D90B-9CBC-F706043A4F72}"/>
              </a:ext>
            </a:extLst>
          </p:cNvPr>
          <p:cNvSpPr txBox="1"/>
          <p:nvPr/>
        </p:nvSpPr>
        <p:spPr>
          <a:xfrm>
            <a:off x="640849" y="1259002"/>
            <a:ext cx="7776864" cy="3416320"/>
          </a:xfrm>
          <a:prstGeom prst="rect">
            <a:avLst/>
          </a:prstGeom>
          <a:noFill/>
        </p:spPr>
        <p:txBody>
          <a:bodyPr wrap="square">
            <a:spAutoFit/>
          </a:bodyPr>
          <a:lstStyle/>
          <a:p>
            <a:pPr marL="285750" indent="-285750" algn="just">
              <a:buFont typeface="Arial" panose="020B0604020202020204" pitchFamily="34" charset="0"/>
              <a:buChar char="•"/>
            </a:pPr>
            <a:r>
              <a:rPr lang="en-SG" sz="2400" dirty="0">
                <a:effectLst/>
                <a:latin typeface="Times"/>
              </a:rPr>
              <a:t>Energy transfer that takes place solely because of a temperature difference is called </a:t>
            </a:r>
            <a:r>
              <a:rPr lang="en-SG" sz="2400" i="1" dirty="0">
                <a:effectLst/>
                <a:latin typeface="Times"/>
              </a:rPr>
              <a:t>heat flow </a:t>
            </a:r>
            <a:r>
              <a:rPr lang="en-SG" sz="2400" dirty="0">
                <a:effectLst/>
                <a:latin typeface="Times"/>
              </a:rPr>
              <a:t>or </a:t>
            </a:r>
            <a:r>
              <a:rPr lang="en-SG" sz="2400" i="1" dirty="0">
                <a:effectLst/>
                <a:latin typeface="Times"/>
              </a:rPr>
              <a:t>heat transfer, </a:t>
            </a:r>
            <a:r>
              <a:rPr lang="en-SG" sz="2400" dirty="0">
                <a:effectLst/>
                <a:latin typeface="Times"/>
              </a:rPr>
              <a:t>and energy transferred in this way is called </a:t>
            </a:r>
            <a:r>
              <a:rPr lang="en-SG" sz="2400" b="1" dirty="0">
                <a:effectLst/>
                <a:latin typeface="Times"/>
              </a:rPr>
              <a:t>heat. </a:t>
            </a:r>
          </a:p>
          <a:p>
            <a:pPr marL="285750" indent="-285750" algn="just">
              <a:buFont typeface="Arial" panose="020B0604020202020204" pitchFamily="34" charset="0"/>
              <a:buChar char="•"/>
            </a:pPr>
            <a:r>
              <a:rPr lang="en-SG" sz="2400" dirty="0">
                <a:effectLst/>
                <a:latin typeface="Times"/>
              </a:rPr>
              <a:t>We can define a </a:t>
            </a:r>
            <a:r>
              <a:rPr lang="en-SG" sz="2400" i="1" dirty="0">
                <a:effectLst/>
                <a:latin typeface="Times"/>
              </a:rPr>
              <a:t>unit </a:t>
            </a:r>
            <a:r>
              <a:rPr lang="en-SG" sz="2400" dirty="0">
                <a:effectLst/>
                <a:latin typeface="Times"/>
              </a:rPr>
              <a:t>of quantity of heat based on temperature changes of some specific material. The </a:t>
            </a:r>
            <a:r>
              <a:rPr lang="en-SG" sz="2400" b="1" dirty="0">
                <a:effectLst/>
                <a:latin typeface="Times"/>
              </a:rPr>
              <a:t>calorie </a:t>
            </a:r>
            <a:r>
              <a:rPr lang="en-SG" sz="2400" dirty="0">
                <a:effectLst/>
                <a:latin typeface="Times"/>
              </a:rPr>
              <a:t>(abbreviated </a:t>
            </a:r>
            <a:r>
              <a:rPr lang="en-SG" sz="2400" dirty="0" err="1">
                <a:effectLst/>
                <a:latin typeface="Times"/>
              </a:rPr>
              <a:t>cal</a:t>
            </a:r>
            <a:r>
              <a:rPr lang="en-SG" sz="2400" dirty="0">
                <a:effectLst/>
                <a:latin typeface="Times"/>
              </a:rPr>
              <a:t>) is defined as </a:t>
            </a:r>
            <a:r>
              <a:rPr lang="en-SG" sz="2400" i="1" dirty="0">
                <a:effectLst/>
                <a:latin typeface="Times"/>
              </a:rPr>
              <a:t>the amount of heat required to raise the temperature of 1 gram of water from 14.5°C to 15.5°C. </a:t>
            </a:r>
            <a:endParaRPr lang="en-SG" sz="2400" dirty="0"/>
          </a:p>
          <a:p>
            <a:pPr marL="285750" indent="-285750" algn="just">
              <a:buFont typeface="Arial" panose="020B0604020202020204" pitchFamily="34" charset="0"/>
              <a:buChar char="•"/>
            </a:pPr>
            <a:endParaRPr lang="en-SG" sz="2400" dirty="0"/>
          </a:p>
        </p:txBody>
      </p:sp>
      <p:pic>
        <p:nvPicPr>
          <p:cNvPr id="14" name="Picture 13">
            <a:extLst>
              <a:ext uri="{FF2B5EF4-FFF2-40B4-BE49-F238E27FC236}">
                <a16:creationId xmlns:a16="http://schemas.microsoft.com/office/drawing/2014/main" id="{B203334E-378A-13E9-B2B1-4E338D11FF01}"/>
              </a:ext>
            </a:extLst>
          </p:cNvPr>
          <p:cNvPicPr>
            <a:picLocks noChangeAspect="1"/>
          </p:cNvPicPr>
          <p:nvPr/>
        </p:nvPicPr>
        <p:blipFill>
          <a:blip r:embed="rId2"/>
          <a:srcRect b="32772"/>
          <a:stretch/>
        </p:blipFill>
        <p:spPr>
          <a:xfrm>
            <a:off x="1187624" y="4791324"/>
            <a:ext cx="4444744" cy="747026"/>
          </a:xfrm>
          <a:prstGeom prst="rect">
            <a:avLst/>
          </a:prstGeom>
        </p:spPr>
      </p:pic>
      <p:pic>
        <p:nvPicPr>
          <p:cNvPr id="15" name="Picture 14">
            <a:extLst>
              <a:ext uri="{FF2B5EF4-FFF2-40B4-BE49-F238E27FC236}">
                <a16:creationId xmlns:a16="http://schemas.microsoft.com/office/drawing/2014/main" id="{FDD30B05-C043-EFCA-3901-00942D66776F}"/>
              </a:ext>
            </a:extLst>
          </p:cNvPr>
          <p:cNvPicPr>
            <a:picLocks noChangeAspect="1"/>
          </p:cNvPicPr>
          <p:nvPr/>
        </p:nvPicPr>
        <p:blipFill rotWithShape="1">
          <a:blip r:embed="rId3"/>
          <a:srcRect t="31305"/>
          <a:stretch/>
        </p:blipFill>
        <p:spPr>
          <a:xfrm>
            <a:off x="5563662" y="3921400"/>
            <a:ext cx="2939489" cy="2400525"/>
          </a:xfrm>
          <a:prstGeom prst="rect">
            <a:avLst/>
          </a:prstGeom>
        </p:spPr>
      </p:pic>
    </p:spTree>
    <p:extLst>
      <p:ext uri="{BB962C8B-B14F-4D97-AF65-F5344CB8AC3E}">
        <p14:creationId xmlns:p14="http://schemas.microsoft.com/office/powerpoint/2010/main" val="12218336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sz="3200" dirty="0">
                <a:effectLst/>
                <a:latin typeface="Helvetica Neue" panose="02000503000000020004" pitchFamily="2" charset="0"/>
              </a:rPr>
              <a:t>17-5</a:t>
            </a:r>
            <a:r>
              <a:rPr lang="zh-CN" altLang="en-US" sz="3200" dirty="0">
                <a:effectLst/>
                <a:latin typeface="Helvetica Neue" panose="02000503000000020004" pitchFamily="2" charset="0"/>
              </a:rPr>
              <a:t> </a:t>
            </a:r>
            <a:r>
              <a:rPr lang="en-SG" sz="3200" dirty="0">
                <a:effectLst/>
                <a:latin typeface="Helvetica Neue" panose="02000503000000020004" pitchFamily="2" charset="0"/>
              </a:rPr>
              <a:t>Quantity of Heat</a:t>
            </a:r>
          </a:p>
        </p:txBody>
      </p:sp>
      <p:sp>
        <p:nvSpPr>
          <p:cNvPr id="3" name="Date Placeholder 2"/>
          <p:cNvSpPr>
            <a:spLocks noGrp="1"/>
          </p:cNvSpPr>
          <p:nvPr>
            <p:ph type="dt" sz="half" idx="10"/>
          </p:nvPr>
        </p:nvSpPr>
        <p:spPr/>
        <p:txBody>
          <a:bodyPr/>
          <a:lstStyle/>
          <a:p>
            <a:r>
              <a:rPr lang="en-SG" altLang="zh-TW"/>
              <a:t>Thermodynamics I (Ch. 17)</a:t>
            </a:r>
            <a:endParaRPr lang="en-GB" dirty="0"/>
          </a:p>
        </p:txBody>
      </p:sp>
      <p:sp>
        <p:nvSpPr>
          <p:cNvPr id="4" name="Slide Number Placeholder 3"/>
          <p:cNvSpPr>
            <a:spLocks noGrp="1"/>
          </p:cNvSpPr>
          <p:nvPr>
            <p:ph type="sldNum" sz="quarter" idx="12"/>
          </p:nvPr>
        </p:nvSpPr>
        <p:spPr/>
        <p:txBody>
          <a:bodyPr/>
          <a:lstStyle/>
          <a:p>
            <a:fld id="{60093787-08EC-4113-8521-0E445B8625BD}" type="slidenum">
              <a:rPr lang="en-GB" smtClean="0"/>
              <a:t>25</a:t>
            </a:fld>
            <a:endParaRPr lang="en-GB"/>
          </a:p>
        </p:txBody>
      </p:sp>
      <p:sp>
        <p:nvSpPr>
          <p:cNvPr id="5" name="TextBox 4">
            <a:extLst>
              <a:ext uri="{FF2B5EF4-FFF2-40B4-BE49-F238E27FC236}">
                <a16:creationId xmlns:a16="http://schemas.microsoft.com/office/drawing/2014/main" id="{210A7DC6-5F9B-07B1-FEAD-1D14DE4E76DA}"/>
              </a:ext>
            </a:extLst>
          </p:cNvPr>
          <p:cNvSpPr txBox="1"/>
          <p:nvPr/>
        </p:nvSpPr>
        <p:spPr>
          <a:xfrm>
            <a:off x="539552" y="1412776"/>
            <a:ext cx="8064896" cy="2308324"/>
          </a:xfrm>
          <a:prstGeom prst="rect">
            <a:avLst/>
          </a:prstGeom>
          <a:noFill/>
        </p:spPr>
        <p:txBody>
          <a:bodyPr wrap="square" rtlCol="0">
            <a:spAutoFit/>
          </a:bodyPr>
          <a:lstStyle/>
          <a:p>
            <a:pPr marL="285750" indent="-285750" algn="just">
              <a:buFont typeface="Arial" panose="020B0604020202020204" pitchFamily="34" charset="0"/>
              <a:buChar char="•"/>
            </a:pPr>
            <a:r>
              <a:rPr lang="en-SG" sz="1800" dirty="0">
                <a:effectLst/>
                <a:latin typeface="Times"/>
              </a:rPr>
              <a:t>An understanding of the relationship between heat and other forms of energy emerged during the 18th and 19th centuries. Sir James Joule (1818–1889) studied how water can be warmed by vigorous stirring with a paddle wheel </a:t>
            </a:r>
          </a:p>
          <a:p>
            <a:pPr marL="285750" indent="-285750" algn="just">
              <a:buFont typeface="Arial" panose="020B0604020202020204" pitchFamily="34" charset="0"/>
              <a:buChar char="•"/>
            </a:pPr>
            <a:r>
              <a:rPr lang="en-SG" sz="1800" dirty="0">
                <a:effectLst/>
                <a:latin typeface="Times"/>
              </a:rPr>
              <a:t>The paddle wheel adds energy to the water by doing </a:t>
            </a:r>
            <a:r>
              <a:rPr lang="en-SG" sz="1800" i="1" dirty="0">
                <a:effectLst/>
                <a:latin typeface="Times"/>
              </a:rPr>
              <a:t>work </a:t>
            </a:r>
            <a:r>
              <a:rPr lang="en-SG" sz="1800" dirty="0">
                <a:effectLst/>
                <a:latin typeface="Times"/>
              </a:rPr>
              <a:t>on it, and Joule found that </a:t>
            </a:r>
            <a:r>
              <a:rPr lang="en-SG" sz="1800" i="1" dirty="0">
                <a:effectLst/>
                <a:latin typeface="Times"/>
              </a:rPr>
              <a:t>the temperature rise is directly proportional to the amount of work done. </a:t>
            </a:r>
            <a:endParaRPr lang="en-SG" dirty="0"/>
          </a:p>
          <a:p>
            <a:pPr marL="285750" indent="-285750" algn="just">
              <a:buFont typeface="Arial" panose="020B0604020202020204" pitchFamily="34" charset="0"/>
              <a:buChar char="•"/>
            </a:pPr>
            <a:endParaRPr lang="en-SG" sz="1800" dirty="0">
              <a:effectLst/>
              <a:latin typeface="Times"/>
            </a:endParaRPr>
          </a:p>
          <a:p>
            <a:pPr marL="285750" indent="-285750" algn="just">
              <a:buFont typeface="Arial" panose="020B0604020202020204" pitchFamily="34" charset="0"/>
              <a:buChar char="•"/>
            </a:pPr>
            <a:endParaRPr lang="en-SG" dirty="0"/>
          </a:p>
          <a:p>
            <a:pPr algn="just"/>
            <a:endParaRPr lang="en-US" dirty="0"/>
          </a:p>
        </p:txBody>
      </p:sp>
      <p:pic>
        <p:nvPicPr>
          <p:cNvPr id="6" name="Picture 5">
            <a:extLst>
              <a:ext uri="{FF2B5EF4-FFF2-40B4-BE49-F238E27FC236}">
                <a16:creationId xmlns:a16="http://schemas.microsoft.com/office/drawing/2014/main" id="{5B49D6E2-9535-022F-4868-C5BC7E80948E}"/>
              </a:ext>
            </a:extLst>
          </p:cNvPr>
          <p:cNvPicPr>
            <a:picLocks noChangeAspect="1"/>
          </p:cNvPicPr>
          <p:nvPr/>
        </p:nvPicPr>
        <p:blipFill>
          <a:blip r:embed="rId2"/>
          <a:stretch>
            <a:fillRect/>
          </a:stretch>
        </p:blipFill>
        <p:spPr>
          <a:xfrm>
            <a:off x="1221324" y="3169542"/>
            <a:ext cx="2745047" cy="3024368"/>
          </a:xfrm>
          <a:prstGeom prst="rect">
            <a:avLst/>
          </a:prstGeom>
        </p:spPr>
      </p:pic>
      <p:pic>
        <p:nvPicPr>
          <p:cNvPr id="7" name="Picture 6">
            <a:extLst>
              <a:ext uri="{FF2B5EF4-FFF2-40B4-BE49-F238E27FC236}">
                <a16:creationId xmlns:a16="http://schemas.microsoft.com/office/drawing/2014/main" id="{ECAEE118-E715-8CA6-454C-238127308D09}"/>
              </a:ext>
            </a:extLst>
          </p:cNvPr>
          <p:cNvPicPr>
            <a:picLocks noChangeAspect="1"/>
          </p:cNvPicPr>
          <p:nvPr/>
        </p:nvPicPr>
        <p:blipFill>
          <a:blip r:embed="rId3"/>
          <a:stretch>
            <a:fillRect/>
          </a:stretch>
        </p:blipFill>
        <p:spPr>
          <a:xfrm>
            <a:off x="5139323" y="3153002"/>
            <a:ext cx="2601029" cy="3040908"/>
          </a:xfrm>
          <a:prstGeom prst="rect">
            <a:avLst/>
          </a:prstGeom>
        </p:spPr>
      </p:pic>
    </p:spTree>
    <p:extLst>
      <p:ext uri="{BB962C8B-B14F-4D97-AF65-F5344CB8AC3E}">
        <p14:creationId xmlns:p14="http://schemas.microsoft.com/office/powerpoint/2010/main" val="30806527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sz="3200" dirty="0">
                <a:effectLst/>
                <a:latin typeface="Helvetica Neue" panose="02000503000000020004" pitchFamily="2" charset="0"/>
              </a:rPr>
              <a:t>17-5</a:t>
            </a:r>
            <a:r>
              <a:rPr lang="zh-CN" altLang="en-US" sz="3200" dirty="0">
                <a:effectLst/>
                <a:latin typeface="Helvetica Neue" panose="02000503000000020004" pitchFamily="2" charset="0"/>
              </a:rPr>
              <a:t> </a:t>
            </a:r>
            <a:r>
              <a:rPr lang="en-SG" sz="3200" dirty="0">
                <a:effectLst/>
                <a:latin typeface="Helvetica Neue" panose="02000503000000020004" pitchFamily="2" charset="0"/>
              </a:rPr>
              <a:t>Quantity of Heat</a:t>
            </a:r>
          </a:p>
        </p:txBody>
      </p:sp>
      <p:sp>
        <p:nvSpPr>
          <p:cNvPr id="3" name="Date Placeholder 2"/>
          <p:cNvSpPr>
            <a:spLocks noGrp="1"/>
          </p:cNvSpPr>
          <p:nvPr>
            <p:ph type="dt" sz="half" idx="10"/>
          </p:nvPr>
        </p:nvSpPr>
        <p:spPr/>
        <p:txBody>
          <a:bodyPr/>
          <a:lstStyle/>
          <a:p>
            <a:r>
              <a:rPr lang="en-SG" altLang="zh-TW"/>
              <a:t>Thermodynamics I (Ch. 17)</a:t>
            </a:r>
            <a:endParaRPr lang="en-GB" dirty="0"/>
          </a:p>
        </p:txBody>
      </p:sp>
      <p:sp>
        <p:nvSpPr>
          <p:cNvPr id="4" name="Slide Number Placeholder 3"/>
          <p:cNvSpPr>
            <a:spLocks noGrp="1"/>
          </p:cNvSpPr>
          <p:nvPr>
            <p:ph type="sldNum" sz="quarter" idx="12"/>
          </p:nvPr>
        </p:nvSpPr>
        <p:spPr/>
        <p:txBody>
          <a:bodyPr/>
          <a:lstStyle/>
          <a:p>
            <a:fld id="{60093787-08EC-4113-8521-0E445B8625BD}" type="slidenum">
              <a:rPr lang="en-GB" smtClean="0"/>
              <a:t>26</a:t>
            </a:fld>
            <a:endParaRPr lang="en-GB"/>
          </a:p>
        </p:txBody>
      </p:sp>
      <p:sp>
        <p:nvSpPr>
          <p:cNvPr id="9" name="TextBox 8">
            <a:extLst>
              <a:ext uri="{FF2B5EF4-FFF2-40B4-BE49-F238E27FC236}">
                <a16:creationId xmlns:a16="http://schemas.microsoft.com/office/drawing/2014/main" id="{B6A8238D-430F-00AE-6847-97E923DA0940}"/>
              </a:ext>
            </a:extLst>
          </p:cNvPr>
          <p:cNvSpPr txBox="1"/>
          <p:nvPr/>
        </p:nvSpPr>
        <p:spPr>
          <a:xfrm>
            <a:off x="307848" y="1412776"/>
            <a:ext cx="8229600" cy="830997"/>
          </a:xfrm>
          <a:prstGeom prst="rect">
            <a:avLst/>
          </a:prstGeom>
          <a:noFill/>
        </p:spPr>
        <p:txBody>
          <a:bodyPr wrap="square">
            <a:spAutoFit/>
          </a:bodyPr>
          <a:lstStyle/>
          <a:p>
            <a:pPr algn="just"/>
            <a:r>
              <a:rPr lang="en-SG" sz="2400" dirty="0">
                <a:effectLst/>
                <a:latin typeface="Times"/>
              </a:rPr>
              <a:t>We use the symbol </a:t>
            </a:r>
            <a:r>
              <a:rPr lang="en-SG" sz="2400" i="1" dirty="0">
                <a:effectLst/>
                <a:latin typeface="Times"/>
              </a:rPr>
              <a:t>Q </a:t>
            </a:r>
            <a:r>
              <a:rPr lang="en-SG" sz="2400" dirty="0">
                <a:effectLst/>
                <a:latin typeface="Times"/>
              </a:rPr>
              <a:t>for quantity of heat. When it is associated with an infinitesimal temperature change </a:t>
            </a:r>
            <a:r>
              <a:rPr lang="en-SG" sz="2400" i="1" dirty="0">
                <a:effectLst/>
                <a:latin typeface="Times"/>
              </a:rPr>
              <a:t>dT</a:t>
            </a:r>
            <a:r>
              <a:rPr lang="en-SG" sz="2400" dirty="0">
                <a:effectLst/>
                <a:latin typeface="Times"/>
              </a:rPr>
              <a:t>, we call it </a:t>
            </a:r>
            <a:r>
              <a:rPr lang="en-SG" sz="2400" i="1" dirty="0" err="1">
                <a:effectLst/>
                <a:latin typeface="Times"/>
              </a:rPr>
              <a:t>dQ</a:t>
            </a:r>
            <a:r>
              <a:rPr lang="en-SG" sz="2400" dirty="0">
                <a:effectLst/>
                <a:latin typeface="Times"/>
              </a:rPr>
              <a:t>. </a:t>
            </a:r>
            <a:endParaRPr lang="en-SG" sz="2400" dirty="0"/>
          </a:p>
        </p:txBody>
      </p:sp>
      <p:pic>
        <p:nvPicPr>
          <p:cNvPr id="10" name="Picture 9">
            <a:extLst>
              <a:ext uri="{FF2B5EF4-FFF2-40B4-BE49-F238E27FC236}">
                <a16:creationId xmlns:a16="http://schemas.microsoft.com/office/drawing/2014/main" id="{C84C44BD-EB58-BE82-CC20-97A1F420FC19}"/>
              </a:ext>
            </a:extLst>
          </p:cNvPr>
          <p:cNvPicPr>
            <a:picLocks noChangeAspect="1"/>
          </p:cNvPicPr>
          <p:nvPr/>
        </p:nvPicPr>
        <p:blipFill>
          <a:blip r:embed="rId2"/>
          <a:stretch>
            <a:fillRect/>
          </a:stretch>
        </p:blipFill>
        <p:spPr>
          <a:xfrm>
            <a:off x="336049" y="2636912"/>
            <a:ext cx="8552071" cy="3024336"/>
          </a:xfrm>
          <a:prstGeom prst="rect">
            <a:avLst/>
          </a:prstGeom>
        </p:spPr>
      </p:pic>
    </p:spTree>
    <p:extLst>
      <p:ext uri="{BB962C8B-B14F-4D97-AF65-F5344CB8AC3E}">
        <p14:creationId xmlns:p14="http://schemas.microsoft.com/office/powerpoint/2010/main" val="42115025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Sample Problem</a:t>
            </a:r>
          </a:p>
        </p:txBody>
      </p:sp>
      <p:sp>
        <p:nvSpPr>
          <p:cNvPr id="3" name="Date Placeholder 2"/>
          <p:cNvSpPr>
            <a:spLocks noGrp="1"/>
          </p:cNvSpPr>
          <p:nvPr>
            <p:ph type="dt" sz="half" idx="10"/>
          </p:nvPr>
        </p:nvSpPr>
        <p:spPr/>
        <p:txBody>
          <a:bodyPr/>
          <a:lstStyle/>
          <a:p>
            <a:r>
              <a:rPr lang="en-SG" altLang="zh-TW"/>
              <a:t>Thermodynamics I (Ch. 17)</a:t>
            </a:r>
            <a:endParaRPr lang="en-GB" dirty="0"/>
          </a:p>
        </p:txBody>
      </p:sp>
      <p:sp>
        <p:nvSpPr>
          <p:cNvPr id="4" name="Slide Number Placeholder 3"/>
          <p:cNvSpPr>
            <a:spLocks noGrp="1"/>
          </p:cNvSpPr>
          <p:nvPr>
            <p:ph type="sldNum" sz="quarter" idx="12"/>
          </p:nvPr>
        </p:nvSpPr>
        <p:spPr/>
        <p:txBody>
          <a:bodyPr/>
          <a:lstStyle/>
          <a:p>
            <a:fld id="{60093787-08EC-4113-8521-0E445B8625BD}" type="slidenum">
              <a:rPr lang="en-GB" smtClean="0"/>
              <a:t>27</a:t>
            </a:fld>
            <a:endParaRPr lang="en-GB"/>
          </a:p>
        </p:txBody>
      </p:sp>
      <p:pic>
        <p:nvPicPr>
          <p:cNvPr id="5" name="Picture 4">
            <a:extLst>
              <a:ext uri="{FF2B5EF4-FFF2-40B4-BE49-F238E27FC236}">
                <a16:creationId xmlns:a16="http://schemas.microsoft.com/office/drawing/2014/main" id="{D7841D1F-F1EF-DDCC-8C8D-5DB6CF53B3E3}"/>
              </a:ext>
            </a:extLst>
          </p:cNvPr>
          <p:cNvPicPr>
            <a:picLocks noChangeAspect="1"/>
          </p:cNvPicPr>
          <p:nvPr/>
        </p:nvPicPr>
        <p:blipFill>
          <a:blip r:embed="rId2"/>
          <a:stretch>
            <a:fillRect/>
          </a:stretch>
        </p:blipFill>
        <p:spPr>
          <a:xfrm>
            <a:off x="1530642" y="1316001"/>
            <a:ext cx="5829300" cy="1866900"/>
          </a:xfrm>
          <a:prstGeom prst="rect">
            <a:avLst/>
          </a:prstGeom>
        </p:spPr>
      </p:pic>
      <p:pic>
        <p:nvPicPr>
          <p:cNvPr id="6" name="Picture 5">
            <a:extLst>
              <a:ext uri="{FF2B5EF4-FFF2-40B4-BE49-F238E27FC236}">
                <a16:creationId xmlns:a16="http://schemas.microsoft.com/office/drawing/2014/main" id="{3C85A38A-D0F4-9FE3-ECA7-972CC67A1774}"/>
              </a:ext>
            </a:extLst>
          </p:cNvPr>
          <p:cNvPicPr>
            <a:picLocks noChangeAspect="1"/>
          </p:cNvPicPr>
          <p:nvPr/>
        </p:nvPicPr>
        <p:blipFill>
          <a:blip r:embed="rId3"/>
          <a:stretch>
            <a:fillRect/>
          </a:stretch>
        </p:blipFill>
        <p:spPr>
          <a:xfrm>
            <a:off x="1489312" y="5042151"/>
            <a:ext cx="5867400" cy="800100"/>
          </a:xfrm>
          <a:prstGeom prst="rect">
            <a:avLst/>
          </a:prstGeom>
        </p:spPr>
      </p:pic>
      <p:pic>
        <p:nvPicPr>
          <p:cNvPr id="7" name="Picture 6">
            <a:extLst>
              <a:ext uri="{FF2B5EF4-FFF2-40B4-BE49-F238E27FC236}">
                <a16:creationId xmlns:a16="http://schemas.microsoft.com/office/drawing/2014/main" id="{120B6482-7CD2-B777-0541-CFAB9E958DC8}"/>
              </a:ext>
            </a:extLst>
          </p:cNvPr>
          <p:cNvPicPr>
            <a:picLocks noChangeAspect="1"/>
          </p:cNvPicPr>
          <p:nvPr/>
        </p:nvPicPr>
        <p:blipFill>
          <a:blip r:embed="rId4"/>
          <a:stretch>
            <a:fillRect/>
          </a:stretch>
        </p:blipFill>
        <p:spPr>
          <a:xfrm>
            <a:off x="1668314" y="3573750"/>
            <a:ext cx="5588000" cy="1295400"/>
          </a:xfrm>
          <a:prstGeom prst="rect">
            <a:avLst/>
          </a:prstGeom>
        </p:spPr>
      </p:pic>
    </p:spTree>
    <p:extLst>
      <p:ext uri="{BB962C8B-B14F-4D97-AF65-F5344CB8AC3E}">
        <p14:creationId xmlns:p14="http://schemas.microsoft.com/office/powerpoint/2010/main" val="1979823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Sample Problem</a:t>
            </a:r>
          </a:p>
        </p:txBody>
      </p:sp>
      <p:sp>
        <p:nvSpPr>
          <p:cNvPr id="3" name="Date Placeholder 2"/>
          <p:cNvSpPr>
            <a:spLocks noGrp="1"/>
          </p:cNvSpPr>
          <p:nvPr>
            <p:ph type="dt" sz="half" idx="10"/>
          </p:nvPr>
        </p:nvSpPr>
        <p:spPr/>
        <p:txBody>
          <a:bodyPr/>
          <a:lstStyle/>
          <a:p>
            <a:r>
              <a:rPr lang="en-SG" altLang="zh-TW"/>
              <a:t>Thermodynamics I (Ch. 17)</a:t>
            </a:r>
            <a:endParaRPr lang="en-GB" dirty="0"/>
          </a:p>
        </p:txBody>
      </p:sp>
      <p:sp>
        <p:nvSpPr>
          <p:cNvPr id="4" name="Slide Number Placeholder 3"/>
          <p:cNvSpPr>
            <a:spLocks noGrp="1"/>
          </p:cNvSpPr>
          <p:nvPr>
            <p:ph type="sldNum" sz="quarter" idx="12"/>
          </p:nvPr>
        </p:nvSpPr>
        <p:spPr/>
        <p:txBody>
          <a:bodyPr/>
          <a:lstStyle/>
          <a:p>
            <a:fld id="{60093787-08EC-4113-8521-0E445B8625BD}" type="slidenum">
              <a:rPr lang="en-GB" smtClean="0"/>
              <a:t>28</a:t>
            </a:fld>
            <a:endParaRPr lang="en-GB"/>
          </a:p>
        </p:txBody>
      </p:sp>
      <p:pic>
        <p:nvPicPr>
          <p:cNvPr id="8" name="Picture 7">
            <a:extLst>
              <a:ext uri="{FF2B5EF4-FFF2-40B4-BE49-F238E27FC236}">
                <a16:creationId xmlns:a16="http://schemas.microsoft.com/office/drawing/2014/main" id="{25132C89-6CA3-4B8C-36D8-2A7D35D9936C}"/>
              </a:ext>
            </a:extLst>
          </p:cNvPr>
          <p:cNvPicPr>
            <a:picLocks noChangeAspect="1"/>
          </p:cNvPicPr>
          <p:nvPr/>
        </p:nvPicPr>
        <p:blipFill>
          <a:blip r:embed="rId2"/>
          <a:stretch>
            <a:fillRect/>
          </a:stretch>
        </p:blipFill>
        <p:spPr>
          <a:xfrm>
            <a:off x="323528" y="1190381"/>
            <a:ext cx="5664200" cy="2019300"/>
          </a:xfrm>
          <a:prstGeom prst="rect">
            <a:avLst/>
          </a:prstGeom>
        </p:spPr>
      </p:pic>
      <p:pic>
        <p:nvPicPr>
          <p:cNvPr id="9" name="Picture 8">
            <a:extLst>
              <a:ext uri="{FF2B5EF4-FFF2-40B4-BE49-F238E27FC236}">
                <a16:creationId xmlns:a16="http://schemas.microsoft.com/office/drawing/2014/main" id="{902B9192-A00D-F411-4E8C-D6E44B02054B}"/>
              </a:ext>
            </a:extLst>
          </p:cNvPr>
          <p:cNvPicPr>
            <a:picLocks noChangeAspect="1"/>
          </p:cNvPicPr>
          <p:nvPr/>
        </p:nvPicPr>
        <p:blipFill>
          <a:blip r:embed="rId3"/>
          <a:stretch>
            <a:fillRect/>
          </a:stretch>
        </p:blipFill>
        <p:spPr>
          <a:xfrm>
            <a:off x="1907704" y="5069620"/>
            <a:ext cx="5676900" cy="1168400"/>
          </a:xfrm>
          <a:prstGeom prst="rect">
            <a:avLst/>
          </a:prstGeom>
        </p:spPr>
      </p:pic>
      <p:pic>
        <p:nvPicPr>
          <p:cNvPr id="10" name="Picture 9">
            <a:extLst>
              <a:ext uri="{FF2B5EF4-FFF2-40B4-BE49-F238E27FC236}">
                <a16:creationId xmlns:a16="http://schemas.microsoft.com/office/drawing/2014/main" id="{D6352995-2961-C594-E6CA-2A6ACE20023F}"/>
              </a:ext>
            </a:extLst>
          </p:cNvPr>
          <p:cNvPicPr>
            <a:picLocks noChangeAspect="1"/>
          </p:cNvPicPr>
          <p:nvPr/>
        </p:nvPicPr>
        <p:blipFill>
          <a:blip r:embed="rId4"/>
          <a:stretch>
            <a:fillRect/>
          </a:stretch>
        </p:blipFill>
        <p:spPr>
          <a:xfrm>
            <a:off x="6553459" y="2107291"/>
            <a:ext cx="2267013" cy="644926"/>
          </a:xfrm>
          <a:prstGeom prst="rect">
            <a:avLst/>
          </a:prstGeom>
        </p:spPr>
      </p:pic>
      <p:pic>
        <p:nvPicPr>
          <p:cNvPr id="11" name="Picture 10">
            <a:extLst>
              <a:ext uri="{FF2B5EF4-FFF2-40B4-BE49-F238E27FC236}">
                <a16:creationId xmlns:a16="http://schemas.microsoft.com/office/drawing/2014/main" id="{CC35E72E-06FD-668B-B92F-92EA14AF837E}"/>
              </a:ext>
            </a:extLst>
          </p:cNvPr>
          <p:cNvPicPr>
            <a:picLocks noChangeAspect="1"/>
          </p:cNvPicPr>
          <p:nvPr/>
        </p:nvPicPr>
        <p:blipFill>
          <a:blip r:embed="rId5"/>
          <a:stretch>
            <a:fillRect/>
          </a:stretch>
        </p:blipFill>
        <p:spPr>
          <a:xfrm>
            <a:off x="310063" y="3403722"/>
            <a:ext cx="5588000" cy="1016000"/>
          </a:xfrm>
          <a:prstGeom prst="rect">
            <a:avLst/>
          </a:prstGeom>
        </p:spPr>
      </p:pic>
      <p:pic>
        <p:nvPicPr>
          <p:cNvPr id="12" name="Picture 11">
            <a:extLst>
              <a:ext uri="{FF2B5EF4-FFF2-40B4-BE49-F238E27FC236}">
                <a16:creationId xmlns:a16="http://schemas.microsoft.com/office/drawing/2014/main" id="{DA18F025-7DA4-DE22-F642-17C34257C2DB}"/>
              </a:ext>
            </a:extLst>
          </p:cNvPr>
          <p:cNvPicPr>
            <a:picLocks noChangeAspect="1"/>
          </p:cNvPicPr>
          <p:nvPr/>
        </p:nvPicPr>
        <p:blipFill>
          <a:blip r:embed="rId6"/>
          <a:stretch>
            <a:fillRect/>
          </a:stretch>
        </p:blipFill>
        <p:spPr>
          <a:xfrm>
            <a:off x="310063" y="4419356"/>
            <a:ext cx="5575300" cy="596900"/>
          </a:xfrm>
          <a:prstGeom prst="rect">
            <a:avLst/>
          </a:prstGeom>
        </p:spPr>
      </p:pic>
    </p:spTree>
    <p:extLst>
      <p:ext uri="{BB962C8B-B14F-4D97-AF65-F5344CB8AC3E}">
        <p14:creationId xmlns:p14="http://schemas.microsoft.com/office/powerpoint/2010/main" val="2187011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sz="3200" dirty="0">
                <a:effectLst/>
                <a:latin typeface="Helvetica Neue" panose="02000503000000020004" pitchFamily="2" charset="0"/>
              </a:rPr>
              <a:t>17-5</a:t>
            </a:r>
            <a:r>
              <a:rPr lang="zh-CN" altLang="en-US" sz="3200" dirty="0">
                <a:effectLst/>
                <a:latin typeface="Helvetica Neue" panose="02000503000000020004" pitchFamily="2" charset="0"/>
              </a:rPr>
              <a:t> </a:t>
            </a:r>
            <a:r>
              <a:rPr lang="en-SG" sz="3200" dirty="0">
                <a:effectLst/>
                <a:latin typeface="Helvetica Neue" panose="02000503000000020004" pitchFamily="2" charset="0"/>
              </a:rPr>
              <a:t>Quantity of Heat</a:t>
            </a:r>
          </a:p>
        </p:txBody>
      </p:sp>
      <p:sp>
        <p:nvSpPr>
          <p:cNvPr id="3" name="Date Placeholder 2"/>
          <p:cNvSpPr>
            <a:spLocks noGrp="1"/>
          </p:cNvSpPr>
          <p:nvPr>
            <p:ph type="dt" sz="half" idx="10"/>
          </p:nvPr>
        </p:nvSpPr>
        <p:spPr/>
        <p:txBody>
          <a:bodyPr/>
          <a:lstStyle/>
          <a:p>
            <a:r>
              <a:rPr lang="en-SG" altLang="zh-TW"/>
              <a:t>Thermodynamics I (Ch. 17)</a:t>
            </a:r>
            <a:endParaRPr lang="en-GB" dirty="0"/>
          </a:p>
        </p:txBody>
      </p:sp>
      <p:sp>
        <p:nvSpPr>
          <p:cNvPr id="4" name="Slide Number Placeholder 3"/>
          <p:cNvSpPr>
            <a:spLocks noGrp="1"/>
          </p:cNvSpPr>
          <p:nvPr>
            <p:ph type="sldNum" sz="quarter" idx="12"/>
          </p:nvPr>
        </p:nvSpPr>
        <p:spPr/>
        <p:txBody>
          <a:bodyPr/>
          <a:lstStyle/>
          <a:p>
            <a:fld id="{60093787-08EC-4113-8521-0E445B8625BD}" type="slidenum">
              <a:rPr lang="en-GB" smtClean="0"/>
              <a:t>29</a:t>
            </a:fld>
            <a:endParaRPr lang="en-GB"/>
          </a:p>
        </p:txBody>
      </p:sp>
      <p:sp>
        <p:nvSpPr>
          <p:cNvPr id="5" name="TextBox 4">
            <a:extLst>
              <a:ext uri="{FF2B5EF4-FFF2-40B4-BE49-F238E27FC236}">
                <a16:creationId xmlns:a16="http://schemas.microsoft.com/office/drawing/2014/main" id="{5846A145-F64A-A52D-382E-B89D05842B56}"/>
              </a:ext>
            </a:extLst>
          </p:cNvPr>
          <p:cNvSpPr txBox="1"/>
          <p:nvPr/>
        </p:nvSpPr>
        <p:spPr>
          <a:xfrm>
            <a:off x="490845" y="1348910"/>
            <a:ext cx="2662267" cy="461665"/>
          </a:xfrm>
          <a:prstGeom prst="rect">
            <a:avLst/>
          </a:prstGeom>
          <a:noFill/>
        </p:spPr>
        <p:txBody>
          <a:bodyPr wrap="none" rtlCol="0">
            <a:spAutoFit/>
          </a:bodyPr>
          <a:lstStyle/>
          <a:p>
            <a:r>
              <a:rPr lang="en-US" sz="2400" dirty="0"/>
              <a:t>Mo</a:t>
            </a:r>
            <a:r>
              <a:rPr lang="en-US" altLang="zh-CN" sz="2400" dirty="0"/>
              <a:t>lar</a:t>
            </a:r>
            <a:r>
              <a:rPr lang="zh-CN" altLang="en-US" sz="2400" dirty="0"/>
              <a:t> </a:t>
            </a:r>
            <a:r>
              <a:rPr lang="en-US" altLang="zh-CN" sz="2400" dirty="0"/>
              <a:t>heat</a:t>
            </a:r>
            <a:r>
              <a:rPr lang="zh-CN" altLang="en-US" sz="2400" dirty="0"/>
              <a:t> </a:t>
            </a:r>
            <a:r>
              <a:rPr lang="en-US" altLang="zh-CN" sz="2400" dirty="0"/>
              <a:t>capacity</a:t>
            </a:r>
            <a:endParaRPr lang="en-US" sz="2400" dirty="0"/>
          </a:p>
        </p:txBody>
      </p:sp>
      <p:sp>
        <p:nvSpPr>
          <p:cNvPr id="13" name="TextBox 12">
            <a:extLst>
              <a:ext uri="{FF2B5EF4-FFF2-40B4-BE49-F238E27FC236}">
                <a16:creationId xmlns:a16="http://schemas.microsoft.com/office/drawing/2014/main" id="{1777BEF0-C636-8BD4-BCEF-444F0210C476}"/>
              </a:ext>
            </a:extLst>
          </p:cNvPr>
          <p:cNvSpPr txBox="1"/>
          <p:nvPr/>
        </p:nvSpPr>
        <p:spPr>
          <a:xfrm>
            <a:off x="819762" y="1936445"/>
            <a:ext cx="7504476" cy="830997"/>
          </a:xfrm>
          <a:prstGeom prst="rect">
            <a:avLst/>
          </a:prstGeom>
          <a:noFill/>
        </p:spPr>
        <p:txBody>
          <a:bodyPr wrap="square">
            <a:spAutoFit/>
          </a:bodyPr>
          <a:lstStyle/>
          <a:p>
            <a:r>
              <a:rPr lang="en-SG" sz="2400" dirty="0">
                <a:effectLst/>
                <a:latin typeface="Times"/>
              </a:rPr>
              <a:t>The </a:t>
            </a:r>
            <a:r>
              <a:rPr lang="en-SG" sz="2400" i="1" dirty="0">
                <a:effectLst/>
                <a:latin typeface="Times"/>
              </a:rPr>
              <a:t>molar mass </a:t>
            </a:r>
            <a:r>
              <a:rPr lang="en-SG" sz="2400" dirty="0">
                <a:effectLst/>
                <a:latin typeface="Times"/>
              </a:rPr>
              <a:t>of any substance, denoted by </a:t>
            </a:r>
            <a:r>
              <a:rPr lang="en-SG" sz="2400" i="1" dirty="0">
                <a:effectLst/>
                <a:latin typeface="Times"/>
              </a:rPr>
              <a:t>M</a:t>
            </a:r>
            <a:r>
              <a:rPr lang="en-SG" sz="2400" dirty="0">
                <a:effectLst/>
                <a:latin typeface="Times"/>
              </a:rPr>
              <a:t>, is the mass per mole. </a:t>
            </a:r>
            <a:endParaRPr lang="en-SG" sz="2400" dirty="0"/>
          </a:p>
        </p:txBody>
      </p:sp>
      <p:pic>
        <p:nvPicPr>
          <p:cNvPr id="14" name="Picture 13">
            <a:extLst>
              <a:ext uri="{FF2B5EF4-FFF2-40B4-BE49-F238E27FC236}">
                <a16:creationId xmlns:a16="http://schemas.microsoft.com/office/drawing/2014/main" id="{D8F29F57-E470-20D4-F81B-1FEC30CFFF98}"/>
              </a:ext>
            </a:extLst>
          </p:cNvPr>
          <p:cNvPicPr>
            <a:picLocks noChangeAspect="1"/>
          </p:cNvPicPr>
          <p:nvPr/>
        </p:nvPicPr>
        <p:blipFill>
          <a:blip r:embed="rId2"/>
          <a:stretch>
            <a:fillRect/>
          </a:stretch>
        </p:blipFill>
        <p:spPr>
          <a:xfrm>
            <a:off x="3423936" y="2740533"/>
            <a:ext cx="1840155" cy="570448"/>
          </a:xfrm>
          <a:prstGeom prst="rect">
            <a:avLst/>
          </a:prstGeom>
        </p:spPr>
      </p:pic>
      <p:pic>
        <p:nvPicPr>
          <p:cNvPr id="15" name="Picture 14">
            <a:extLst>
              <a:ext uri="{FF2B5EF4-FFF2-40B4-BE49-F238E27FC236}">
                <a16:creationId xmlns:a16="http://schemas.microsoft.com/office/drawing/2014/main" id="{8651C660-EF64-8CB1-481A-2EF06F356C3C}"/>
              </a:ext>
            </a:extLst>
          </p:cNvPr>
          <p:cNvPicPr>
            <a:picLocks noChangeAspect="1"/>
          </p:cNvPicPr>
          <p:nvPr/>
        </p:nvPicPr>
        <p:blipFill>
          <a:blip r:embed="rId3"/>
          <a:stretch>
            <a:fillRect/>
          </a:stretch>
        </p:blipFill>
        <p:spPr>
          <a:xfrm>
            <a:off x="3423936" y="3316338"/>
            <a:ext cx="2406578" cy="570448"/>
          </a:xfrm>
          <a:prstGeom prst="rect">
            <a:avLst/>
          </a:prstGeom>
        </p:spPr>
      </p:pic>
      <p:pic>
        <p:nvPicPr>
          <p:cNvPr id="16" name="Picture 15">
            <a:extLst>
              <a:ext uri="{FF2B5EF4-FFF2-40B4-BE49-F238E27FC236}">
                <a16:creationId xmlns:a16="http://schemas.microsoft.com/office/drawing/2014/main" id="{1DF5FC13-A2BE-0D77-BEBA-8F8084732017}"/>
              </a:ext>
            </a:extLst>
          </p:cNvPr>
          <p:cNvPicPr>
            <a:picLocks noChangeAspect="1"/>
          </p:cNvPicPr>
          <p:nvPr/>
        </p:nvPicPr>
        <p:blipFill>
          <a:blip r:embed="rId4"/>
          <a:stretch>
            <a:fillRect/>
          </a:stretch>
        </p:blipFill>
        <p:spPr>
          <a:xfrm>
            <a:off x="878377" y="4034555"/>
            <a:ext cx="7571538" cy="447138"/>
          </a:xfrm>
          <a:prstGeom prst="rect">
            <a:avLst/>
          </a:prstGeom>
        </p:spPr>
      </p:pic>
      <p:pic>
        <p:nvPicPr>
          <p:cNvPr id="17" name="Picture 16">
            <a:extLst>
              <a:ext uri="{FF2B5EF4-FFF2-40B4-BE49-F238E27FC236}">
                <a16:creationId xmlns:a16="http://schemas.microsoft.com/office/drawing/2014/main" id="{561E6905-CFBA-9836-FD48-531FB0C48C4A}"/>
              </a:ext>
            </a:extLst>
          </p:cNvPr>
          <p:cNvPicPr>
            <a:picLocks noChangeAspect="1"/>
          </p:cNvPicPr>
          <p:nvPr/>
        </p:nvPicPr>
        <p:blipFill>
          <a:blip r:embed="rId5"/>
          <a:stretch>
            <a:fillRect/>
          </a:stretch>
        </p:blipFill>
        <p:spPr>
          <a:xfrm>
            <a:off x="1154350" y="4653834"/>
            <a:ext cx="4825475" cy="736599"/>
          </a:xfrm>
          <a:prstGeom prst="rect">
            <a:avLst/>
          </a:prstGeom>
        </p:spPr>
      </p:pic>
      <p:pic>
        <p:nvPicPr>
          <p:cNvPr id="18" name="Picture 17">
            <a:extLst>
              <a:ext uri="{FF2B5EF4-FFF2-40B4-BE49-F238E27FC236}">
                <a16:creationId xmlns:a16="http://schemas.microsoft.com/office/drawing/2014/main" id="{5A883D21-FAB6-FC35-7776-B7AA5B5F12AB}"/>
              </a:ext>
            </a:extLst>
          </p:cNvPr>
          <p:cNvPicPr>
            <a:picLocks noChangeAspect="1"/>
          </p:cNvPicPr>
          <p:nvPr/>
        </p:nvPicPr>
        <p:blipFill>
          <a:blip r:embed="rId6"/>
          <a:stretch>
            <a:fillRect/>
          </a:stretch>
        </p:blipFill>
        <p:spPr>
          <a:xfrm>
            <a:off x="942270" y="5438560"/>
            <a:ext cx="7509026" cy="784727"/>
          </a:xfrm>
          <a:prstGeom prst="rect">
            <a:avLst/>
          </a:prstGeom>
        </p:spPr>
      </p:pic>
      <p:sp>
        <p:nvSpPr>
          <p:cNvPr id="19" name="TextBox 18">
            <a:extLst>
              <a:ext uri="{FF2B5EF4-FFF2-40B4-BE49-F238E27FC236}">
                <a16:creationId xmlns:a16="http://schemas.microsoft.com/office/drawing/2014/main" id="{D1AE02F0-28AE-1194-C62E-B6DCC354B46F}"/>
              </a:ext>
            </a:extLst>
          </p:cNvPr>
          <p:cNvSpPr txBox="1"/>
          <p:nvPr/>
        </p:nvSpPr>
        <p:spPr>
          <a:xfrm>
            <a:off x="6105812" y="4888038"/>
            <a:ext cx="2344103" cy="369332"/>
          </a:xfrm>
          <a:prstGeom prst="rect">
            <a:avLst/>
          </a:prstGeom>
          <a:noFill/>
        </p:spPr>
        <p:txBody>
          <a:bodyPr wrap="none" rtlCol="0">
            <a:spAutoFit/>
          </a:bodyPr>
          <a:lstStyle/>
          <a:p>
            <a:r>
              <a:rPr lang="en-US" altLang="zh-CN" dirty="0"/>
              <a:t>In</a:t>
            </a:r>
            <a:r>
              <a:rPr lang="zh-CN" altLang="en-US" dirty="0"/>
              <a:t> </a:t>
            </a:r>
            <a:r>
              <a:rPr lang="en-US" altLang="zh-CN" dirty="0"/>
              <a:t>term</a:t>
            </a:r>
            <a:r>
              <a:rPr lang="zh-CN" altLang="en-US" dirty="0"/>
              <a:t> </a:t>
            </a:r>
            <a:r>
              <a:rPr lang="en-US" altLang="zh-CN" dirty="0"/>
              <a:t>of</a:t>
            </a:r>
            <a:r>
              <a:rPr lang="zh-CN" altLang="en-US" dirty="0"/>
              <a:t> </a:t>
            </a:r>
            <a:r>
              <a:rPr lang="en-US" altLang="zh-CN" dirty="0"/>
              <a:t>specific</a:t>
            </a:r>
            <a:r>
              <a:rPr lang="zh-CN" altLang="en-US" dirty="0"/>
              <a:t> </a:t>
            </a:r>
            <a:r>
              <a:rPr lang="en-US" altLang="zh-CN" dirty="0"/>
              <a:t>heat</a:t>
            </a:r>
            <a:endParaRPr lang="en-US" dirty="0"/>
          </a:p>
        </p:txBody>
      </p:sp>
    </p:spTree>
    <p:extLst>
      <p:ext uri="{BB962C8B-B14F-4D97-AF65-F5344CB8AC3E}">
        <p14:creationId xmlns:p14="http://schemas.microsoft.com/office/powerpoint/2010/main" val="37782053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sz="3200" dirty="0">
                <a:effectLst/>
                <a:latin typeface="Helvetica Neue" panose="02000503000000020004" pitchFamily="2" charset="0"/>
              </a:rPr>
              <a:t>17-6</a:t>
            </a:r>
            <a:r>
              <a:rPr lang="zh-CN" altLang="en-US" sz="3200" dirty="0">
                <a:effectLst/>
                <a:latin typeface="Helvetica Neue" panose="02000503000000020004" pitchFamily="2" charset="0"/>
              </a:rPr>
              <a:t> </a:t>
            </a:r>
            <a:r>
              <a:rPr lang="en-SG" sz="3200" dirty="0">
                <a:effectLst/>
                <a:latin typeface="Helvetica Neue" panose="02000503000000020004" pitchFamily="2" charset="0"/>
              </a:rPr>
              <a:t>Calorimetry and Phase Changes</a:t>
            </a:r>
          </a:p>
        </p:txBody>
      </p:sp>
      <p:sp>
        <p:nvSpPr>
          <p:cNvPr id="3" name="Date Placeholder 2"/>
          <p:cNvSpPr>
            <a:spLocks noGrp="1"/>
          </p:cNvSpPr>
          <p:nvPr>
            <p:ph type="dt" sz="half" idx="10"/>
          </p:nvPr>
        </p:nvSpPr>
        <p:spPr/>
        <p:txBody>
          <a:bodyPr/>
          <a:lstStyle/>
          <a:p>
            <a:r>
              <a:rPr lang="en-SG" altLang="zh-TW"/>
              <a:t>Thermodynamics I (Ch. 17)</a:t>
            </a:r>
            <a:endParaRPr lang="en-GB" dirty="0"/>
          </a:p>
        </p:txBody>
      </p:sp>
      <p:sp>
        <p:nvSpPr>
          <p:cNvPr id="4" name="Slide Number Placeholder 3"/>
          <p:cNvSpPr>
            <a:spLocks noGrp="1"/>
          </p:cNvSpPr>
          <p:nvPr>
            <p:ph type="sldNum" sz="quarter" idx="12"/>
          </p:nvPr>
        </p:nvSpPr>
        <p:spPr/>
        <p:txBody>
          <a:bodyPr/>
          <a:lstStyle/>
          <a:p>
            <a:fld id="{60093787-08EC-4113-8521-0E445B8625BD}" type="slidenum">
              <a:rPr lang="en-GB" smtClean="0"/>
              <a:t>30</a:t>
            </a:fld>
            <a:endParaRPr lang="en-GB"/>
          </a:p>
        </p:txBody>
      </p:sp>
      <p:pic>
        <p:nvPicPr>
          <p:cNvPr id="6" name="Picture 5">
            <a:extLst>
              <a:ext uri="{FF2B5EF4-FFF2-40B4-BE49-F238E27FC236}">
                <a16:creationId xmlns:a16="http://schemas.microsoft.com/office/drawing/2014/main" id="{984DAB2E-1E40-EB3C-AFFE-4118DC8D026E}"/>
              </a:ext>
            </a:extLst>
          </p:cNvPr>
          <p:cNvPicPr>
            <a:picLocks noChangeAspect="1"/>
          </p:cNvPicPr>
          <p:nvPr/>
        </p:nvPicPr>
        <p:blipFill>
          <a:blip r:embed="rId2"/>
          <a:stretch>
            <a:fillRect/>
          </a:stretch>
        </p:blipFill>
        <p:spPr>
          <a:xfrm>
            <a:off x="359918" y="1758887"/>
            <a:ext cx="4254500" cy="4076700"/>
          </a:xfrm>
          <a:prstGeom prst="rect">
            <a:avLst/>
          </a:prstGeom>
        </p:spPr>
      </p:pic>
      <p:sp>
        <p:nvSpPr>
          <p:cNvPr id="8" name="TextBox 7">
            <a:extLst>
              <a:ext uri="{FF2B5EF4-FFF2-40B4-BE49-F238E27FC236}">
                <a16:creationId xmlns:a16="http://schemas.microsoft.com/office/drawing/2014/main" id="{394B8B5F-5BD4-74C7-CECA-2D3C84CD2C09}"/>
              </a:ext>
            </a:extLst>
          </p:cNvPr>
          <p:cNvSpPr txBox="1"/>
          <p:nvPr/>
        </p:nvSpPr>
        <p:spPr>
          <a:xfrm>
            <a:off x="484167" y="1316180"/>
            <a:ext cx="4572000" cy="369332"/>
          </a:xfrm>
          <a:prstGeom prst="rect">
            <a:avLst/>
          </a:prstGeom>
          <a:noFill/>
        </p:spPr>
        <p:txBody>
          <a:bodyPr wrap="square">
            <a:spAutoFit/>
          </a:bodyPr>
          <a:lstStyle/>
          <a:p>
            <a:r>
              <a:rPr lang="en-SG" sz="1800" dirty="0">
                <a:effectLst/>
                <a:latin typeface="Times"/>
              </a:rPr>
              <a:t>Calorimetry means “measuring heat.” </a:t>
            </a:r>
            <a:endParaRPr lang="en-SG" dirty="0"/>
          </a:p>
        </p:txBody>
      </p:sp>
      <p:sp>
        <p:nvSpPr>
          <p:cNvPr id="10" name="TextBox 9">
            <a:extLst>
              <a:ext uri="{FF2B5EF4-FFF2-40B4-BE49-F238E27FC236}">
                <a16:creationId xmlns:a16="http://schemas.microsoft.com/office/drawing/2014/main" id="{C3FE6C9E-0846-D928-7954-45B19824598F}"/>
              </a:ext>
            </a:extLst>
          </p:cNvPr>
          <p:cNvSpPr txBox="1"/>
          <p:nvPr/>
        </p:nvSpPr>
        <p:spPr>
          <a:xfrm>
            <a:off x="587278" y="5897095"/>
            <a:ext cx="8054280" cy="369332"/>
          </a:xfrm>
          <a:prstGeom prst="rect">
            <a:avLst/>
          </a:prstGeom>
          <a:noFill/>
        </p:spPr>
        <p:txBody>
          <a:bodyPr wrap="square">
            <a:spAutoFit/>
          </a:bodyPr>
          <a:lstStyle/>
          <a:p>
            <a:r>
              <a:rPr lang="en-SG" sz="1800" dirty="0">
                <a:effectLst/>
                <a:latin typeface="Times"/>
              </a:rPr>
              <a:t>Heat is also involved in </a:t>
            </a:r>
            <a:r>
              <a:rPr lang="en-SG" sz="1800" i="1" dirty="0">
                <a:effectLst/>
                <a:latin typeface="Times"/>
              </a:rPr>
              <a:t>phase changes, </a:t>
            </a:r>
            <a:r>
              <a:rPr lang="en-SG" sz="1800" dirty="0">
                <a:effectLst/>
                <a:latin typeface="Times"/>
              </a:rPr>
              <a:t>such as the melting of ice or boiling of water. </a:t>
            </a:r>
            <a:endParaRPr lang="en-SG" dirty="0"/>
          </a:p>
        </p:txBody>
      </p:sp>
      <p:sp>
        <p:nvSpPr>
          <p:cNvPr id="20" name="TextBox 19">
            <a:extLst>
              <a:ext uri="{FF2B5EF4-FFF2-40B4-BE49-F238E27FC236}">
                <a16:creationId xmlns:a16="http://schemas.microsoft.com/office/drawing/2014/main" id="{CBC4C79C-E2F7-EB36-76E5-D474224C752A}"/>
              </a:ext>
            </a:extLst>
          </p:cNvPr>
          <p:cNvSpPr txBox="1"/>
          <p:nvPr/>
        </p:nvSpPr>
        <p:spPr>
          <a:xfrm>
            <a:off x="4642800" y="2935834"/>
            <a:ext cx="4254500" cy="1200329"/>
          </a:xfrm>
          <a:prstGeom prst="rect">
            <a:avLst/>
          </a:prstGeom>
          <a:noFill/>
        </p:spPr>
        <p:txBody>
          <a:bodyPr wrap="square">
            <a:spAutoFit/>
          </a:bodyPr>
          <a:lstStyle/>
          <a:p>
            <a:pPr algn="just"/>
            <a:r>
              <a:rPr lang="en-SG" sz="1800" dirty="0">
                <a:effectLst/>
                <a:latin typeface="Times"/>
              </a:rPr>
              <a:t>The surrounding air is at room temperature, but this ice–water mixture remains at 0°C until all of the ice has melted and the phase change is complete. </a:t>
            </a:r>
            <a:endParaRPr lang="en-SG" dirty="0"/>
          </a:p>
        </p:txBody>
      </p:sp>
    </p:spTree>
    <p:extLst>
      <p:ext uri="{BB962C8B-B14F-4D97-AF65-F5344CB8AC3E}">
        <p14:creationId xmlns:p14="http://schemas.microsoft.com/office/powerpoint/2010/main" val="24456107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sz="3200" dirty="0">
                <a:effectLst/>
                <a:latin typeface="Helvetica Neue" panose="02000503000000020004" pitchFamily="2" charset="0"/>
              </a:rPr>
              <a:t>17-6</a:t>
            </a:r>
            <a:r>
              <a:rPr lang="zh-CN" altLang="en-US" sz="3200" dirty="0">
                <a:effectLst/>
                <a:latin typeface="Helvetica Neue" panose="02000503000000020004" pitchFamily="2" charset="0"/>
              </a:rPr>
              <a:t> </a:t>
            </a:r>
            <a:r>
              <a:rPr lang="en-SG" sz="3200" dirty="0">
                <a:effectLst/>
                <a:latin typeface="Helvetica Neue" panose="02000503000000020004" pitchFamily="2" charset="0"/>
              </a:rPr>
              <a:t>Calorimetry and Phase Changes</a:t>
            </a:r>
          </a:p>
        </p:txBody>
      </p:sp>
      <p:sp>
        <p:nvSpPr>
          <p:cNvPr id="3" name="Date Placeholder 2"/>
          <p:cNvSpPr>
            <a:spLocks noGrp="1"/>
          </p:cNvSpPr>
          <p:nvPr>
            <p:ph type="dt" sz="half" idx="10"/>
          </p:nvPr>
        </p:nvSpPr>
        <p:spPr/>
        <p:txBody>
          <a:bodyPr/>
          <a:lstStyle/>
          <a:p>
            <a:r>
              <a:rPr lang="en-SG" altLang="zh-TW"/>
              <a:t>Thermodynamics I (Ch. 17)</a:t>
            </a:r>
            <a:endParaRPr lang="en-GB" dirty="0"/>
          </a:p>
        </p:txBody>
      </p:sp>
      <p:sp>
        <p:nvSpPr>
          <p:cNvPr id="4" name="Slide Number Placeholder 3"/>
          <p:cNvSpPr>
            <a:spLocks noGrp="1"/>
          </p:cNvSpPr>
          <p:nvPr>
            <p:ph type="sldNum" sz="quarter" idx="12"/>
          </p:nvPr>
        </p:nvSpPr>
        <p:spPr/>
        <p:txBody>
          <a:bodyPr/>
          <a:lstStyle/>
          <a:p>
            <a:fld id="{60093787-08EC-4113-8521-0E445B8625BD}" type="slidenum">
              <a:rPr lang="en-GB" smtClean="0"/>
              <a:t>31</a:t>
            </a:fld>
            <a:endParaRPr lang="en-GB"/>
          </a:p>
        </p:txBody>
      </p:sp>
      <p:pic>
        <p:nvPicPr>
          <p:cNvPr id="5" name="Picture 4">
            <a:extLst>
              <a:ext uri="{FF2B5EF4-FFF2-40B4-BE49-F238E27FC236}">
                <a16:creationId xmlns:a16="http://schemas.microsoft.com/office/drawing/2014/main" id="{36FE15C3-7E37-97F1-2033-F881F1E67511}"/>
              </a:ext>
            </a:extLst>
          </p:cNvPr>
          <p:cNvPicPr>
            <a:picLocks noChangeAspect="1"/>
          </p:cNvPicPr>
          <p:nvPr/>
        </p:nvPicPr>
        <p:blipFill>
          <a:blip r:embed="rId2"/>
          <a:stretch>
            <a:fillRect/>
          </a:stretch>
        </p:blipFill>
        <p:spPr>
          <a:xfrm>
            <a:off x="1390650" y="1565275"/>
            <a:ext cx="6362700" cy="4368800"/>
          </a:xfrm>
          <a:prstGeom prst="rect">
            <a:avLst/>
          </a:prstGeom>
        </p:spPr>
      </p:pic>
    </p:spTree>
    <p:extLst>
      <p:ext uri="{BB962C8B-B14F-4D97-AF65-F5344CB8AC3E}">
        <p14:creationId xmlns:p14="http://schemas.microsoft.com/office/powerpoint/2010/main" val="27815619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sz="3200" dirty="0">
                <a:effectLst/>
                <a:latin typeface="Helvetica Neue" panose="02000503000000020004" pitchFamily="2" charset="0"/>
              </a:rPr>
              <a:t>17-6</a:t>
            </a:r>
            <a:r>
              <a:rPr lang="zh-CN" altLang="en-US" sz="3200" dirty="0">
                <a:effectLst/>
                <a:latin typeface="Helvetica Neue" panose="02000503000000020004" pitchFamily="2" charset="0"/>
              </a:rPr>
              <a:t> </a:t>
            </a:r>
            <a:r>
              <a:rPr lang="en-SG" sz="3200" dirty="0">
                <a:effectLst/>
                <a:latin typeface="Helvetica Neue" panose="02000503000000020004" pitchFamily="2" charset="0"/>
              </a:rPr>
              <a:t>Calorimetry and Phase Changes</a:t>
            </a:r>
          </a:p>
        </p:txBody>
      </p:sp>
      <p:sp>
        <p:nvSpPr>
          <p:cNvPr id="3" name="Date Placeholder 2"/>
          <p:cNvSpPr>
            <a:spLocks noGrp="1"/>
          </p:cNvSpPr>
          <p:nvPr>
            <p:ph type="dt" sz="half" idx="10"/>
          </p:nvPr>
        </p:nvSpPr>
        <p:spPr/>
        <p:txBody>
          <a:bodyPr/>
          <a:lstStyle/>
          <a:p>
            <a:r>
              <a:rPr lang="en-SG" altLang="zh-TW"/>
              <a:t>Thermodynamics I (Ch. 17)</a:t>
            </a:r>
            <a:endParaRPr lang="en-GB" dirty="0"/>
          </a:p>
        </p:txBody>
      </p:sp>
      <p:sp>
        <p:nvSpPr>
          <p:cNvPr id="4" name="Slide Number Placeholder 3"/>
          <p:cNvSpPr>
            <a:spLocks noGrp="1"/>
          </p:cNvSpPr>
          <p:nvPr>
            <p:ph type="sldNum" sz="quarter" idx="12"/>
          </p:nvPr>
        </p:nvSpPr>
        <p:spPr/>
        <p:txBody>
          <a:bodyPr/>
          <a:lstStyle/>
          <a:p>
            <a:fld id="{60093787-08EC-4113-8521-0E445B8625BD}" type="slidenum">
              <a:rPr lang="en-GB" smtClean="0"/>
              <a:t>32</a:t>
            </a:fld>
            <a:endParaRPr lang="en-GB"/>
          </a:p>
        </p:txBody>
      </p:sp>
      <p:sp>
        <p:nvSpPr>
          <p:cNvPr id="7" name="TextBox 6">
            <a:extLst>
              <a:ext uri="{FF2B5EF4-FFF2-40B4-BE49-F238E27FC236}">
                <a16:creationId xmlns:a16="http://schemas.microsoft.com/office/drawing/2014/main" id="{7121B42C-C6CB-A820-9D99-F96FD8E828E5}"/>
              </a:ext>
            </a:extLst>
          </p:cNvPr>
          <p:cNvSpPr txBox="1"/>
          <p:nvPr/>
        </p:nvSpPr>
        <p:spPr>
          <a:xfrm>
            <a:off x="510244" y="1593502"/>
            <a:ext cx="5616624" cy="461665"/>
          </a:xfrm>
          <a:prstGeom prst="rect">
            <a:avLst/>
          </a:prstGeom>
          <a:noFill/>
        </p:spPr>
        <p:txBody>
          <a:bodyPr wrap="square">
            <a:spAutoFit/>
          </a:bodyPr>
          <a:lstStyle/>
          <a:p>
            <a:r>
              <a:rPr lang="en-SG" sz="2400" b="1" dirty="0">
                <a:effectLst/>
                <a:latin typeface="Times"/>
              </a:rPr>
              <a:t>heat of fusion </a:t>
            </a:r>
            <a:r>
              <a:rPr lang="en-SG" sz="2400" dirty="0">
                <a:effectLst/>
                <a:latin typeface="Times"/>
              </a:rPr>
              <a:t>(or </a:t>
            </a:r>
            <a:r>
              <a:rPr lang="en-SG" sz="2400" i="1" dirty="0">
                <a:effectLst/>
                <a:latin typeface="Times"/>
              </a:rPr>
              <a:t>latent heat of fusion</a:t>
            </a:r>
            <a:r>
              <a:rPr lang="en-SG" sz="2400" dirty="0">
                <a:effectLst/>
                <a:latin typeface="Times"/>
              </a:rPr>
              <a:t>) </a:t>
            </a:r>
            <a:endParaRPr lang="en-SG" sz="2400" dirty="0"/>
          </a:p>
        </p:txBody>
      </p:sp>
      <p:pic>
        <p:nvPicPr>
          <p:cNvPr id="8" name="Picture 7">
            <a:extLst>
              <a:ext uri="{FF2B5EF4-FFF2-40B4-BE49-F238E27FC236}">
                <a16:creationId xmlns:a16="http://schemas.microsoft.com/office/drawing/2014/main" id="{0E6F8F71-ABB7-BE3E-DC29-3661F08712D7}"/>
              </a:ext>
            </a:extLst>
          </p:cNvPr>
          <p:cNvPicPr>
            <a:picLocks noChangeAspect="1"/>
          </p:cNvPicPr>
          <p:nvPr/>
        </p:nvPicPr>
        <p:blipFill>
          <a:blip r:embed="rId2"/>
          <a:stretch>
            <a:fillRect/>
          </a:stretch>
        </p:blipFill>
        <p:spPr>
          <a:xfrm>
            <a:off x="362914" y="3684459"/>
            <a:ext cx="8781086" cy="1786238"/>
          </a:xfrm>
          <a:prstGeom prst="rect">
            <a:avLst/>
          </a:prstGeom>
        </p:spPr>
      </p:pic>
      <p:sp>
        <p:nvSpPr>
          <p:cNvPr id="10" name="TextBox 9">
            <a:extLst>
              <a:ext uri="{FF2B5EF4-FFF2-40B4-BE49-F238E27FC236}">
                <a16:creationId xmlns:a16="http://schemas.microsoft.com/office/drawing/2014/main" id="{58D6B2BD-2F1B-A044-DFA7-847C6C4A61EA}"/>
              </a:ext>
            </a:extLst>
          </p:cNvPr>
          <p:cNvSpPr txBox="1"/>
          <p:nvPr/>
        </p:nvSpPr>
        <p:spPr>
          <a:xfrm>
            <a:off x="510244" y="2440026"/>
            <a:ext cx="8064896" cy="830997"/>
          </a:xfrm>
          <a:prstGeom prst="rect">
            <a:avLst/>
          </a:prstGeom>
          <a:noFill/>
        </p:spPr>
        <p:txBody>
          <a:bodyPr wrap="square">
            <a:spAutoFit/>
          </a:bodyPr>
          <a:lstStyle/>
          <a:p>
            <a:r>
              <a:rPr lang="en-US" altLang="zh-CN" sz="2400" dirty="0">
                <a:effectLst/>
                <a:latin typeface="Times"/>
              </a:rPr>
              <a:t>To</a:t>
            </a:r>
            <a:r>
              <a:rPr lang="zh-CN" altLang="en-US" sz="2400" dirty="0">
                <a:effectLst/>
                <a:latin typeface="Times"/>
              </a:rPr>
              <a:t> </a:t>
            </a:r>
            <a:r>
              <a:rPr lang="en-SG" sz="2400" dirty="0">
                <a:effectLst/>
                <a:latin typeface="Times"/>
              </a:rPr>
              <a:t>melt a mass </a:t>
            </a:r>
            <a:r>
              <a:rPr lang="en-SG" sz="2400" i="1" dirty="0">
                <a:effectLst/>
                <a:latin typeface="Times"/>
              </a:rPr>
              <a:t>m </a:t>
            </a:r>
            <a:r>
              <a:rPr lang="en-SG" sz="2400" dirty="0">
                <a:effectLst/>
                <a:latin typeface="Times"/>
              </a:rPr>
              <a:t>of material that has a heat of fusion </a:t>
            </a:r>
            <a:r>
              <a:rPr lang="en-SG" sz="2400" i="1" dirty="0">
                <a:effectLst/>
                <a:latin typeface="Times"/>
              </a:rPr>
              <a:t>L</a:t>
            </a:r>
            <a:r>
              <a:rPr lang="zh-CN" altLang="en-US" sz="2400" i="1" dirty="0">
                <a:latin typeface="Times"/>
              </a:rPr>
              <a:t> </a:t>
            </a:r>
            <a:r>
              <a:rPr lang="en-SG" sz="2400" dirty="0">
                <a:effectLst/>
                <a:latin typeface="Times"/>
              </a:rPr>
              <a:t>requires a quantity of heat </a:t>
            </a:r>
            <a:r>
              <a:rPr lang="en-SG" sz="2400" i="1" dirty="0">
                <a:effectLst/>
                <a:latin typeface="Times"/>
              </a:rPr>
              <a:t>Q </a:t>
            </a:r>
            <a:r>
              <a:rPr lang="en-SG" sz="2400" dirty="0">
                <a:effectLst/>
                <a:latin typeface="Times"/>
              </a:rPr>
              <a:t>given by </a:t>
            </a:r>
            <a:endParaRPr lang="en-SG" sz="2400" dirty="0"/>
          </a:p>
        </p:txBody>
      </p:sp>
    </p:spTree>
    <p:extLst>
      <p:ext uri="{BB962C8B-B14F-4D97-AF65-F5344CB8AC3E}">
        <p14:creationId xmlns:p14="http://schemas.microsoft.com/office/powerpoint/2010/main" val="25666050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sz="3200" dirty="0">
                <a:effectLst/>
                <a:latin typeface="Helvetica Neue" panose="02000503000000020004" pitchFamily="2" charset="0"/>
              </a:rPr>
              <a:t>17-6</a:t>
            </a:r>
            <a:r>
              <a:rPr lang="zh-CN" altLang="en-US" sz="3200" dirty="0">
                <a:effectLst/>
                <a:latin typeface="Helvetica Neue" panose="02000503000000020004" pitchFamily="2" charset="0"/>
              </a:rPr>
              <a:t> </a:t>
            </a:r>
            <a:r>
              <a:rPr lang="en-SG" sz="3200" dirty="0">
                <a:effectLst/>
                <a:latin typeface="Helvetica Neue" panose="02000503000000020004" pitchFamily="2" charset="0"/>
              </a:rPr>
              <a:t>Calorimetry and Phase Changes</a:t>
            </a:r>
          </a:p>
        </p:txBody>
      </p:sp>
      <p:sp>
        <p:nvSpPr>
          <p:cNvPr id="3" name="Date Placeholder 2"/>
          <p:cNvSpPr>
            <a:spLocks noGrp="1"/>
          </p:cNvSpPr>
          <p:nvPr>
            <p:ph type="dt" sz="half" idx="10"/>
          </p:nvPr>
        </p:nvSpPr>
        <p:spPr/>
        <p:txBody>
          <a:bodyPr/>
          <a:lstStyle/>
          <a:p>
            <a:r>
              <a:rPr lang="en-SG" altLang="zh-TW"/>
              <a:t>Thermodynamics I (Ch. 17)</a:t>
            </a:r>
            <a:endParaRPr lang="en-GB" dirty="0"/>
          </a:p>
        </p:txBody>
      </p:sp>
      <p:sp>
        <p:nvSpPr>
          <p:cNvPr id="4" name="Slide Number Placeholder 3"/>
          <p:cNvSpPr>
            <a:spLocks noGrp="1"/>
          </p:cNvSpPr>
          <p:nvPr>
            <p:ph type="sldNum" sz="quarter" idx="12"/>
          </p:nvPr>
        </p:nvSpPr>
        <p:spPr/>
        <p:txBody>
          <a:bodyPr/>
          <a:lstStyle/>
          <a:p>
            <a:fld id="{60093787-08EC-4113-8521-0E445B8625BD}" type="slidenum">
              <a:rPr lang="en-GB" smtClean="0"/>
              <a:t>33</a:t>
            </a:fld>
            <a:endParaRPr lang="en-GB"/>
          </a:p>
        </p:txBody>
      </p:sp>
      <p:pic>
        <p:nvPicPr>
          <p:cNvPr id="5" name="Picture 4">
            <a:extLst>
              <a:ext uri="{FF2B5EF4-FFF2-40B4-BE49-F238E27FC236}">
                <a16:creationId xmlns:a16="http://schemas.microsoft.com/office/drawing/2014/main" id="{6255680E-7763-1DFC-CF3A-E4FA3E0CC9B8}"/>
              </a:ext>
            </a:extLst>
          </p:cNvPr>
          <p:cNvPicPr>
            <a:picLocks noChangeAspect="1"/>
          </p:cNvPicPr>
          <p:nvPr/>
        </p:nvPicPr>
        <p:blipFill>
          <a:blip r:embed="rId2"/>
          <a:stretch>
            <a:fillRect/>
          </a:stretch>
        </p:blipFill>
        <p:spPr>
          <a:xfrm>
            <a:off x="263665" y="1412776"/>
            <a:ext cx="8616670" cy="4459590"/>
          </a:xfrm>
          <a:prstGeom prst="rect">
            <a:avLst/>
          </a:prstGeom>
        </p:spPr>
      </p:pic>
    </p:spTree>
    <p:extLst>
      <p:ext uri="{BB962C8B-B14F-4D97-AF65-F5344CB8AC3E}">
        <p14:creationId xmlns:p14="http://schemas.microsoft.com/office/powerpoint/2010/main" val="7746090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Sample Problem</a:t>
            </a:r>
          </a:p>
        </p:txBody>
      </p:sp>
      <p:sp>
        <p:nvSpPr>
          <p:cNvPr id="3" name="Date Placeholder 2"/>
          <p:cNvSpPr>
            <a:spLocks noGrp="1"/>
          </p:cNvSpPr>
          <p:nvPr>
            <p:ph type="dt" sz="half" idx="10"/>
          </p:nvPr>
        </p:nvSpPr>
        <p:spPr/>
        <p:txBody>
          <a:bodyPr/>
          <a:lstStyle/>
          <a:p>
            <a:r>
              <a:rPr lang="en-SG" altLang="zh-TW"/>
              <a:t>Thermodynamics I (Ch. 17)</a:t>
            </a:r>
            <a:endParaRPr lang="en-GB" dirty="0"/>
          </a:p>
        </p:txBody>
      </p:sp>
      <p:sp>
        <p:nvSpPr>
          <p:cNvPr id="4" name="Slide Number Placeholder 3"/>
          <p:cNvSpPr>
            <a:spLocks noGrp="1"/>
          </p:cNvSpPr>
          <p:nvPr>
            <p:ph type="sldNum" sz="quarter" idx="12"/>
          </p:nvPr>
        </p:nvSpPr>
        <p:spPr/>
        <p:txBody>
          <a:bodyPr/>
          <a:lstStyle/>
          <a:p>
            <a:fld id="{60093787-08EC-4113-8521-0E445B8625BD}" type="slidenum">
              <a:rPr lang="en-GB" smtClean="0"/>
              <a:t>34</a:t>
            </a:fld>
            <a:endParaRPr lang="en-GB"/>
          </a:p>
        </p:txBody>
      </p:sp>
      <p:pic>
        <p:nvPicPr>
          <p:cNvPr id="5" name="Picture 4">
            <a:extLst>
              <a:ext uri="{FF2B5EF4-FFF2-40B4-BE49-F238E27FC236}">
                <a16:creationId xmlns:a16="http://schemas.microsoft.com/office/drawing/2014/main" id="{1CE61713-C606-D15A-2F01-A4FD34579C2B}"/>
              </a:ext>
            </a:extLst>
          </p:cNvPr>
          <p:cNvPicPr>
            <a:picLocks noChangeAspect="1"/>
          </p:cNvPicPr>
          <p:nvPr/>
        </p:nvPicPr>
        <p:blipFill>
          <a:blip r:embed="rId2"/>
          <a:stretch>
            <a:fillRect/>
          </a:stretch>
        </p:blipFill>
        <p:spPr>
          <a:xfrm>
            <a:off x="827584" y="1237175"/>
            <a:ext cx="5943600" cy="1917700"/>
          </a:xfrm>
          <a:prstGeom prst="rect">
            <a:avLst/>
          </a:prstGeom>
        </p:spPr>
      </p:pic>
      <p:pic>
        <p:nvPicPr>
          <p:cNvPr id="7" name="Picture 6">
            <a:extLst>
              <a:ext uri="{FF2B5EF4-FFF2-40B4-BE49-F238E27FC236}">
                <a16:creationId xmlns:a16="http://schemas.microsoft.com/office/drawing/2014/main" id="{FF2BFBE2-671B-C963-FF76-059B5ECEC731}"/>
              </a:ext>
            </a:extLst>
          </p:cNvPr>
          <p:cNvPicPr>
            <a:picLocks noChangeAspect="1"/>
          </p:cNvPicPr>
          <p:nvPr/>
        </p:nvPicPr>
        <p:blipFill>
          <a:blip r:embed="rId3"/>
          <a:stretch>
            <a:fillRect/>
          </a:stretch>
        </p:blipFill>
        <p:spPr>
          <a:xfrm>
            <a:off x="1024434" y="3429000"/>
            <a:ext cx="5549900" cy="2489200"/>
          </a:xfrm>
          <a:prstGeom prst="rect">
            <a:avLst/>
          </a:prstGeom>
        </p:spPr>
      </p:pic>
    </p:spTree>
    <p:extLst>
      <p:ext uri="{BB962C8B-B14F-4D97-AF65-F5344CB8AC3E}">
        <p14:creationId xmlns:p14="http://schemas.microsoft.com/office/powerpoint/2010/main" val="1744138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Sample Problem</a:t>
            </a:r>
          </a:p>
        </p:txBody>
      </p:sp>
      <p:sp>
        <p:nvSpPr>
          <p:cNvPr id="3" name="Date Placeholder 2"/>
          <p:cNvSpPr>
            <a:spLocks noGrp="1"/>
          </p:cNvSpPr>
          <p:nvPr>
            <p:ph type="dt" sz="half" idx="10"/>
          </p:nvPr>
        </p:nvSpPr>
        <p:spPr/>
        <p:txBody>
          <a:bodyPr/>
          <a:lstStyle/>
          <a:p>
            <a:r>
              <a:rPr lang="en-SG" altLang="zh-TW"/>
              <a:t>Thermodynamics I (Ch. 17)</a:t>
            </a:r>
            <a:endParaRPr lang="en-GB" dirty="0"/>
          </a:p>
        </p:txBody>
      </p:sp>
      <p:sp>
        <p:nvSpPr>
          <p:cNvPr id="4" name="Slide Number Placeholder 3"/>
          <p:cNvSpPr>
            <a:spLocks noGrp="1"/>
          </p:cNvSpPr>
          <p:nvPr>
            <p:ph type="sldNum" sz="quarter" idx="12"/>
          </p:nvPr>
        </p:nvSpPr>
        <p:spPr/>
        <p:txBody>
          <a:bodyPr/>
          <a:lstStyle/>
          <a:p>
            <a:fld id="{60093787-08EC-4113-8521-0E445B8625BD}" type="slidenum">
              <a:rPr lang="en-GB" smtClean="0"/>
              <a:t>35</a:t>
            </a:fld>
            <a:endParaRPr lang="en-GB"/>
          </a:p>
        </p:txBody>
      </p:sp>
      <p:pic>
        <p:nvPicPr>
          <p:cNvPr id="5" name="Picture 4">
            <a:extLst>
              <a:ext uri="{FF2B5EF4-FFF2-40B4-BE49-F238E27FC236}">
                <a16:creationId xmlns:a16="http://schemas.microsoft.com/office/drawing/2014/main" id="{1CE61713-C606-D15A-2F01-A4FD34579C2B}"/>
              </a:ext>
            </a:extLst>
          </p:cNvPr>
          <p:cNvPicPr>
            <a:picLocks noChangeAspect="1"/>
          </p:cNvPicPr>
          <p:nvPr/>
        </p:nvPicPr>
        <p:blipFill>
          <a:blip r:embed="rId2"/>
          <a:stretch>
            <a:fillRect/>
          </a:stretch>
        </p:blipFill>
        <p:spPr>
          <a:xfrm>
            <a:off x="899592" y="1170773"/>
            <a:ext cx="5328592" cy="1719268"/>
          </a:xfrm>
          <a:prstGeom prst="rect">
            <a:avLst/>
          </a:prstGeom>
        </p:spPr>
      </p:pic>
      <p:pic>
        <p:nvPicPr>
          <p:cNvPr id="6" name="Picture 5">
            <a:extLst>
              <a:ext uri="{FF2B5EF4-FFF2-40B4-BE49-F238E27FC236}">
                <a16:creationId xmlns:a16="http://schemas.microsoft.com/office/drawing/2014/main" id="{65254DF3-281C-95CC-C132-90DC483738E7}"/>
              </a:ext>
            </a:extLst>
          </p:cNvPr>
          <p:cNvPicPr>
            <a:picLocks noChangeAspect="1"/>
          </p:cNvPicPr>
          <p:nvPr/>
        </p:nvPicPr>
        <p:blipFill>
          <a:blip r:embed="rId3"/>
          <a:stretch>
            <a:fillRect/>
          </a:stretch>
        </p:blipFill>
        <p:spPr>
          <a:xfrm>
            <a:off x="1043608" y="2954518"/>
            <a:ext cx="5256584" cy="3228359"/>
          </a:xfrm>
          <a:prstGeom prst="rect">
            <a:avLst/>
          </a:prstGeom>
        </p:spPr>
      </p:pic>
    </p:spTree>
    <p:extLst>
      <p:ext uri="{BB962C8B-B14F-4D97-AF65-F5344CB8AC3E}">
        <p14:creationId xmlns:p14="http://schemas.microsoft.com/office/powerpoint/2010/main" val="2061895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sz="3200" dirty="0">
                <a:effectLst/>
                <a:latin typeface="Helvetica Neue" panose="02000503000000020004" pitchFamily="2" charset="0"/>
              </a:rPr>
              <a:t>17-7</a:t>
            </a:r>
            <a:r>
              <a:rPr lang="zh-CN" altLang="en-US" sz="3200" dirty="0">
                <a:effectLst/>
                <a:latin typeface="Helvetica Neue" panose="02000503000000020004" pitchFamily="2" charset="0"/>
              </a:rPr>
              <a:t> </a:t>
            </a:r>
            <a:r>
              <a:rPr lang="en-SG" sz="3200" dirty="0">
                <a:effectLst/>
                <a:latin typeface="Helvetica Neue" panose="02000503000000020004" pitchFamily="2" charset="0"/>
              </a:rPr>
              <a:t>Mechanisms of Heat Transfer</a:t>
            </a:r>
          </a:p>
        </p:txBody>
      </p:sp>
      <p:sp>
        <p:nvSpPr>
          <p:cNvPr id="3" name="Date Placeholder 2"/>
          <p:cNvSpPr>
            <a:spLocks noGrp="1"/>
          </p:cNvSpPr>
          <p:nvPr>
            <p:ph type="dt" sz="half" idx="10"/>
          </p:nvPr>
        </p:nvSpPr>
        <p:spPr/>
        <p:txBody>
          <a:bodyPr/>
          <a:lstStyle/>
          <a:p>
            <a:r>
              <a:rPr lang="en-SG" altLang="zh-TW"/>
              <a:t>Thermodynamics I (Ch. 17)</a:t>
            </a:r>
            <a:endParaRPr lang="en-GB" dirty="0"/>
          </a:p>
        </p:txBody>
      </p:sp>
      <p:sp>
        <p:nvSpPr>
          <p:cNvPr id="4" name="Slide Number Placeholder 3"/>
          <p:cNvSpPr>
            <a:spLocks noGrp="1"/>
          </p:cNvSpPr>
          <p:nvPr>
            <p:ph type="sldNum" sz="quarter" idx="12"/>
          </p:nvPr>
        </p:nvSpPr>
        <p:spPr/>
        <p:txBody>
          <a:bodyPr/>
          <a:lstStyle/>
          <a:p>
            <a:fld id="{60093787-08EC-4113-8521-0E445B8625BD}" type="slidenum">
              <a:rPr lang="en-GB" smtClean="0"/>
              <a:t>36</a:t>
            </a:fld>
            <a:endParaRPr lang="en-GB"/>
          </a:p>
        </p:txBody>
      </p:sp>
      <p:pic>
        <p:nvPicPr>
          <p:cNvPr id="7" name="Picture 6" descr="A diagram of a boiling process&#10;&#10;Description automatically generated">
            <a:extLst>
              <a:ext uri="{FF2B5EF4-FFF2-40B4-BE49-F238E27FC236}">
                <a16:creationId xmlns:a16="http://schemas.microsoft.com/office/drawing/2014/main" id="{00F0A0A4-54D9-924A-72D1-E9DAFB365C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5616" y="1463675"/>
            <a:ext cx="6273800" cy="4572000"/>
          </a:xfrm>
          <a:prstGeom prst="rect">
            <a:avLst/>
          </a:prstGeom>
        </p:spPr>
      </p:pic>
    </p:spTree>
    <p:extLst>
      <p:ext uri="{BB962C8B-B14F-4D97-AF65-F5344CB8AC3E}">
        <p14:creationId xmlns:p14="http://schemas.microsoft.com/office/powerpoint/2010/main" val="35331380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sz="3200" dirty="0">
                <a:effectLst/>
                <a:latin typeface="Helvetica Neue" panose="02000503000000020004" pitchFamily="2" charset="0"/>
              </a:rPr>
              <a:t>17-7</a:t>
            </a:r>
            <a:r>
              <a:rPr lang="zh-CN" altLang="en-US" sz="3200" dirty="0">
                <a:effectLst/>
                <a:latin typeface="Helvetica Neue" panose="02000503000000020004" pitchFamily="2" charset="0"/>
              </a:rPr>
              <a:t> </a:t>
            </a:r>
            <a:r>
              <a:rPr lang="en-SG" sz="3200" dirty="0">
                <a:effectLst/>
                <a:latin typeface="Helvetica Neue" panose="02000503000000020004" pitchFamily="2" charset="0"/>
              </a:rPr>
              <a:t>Mechanisms of Heat Transfer</a:t>
            </a:r>
          </a:p>
        </p:txBody>
      </p:sp>
      <p:sp>
        <p:nvSpPr>
          <p:cNvPr id="3" name="Date Placeholder 2"/>
          <p:cNvSpPr>
            <a:spLocks noGrp="1"/>
          </p:cNvSpPr>
          <p:nvPr>
            <p:ph type="dt" sz="half" idx="10"/>
          </p:nvPr>
        </p:nvSpPr>
        <p:spPr/>
        <p:txBody>
          <a:bodyPr/>
          <a:lstStyle/>
          <a:p>
            <a:r>
              <a:rPr lang="en-SG" altLang="zh-TW"/>
              <a:t>Thermodynamics I (Ch. 17)</a:t>
            </a:r>
            <a:endParaRPr lang="en-GB" dirty="0"/>
          </a:p>
        </p:txBody>
      </p:sp>
      <p:sp>
        <p:nvSpPr>
          <p:cNvPr id="4" name="Slide Number Placeholder 3"/>
          <p:cNvSpPr>
            <a:spLocks noGrp="1"/>
          </p:cNvSpPr>
          <p:nvPr>
            <p:ph type="sldNum" sz="quarter" idx="12"/>
          </p:nvPr>
        </p:nvSpPr>
        <p:spPr/>
        <p:txBody>
          <a:bodyPr/>
          <a:lstStyle/>
          <a:p>
            <a:fld id="{60093787-08EC-4113-8521-0E445B8625BD}" type="slidenum">
              <a:rPr lang="en-GB" smtClean="0"/>
              <a:t>37</a:t>
            </a:fld>
            <a:endParaRPr lang="en-GB"/>
          </a:p>
        </p:txBody>
      </p:sp>
      <p:sp>
        <p:nvSpPr>
          <p:cNvPr id="8" name="TextBox 7">
            <a:extLst>
              <a:ext uri="{FF2B5EF4-FFF2-40B4-BE49-F238E27FC236}">
                <a16:creationId xmlns:a16="http://schemas.microsoft.com/office/drawing/2014/main" id="{B1E13106-2457-5F3B-3810-BA62BD09CE13}"/>
              </a:ext>
            </a:extLst>
          </p:cNvPr>
          <p:cNvSpPr txBox="1"/>
          <p:nvPr/>
        </p:nvSpPr>
        <p:spPr>
          <a:xfrm>
            <a:off x="612648" y="1487517"/>
            <a:ext cx="7632848" cy="4524315"/>
          </a:xfrm>
          <a:prstGeom prst="rect">
            <a:avLst/>
          </a:prstGeom>
          <a:noFill/>
        </p:spPr>
        <p:txBody>
          <a:bodyPr wrap="square">
            <a:spAutoFit/>
          </a:bodyPr>
          <a:lstStyle/>
          <a:p>
            <a:pPr marL="342900" indent="-342900" algn="just">
              <a:buFont typeface="Arial" panose="020B0604020202020204" pitchFamily="34" charset="0"/>
              <a:buChar char="•"/>
            </a:pPr>
            <a:r>
              <a:rPr lang="en-SG" sz="2400" dirty="0">
                <a:effectLst/>
                <a:latin typeface="Times"/>
              </a:rPr>
              <a:t>The three mechanisms of heat transfer are conduction, convection, and radiation. </a:t>
            </a:r>
          </a:p>
          <a:p>
            <a:pPr marL="342900" indent="-342900" algn="just">
              <a:buFont typeface="Arial" panose="020B0604020202020204" pitchFamily="34" charset="0"/>
              <a:buChar char="•"/>
            </a:pPr>
            <a:endParaRPr lang="en-SG" sz="2400" dirty="0">
              <a:effectLst/>
              <a:latin typeface="Times"/>
            </a:endParaRPr>
          </a:p>
          <a:p>
            <a:pPr marL="342900" indent="-342900" algn="just">
              <a:buFont typeface="Arial" panose="020B0604020202020204" pitchFamily="34" charset="0"/>
              <a:buChar char="•"/>
            </a:pPr>
            <a:r>
              <a:rPr lang="en-SG" sz="2400" i="1" dirty="0">
                <a:effectLst/>
                <a:latin typeface="Times"/>
              </a:rPr>
              <a:t>Conduction </a:t>
            </a:r>
            <a:r>
              <a:rPr lang="en-SG" sz="2400" dirty="0">
                <a:effectLst/>
                <a:latin typeface="Times"/>
              </a:rPr>
              <a:t>occurs within a body or between two bodies in contact. </a:t>
            </a:r>
          </a:p>
          <a:p>
            <a:pPr marL="342900" indent="-342900" algn="just">
              <a:buFont typeface="Arial" panose="020B0604020202020204" pitchFamily="34" charset="0"/>
              <a:buChar char="•"/>
            </a:pPr>
            <a:endParaRPr lang="en-SG" sz="2400" dirty="0">
              <a:effectLst/>
              <a:latin typeface="Times"/>
            </a:endParaRPr>
          </a:p>
          <a:p>
            <a:pPr marL="342900" indent="-342900" algn="just">
              <a:buFont typeface="Arial" panose="020B0604020202020204" pitchFamily="34" charset="0"/>
              <a:buChar char="•"/>
            </a:pPr>
            <a:r>
              <a:rPr lang="en-SG" sz="2400" i="1" dirty="0">
                <a:effectLst/>
                <a:latin typeface="Times"/>
              </a:rPr>
              <a:t>Convection </a:t>
            </a:r>
            <a:r>
              <a:rPr lang="en-SG" sz="2400" dirty="0">
                <a:effectLst/>
                <a:latin typeface="Times"/>
              </a:rPr>
              <a:t>depends on motion of mass from one region of space to another. </a:t>
            </a:r>
          </a:p>
          <a:p>
            <a:pPr marL="342900" indent="-342900" algn="just">
              <a:buFont typeface="Arial" panose="020B0604020202020204" pitchFamily="34" charset="0"/>
              <a:buChar char="•"/>
            </a:pPr>
            <a:endParaRPr lang="en-SG" sz="2400" dirty="0">
              <a:effectLst/>
              <a:latin typeface="Times"/>
            </a:endParaRPr>
          </a:p>
          <a:p>
            <a:pPr marL="342900" indent="-342900" algn="just">
              <a:buFont typeface="Arial" panose="020B0604020202020204" pitchFamily="34" charset="0"/>
              <a:buChar char="•"/>
            </a:pPr>
            <a:r>
              <a:rPr lang="en-SG" sz="2400" i="1" dirty="0">
                <a:effectLst/>
                <a:latin typeface="Times"/>
              </a:rPr>
              <a:t>Radiation </a:t>
            </a:r>
            <a:r>
              <a:rPr lang="en-SG" sz="2400" dirty="0">
                <a:effectLst/>
                <a:latin typeface="Times"/>
              </a:rPr>
              <a:t>is heat transfer by electromagnetic radiation, such as sunshine, with no need for matter to be present in the space between bodies. </a:t>
            </a:r>
            <a:endParaRPr lang="en-SG" sz="2400" dirty="0"/>
          </a:p>
        </p:txBody>
      </p:sp>
    </p:spTree>
    <p:extLst>
      <p:ext uri="{BB962C8B-B14F-4D97-AF65-F5344CB8AC3E}">
        <p14:creationId xmlns:p14="http://schemas.microsoft.com/office/powerpoint/2010/main" val="9038127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sz="3200" dirty="0">
                <a:effectLst/>
                <a:latin typeface="Helvetica Neue" panose="02000503000000020004" pitchFamily="2" charset="0"/>
              </a:rPr>
              <a:t>17-7</a:t>
            </a:r>
            <a:r>
              <a:rPr lang="zh-CN" altLang="en-US" sz="3200" dirty="0">
                <a:effectLst/>
                <a:latin typeface="Helvetica Neue" panose="02000503000000020004" pitchFamily="2" charset="0"/>
              </a:rPr>
              <a:t> </a:t>
            </a:r>
            <a:r>
              <a:rPr lang="en-SG" sz="3200" dirty="0">
                <a:effectLst/>
                <a:latin typeface="Helvetica Neue" panose="02000503000000020004" pitchFamily="2" charset="0"/>
              </a:rPr>
              <a:t>Mechanisms of Heat Transfer</a:t>
            </a:r>
          </a:p>
        </p:txBody>
      </p:sp>
      <p:sp>
        <p:nvSpPr>
          <p:cNvPr id="3" name="Date Placeholder 2"/>
          <p:cNvSpPr>
            <a:spLocks noGrp="1"/>
          </p:cNvSpPr>
          <p:nvPr>
            <p:ph type="dt" sz="half" idx="10"/>
          </p:nvPr>
        </p:nvSpPr>
        <p:spPr/>
        <p:txBody>
          <a:bodyPr/>
          <a:lstStyle/>
          <a:p>
            <a:r>
              <a:rPr lang="en-SG" altLang="zh-TW"/>
              <a:t>Thermodynamics I (Ch. 17)</a:t>
            </a:r>
            <a:endParaRPr lang="en-GB" dirty="0"/>
          </a:p>
        </p:txBody>
      </p:sp>
      <p:sp>
        <p:nvSpPr>
          <p:cNvPr id="4" name="Slide Number Placeholder 3"/>
          <p:cNvSpPr>
            <a:spLocks noGrp="1"/>
          </p:cNvSpPr>
          <p:nvPr>
            <p:ph type="sldNum" sz="quarter" idx="12"/>
          </p:nvPr>
        </p:nvSpPr>
        <p:spPr/>
        <p:txBody>
          <a:bodyPr/>
          <a:lstStyle/>
          <a:p>
            <a:fld id="{60093787-08EC-4113-8521-0E445B8625BD}" type="slidenum">
              <a:rPr lang="en-GB" smtClean="0"/>
              <a:t>38</a:t>
            </a:fld>
            <a:endParaRPr lang="en-GB"/>
          </a:p>
        </p:txBody>
      </p:sp>
      <p:sp>
        <p:nvSpPr>
          <p:cNvPr id="7" name="TextBox 6">
            <a:extLst>
              <a:ext uri="{FF2B5EF4-FFF2-40B4-BE49-F238E27FC236}">
                <a16:creationId xmlns:a16="http://schemas.microsoft.com/office/drawing/2014/main" id="{0C61E9B5-7AF0-AE5B-96DB-7828F47EEAF8}"/>
              </a:ext>
            </a:extLst>
          </p:cNvPr>
          <p:cNvSpPr txBox="1"/>
          <p:nvPr/>
        </p:nvSpPr>
        <p:spPr>
          <a:xfrm>
            <a:off x="467181" y="1412776"/>
            <a:ext cx="7837514" cy="1200329"/>
          </a:xfrm>
          <a:prstGeom prst="rect">
            <a:avLst/>
          </a:prstGeom>
          <a:noFill/>
        </p:spPr>
        <p:txBody>
          <a:bodyPr wrap="square">
            <a:spAutoFit/>
          </a:bodyPr>
          <a:lstStyle/>
          <a:p>
            <a:pPr algn="just"/>
            <a:r>
              <a:rPr lang="en-SG" sz="2400" dirty="0">
                <a:effectLst/>
                <a:latin typeface="Times"/>
              </a:rPr>
              <a:t>When a quantity of heat </a:t>
            </a:r>
            <a:r>
              <a:rPr lang="en-SG" sz="2400" i="1" dirty="0" err="1">
                <a:effectLst/>
                <a:latin typeface="Times"/>
              </a:rPr>
              <a:t>dQ</a:t>
            </a:r>
            <a:r>
              <a:rPr lang="en-SG" sz="2400" i="1" dirty="0">
                <a:effectLst/>
                <a:latin typeface="Times"/>
              </a:rPr>
              <a:t> </a:t>
            </a:r>
            <a:r>
              <a:rPr lang="en-SG" sz="2400" dirty="0">
                <a:effectLst/>
                <a:latin typeface="Times"/>
              </a:rPr>
              <a:t>is transferred through the rod in a time </a:t>
            </a:r>
            <a:r>
              <a:rPr lang="en-SG" sz="2400" i="1" dirty="0">
                <a:effectLst/>
                <a:latin typeface="Times"/>
              </a:rPr>
              <a:t>dt</a:t>
            </a:r>
            <a:r>
              <a:rPr lang="en-SG" sz="2400" dirty="0">
                <a:effectLst/>
                <a:latin typeface="Times"/>
              </a:rPr>
              <a:t>, the rat</a:t>
            </a:r>
            <a:r>
              <a:rPr lang="en-US" altLang="zh-CN" sz="2400" dirty="0">
                <a:effectLst/>
                <a:latin typeface="Times"/>
              </a:rPr>
              <a:t>e</a:t>
            </a:r>
            <a:r>
              <a:rPr lang="zh-CN" altLang="en-US" sz="2400">
                <a:effectLst/>
                <a:latin typeface="Times"/>
              </a:rPr>
              <a:t> </a:t>
            </a:r>
            <a:r>
              <a:rPr lang="en-SG" sz="2400">
                <a:effectLst/>
                <a:latin typeface="Times"/>
              </a:rPr>
              <a:t>of </a:t>
            </a:r>
            <a:r>
              <a:rPr lang="en-SG" sz="2400" dirty="0">
                <a:effectLst/>
                <a:latin typeface="Times"/>
              </a:rPr>
              <a:t>heat flow is </a:t>
            </a:r>
            <a:r>
              <a:rPr lang="en-SG" sz="2400" i="1" dirty="0" err="1">
                <a:effectLst/>
                <a:latin typeface="Times"/>
              </a:rPr>
              <a:t>dQ</a:t>
            </a:r>
            <a:r>
              <a:rPr lang="en-US" altLang="zh-CN" sz="2400" i="1" dirty="0">
                <a:latin typeface="PBB2k"/>
              </a:rPr>
              <a:t>/</a:t>
            </a:r>
            <a:r>
              <a:rPr lang="en-SG" sz="2400" i="1" dirty="0">
                <a:effectLst/>
                <a:latin typeface="Times"/>
              </a:rPr>
              <a:t>dt</a:t>
            </a:r>
            <a:r>
              <a:rPr lang="en-SG" sz="2400" dirty="0">
                <a:effectLst/>
                <a:latin typeface="Times"/>
              </a:rPr>
              <a:t>. We call this rate the </a:t>
            </a:r>
            <a:r>
              <a:rPr lang="en-SG" sz="2400" b="1" dirty="0">
                <a:effectLst/>
                <a:latin typeface="Times"/>
              </a:rPr>
              <a:t>heat current, </a:t>
            </a:r>
            <a:r>
              <a:rPr lang="en-SG" sz="2400" dirty="0">
                <a:effectLst/>
                <a:latin typeface="Times"/>
              </a:rPr>
              <a:t>denoted by </a:t>
            </a:r>
            <a:r>
              <a:rPr lang="en-SG" sz="2400" i="1" dirty="0">
                <a:effectLst/>
                <a:latin typeface="Times"/>
              </a:rPr>
              <a:t>H </a:t>
            </a:r>
            <a:endParaRPr lang="en-SG" sz="2400" dirty="0"/>
          </a:p>
        </p:txBody>
      </p:sp>
      <p:sp>
        <p:nvSpPr>
          <p:cNvPr id="9" name="TextBox 8">
            <a:extLst>
              <a:ext uri="{FF2B5EF4-FFF2-40B4-BE49-F238E27FC236}">
                <a16:creationId xmlns:a16="http://schemas.microsoft.com/office/drawing/2014/main" id="{EFA2CC17-03FE-F7A5-1DA4-90F4991C0786}"/>
              </a:ext>
            </a:extLst>
          </p:cNvPr>
          <p:cNvSpPr txBox="1"/>
          <p:nvPr/>
        </p:nvSpPr>
        <p:spPr>
          <a:xfrm>
            <a:off x="478902" y="2817010"/>
            <a:ext cx="7825793" cy="830997"/>
          </a:xfrm>
          <a:prstGeom prst="rect">
            <a:avLst/>
          </a:prstGeom>
          <a:noFill/>
        </p:spPr>
        <p:txBody>
          <a:bodyPr wrap="square">
            <a:spAutoFit/>
          </a:bodyPr>
          <a:lstStyle/>
          <a:p>
            <a:pPr algn="just"/>
            <a:r>
              <a:rPr lang="en-US" altLang="zh-CN" sz="2400" dirty="0">
                <a:latin typeface="Times"/>
              </a:rPr>
              <a:t>I</a:t>
            </a:r>
            <a:r>
              <a:rPr lang="en-SG" sz="2400" dirty="0" err="1">
                <a:effectLst/>
                <a:latin typeface="Times"/>
              </a:rPr>
              <a:t>ntroducing</a:t>
            </a:r>
            <a:r>
              <a:rPr lang="en-SG" sz="2400" dirty="0">
                <a:effectLst/>
                <a:latin typeface="Times"/>
              </a:rPr>
              <a:t> a proportionality constant </a:t>
            </a:r>
            <a:r>
              <a:rPr lang="en-SG" sz="2400" i="1" dirty="0">
                <a:effectLst/>
                <a:latin typeface="Times"/>
              </a:rPr>
              <a:t>k </a:t>
            </a:r>
            <a:r>
              <a:rPr lang="en-SG" sz="2400" dirty="0">
                <a:effectLst/>
                <a:latin typeface="Times"/>
              </a:rPr>
              <a:t>called the </a:t>
            </a:r>
            <a:r>
              <a:rPr lang="en-SG" sz="2400" b="1" dirty="0">
                <a:effectLst/>
                <a:latin typeface="Times"/>
              </a:rPr>
              <a:t>thermal conductivity </a:t>
            </a:r>
            <a:r>
              <a:rPr lang="en-SG" sz="2400" dirty="0">
                <a:effectLst/>
                <a:latin typeface="Times"/>
              </a:rPr>
              <a:t>of the material, we have </a:t>
            </a:r>
            <a:endParaRPr lang="en-SG" sz="2400" dirty="0"/>
          </a:p>
        </p:txBody>
      </p:sp>
      <p:pic>
        <p:nvPicPr>
          <p:cNvPr id="10" name="Picture 9">
            <a:extLst>
              <a:ext uri="{FF2B5EF4-FFF2-40B4-BE49-F238E27FC236}">
                <a16:creationId xmlns:a16="http://schemas.microsoft.com/office/drawing/2014/main" id="{82311E3B-25C0-F3DC-9C5E-A80926C556D9}"/>
              </a:ext>
            </a:extLst>
          </p:cNvPr>
          <p:cNvPicPr>
            <a:picLocks noChangeAspect="1"/>
          </p:cNvPicPr>
          <p:nvPr/>
        </p:nvPicPr>
        <p:blipFill>
          <a:blip r:embed="rId2"/>
          <a:stretch>
            <a:fillRect/>
          </a:stretch>
        </p:blipFill>
        <p:spPr>
          <a:xfrm>
            <a:off x="1118076" y="3734612"/>
            <a:ext cx="6907847" cy="940505"/>
          </a:xfrm>
          <a:prstGeom prst="rect">
            <a:avLst/>
          </a:prstGeom>
        </p:spPr>
      </p:pic>
      <p:sp>
        <p:nvSpPr>
          <p:cNvPr id="12" name="TextBox 11">
            <a:extLst>
              <a:ext uri="{FF2B5EF4-FFF2-40B4-BE49-F238E27FC236}">
                <a16:creationId xmlns:a16="http://schemas.microsoft.com/office/drawing/2014/main" id="{9FC623AC-4DA2-0FD1-772D-48B7CD5FC5C4}"/>
              </a:ext>
            </a:extLst>
          </p:cNvPr>
          <p:cNvSpPr txBox="1"/>
          <p:nvPr/>
        </p:nvSpPr>
        <p:spPr>
          <a:xfrm>
            <a:off x="576099" y="4915569"/>
            <a:ext cx="7991800" cy="1200329"/>
          </a:xfrm>
          <a:prstGeom prst="rect">
            <a:avLst/>
          </a:prstGeom>
          <a:noFill/>
        </p:spPr>
        <p:txBody>
          <a:bodyPr wrap="square">
            <a:spAutoFit/>
          </a:bodyPr>
          <a:lstStyle/>
          <a:p>
            <a:r>
              <a:rPr lang="en-SG" sz="2400" dirty="0">
                <a:effectLst/>
                <a:latin typeface="Times"/>
              </a:rPr>
              <a:t>The units of heat current </a:t>
            </a:r>
            <a:r>
              <a:rPr lang="en-SG" sz="2400" i="1" dirty="0">
                <a:effectLst/>
                <a:latin typeface="Times"/>
              </a:rPr>
              <a:t>H </a:t>
            </a:r>
            <a:r>
              <a:rPr lang="en-SG" sz="2400" dirty="0">
                <a:effectLst/>
                <a:latin typeface="Times"/>
              </a:rPr>
              <a:t>are units of energy per time, or power; the SI unit of heat current is the watt </a:t>
            </a:r>
            <a:r>
              <a:rPr lang="en-US" altLang="zh-CN" sz="2400" dirty="0">
                <a:latin typeface="PBB2k"/>
              </a:rPr>
              <a:t>(1</a:t>
            </a:r>
            <a:r>
              <a:rPr lang="en-SG" sz="2400" dirty="0">
                <a:effectLst/>
                <a:latin typeface="Times"/>
              </a:rPr>
              <a:t>W </a:t>
            </a:r>
            <a:r>
              <a:rPr lang="en-SG" sz="2400" dirty="0">
                <a:effectLst/>
                <a:latin typeface="Optr2k"/>
              </a:rPr>
              <a:t>= </a:t>
            </a:r>
            <a:r>
              <a:rPr lang="en-US" altLang="zh-CN" sz="2400" dirty="0">
                <a:latin typeface="Times"/>
              </a:rPr>
              <a:t>1</a:t>
            </a:r>
            <a:r>
              <a:rPr lang="en-SG" sz="2400" dirty="0">
                <a:effectLst/>
                <a:latin typeface="Times"/>
              </a:rPr>
              <a:t> </a:t>
            </a:r>
            <a:r>
              <a:rPr lang="en-US" altLang="zh-CN" sz="2400" dirty="0">
                <a:effectLst/>
                <a:latin typeface="Times"/>
              </a:rPr>
              <a:t>J</a:t>
            </a:r>
            <a:r>
              <a:rPr lang="en-US" altLang="zh-CN" sz="2400" dirty="0">
                <a:latin typeface="PBB2k"/>
              </a:rPr>
              <a:t>/</a:t>
            </a:r>
            <a:r>
              <a:rPr lang="en-SG" sz="2400" dirty="0">
                <a:effectLst/>
                <a:latin typeface="Times"/>
              </a:rPr>
              <a:t>s</a:t>
            </a:r>
            <a:r>
              <a:rPr lang="en-US" altLang="zh-CN" sz="2400" dirty="0">
                <a:latin typeface="PBB2k"/>
              </a:rPr>
              <a:t>)</a:t>
            </a:r>
            <a:r>
              <a:rPr lang="en-SG" sz="2400" dirty="0">
                <a:effectLst/>
                <a:latin typeface="Times"/>
              </a:rPr>
              <a:t>. SI units</a:t>
            </a:r>
            <a:r>
              <a:rPr lang="zh-CN" altLang="en-US" sz="2400" dirty="0">
                <a:effectLst/>
                <a:latin typeface="Times"/>
              </a:rPr>
              <a:t> </a:t>
            </a:r>
            <a:r>
              <a:rPr lang="en-US" altLang="zh-CN" sz="2400" dirty="0">
                <a:effectLst/>
                <a:latin typeface="Times"/>
              </a:rPr>
              <a:t>of</a:t>
            </a:r>
            <a:r>
              <a:rPr lang="zh-CN" altLang="en-US" sz="2400" dirty="0">
                <a:effectLst/>
                <a:latin typeface="Times"/>
              </a:rPr>
              <a:t> </a:t>
            </a:r>
            <a:r>
              <a:rPr lang="en-US" altLang="zh-CN" sz="2400" i="1" dirty="0">
                <a:effectLst/>
                <a:latin typeface="Times"/>
              </a:rPr>
              <a:t>k</a:t>
            </a:r>
            <a:r>
              <a:rPr lang="en-SG" sz="2400" dirty="0">
                <a:effectLst/>
                <a:latin typeface="Times"/>
              </a:rPr>
              <a:t> are W</a:t>
            </a:r>
            <a:r>
              <a:rPr lang="en-US" altLang="zh-CN" sz="2400" dirty="0">
                <a:latin typeface="PBB2k"/>
              </a:rPr>
              <a:t>/</a:t>
            </a:r>
            <a:r>
              <a:rPr lang="en-SG" sz="2400" dirty="0">
                <a:effectLst/>
                <a:latin typeface="Times"/>
              </a:rPr>
              <a:t>m K. </a:t>
            </a:r>
            <a:endParaRPr lang="en-SG" sz="2400" dirty="0"/>
          </a:p>
        </p:txBody>
      </p:sp>
    </p:spTree>
    <p:extLst>
      <p:ext uri="{BB962C8B-B14F-4D97-AF65-F5344CB8AC3E}">
        <p14:creationId xmlns:p14="http://schemas.microsoft.com/office/powerpoint/2010/main" val="36077738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1E80E-169D-FE4A-136C-53D5046B08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346C1F-3216-2416-3ECE-309DE59CC897}"/>
              </a:ext>
            </a:extLst>
          </p:cNvPr>
          <p:cNvSpPr>
            <a:spLocks noGrp="1"/>
          </p:cNvSpPr>
          <p:nvPr>
            <p:ph type="title"/>
          </p:nvPr>
        </p:nvSpPr>
        <p:spPr/>
        <p:txBody>
          <a:bodyPr>
            <a:normAutofit/>
          </a:bodyPr>
          <a:lstStyle/>
          <a:p>
            <a:r>
              <a:rPr lang="en-US" altLang="zh-CN" sz="3200" dirty="0">
                <a:effectLst/>
                <a:latin typeface="Helvetica Neue" panose="02000503000000020004" pitchFamily="2" charset="0"/>
              </a:rPr>
              <a:t>17-7</a:t>
            </a:r>
            <a:r>
              <a:rPr lang="zh-CN" altLang="en-US" sz="3200" dirty="0">
                <a:effectLst/>
                <a:latin typeface="Helvetica Neue" panose="02000503000000020004" pitchFamily="2" charset="0"/>
              </a:rPr>
              <a:t> </a:t>
            </a:r>
            <a:r>
              <a:rPr lang="en-SG" sz="3200" dirty="0">
                <a:effectLst/>
                <a:latin typeface="Helvetica Neue" panose="02000503000000020004" pitchFamily="2" charset="0"/>
              </a:rPr>
              <a:t>Mechanisms of Heat Transfer</a:t>
            </a:r>
          </a:p>
        </p:txBody>
      </p:sp>
      <p:sp>
        <p:nvSpPr>
          <p:cNvPr id="3" name="Date Placeholder 2">
            <a:extLst>
              <a:ext uri="{FF2B5EF4-FFF2-40B4-BE49-F238E27FC236}">
                <a16:creationId xmlns:a16="http://schemas.microsoft.com/office/drawing/2014/main" id="{DB3C4C3C-25B4-0520-0689-4CBD3D11A51E}"/>
              </a:ext>
            </a:extLst>
          </p:cNvPr>
          <p:cNvSpPr>
            <a:spLocks noGrp="1"/>
          </p:cNvSpPr>
          <p:nvPr>
            <p:ph type="dt" sz="half" idx="10"/>
          </p:nvPr>
        </p:nvSpPr>
        <p:spPr/>
        <p:txBody>
          <a:bodyPr/>
          <a:lstStyle/>
          <a:p>
            <a:r>
              <a:rPr lang="en-SG" altLang="zh-TW"/>
              <a:t>Thermodynamics I (Ch. 17)</a:t>
            </a:r>
            <a:endParaRPr lang="en-GB" dirty="0"/>
          </a:p>
        </p:txBody>
      </p:sp>
      <p:sp>
        <p:nvSpPr>
          <p:cNvPr id="4" name="Slide Number Placeholder 3">
            <a:extLst>
              <a:ext uri="{FF2B5EF4-FFF2-40B4-BE49-F238E27FC236}">
                <a16:creationId xmlns:a16="http://schemas.microsoft.com/office/drawing/2014/main" id="{7D68439B-1653-B9B0-150E-E65BD3CED591}"/>
              </a:ext>
            </a:extLst>
          </p:cNvPr>
          <p:cNvSpPr>
            <a:spLocks noGrp="1"/>
          </p:cNvSpPr>
          <p:nvPr>
            <p:ph type="sldNum" sz="quarter" idx="12"/>
          </p:nvPr>
        </p:nvSpPr>
        <p:spPr/>
        <p:txBody>
          <a:bodyPr/>
          <a:lstStyle/>
          <a:p>
            <a:fld id="{60093787-08EC-4113-8521-0E445B8625BD}" type="slidenum">
              <a:rPr lang="en-GB" smtClean="0"/>
              <a:t>39</a:t>
            </a:fld>
            <a:endParaRPr lang="en-GB"/>
          </a:p>
        </p:txBody>
      </p:sp>
      <p:pic>
        <p:nvPicPr>
          <p:cNvPr id="6" name="Picture 5">
            <a:extLst>
              <a:ext uri="{FF2B5EF4-FFF2-40B4-BE49-F238E27FC236}">
                <a16:creationId xmlns:a16="http://schemas.microsoft.com/office/drawing/2014/main" id="{783EB0D6-2F30-EB02-6288-CE8C0049B1ED}"/>
              </a:ext>
            </a:extLst>
          </p:cNvPr>
          <p:cNvPicPr>
            <a:picLocks noChangeAspect="1"/>
          </p:cNvPicPr>
          <p:nvPr/>
        </p:nvPicPr>
        <p:blipFill>
          <a:blip r:embed="rId2"/>
          <a:srcRect t="8301"/>
          <a:stretch/>
        </p:blipFill>
        <p:spPr>
          <a:xfrm>
            <a:off x="2805870" y="1185298"/>
            <a:ext cx="3312368" cy="5128753"/>
          </a:xfrm>
          <a:prstGeom prst="rect">
            <a:avLst/>
          </a:prstGeom>
        </p:spPr>
      </p:pic>
    </p:spTree>
    <p:extLst>
      <p:ext uri="{BB962C8B-B14F-4D97-AF65-F5344CB8AC3E}">
        <p14:creationId xmlns:p14="http://schemas.microsoft.com/office/powerpoint/2010/main" val="28387892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EC0A2-2B42-9053-B39E-3F7671A819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F14ADC-E06F-0376-D709-8AB43CB99DD2}"/>
              </a:ext>
            </a:extLst>
          </p:cNvPr>
          <p:cNvSpPr>
            <a:spLocks noGrp="1"/>
          </p:cNvSpPr>
          <p:nvPr>
            <p:ph type="title"/>
          </p:nvPr>
        </p:nvSpPr>
        <p:spPr/>
        <p:txBody>
          <a:bodyPr>
            <a:normAutofit/>
          </a:bodyPr>
          <a:lstStyle/>
          <a:p>
            <a:r>
              <a:rPr lang="en-US" altLang="zh-CN" sz="3200" dirty="0">
                <a:effectLst/>
                <a:latin typeface="Helvetica Neue" panose="02000503000000020004" pitchFamily="2" charset="0"/>
              </a:rPr>
              <a:t>17-7</a:t>
            </a:r>
            <a:r>
              <a:rPr lang="zh-CN" altLang="en-US" sz="3200" dirty="0">
                <a:effectLst/>
                <a:latin typeface="Helvetica Neue" panose="02000503000000020004" pitchFamily="2" charset="0"/>
              </a:rPr>
              <a:t> </a:t>
            </a:r>
            <a:r>
              <a:rPr lang="en-SG" sz="3200" dirty="0">
                <a:effectLst/>
                <a:latin typeface="Helvetica Neue" panose="02000503000000020004" pitchFamily="2" charset="0"/>
              </a:rPr>
              <a:t>Mechanisms of Heat Transfer</a:t>
            </a:r>
          </a:p>
        </p:txBody>
      </p:sp>
      <p:sp>
        <p:nvSpPr>
          <p:cNvPr id="3" name="Date Placeholder 2">
            <a:extLst>
              <a:ext uri="{FF2B5EF4-FFF2-40B4-BE49-F238E27FC236}">
                <a16:creationId xmlns:a16="http://schemas.microsoft.com/office/drawing/2014/main" id="{804D30D7-140B-F459-C884-0915DFE4452A}"/>
              </a:ext>
            </a:extLst>
          </p:cNvPr>
          <p:cNvSpPr>
            <a:spLocks noGrp="1"/>
          </p:cNvSpPr>
          <p:nvPr>
            <p:ph type="dt" sz="half" idx="10"/>
          </p:nvPr>
        </p:nvSpPr>
        <p:spPr/>
        <p:txBody>
          <a:bodyPr/>
          <a:lstStyle/>
          <a:p>
            <a:r>
              <a:rPr lang="en-SG" altLang="zh-TW"/>
              <a:t>Thermodynamics I (Ch. 17)</a:t>
            </a:r>
            <a:endParaRPr lang="en-GB" dirty="0"/>
          </a:p>
        </p:txBody>
      </p:sp>
      <p:sp>
        <p:nvSpPr>
          <p:cNvPr id="4" name="Slide Number Placeholder 3">
            <a:extLst>
              <a:ext uri="{FF2B5EF4-FFF2-40B4-BE49-F238E27FC236}">
                <a16:creationId xmlns:a16="http://schemas.microsoft.com/office/drawing/2014/main" id="{338A8428-D7FB-0CE7-292C-2FCB5DC42BF3}"/>
              </a:ext>
            </a:extLst>
          </p:cNvPr>
          <p:cNvSpPr>
            <a:spLocks noGrp="1"/>
          </p:cNvSpPr>
          <p:nvPr>
            <p:ph type="sldNum" sz="quarter" idx="12"/>
          </p:nvPr>
        </p:nvSpPr>
        <p:spPr/>
        <p:txBody>
          <a:bodyPr/>
          <a:lstStyle/>
          <a:p>
            <a:fld id="{60093787-08EC-4113-8521-0E445B8625BD}" type="slidenum">
              <a:rPr lang="en-GB" smtClean="0"/>
              <a:t>40</a:t>
            </a:fld>
            <a:endParaRPr lang="en-GB"/>
          </a:p>
        </p:txBody>
      </p:sp>
      <p:pic>
        <p:nvPicPr>
          <p:cNvPr id="5" name="Picture 4">
            <a:extLst>
              <a:ext uri="{FF2B5EF4-FFF2-40B4-BE49-F238E27FC236}">
                <a16:creationId xmlns:a16="http://schemas.microsoft.com/office/drawing/2014/main" id="{936B511E-942C-AD14-ED25-3EADA8B33E82}"/>
              </a:ext>
            </a:extLst>
          </p:cNvPr>
          <p:cNvPicPr>
            <a:picLocks noChangeAspect="1"/>
          </p:cNvPicPr>
          <p:nvPr/>
        </p:nvPicPr>
        <p:blipFill>
          <a:blip r:embed="rId2"/>
          <a:stretch>
            <a:fillRect/>
          </a:stretch>
        </p:blipFill>
        <p:spPr>
          <a:xfrm>
            <a:off x="0" y="1625042"/>
            <a:ext cx="9047113" cy="3892190"/>
          </a:xfrm>
          <a:prstGeom prst="rect">
            <a:avLst/>
          </a:prstGeom>
        </p:spPr>
      </p:pic>
    </p:spTree>
    <p:extLst>
      <p:ext uri="{BB962C8B-B14F-4D97-AF65-F5344CB8AC3E}">
        <p14:creationId xmlns:p14="http://schemas.microsoft.com/office/powerpoint/2010/main" val="11366193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sz="3200" dirty="0">
                <a:effectLst/>
                <a:latin typeface="Helvetica Neue" panose="02000503000000020004" pitchFamily="2" charset="0"/>
              </a:rPr>
              <a:t>17-7</a:t>
            </a:r>
            <a:r>
              <a:rPr lang="zh-CN" altLang="en-US" sz="3200" dirty="0">
                <a:effectLst/>
                <a:latin typeface="Helvetica Neue" panose="02000503000000020004" pitchFamily="2" charset="0"/>
              </a:rPr>
              <a:t> </a:t>
            </a:r>
            <a:r>
              <a:rPr lang="en-SG" sz="3200" dirty="0">
                <a:effectLst/>
                <a:latin typeface="Helvetica Neue" panose="02000503000000020004" pitchFamily="2" charset="0"/>
              </a:rPr>
              <a:t>Mechanisms of Heat Transfer</a:t>
            </a:r>
          </a:p>
        </p:txBody>
      </p:sp>
      <p:sp>
        <p:nvSpPr>
          <p:cNvPr id="3" name="Date Placeholder 2"/>
          <p:cNvSpPr>
            <a:spLocks noGrp="1"/>
          </p:cNvSpPr>
          <p:nvPr>
            <p:ph type="dt" sz="half" idx="10"/>
          </p:nvPr>
        </p:nvSpPr>
        <p:spPr/>
        <p:txBody>
          <a:bodyPr/>
          <a:lstStyle/>
          <a:p>
            <a:r>
              <a:rPr lang="en-SG" altLang="zh-TW"/>
              <a:t>Thermodynamics I (Ch. 17)</a:t>
            </a:r>
            <a:endParaRPr lang="en-GB" dirty="0"/>
          </a:p>
        </p:txBody>
      </p:sp>
      <p:sp>
        <p:nvSpPr>
          <p:cNvPr id="4" name="Slide Number Placeholder 3"/>
          <p:cNvSpPr>
            <a:spLocks noGrp="1"/>
          </p:cNvSpPr>
          <p:nvPr>
            <p:ph type="sldNum" sz="quarter" idx="12"/>
          </p:nvPr>
        </p:nvSpPr>
        <p:spPr/>
        <p:txBody>
          <a:bodyPr/>
          <a:lstStyle/>
          <a:p>
            <a:fld id="{60093787-08EC-4113-8521-0E445B8625BD}" type="slidenum">
              <a:rPr lang="en-GB" smtClean="0"/>
              <a:t>41</a:t>
            </a:fld>
            <a:endParaRPr lang="en-GB"/>
          </a:p>
        </p:txBody>
      </p:sp>
      <p:pic>
        <p:nvPicPr>
          <p:cNvPr id="5" name="Picture 4">
            <a:extLst>
              <a:ext uri="{FF2B5EF4-FFF2-40B4-BE49-F238E27FC236}">
                <a16:creationId xmlns:a16="http://schemas.microsoft.com/office/drawing/2014/main" id="{BB97DE38-EAA5-AE52-0FB2-4316FE79AF2C}"/>
              </a:ext>
            </a:extLst>
          </p:cNvPr>
          <p:cNvPicPr>
            <a:picLocks noChangeAspect="1"/>
          </p:cNvPicPr>
          <p:nvPr/>
        </p:nvPicPr>
        <p:blipFill rotWithShape="1">
          <a:blip r:embed="rId2"/>
          <a:srcRect b="57449"/>
          <a:stretch/>
        </p:blipFill>
        <p:spPr>
          <a:xfrm>
            <a:off x="4486936" y="1772816"/>
            <a:ext cx="4657064" cy="2832479"/>
          </a:xfrm>
          <a:prstGeom prst="rect">
            <a:avLst/>
          </a:prstGeom>
        </p:spPr>
      </p:pic>
      <p:pic>
        <p:nvPicPr>
          <p:cNvPr id="9" name="Picture 8">
            <a:extLst>
              <a:ext uri="{FF2B5EF4-FFF2-40B4-BE49-F238E27FC236}">
                <a16:creationId xmlns:a16="http://schemas.microsoft.com/office/drawing/2014/main" id="{68B3B8BE-6380-3495-AE2C-7850170E143F}"/>
              </a:ext>
            </a:extLst>
          </p:cNvPr>
          <p:cNvPicPr>
            <a:picLocks noChangeAspect="1"/>
          </p:cNvPicPr>
          <p:nvPr/>
        </p:nvPicPr>
        <p:blipFill rotWithShape="1">
          <a:blip r:embed="rId2"/>
          <a:srcRect t="43171"/>
          <a:stretch/>
        </p:blipFill>
        <p:spPr>
          <a:xfrm>
            <a:off x="251520" y="1724728"/>
            <a:ext cx="4985781" cy="4049893"/>
          </a:xfrm>
          <a:prstGeom prst="rect">
            <a:avLst/>
          </a:prstGeom>
        </p:spPr>
      </p:pic>
    </p:spTree>
    <p:extLst>
      <p:ext uri="{BB962C8B-B14F-4D97-AF65-F5344CB8AC3E}">
        <p14:creationId xmlns:p14="http://schemas.microsoft.com/office/powerpoint/2010/main" val="18064259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Sample Problem</a:t>
            </a:r>
          </a:p>
        </p:txBody>
      </p:sp>
      <p:sp>
        <p:nvSpPr>
          <p:cNvPr id="3" name="Date Placeholder 2"/>
          <p:cNvSpPr>
            <a:spLocks noGrp="1"/>
          </p:cNvSpPr>
          <p:nvPr>
            <p:ph type="dt" sz="half" idx="10"/>
          </p:nvPr>
        </p:nvSpPr>
        <p:spPr/>
        <p:txBody>
          <a:bodyPr/>
          <a:lstStyle/>
          <a:p>
            <a:r>
              <a:rPr lang="en-SG" altLang="zh-TW"/>
              <a:t>Thermodynamics I (Ch. 17)</a:t>
            </a:r>
            <a:endParaRPr lang="en-GB" dirty="0"/>
          </a:p>
        </p:txBody>
      </p:sp>
      <p:sp>
        <p:nvSpPr>
          <p:cNvPr id="4" name="Slide Number Placeholder 3"/>
          <p:cNvSpPr>
            <a:spLocks noGrp="1"/>
          </p:cNvSpPr>
          <p:nvPr>
            <p:ph type="sldNum" sz="quarter" idx="12"/>
          </p:nvPr>
        </p:nvSpPr>
        <p:spPr/>
        <p:txBody>
          <a:bodyPr/>
          <a:lstStyle/>
          <a:p>
            <a:fld id="{60093787-08EC-4113-8521-0E445B8625BD}" type="slidenum">
              <a:rPr lang="en-GB" smtClean="0"/>
              <a:t>42</a:t>
            </a:fld>
            <a:endParaRPr lang="en-GB"/>
          </a:p>
        </p:txBody>
      </p:sp>
      <p:pic>
        <p:nvPicPr>
          <p:cNvPr id="7" name="Picture 6">
            <a:extLst>
              <a:ext uri="{FF2B5EF4-FFF2-40B4-BE49-F238E27FC236}">
                <a16:creationId xmlns:a16="http://schemas.microsoft.com/office/drawing/2014/main" id="{13F81951-5063-CF65-8BFA-19FD9BECDF76}"/>
              </a:ext>
            </a:extLst>
          </p:cNvPr>
          <p:cNvPicPr>
            <a:picLocks noChangeAspect="1"/>
          </p:cNvPicPr>
          <p:nvPr/>
        </p:nvPicPr>
        <p:blipFill>
          <a:blip r:embed="rId2"/>
          <a:stretch>
            <a:fillRect/>
          </a:stretch>
        </p:blipFill>
        <p:spPr>
          <a:xfrm>
            <a:off x="1603248" y="1151531"/>
            <a:ext cx="5664200" cy="2095500"/>
          </a:xfrm>
          <a:prstGeom prst="rect">
            <a:avLst/>
          </a:prstGeom>
        </p:spPr>
      </p:pic>
      <p:pic>
        <p:nvPicPr>
          <p:cNvPr id="10" name="Picture 9">
            <a:extLst>
              <a:ext uri="{FF2B5EF4-FFF2-40B4-BE49-F238E27FC236}">
                <a16:creationId xmlns:a16="http://schemas.microsoft.com/office/drawing/2014/main" id="{E52F049F-C073-0FED-40C6-4682D36220FD}"/>
              </a:ext>
            </a:extLst>
          </p:cNvPr>
          <p:cNvPicPr>
            <a:picLocks noChangeAspect="1"/>
          </p:cNvPicPr>
          <p:nvPr/>
        </p:nvPicPr>
        <p:blipFill>
          <a:blip r:embed="rId3"/>
          <a:stretch>
            <a:fillRect/>
          </a:stretch>
        </p:blipFill>
        <p:spPr>
          <a:xfrm>
            <a:off x="1986034" y="3315694"/>
            <a:ext cx="2311400" cy="2870200"/>
          </a:xfrm>
          <a:prstGeom prst="rect">
            <a:avLst/>
          </a:prstGeom>
        </p:spPr>
      </p:pic>
      <p:pic>
        <p:nvPicPr>
          <p:cNvPr id="11" name="Picture 10">
            <a:extLst>
              <a:ext uri="{FF2B5EF4-FFF2-40B4-BE49-F238E27FC236}">
                <a16:creationId xmlns:a16="http://schemas.microsoft.com/office/drawing/2014/main" id="{23F28801-7A09-72F3-0511-8148221760ED}"/>
              </a:ext>
            </a:extLst>
          </p:cNvPr>
          <p:cNvPicPr>
            <a:picLocks noChangeAspect="1"/>
          </p:cNvPicPr>
          <p:nvPr/>
        </p:nvPicPr>
        <p:blipFill>
          <a:blip r:embed="rId4"/>
          <a:stretch>
            <a:fillRect/>
          </a:stretch>
        </p:blipFill>
        <p:spPr>
          <a:xfrm>
            <a:off x="4788024" y="3255562"/>
            <a:ext cx="2664296" cy="2907558"/>
          </a:xfrm>
          <a:prstGeom prst="rect">
            <a:avLst/>
          </a:prstGeom>
        </p:spPr>
      </p:pic>
    </p:spTree>
    <p:extLst>
      <p:ext uri="{BB962C8B-B14F-4D97-AF65-F5344CB8AC3E}">
        <p14:creationId xmlns:p14="http://schemas.microsoft.com/office/powerpoint/2010/main" val="290867159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Sample Problem</a:t>
            </a:r>
          </a:p>
        </p:txBody>
      </p:sp>
      <p:sp>
        <p:nvSpPr>
          <p:cNvPr id="3" name="Date Placeholder 2"/>
          <p:cNvSpPr>
            <a:spLocks noGrp="1"/>
          </p:cNvSpPr>
          <p:nvPr>
            <p:ph type="dt" sz="half" idx="10"/>
          </p:nvPr>
        </p:nvSpPr>
        <p:spPr/>
        <p:txBody>
          <a:bodyPr/>
          <a:lstStyle/>
          <a:p>
            <a:r>
              <a:rPr lang="en-SG" altLang="zh-TW"/>
              <a:t>Thermodynamics I (Ch. 17)</a:t>
            </a:r>
            <a:endParaRPr lang="en-GB" dirty="0"/>
          </a:p>
        </p:txBody>
      </p:sp>
      <p:sp>
        <p:nvSpPr>
          <p:cNvPr id="4" name="Slide Number Placeholder 3"/>
          <p:cNvSpPr>
            <a:spLocks noGrp="1"/>
          </p:cNvSpPr>
          <p:nvPr>
            <p:ph type="sldNum" sz="quarter" idx="12"/>
          </p:nvPr>
        </p:nvSpPr>
        <p:spPr/>
        <p:txBody>
          <a:bodyPr/>
          <a:lstStyle/>
          <a:p>
            <a:fld id="{60093787-08EC-4113-8521-0E445B8625BD}" type="slidenum">
              <a:rPr lang="en-GB" smtClean="0"/>
              <a:t>43</a:t>
            </a:fld>
            <a:endParaRPr lang="en-GB"/>
          </a:p>
        </p:txBody>
      </p:sp>
      <p:pic>
        <p:nvPicPr>
          <p:cNvPr id="8" name="Picture 7">
            <a:extLst>
              <a:ext uri="{FF2B5EF4-FFF2-40B4-BE49-F238E27FC236}">
                <a16:creationId xmlns:a16="http://schemas.microsoft.com/office/drawing/2014/main" id="{608E3FCF-428E-17F4-43FF-E1BF82093C1A}"/>
              </a:ext>
            </a:extLst>
          </p:cNvPr>
          <p:cNvPicPr>
            <a:picLocks noChangeAspect="1"/>
          </p:cNvPicPr>
          <p:nvPr/>
        </p:nvPicPr>
        <p:blipFill>
          <a:blip r:embed="rId2"/>
          <a:stretch>
            <a:fillRect/>
          </a:stretch>
        </p:blipFill>
        <p:spPr>
          <a:xfrm>
            <a:off x="400715" y="1539280"/>
            <a:ext cx="6067339" cy="2160240"/>
          </a:xfrm>
          <a:prstGeom prst="rect">
            <a:avLst/>
          </a:prstGeom>
        </p:spPr>
      </p:pic>
      <p:pic>
        <p:nvPicPr>
          <p:cNvPr id="9" name="Picture 8">
            <a:extLst>
              <a:ext uri="{FF2B5EF4-FFF2-40B4-BE49-F238E27FC236}">
                <a16:creationId xmlns:a16="http://schemas.microsoft.com/office/drawing/2014/main" id="{DC7020F4-0055-B13E-BE19-49593A87D4D2}"/>
              </a:ext>
            </a:extLst>
          </p:cNvPr>
          <p:cNvPicPr>
            <a:picLocks noChangeAspect="1"/>
          </p:cNvPicPr>
          <p:nvPr/>
        </p:nvPicPr>
        <p:blipFill>
          <a:blip r:embed="rId3"/>
          <a:stretch>
            <a:fillRect/>
          </a:stretch>
        </p:blipFill>
        <p:spPr>
          <a:xfrm>
            <a:off x="400715" y="3728682"/>
            <a:ext cx="6218514" cy="1861418"/>
          </a:xfrm>
          <a:prstGeom prst="rect">
            <a:avLst/>
          </a:prstGeom>
        </p:spPr>
      </p:pic>
      <p:pic>
        <p:nvPicPr>
          <p:cNvPr id="12" name="Picture 11">
            <a:extLst>
              <a:ext uri="{FF2B5EF4-FFF2-40B4-BE49-F238E27FC236}">
                <a16:creationId xmlns:a16="http://schemas.microsoft.com/office/drawing/2014/main" id="{74E6ACEA-B3E6-897F-AC79-7E06BED9B2E3}"/>
              </a:ext>
            </a:extLst>
          </p:cNvPr>
          <p:cNvPicPr>
            <a:picLocks noChangeAspect="1"/>
          </p:cNvPicPr>
          <p:nvPr/>
        </p:nvPicPr>
        <p:blipFill rotWithShape="1">
          <a:blip r:embed="rId4"/>
          <a:srcRect b="3413"/>
          <a:stretch/>
        </p:blipFill>
        <p:spPr>
          <a:xfrm>
            <a:off x="6457783" y="2132856"/>
            <a:ext cx="2664296" cy="2808312"/>
          </a:xfrm>
          <a:prstGeom prst="rect">
            <a:avLst/>
          </a:prstGeom>
        </p:spPr>
      </p:pic>
    </p:spTree>
    <p:extLst>
      <p:ext uri="{BB962C8B-B14F-4D97-AF65-F5344CB8AC3E}">
        <p14:creationId xmlns:p14="http://schemas.microsoft.com/office/powerpoint/2010/main" val="146893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sz="3200" dirty="0">
                <a:effectLst/>
                <a:latin typeface="Helvetica Neue" panose="02000503000000020004" pitchFamily="2" charset="0"/>
              </a:rPr>
              <a:t>17-7</a:t>
            </a:r>
            <a:r>
              <a:rPr lang="zh-CN" altLang="en-US" sz="3200" dirty="0">
                <a:effectLst/>
                <a:latin typeface="Helvetica Neue" panose="02000503000000020004" pitchFamily="2" charset="0"/>
              </a:rPr>
              <a:t> </a:t>
            </a:r>
            <a:r>
              <a:rPr lang="en-SG" sz="3200" dirty="0">
                <a:effectLst/>
                <a:latin typeface="Helvetica Neue" panose="02000503000000020004" pitchFamily="2" charset="0"/>
              </a:rPr>
              <a:t>Mechanisms of Heat Transfer</a:t>
            </a:r>
          </a:p>
        </p:txBody>
      </p:sp>
      <p:sp>
        <p:nvSpPr>
          <p:cNvPr id="3" name="Date Placeholder 2"/>
          <p:cNvSpPr>
            <a:spLocks noGrp="1"/>
          </p:cNvSpPr>
          <p:nvPr>
            <p:ph type="dt" sz="half" idx="10"/>
          </p:nvPr>
        </p:nvSpPr>
        <p:spPr/>
        <p:txBody>
          <a:bodyPr/>
          <a:lstStyle/>
          <a:p>
            <a:r>
              <a:rPr lang="en-SG" altLang="zh-TW"/>
              <a:t>Thermodynamics I (Ch. 17)</a:t>
            </a:r>
            <a:endParaRPr lang="en-GB" dirty="0"/>
          </a:p>
        </p:txBody>
      </p:sp>
      <p:sp>
        <p:nvSpPr>
          <p:cNvPr id="4" name="Slide Number Placeholder 3"/>
          <p:cNvSpPr>
            <a:spLocks noGrp="1"/>
          </p:cNvSpPr>
          <p:nvPr>
            <p:ph type="sldNum" sz="quarter" idx="12"/>
          </p:nvPr>
        </p:nvSpPr>
        <p:spPr/>
        <p:txBody>
          <a:bodyPr/>
          <a:lstStyle/>
          <a:p>
            <a:fld id="{60093787-08EC-4113-8521-0E445B8625BD}" type="slidenum">
              <a:rPr lang="en-GB" smtClean="0"/>
              <a:t>44</a:t>
            </a:fld>
            <a:endParaRPr lang="en-GB"/>
          </a:p>
        </p:txBody>
      </p:sp>
      <p:sp>
        <p:nvSpPr>
          <p:cNvPr id="7" name="TextBox 6">
            <a:extLst>
              <a:ext uri="{FF2B5EF4-FFF2-40B4-BE49-F238E27FC236}">
                <a16:creationId xmlns:a16="http://schemas.microsoft.com/office/drawing/2014/main" id="{001E48EF-51AD-A083-AD39-8EEC5F365625}"/>
              </a:ext>
            </a:extLst>
          </p:cNvPr>
          <p:cNvSpPr txBox="1"/>
          <p:nvPr/>
        </p:nvSpPr>
        <p:spPr>
          <a:xfrm>
            <a:off x="219398" y="1172857"/>
            <a:ext cx="8467402" cy="2677656"/>
          </a:xfrm>
          <a:prstGeom prst="rect">
            <a:avLst/>
          </a:prstGeom>
          <a:noFill/>
        </p:spPr>
        <p:txBody>
          <a:bodyPr wrap="square">
            <a:spAutoFit/>
          </a:bodyPr>
          <a:lstStyle/>
          <a:p>
            <a:pPr marL="285750" indent="-285750" algn="just">
              <a:buFont typeface="Arial" panose="020B0604020202020204" pitchFamily="34" charset="0"/>
              <a:buChar char="•"/>
            </a:pPr>
            <a:r>
              <a:rPr lang="en-SG" sz="2400" b="1" dirty="0">
                <a:effectLst/>
                <a:latin typeface="Times"/>
              </a:rPr>
              <a:t>Convection </a:t>
            </a:r>
            <a:r>
              <a:rPr lang="en-SG" sz="2400" dirty="0">
                <a:effectLst/>
                <a:latin typeface="Times"/>
              </a:rPr>
              <a:t>is the transfer of heat by mass motion of a fluid from one region of space to another. </a:t>
            </a:r>
          </a:p>
          <a:p>
            <a:pPr marL="285750" indent="-285750" algn="just">
              <a:buFont typeface="Arial" panose="020B0604020202020204" pitchFamily="34" charset="0"/>
              <a:buChar char="•"/>
            </a:pPr>
            <a:r>
              <a:rPr lang="en-SG" sz="2400" dirty="0">
                <a:effectLst/>
                <a:latin typeface="Times"/>
              </a:rPr>
              <a:t>If the fluid is circulated by a blower or pump, the process is called </a:t>
            </a:r>
            <a:r>
              <a:rPr lang="en-SG" sz="2400" i="1" dirty="0">
                <a:effectLst/>
                <a:latin typeface="Times"/>
              </a:rPr>
              <a:t>forced convection; </a:t>
            </a:r>
          </a:p>
          <a:p>
            <a:pPr marL="285750" indent="-285750" algn="just">
              <a:buFont typeface="Arial" panose="020B0604020202020204" pitchFamily="34" charset="0"/>
              <a:buChar char="•"/>
            </a:pPr>
            <a:r>
              <a:rPr lang="en-US" altLang="zh-CN" sz="2400" dirty="0">
                <a:latin typeface="Times"/>
              </a:rPr>
              <a:t>I</a:t>
            </a:r>
            <a:r>
              <a:rPr lang="en-SG" sz="2400" dirty="0">
                <a:effectLst/>
                <a:latin typeface="Times"/>
              </a:rPr>
              <a:t>f the flow is caused by differences in density due to thermal expansion, such as hot air rising, the process is called </a:t>
            </a:r>
            <a:r>
              <a:rPr lang="en-SG" sz="2400" i="1" dirty="0">
                <a:effectLst/>
                <a:latin typeface="Times"/>
              </a:rPr>
              <a:t>natural convection </a:t>
            </a:r>
            <a:r>
              <a:rPr lang="en-SG" sz="2400" dirty="0">
                <a:effectLst/>
                <a:latin typeface="Times"/>
              </a:rPr>
              <a:t>or </a:t>
            </a:r>
            <a:r>
              <a:rPr lang="en-SG" sz="2400" i="1" dirty="0">
                <a:effectLst/>
                <a:latin typeface="Times"/>
              </a:rPr>
              <a:t>free convection </a:t>
            </a:r>
            <a:endParaRPr lang="en-SG" sz="2400" dirty="0"/>
          </a:p>
        </p:txBody>
      </p:sp>
      <p:pic>
        <p:nvPicPr>
          <p:cNvPr id="8" name="Picture 7">
            <a:extLst>
              <a:ext uri="{FF2B5EF4-FFF2-40B4-BE49-F238E27FC236}">
                <a16:creationId xmlns:a16="http://schemas.microsoft.com/office/drawing/2014/main" id="{62CC7074-12A1-795C-745A-5B6748B2B3C7}"/>
              </a:ext>
            </a:extLst>
          </p:cNvPr>
          <p:cNvPicPr>
            <a:picLocks noChangeAspect="1"/>
          </p:cNvPicPr>
          <p:nvPr/>
        </p:nvPicPr>
        <p:blipFill>
          <a:blip r:embed="rId2"/>
          <a:stretch>
            <a:fillRect/>
          </a:stretch>
        </p:blipFill>
        <p:spPr>
          <a:xfrm>
            <a:off x="5652120" y="3626248"/>
            <a:ext cx="1980414" cy="2512566"/>
          </a:xfrm>
          <a:prstGeom prst="rect">
            <a:avLst/>
          </a:prstGeom>
        </p:spPr>
      </p:pic>
      <p:pic>
        <p:nvPicPr>
          <p:cNvPr id="10" name="Picture 9" descr="A diagram of a boiling process&#10;&#10;Description automatically generated">
            <a:extLst>
              <a:ext uri="{FF2B5EF4-FFF2-40B4-BE49-F238E27FC236}">
                <a16:creationId xmlns:a16="http://schemas.microsoft.com/office/drawing/2014/main" id="{C33F2F2D-14C8-7C10-CBDA-777506CC429F}"/>
              </a:ext>
            </a:extLst>
          </p:cNvPr>
          <p:cNvPicPr>
            <a:picLocks noChangeAspect="1"/>
          </p:cNvPicPr>
          <p:nvPr/>
        </p:nvPicPr>
        <p:blipFill rotWithShape="1">
          <a:blip r:embed="rId3">
            <a:extLst>
              <a:ext uri="{28A0092B-C50C-407E-A947-70E740481C1C}">
                <a14:useLocalDpi xmlns:a14="http://schemas.microsoft.com/office/drawing/2010/main" val="0"/>
              </a:ext>
            </a:extLst>
          </a:blip>
          <a:srcRect t="13072" r="33217" b="31972"/>
          <a:stretch/>
        </p:blipFill>
        <p:spPr>
          <a:xfrm>
            <a:off x="899592" y="3938740"/>
            <a:ext cx="3698262" cy="2217768"/>
          </a:xfrm>
          <a:prstGeom prst="rect">
            <a:avLst/>
          </a:prstGeom>
        </p:spPr>
      </p:pic>
    </p:spTree>
    <p:extLst>
      <p:ext uri="{BB962C8B-B14F-4D97-AF65-F5344CB8AC3E}">
        <p14:creationId xmlns:p14="http://schemas.microsoft.com/office/powerpoint/2010/main" val="384682056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sz="3200" dirty="0">
                <a:effectLst/>
                <a:latin typeface="Helvetica Neue" panose="02000503000000020004" pitchFamily="2" charset="0"/>
              </a:rPr>
              <a:t>17-7</a:t>
            </a:r>
            <a:r>
              <a:rPr lang="zh-CN" altLang="en-US" sz="3200" dirty="0">
                <a:effectLst/>
                <a:latin typeface="Helvetica Neue" panose="02000503000000020004" pitchFamily="2" charset="0"/>
              </a:rPr>
              <a:t> </a:t>
            </a:r>
            <a:r>
              <a:rPr lang="en-SG" sz="3200" dirty="0">
                <a:effectLst/>
                <a:latin typeface="Helvetica Neue" panose="02000503000000020004" pitchFamily="2" charset="0"/>
              </a:rPr>
              <a:t>Mechanisms of Heat Transfer</a:t>
            </a:r>
          </a:p>
        </p:txBody>
      </p:sp>
      <p:sp>
        <p:nvSpPr>
          <p:cNvPr id="3" name="Date Placeholder 2"/>
          <p:cNvSpPr>
            <a:spLocks noGrp="1"/>
          </p:cNvSpPr>
          <p:nvPr>
            <p:ph type="dt" sz="half" idx="10"/>
          </p:nvPr>
        </p:nvSpPr>
        <p:spPr/>
        <p:txBody>
          <a:bodyPr/>
          <a:lstStyle/>
          <a:p>
            <a:r>
              <a:rPr lang="en-SG" altLang="zh-TW" dirty="0"/>
              <a:t>Thermodynamics I (Ch. 17)</a:t>
            </a:r>
            <a:endParaRPr lang="en-GB" dirty="0"/>
          </a:p>
        </p:txBody>
      </p:sp>
      <p:sp>
        <p:nvSpPr>
          <p:cNvPr id="4" name="Slide Number Placeholder 3"/>
          <p:cNvSpPr>
            <a:spLocks noGrp="1"/>
          </p:cNvSpPr>
          <p:nvPr>
            <p:ph type="sldNum" sz="quarter" idx="12"/>
          </p:nvPr>
        </p:nvSpPr>
        <p:spPr/>
        <p:txBody>
          <a:bodyPr/>
          <a:lstStyle/>
          <a:p>
            <a:fld id="{60093787-08EC-4113-8521-0E445B8625BD}" type="slidenum">
              <a:rPr lang="en-GB" smtClean="0"/>
              <a:t>45</a:t>
            </a:fld>
            <a:endParaRPr lang="en-GB"/>
          </a:p>
        </p:txBody>
      </p:sp>
      <p:sp>
        <p:nvSpPr>
          <p:cNvPr id="5" name="TextBox 4">
            <a:extLst>
              <a:ext uri="{FF2B5EF4-FFF2-40B4-BE49-F238E27FC236}">
                <a16:creationId xmlns:a16="http://schemas.microsoft.com/office/drawing/2014/main" id="{F2AA608B-32BD-2309-F715-3B1618FD1A8D}"/>
              </a:ext>
            </a:extLst>
          </p:cNvPr>
          <p:cNvSpPr txBox="1"/>
          <p:nvPr/>
        </p:nvSpPr>
        <p:spPr>
          <a:xfrm>
            <a:off x="479231" y="1268760"/>
            <a:ext cx="7920880" cy="2677656"/>
          </a:xfrm>
          <a:prstGeom prst="rect">
            <a:avLst/>
          </a:prstGeom>
          <a:noFill/>
        </p:spPr>
        <p:txBody>
          <a:bodyPr wrap="square" rtlCol="0">
            <a:spAutoFit/>
          </a:bodyPr>
          <a:lstStyle/>
          <a:p>
            <a:r>
              <a:rPr lang="en-SG" sz="2400" b="1" dirty="0">
                <a:effectLst/>
                <a:latin typeface="Times"/>
              </a:rPr>
              <a:t>Radiation </a:t>
            </a:r>
            <a:r>
              <a:rPr lang="en-SG" sz="2400" dirty="0">
                <a:effectLst/>
                <a:latin typeface="Times"/>
              </a:rPr>
              <a:t>is the transfer of heat by electromagnetic waves such as visible light, infrared, and ultraviolet radiation. </a:t>
            </a:r>
          </a:p>
          <a:p>
            <a:endParaRPr lang="en-SG" sz="2400" dirty="0">
              <a:effectLst/>
              <a:latin typeface="Times"/>
            </a:endParaRPr>
          </a:p>
          <a:p>
            <a:r>
              <a:rPr lang="en-SG" sz="2400" dirty="0">
                <a:effectLst/>
                <a:latin typeface="Times"/>
              </a:rPr>
              <a:t>This heat transfer would occur even if there were nothing but vacuum between you and the source of heat. </a:t>
            </a:r>
            <a:endParaRPr lang="en-SG" sz="2400" dirty="0"/>
          </a:p>
          <a:p>
            <a:endParaRPr lang="en-SG" sz="2400" dirty="0"/>
          </a:p>
          <a:p>
            <a:endParaRPr lang="en-US" sz="2400" dirty="0"/>
          </a:p>
        </p:txBody>
      </p:sp>
      <p:pic>
        <p:nvPicPr>
          <p:cNvPr id="13" name="Picture 12" descr="A satellite in space with earth in the background&#10;&#10;Description automatically generated">
            <a:extLst>
              <a:ext uri="{FF2B5EF4-FFF2-40B4-BE49-F238E27FC236}">
                <a16:creationId xmlns:a16="http://schemas.microsoft.com/office/drawing/2014/main" id="{9F37E6D7-D026-798D-A85D-FA9C4E8CC1B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9231" y="3429000"/>
            <a:ext cx="3927476" cy="2606866"/>
          </a:xfrm>
          <a:prstGeom prst="rect">
            <a:avLst/>
          </a:prstGeom>
        </p:spPr>
      </p:pic>
      <p:pic>
        <p:nvPicPr>
          <p:cNvPr id="15" name="Picture 14" descr="A person walking on a beach&#10;&#10;Description automatically generated">
            <a:extLst>
              <a:ext uri="{FF2B5EF4-FFF2-40B4-BE49-F238E27FC236}">
                <a16:creationId xmlns:a16="http://schemas.microsoft.com/office/drawing/2014/main" id="{82940F44-6436-9835-7C12-872D76DEBF5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31695" y="3365762"/>
            <a:ext cx="3933074" cy="2659056"/>
          </a:xfrm>
          <a:prstGeom prst="rect">
            <a:avLst/>
          </a:prstGeom>
        </p:spPr>
      </p:pic>
      <p:sp>
        <p:nvSpPr>
          <p:cNvPr id="16" name="TextBox 15">
            <a:extLst>
              <a:ext uri="{FF2B5EF4-FFF2-40B4-BE49-F238E27FC236}">
                <a16:creationId xmlns:a16="http://schemas.microsoft.com/office/drawing/2014/main" id="{404CE8DC-D2E7-1763-77EB-9D17FF9C275D}"/>
              </a:ext>
            </a:extLst>
          </p:cNvPr>
          <p:cNvSpPr txBox="1"/>
          <p:nvPr/>
        </p:nvSpPr>
        <p:spPr>
          <a:xfrm>
            <a:off x="6827599" y="6024818"/>
            <a:ext cx="1877245" cy="369332"/>
          </a:xfrm>
          <a:prstGeom prst="rect">
            <a:avLst/>
          </a:prstGeom>
          <a:noFill/>
        </p:spPr>
        <p:txBody>
          <a:bodyPr wrap="none" rtlCol="0">
            <a:spAutoFit/>
          </a:bodyPr>
          <a:lstStyle/>
          <a:p>
            <a:r>
              <a:rPr lang="en-US" altLang="zh-CN" dirty="0"/>
              <a:t>Source:</a:t>
            </a:r>
            <a:r>
              <a:rPr lang="zh-CN" altLang="en-US" dirty="0"/>
              <a:t> </a:t>
            </a:r>
            <a:r>
              <a:rPr lang="en-US" altLang="zh-CN" dirty="0"/>
              <a:t>Wikipedia</a:t>
            </a:r>
            <a:endParaRPr lang="en-US" dirty="0"/>
          </a:p>
        </p:txBody>
      </p:sp>
    </p:spTree>
    <p:extLst>
      <p:ext uri="{BB962C8B-B14F-4D97-AF65-F5344CB8AC3E}">
        <p14:creationId xmlns:p14="http://schemas.microsoft.com/office/powerpoint/2010/main" val="222266496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sz="3200" dirty="0">
                <a:effectLst/>
                <a:latin typeface="Helvetica Neue" panose="02000503000000020004" pitchFamily="2" charset="0"/>
              </a:rPr>
              <a:t>17-7</a:t>
            </a:r>
            <a:r>
              <a:rPr lang="zh-CN" altLang="en-US" sz="3200" dirty="0">
                <a:effectLst/>
                <a:latin typeface="Helvetica Neue" panose="02000503000000020004" pitchFamily="2" charset="0"/>
              </a:rPr>
              <a:t> </a:t>
            </a:r>
            <a:r>
              <a:rPr lang="en-SG" sz="3200" dirty="0">
                <a:effectLst/>
                <a:latin typeface="Helvetica Neue" panose="02000503000000020004" pitchFamily="2" charset="0"/>
              </a:rPr>
              <a:t>Mechanisms of Heat Transfer</a:t>
            </a:r>
          </a:p>
        </p:txBody>
      </p:sp>
      <p:sp>
        <p:nvSpPr>
          <p:cNvPr id="3" name="Date Placeholder 2"/>
          <p:cNvSpPr>
            <a:spLocks noGrp="1"/>
          </p:cNvSpPr>
          <p:nvPr>
            <p:ph type="dt" sz="half" idx="10"/>
          </p:nvPr>
        </p:nvSpPr>
        <p:spPr/>
        <p:txBody>
          <a:bodyPr/>
          <a:lstStyle/>
          <a:p>
            <a:r>
              <a:rPr lang="en-SG" altLang="zh-TW" dirty="0"/>
              <a:t>Thermodynamics I (Ch. 17)</a:t>
            </a:r>
            <a:endParaRPr lang="en-GB" dirty="0"/>
          </a:p>
        </p:txBody>
      </p:sp>
      <p:sp>
        <p:nvSpPr>
          <p:cNvPr id="4" name="Slide Number Placeholder 3"/>
          <p:cNvSpPr>
            <a:spLocks noGrp="1"/>
          </p:cNvSpPr>
          <p:nvPr>
            <p:ph type="sldNum" sz="quarter" idx="12"/>
          </p:nvPr>
        </p:nvSpPr>
        <p:spPr/>
        <p:txBody>
          <a:bodyPr/>
          <a:lstStyle/>
          <a:p>
            <a:fld id="{60093787-08EC-4113-8521-0E445B8625BD}" type="slidenum">
              <a:rPr lang="en-GB" smtClean="0"/>
              <a:t>46</a:t>
            </a:fld>
            <a:endParaRPr lang="en-GB"/>
          </a:p>
        </p:txBody>
      </p:sp>
      <p:pic>
        <p:nvPicPr>
          <p:cNvPr id="6" name="Picture 5">
            <a:extLst>
              <a:ext uri="{FF2B5EF4-FFF2-40B4-BE49-F238E27FC236}">
                <a16:creationId xmlns:a16="http://schemas.microsoft.com/office/drawing/2014/main" id="{9FCFE0F6-79D8-4DC1-6629-55EFBC737C2C}"/>
              </a:ext>
            </a:extLst>
          </p:cNvPr>
          <p:cNvPicPr>
            <a:picLocks noChangeAspect="1"/>
          </p:cNvPicPr>
          <p:nvPr/>
        </p:nvPicPr>
        <p:blipFill>
          <a:blip r:embed="rId2"/>
          <a:stretch>
            <a:fillRect/>
          </a:stretch>
        </p:blipFill>
        <p:spPr>
          <a:xfrm>
            <a:off x="1439652" y="1855637"/>
            <a:ext cx="5387947" cy="550471"/>
          </a:xfrm>
          <a:prstGeom prst="rect">
            <a:avLst/>
          </a:prstGeom>
        </p:spPr>
      </p:pic>
      <p:sp>
        <p:nvSpPr>
          <p:cNvPr id="8" name="TextBox 7">
            <a:extLst>
              <a:ext uri="{FF2B5EF4-FFF2-40B4-BE49-F238E27FC236}">
                <a16:creationId xmlns:a16="http://schemas.microsoft.com/office/drawing/2014/main" id="{F11B1868-1852-D96B-7A2F-3235E3CD74D5}"/>
              </a:ext>
            </a:extLst>
          </p:cNvPr>
          <p:cNvSpPr txBox="1"/>
          <p:nvPr/>
        </p:nvSpPr>
        <p:spPr>
          <a:xfrm>
            <a:off x="475674" y="1251200"/>
            <a:ext cx="4572000" cy="461665"/>
          </a:xfrm>
          <a:prstGeom prst="rect">
            <a:avLst/>
          </a:prstGeom>
          <a:noFill/>
        </p:spPr>
        <p:txBody>
          <a:bodyPr wrap="square">
            <a:spAutoFit/>
          </a:bodyPr>
          <a:lstStyle/>
          <a:p>
            <a:r>
              <a:rPr lang="en-SG" sz="2400" b="1" dirty="0">
                <a:effectLst/>
                <a:latin typeface="Times"/>
              </a:rPr>
              <a:t>Stefan–Boltzmann law </a:t>
            </a:r>
            <a:endParaRPr lang="en-SG" sz="2400" dirty="0">
              <a:effectLst/>
              <a:latin typeface="Times"/>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4A49177-B4A0-89F9-66CB-044C4689393B}"/>
                  </a:ext>
                </a:extLst>
              </p:cNvPr>
              <p:cNvSpPr txBox="1"/>
              <p:nvPr/>
            </p:nvSpPr>
            <p:spPr>
              <a:xfrm>
                <a:off x="612648" y="2666743"/>
                <a:ext cx="8065412" cy="369332"/>
              </a:xfrm>
              <a:prstGeom prst="rect">
                <a:avLst/>
              </a:prstGeom>
              <a:noFill/>
            </p:spPr>
            <p:txBody>
              <a:bodyPr wrap="square">
                <a:spAutoFit/>
              </a:bodyPr>
              <a:lstStyle/>
              <a:p>
                <a:r>
                  <a:rPr lang="en-SG" sz="1800" dirty="0">
                    <a:effectLst/>
                    <a:latin typeface="Times"/>
                  </a:rPr>
                  <a:t>where </a:t>
                </a:r>
                <a14:m>
                  <m:oMath xmlns:m="http://schemas.openxmlformats.org/officeDocument/2006/math">
                    <m:r>
                      <a:rPr lang="en-SG" sz="1800" i="1" dirty="0" smtClean="0">
                        <a:effectLst/>
                        <a:latin typeface="Cambria Math" panose="02040503050406030204" pitchFamily="18" charset="0"/>
                        <a:ea typeface="Cambria Math" panose="02040503050406030204" pitchFamily="18" charset="0"/>
                      </a:rPr>
                      <m:t>𝜎</m:t>
                    </m:r>
                  </m:oMath>
                </a14:m>
                <a:r>
                  <a:rPr lang="zh-CN" altLang="en-US" sz="1800" dirty="0">
                    <a:effectLst/>
                    <a:latin typeface="Times"/>
                  </a:rPr>
                  <a:t> </a:t>
                </a:r>
                <a:r>
                  <a:rPr lang="en-SG" sz="1800" dirty="0">
                    <a:effectLst/>
                    <a:latin typeface="Times"/>
                  </a:rPr>
                  <a:t>is a fundamental physical constant called the </a:t>
                </a:r>
                <a:r>
                  <a:rPr lang="en-SG" sz="1800" b="1" dirty="0">
                    <a:effectLst/>
                    <a:latin typeface="Times"/>
                  </a:rPr>
                  <a:t>Stefan–Boltzmann constant. </a:t>
                </a:r>
                <a:endParaRPr lang="en-SG" dirty="0"/>
              </a:p>
            </p:txBody>
          </p:sp>
        </mc:Choice>
        <mc:Fallback xmlns="">
          <p:sp>
            <p:nvSpPr>
              <p:cNvPr id="10" name="TextBox 9">
                <a:extLst>
                  <a:ext uri="{FF2B5EF4-FFF2-40B4-BE49-F238E27FC236}">
                    <a16:creationId xmlns:a16="http://schemas.microsoft.com/office/drawing/2014/main" id="{C4A49177-B4A0-89F9-66CB-044C4689393B}"/>
                  </a:ext>
                </a:extLst>
              </p:cNvPr>
              <p:cNvSpPr txBox="1">
                <a:spLocks noRot="1" noChangeAspect="1" noMove="1" noResize="1" noEditPoints="1" noAdjustHandles="1" noChangeArrowheads="1" noChangeShapeType="1" noTextEdit="1"/>
              </p:cNvSpPr>
              <p:nvPr/>
            </p:nvSpPr>
            <p:spPr>
              <a:xfrm>
                <a:off x="612648" y="2666743"/>
                <a:ext cx="8065412" cy="369332"/>
              </a:xfrm>
              <a:prstGeom prst="rect">
                <a:avLst/>
              </a:prstGeom>
              <a:blipFill>
                <a:blip r:embed="rId3"/>
                <a:stretch>
                  <a:fillRect l="-629" t="-6452" b="-19355"/>
                </a:stretch>
              </a:blipFill>
            </p:spPr>
            <p:txBody>
              <a:bodyPr/>
              <a:lstStyle/>
              <a:p>
                <a:r>
                  <a:rPr lang="en-US">
                    <a:noFill/>
                  </a:rPr>
                  <a:t> </a:t>
                </a:r>
              </a:p>
            </p:txBody>
          </p:sp>
        </mc:Fallback>
      </mc:AlternateContent>
      <p:pic>
        <p:nvPicPr>
          <p:cNvPr id="11" name="Picture 10">
            <a:extLst>
              <a:ext uri="{FF2B5EF4-FFF2-40B4-BE49-F238E27FC236}">
                <a16:creationId xmlns:a16="http://schemas.microsoft.com/office/drawing/2014/main" id="{0CECFE68-C6FE-29DA-A65B-376CF0629D7F}"/>
              </a:ext>
            </a:extLst>
          </p:cNvPr>
          <p:cNvPicPr>
            <a:picLocks noChangeAspect="1"/>
          </p:cNvPicPr>
          <p:nvPr/>
        </p:nvPicPr>
        <p:blipFill>
          <a:blip r:embed="rId4"/>
          <a:stretch>
            <a:fillRect/>
          </a:stretch>
        </p:blipFill>
        <p:spPr>
          <a:xfrm>
            <a:off x="2660650" y="3263090"/>
            <a:ext cx="3822700" cy="393700"/>
          </a:xfrm>
          <a:prstGeom prst="rect">
            <a:avLst/>
          </a:prstGeom>
        </p:spPr>
      </p:pic>
      <p:pic>
        <p:nvPicPr>
          <p:cNvPr id="12" name="Picture 11">
            <a:extLst>
              <a:ext uri="{FF2B5EF4-FFF2-40B4-BE49-F238E27FC236}">
                <a16:creationId xmlns:a16="http://schemas.microsoft.com/office/drawing/2014/main" id="{89A58C59-B1C6-47FC-5A1E-1EFFE4513A9E}"/>
              </a:ext>
            </a:extLst>
          </p:cNvPr>
          <p:cNvPicPr>
            <a:picLocks noChangeAspect="1"/>
          </p:cNvPicPr>
          <p:nvPr/>
        </p:nvPicPr>
        <p:blipFill>
          <a:blip r:embed="rId5"/>
          <a:stretch>
            <a:fillRect/>
          </a:stretch>
        </p:blipFill>
        <p:spPr>
          <a:xfrm>
            <a:off x="17852" y="3833214"/>
            <a:ext cx="9126148" cy="2289100"/>
          </a:xfrm>
          <a:prstGeom prst="rect">
            <a:avLst/>
          </a:prstGeom>
        </p:spPr>
      </p:pic>
    </p:spTree>
    <p:extLst>
      <p:ext uri="{BB962C8B-B14F-4D97-AF65-F5344CB8AC3E}">
        <p14:creationId xmlns:p14="http://schemas.microsoft.com/office/powerpoint/2010/main" val="40951857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自訂 1">
      <a:majorFont>
        <a:latin typeface="Bookman Old Style"/>
        <a:ea typeface="新細明體"/>
        <a:cs typeface=""/>
      </a:majorFont>
      <a:minorFont>
        <a:latin typeface="Calibri"/>
        <a:ea typeface="新細明體"/>
        <a:cs typeface=""/>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7209</TotalTime>
  <Words>1731</Words>
  <Application>Microsoft Office PowerPoint</Application>
  <PresentationFormat>On-screen Show (4:3)</PresentationFormat>
  <Paragraphs>198</Paragraphs>
  <Slides>46</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46</vt:i4>
      </vt:variant>
    </vt:vector>
  </HeadingPairs>
  <TitlesOfParts>
    <vt:vector size="57" baseType="lpstr">
      <vt:lpstr>Helvetica Neue</vt:lpstr>
      <vt:lpstr>Optr2k</vt:lpstr>
      <vt:lpstr>PBB2k</vt:lpstr>
      <vt:lpstr>Arial</vt:lpstr>
      <vt:lpstr>Bookman Old Style</vt:lpstr>
      <vt:lpstr>Calibri</vt:lpstr>
      <vt:lpstr>Cambria Math</vt:lpstr>
      <vt:lpstr>Times</vt:lpstr>
      <vt:lpstr>Wingdings</vt:lpstr>
      <vt:lpstr>Wingdings 3</vt:lpstr>
      <vt:lpstr>Origin</vt:lpstr>
      <vt:lpstr>PHYS1001B College Physics IB</vt:lpstr>
      <vt:lpstr>Introduction</vt:lpstr>
      <vt:lpstr>Introduction</vt:lpstr>
      <vt:lpstr>Outline</vt:lpstr>
      <vt:lpstr>17-1 Temperature and Thermal Equilibrium</vt:lpstr>
      <vt:lpstr>17-1 Temperature and Thermal Equilibrium</vt:lpstr>
      <vt:lpstr>17-1 Temperature and Thermal Equilibrium</vt:lpstr>
      <vt:lpstr>17-1 Temperature and Thermal Equilibrium</vt:lpstr>
      <vt:lpstr>17-2 Thermometers and Temperature Scales</vt:lpstr>
      <vt:lpstr>17-2 Thermometers and Temperature Scales</vt:lpstr>
      <vt:lpstr>17-2 Thermometers and Temperature Scales</vt:lpstr>
      <vt:lpstr>17-2 Thermometers and Temperature Scales</vt:lpstr>
      <vt:lpstr>17-3 Gas Thermometers and the Kelvin Scale</vt:lpstr>
      <vt:lpstr>17-3 Gas Thermometers and the Kelvin Scale</vt:lpstr>
      <vt:lpstr>17-3 Gas Thermometers and the Kelvin Scale</vt:lpstr>
      <vt:lpstr>17-3 Gas Thermometers and the Kelvin Scale</vt:lpstr>
      <vt:lpstr>17-3 Gas Thermometers and the Kelvin Scale</vt:lpstr>
      <vt:lpstr>17-4 Thermal Expansion</vt:lpstr>
      <vt:lpstr>17-4 Thermal Expansion</vt:lpstr>
      <vt:lpstr>17-4 Thermal Expansion</vt:lpstr>
      <vt:lpstr>17-4 Thermal Expansion</vt:lpstr>
      <vt:lpstr>17-4 Thermal Expansion</vt:lpstr>
      <vt:lpstr>17-4 Thermal Expansion</vt:lpstr>
      <vt:lpstr>17-5 Quantity of Heat</vt:lpstr>
      <vt:lpstr>17-5 Quantity of Heat</vt:lpstr>
      <vt:lpstr>17-5 Quantity of Heat</vt:lpstr>
      <vt:lpstr>Sample Problem</vt:lpstr>
      <vt:lpstr>Sample Problem</vt:lpstr>
      <vt:lpstr>17-5 Quantity of Heat</vt:lpstr>
      <vt:lpstr>17-6 Calorimetry and Phase Changes</vt:lpstr>
      <vt:lpstr>17-6 Calorimetry and Phase Changes</vt:lpstr>
      <vt:lpstr>17-6 Calorimetry and Phase Changes</vt:lpstr>
      <vt:lpstr>17-6 Calorimetry and Phase Changes</vt:lpstr>
      <vt:lpstr>Sample Problem</vt:lpstr>
      <vt:lpstr>Sample Problem</vt:lpstr>
      <vt:lpstr>17-7 Mechanisms of Heat Transfer</vt:lpstr>
      <vt:lpstr>17-7 Mechanisms of Heat Transfer</vt:lpstr>
      <vt:lpstr>17-7 Mechanisms of Heat Transfer</vt:lpstr>
      <vt:lpstr>17-7 Mechanisms of Heat Transfer</vt:lpstr>
      <vt:lpstr>17-7 Mechanisms of Heat Transfer</vt:lpstr>
      <vt:lpstr>17-7 Mechanisms of Heat Transfer</vt:lpstr>
      <vt:lpstr>Sample Problem</vt:lpstr>
      <vt:lpstr>Sample Problem</vt:lpstr>
      <vt:lpstr>17-7 Mechanisms of Heat Transfer</vt:lpstr>
      <vt:lpstr>17-7 Mechanisms of Heat Transfer</vt:lpstr>
      <vt:lpstr>17-7 Mechanisms of Heat Transfer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CCN1049 Physics I</dc:title>
  <dc:creator>Hing-tung Mok [HKCC]</dc:creator>
  <cp:lastModifiedBy>waqas haider</cp:lastModifiedBy>
  <cp:revision>306</cp:revision>
  <cp:lastPrinted>2019-08-29T04:50:17Z</cp:lastPrinted>
  <dcterms:created xsi:type="dcterms:W3CDTF">2013-05-27T09:54:43Z</dcterms:created>
  <dcterms:modified xsi:type="dcterms:W3CDTF">2025-09-15T10:37:26Z</dcterms:modified>
</cp:coreProperties>
</file>